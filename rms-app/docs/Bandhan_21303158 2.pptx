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5"/>
  </p:notesMasterIdLst>
  <p:handoutMasterIdLst>
    <p:handoutMasterId r:id="rId56"/>
  </p:handoutMasterIdLst>
  <p:sldIdLst>
    <p:sldId id="256" r:id="rId2"/>
    <p:sldId id="257" r:id="rId3"/>
    <p:sldId id="258" r:id="rId4"/>
    <p:sldId id="259" r:id="rId5"/>
    <p:sldId id="260" r:id="rId6"/>
    <p:sldId id="261" r:id="rId7"/>
    <p:sldId id="262" r:id="rId8"/>
    <p:sldId id="311" r:id="rId9"/>
    <p:sldId id="263" r:id="rId10"/>
    <p:sldId id="264" r:id="rId11"/>
    <p:sldId id="265" r:id="rId12"/>
    <p:sldId id="266" r:id="rId13"/>
    <p:sldId id="268" r:id="rId14"/>
    <p:sldId id="269" r:id="rId15"/>
    <p:sldId id="270" r:id="rId16"/>
    <p:sldId id="271" r:id="rId17"/>
    <p:sldId id="312" r:id="rId18"/>
    <p:sldId id="272" r:id="rId19"/>
    <p:sldId id="273" r:id="rId20"/>
    <p:sldId id="274" r:id="rId21"/>
    <p:sldId id="275" r:id="rId22"/>
    <p:sldId id="276" r:id="rId23"/>
    <p:sldId id="277" r:id="rId24"/>
    <p:sldId id="278" r:id="rId25"/>
    <p:sldId id="279" r:id="rId26"/>
    <p:sldId id="280" r:id="rId27"/>
    <p:sldId id="281"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5" r:id="rId49"/>
    <p:sldId id="306" r:id="rId50"/>
    <p:sldId id="307" r:id="rId51"/>
    <p:sldId id="308" r:id="rId52"/>
    <p:sldId id="309" r:id="rId53"/>
    <p:sldId id="310" r:id="rId54"/>
  </p:sldIdLst>
  <p:sldSz cx="18288000" cy="10287000"/>
  <p:notesSz cx="6858000" cy="9144000"/>
  <p:embeddedFontLst>
    <p:embeddedFont>
      <p:font typeface="Arial Nova Bold" panose="020B0604020202020204" charset="0"/>
      <p:regular r:id="rId57"/>
    </p:embeddedFont>
    <p:embeddedFont>
      <p:font typeface="Montserrat" panose="00000500000000000000" pitchFamily="2" charset="0"/>
      <p:regular r:id="rId58"/>
      <p:bold r:id="rId59"/>
      <p:italic r:id="rId60"/>
      <p:boldItalic r:id="rId61"/>
    </p:embeddedFont>
    <p:embeddedFont>
      <p:font typeface="Montserrat Bold" panose="00000800000000000000" charset="0"/>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61"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9A59F7-46A8-0FB1-0316-BE9DBF3C48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932B7AC-8AD6-DA01-8592-698AC67DF5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71A61E-F4C5-439E-862B-E15002FD94EC}" type="datetimeFigureOut">
              <a:rPr lang="en-US" smtClean="0"/>
              <a:t>10/4/2025</a:t>
            </a:fld>
            <a:endParaRPr lang="en-US"/>
          </a:p>
        </p:txBody>
      </p:sp>
      <p:sp>
        <p:nvSpPr>
          <p:cNvPr id="4" name="Footer Placeholder 3">
            <a:extLst>
              <a:ext uri="{FF2B5EF4-FFF2-40B4-BE49-F238E27FC236}">
                <a16:creationId xmlns:a16="http://schemas.microsoft.com/office/drawing/2014/main" id="{FF3A397B-CEE0-A6D9-B2B0-DA0EFF5532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a:extLst>
              <a:ext uri="{FF2B5EF4-FFF2-40B4-BE49-F238E27FC236}">
                <a16:creationId xmlns:a16="http://schemas.microsoft.com/office/drawing/2014/main" id="{F72C6E88-A823-8511-B7B3-136871A12B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E94675-92C6-47AF-A2B3-835E1E61262B}" type="slidenum">
              <a:rPr lang="en-US" smtClean="0"/>
              <a:t>‹#›</a:t>
            </a:fld>
            <a:endParaRPr lang="en-US"/>
          </a:p>
        </p:txBody>
      </p:sp>
    </p:spTree>
    <p:extLst>
      <p:ext uri="{BB962C8B-B14F-4D97-AF65-F5344CB8AC3E}">
        <p14:creationId xmlns:p14="http://schemas.microsoft.com/office/powerpoint/2010/main" val="248240827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E7EBF-9357-4930-BA09-DE0B11E0A30A}"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1</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1FCB0-7523-4D7A-929D-87D615253F2C}" type="slidenum">
              <a:rPr lang="en-US" smtClean="0"/>
              <a:t>‹#›</a:t>
            </a:fld>
            <a:endParaRPr lang="en-US"/>
          </a:p>
        </p:txBody>
      </p:sp>
    </p:spTree>
    <p:extLst>
      <p:ext uri="{BB962C8B-B14F-4D97-AF65-F5344CB8AC3E}">
        <p14:creationId xmlns:p14="http://schemas.microsoft.com/office/powerpoint/2010/main" val="51467525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9607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F1BA72-EE23-4FF4-91BA-D6B543D5471B}" type="datetime1">
              <a:rPr lang="en-US" smtClean="0"/>
              <a:t>10/4/2025</a:t>
            </a:fld>
            <a:endParaRPr lang="en-US"/>
          </a:p>
        </p:txBody>
      </p:sp>
      <p:sp>
        <p:nvSpPr>
          <p:cNvPr id="5" name="Footer Placeholder 4"/>
          <p:cNvSpPr>
            <a:spLocks noGrp="1"/>
          </p:cNvSpPr>
          <p:nvPr>
            <p:ph type="ftr" sz="quarter" idx="11"/>
          </p:nvPr>
        </p:nvSpPr>
        <p:spPr>
          <a:xfrm>
            <a:off x="7239000" y="9895257"/>
            <a:ext cx="2895600" cy="365125"/>
          </a:xfrm>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5D3346-7563-4B59-AE26-F9131E449633}"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64BED-4FFC-40AE-A923-FDDAD087BC1D}"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9B2A54-3C2B-449A-8E78-6B879B4E3BBA}"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A5374D-0866-46AC-A77F-E167739A68F9}" type="datetime1">
              <a:rPr lang="en-US" smtClean="0"/>
              <a:t>10/4/2025</a:t>
            </a:fld>
            <a:endParaRPr lang="en-US"/>
          </a:p>
        </p:txBody>
      </p:sp>
      <p:sp>
        <p:nvSpPr>
          <p:cNvPr id="8" name="Footer Placeholder 7"/>
          <p:cNvSpPr>
            <a:spLocks noGrp="1"/>
          </p:cNvSpPr>
          <p:nvPr>
            <p:ph type="ftr" sz="quarter" idx="11"/>
          </p:nvPr>
        </p:nvSpPr>
        <p:spPr/>
        <p:txBody>
          <a:bodyPr/>
          <a:lstStyle/>
          <a:p>
            <a:r>
              <a:rPr lang="en-US"/>
              <a: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A4B2BD-A85C-4A03-80CC-57A1AF2AD00B}" type="datetime1">
              <a:rPr lang="en-US" smtClean="0"/>
              <a:t>10/4/2025</a:t>
            </a:fld>
            <a:endParaRPr lang="en-US"/>
          </a:p>
        </p:txBody>
      </p:sp>
      <p:sp>
        <p:nvSpPr>
          <p:cNvPr id="4" name="Footer Placeholder 3"/>
          <p:cNvSpPr>
            <a:spLocks noGrp="1"/>
          </p:cNvSpPr>
          <p:nvPr>
            <p:ph type="ftr" sz="quarter" idx="11"/>
          </p:nvPr>
        </p:nvSpPr>
        <p:spPr/>
        <p:txBody>
          <a:bodyPr/>
          <a:lstStyle/>
          <a:p>
            <a:r>
              <a:rPr lang="en-US"/>
              <a: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84CE2-43BB-41A3-9372-5D950AEDBF1E}" type="datetime1">
              <a:rPr lang="en-US" smtClean="0"/>
              <a:t>10/4/2025</a:t>
            </a:fld>
            <a:endParaRPr lang="en-US"/>
          </a:p>
        </p:txBody>
      </p:sp>
      <p:sp>
        <p:nvSpPr>
          <p:cNvPr id="3" name="Footer Placeholder 2"/>
          <p:cNvSpPr>
            <a:spLocks noGrp="1"/>
          </p:cNvSpPr>
          <p:nvPr>
            <p:ph type="ftr" sz="quarter" idx="11"/>
          </p:nvPr>
        </p:nvSpPr>
        <p:spPr>
          <a:xfrm>
            <a:off x="7848600" y="9867899"/>
            <a:ext cx="2895600" cy="365125"/>
          </a:xfrm>
        </p:spPr>
        <p:txBody>
          <a:bodyPr/>
          <a:lstStyle>
            <a:lvl1pPr>
              <a:defRPr sz="1600" b="1"/>
            </a:lvl1pPr>
          </a:lstStyle>
          <a:p>
            <a:r>
              <a:rPr lang="en-US" dirty="0"/>
              <a:t>1</a:t>
            </a:r>
          </a:p>
        </p:txBody>
      </p:sp>
      <p:sp>
        <p:nvSpPr>
          <p:cNvPr id="4" name="Slide Number Placeholder 3"/>
          <p:cNvSpPr>
            <a:spLocks noGrp="1"/>
          </p:cNvSpPr>
          <p:nvPr>
            <p:ph type="sldNum" sz="quarter" idx="12"/>
          </p:nvPr>
        </p:nvSpPr>
        <p:spPr>
          <a:xfrm>
            <a:off x="7010400" y="9867899"/>
            <a:ext cx="2133600" cy="365125"/>
          </a:xfrm>
        </p:spPr>
        <p:txBody>
          <a:bodyPr/>
          <a:lstStyle>
            <a:lvl1pPr>
              <a:defRPr sz="1600" b="1"/>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A19615-FBC5-4AD6-918B-082A713B92DF}"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19E15F-7ABF-4A5E-8DD5-EB94158B0895}" type="datetime1">
              <a:rPr lang="en-US" smtClean="0"/>
              <a:t>10/4/2025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DF8CF5-80B6-4655-94FD-42D93F3078D0}"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2828-415A-452A-A56A-9F3C21190353}" type="datetime1">
              <a:rPr lang="en-US" smtClean="0"/>
              <a:t>10/4/2025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32646C-4FA3-4F3C-AD87-82DEFE68FBD2}" type="datetime1">
              <a:rPr lang="en-US" smtClean="0"/>
              <a:t>10/4/2025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8219854" y="9895111"/>
            <a:ext cx="1848291" cy="0"/>
          </a:xfrm>
          <a:prstGeom prst="line">
            <a:avLst/>
          </a:prstGeom>
          <a:ln w="38100" cap="flat">
            <a:solidFill>
              <a:srgbClr val="000000"/>
            </a:solidFill>
            <a:prstDash val="solid"/>
            <a:headEnd type="none" w="sm" len="sm"/>
            <a:tailEnd type="arrow" w="med" len="sm"/>
          </a:ln>
        </p:spPr>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803587" y="1926839"/>
            <a:ext cx="10680827" cy="1628775"/>
          </a:xfrm>
          <a:prstGeom prst="rect">
            <a:avLst/>
          </a:prstGeom>
        </p:spPr>
        <p:txBody>
          <a:bodyPr lIns="0" tIns="0" rIns="0" bIns="0" rtlCol="0" anchor="t">
            <a:spAutoFit/>
          </a:bodyPr>
          <a:lstStyle/>
          <a:p>
            <a:pPr marL="0" lvl="0" indent="0" algn="ctr">
              <a:lnSpc>
                <a:spcPts val="13500"/>
              </a:lnSpc>
            </a:pPr>
            <a:r>
              <a:rPr lang="en-US" sz="9000" b="1" spc="-738">
                <a:solidFill>
                  <a:srgbClr val="01012C"/>
                </a:solidFill>
                <a:latin typeface="Arial Nova Bold"/>
                <a:ea typeface="Arial Nova Bold"/>
                <a:cs typeface="Arial Nova Bold"/>
                <a:sym typeface="Arial Nova Bold"/>
              </a:rPr>
              <a:t>PRACTICUM DEFENSE</a:t>
            </a:r>
          </a:p>
        </p:txBody>
      </p:sp>
      <p:grpSp>
        <p:nvGrpSpPr>
          <p:cNvPr id="6" name="Group 6"/>
          <p:cNvGrpSpPr/>
          <p:nvPr/>
        </p:nvGrpSpPr>
        <p:grpSpPr>
          <a:xfrm>
            <a:off x="4722264" y="7423851"/>
            <a:ext cx="8843472" cy="1100980"/>
            <a:chOff x="0" y="0"/>
            <a:chExt cx="2609622" cy="324888"/>
          </a:xfrm>
        </p:grpSpPr>
        <p:sp>
          <p:nvSpPr>
            <p:cNvPr id="7" name="Freeform 7"/>
            <p:cNvSpPr/>
            <p:nvPr/>
          </p:nvSpPr>
          <p:spPr>
            <a:xfrm>
              <a:off x="0" y="0"/>
              <a:ext cx="2609622" cy="324888"/>
            </a:xfrm>
            <a:custGeom>
              <a:avLst/>
              <a:gdLst/>
              <a:ahLst/>
              <a:cxnLst/>
              <a:rect l="l" t="t" r="r" b="b"/>
              <a:pathLst>
                <a:path w="2609622" h="324888">
                  <a:moveTo>
                    <a:pt x="44647" y="0"/>
                  </a:moveTo>
                  <a:lnTo>
                    <a:pt x="2564975" y="0"/>
                  </a:lnTo>
                  <a:cubicBezTo>
                    <a:pt x="2589633" y="0"/>
                    <a:pt x="2609622" y="19989"/>
                    <a:pt x="2609622" y="44647"/>
                  </a:cubicBezTo>
                  <a:lnTo>
                    <a:pt x="2609622" y="280241"/>
                  </a:lnTo>
                  <a:cubicBezTo>
                    <a:pt x="2609622" y="304899"/>
                    <a:pt x="2589633" y="324888"/>
                    <a:pt x="2564975" y="324888"/>
                  </a:cubicBezTo>
                  <a:lnTo>
                    <a:pt x="44647" y="324888"/>
                  </a:lnTo>
                  <a:cubicBezTo>
                    <a:pt x="19989" y="324888"/>
                    <a:pt x="0" y="304899"/>
                    <a:pt x="0" y="280241"/>
                  </a:cubicBezTo>
                  <a:lnTo>
                    <a:pt x="0" y="44647"/>
                  </a:lnTo>
                  <a:cubicBezTo>
                    <a:pt x="0" y="19989"/>
                    <a:pt x="19989" y="0"/>
                    <a:pt x="44647" y="0"/>
                  </a:cubicBezTo>
                  <a:close/>
                </a:path>
              </a:pathLst>
            </a:custGeom>
            <a:solidFill>
              <a:srgbClr val="000000">
                <a:alpha val="0"/>
              </a:srgbClr>
            </a:solidFill>
            <a:ln w="19050" cap="rnd">
              <a:solidFill>
                <a:srgbClr val="01012C"/>
              </a:solidFill>
              <a:prstDash val="solid"/>
              <a:round/>
            </a:ln>
          </p:spPr>
        </p:sp>
        <p:sp>
          <p:nvSpPr>
            <p:cNvPr id="8" name="TextBox 8"/>
            <p:cNvSpPr txBox="1"/>
            <p:nvPr/>
          </p:nvSpPr>
          <p:spPr>
            <a:xfrm>
              <a:off x="0" y="85725"/>
              <a:ext cx="2609622" cy="239163"/>
            </a:xfrm>
            <a:prstGeom prst="rect">
              <a:avLst/>
            </a:prstGeom>
          </p:spPr>
          <p:txBody>
            <a:bodyPr lIns="50800" tIns="50800" rIns="50800" bIns="50800" rtlCol="0" anchor="ctr"/>
            <a:lstStyle/>
            <a:p>
              <a:pPr algn="ctr">
                <a:lnSpc>
                  <a:spcPts val="1638"/>
                </a:lnSpc>
              </a:pPr>
              <a:endParaRPr/>
            </a:p>
          </p:txBody>
        </p:sp>
      </p:grpSp>
      <p:grpSp>
        <p:nvGrpSpPr>
          <p:cNvPr id="9" name="Group 9"/>
          <p:cNvGrpSpPr/>
          <p:nvPr/>
        </p:nvGrpSpPr>
        <p:grpSpPr>
          <a:xfrm>
            <a:off x="-44069" y="4350502"/>
            <a:ext cx="5689600" cy="1007533"/>
            <a:chOff x="0" y="0"/>
            <a:chExt cx="7586133" cy="1343377"/>
          </a:xfrm>
        </p:grpSpPr>
        <p:sp>
          <p:nvSpPr>
            <p:cNvPr id="10" name="Freeform 10"/>
            <p:cNvSpPr/>
            <p:nvPr/>
          </p:nvSpPr>
          <p:spPr>
            <a:xfrm>
              <a:off x="0" y="0"/>
              <a:ext cx="7586133" cy="1343377"/>
            </a:xfrm>
            <a:custGeom>
              <a:avLst/>
              <a:gdLst/>
              <a:ahLst/>
              <a:cxnLst/>
              <a:rect l="l" t="t" r="r" b="b"/>
              <a:pathLst>
                <a:path w="7586133" h="1343377">
                  <a:moveTo>
                    <a:pt x="0" y="0"/>
                  </a:moveTo>
                  <a:lnTo>
                    <a:pt x="7586133" y="0"/>
                  </a:lnTo>
                  <a:lnTo>
                    <a:pt x="7586133" y="1343377"/>
                  </a:lnTo>
                  <a:lnTo>
                    <a:pt x="0" y="1343377"/>
                  </a:lnTo>
                  <a:close/>
                </a:path>
              </a:pathLst>
            </a:custGeom>
            <a:solidFill>
              <a:srgbClr val="000000">
                <a:alpha val="0"/>
              </a:srgbClr>
            </a:solidFill>
          </p:spPr>
        </p:sp>
        <p:sp>
          <p:nvSpPr>
            <p:cNvPr id="11" name="TextBox 11"/>
            <p:cNvSpPr txBox="1"/>
            <p:nvPr/>
          </p:nvSpPr>
          <p:spPr>
            <a:xfrm>
              <a:off x="0" y="9525"/>
              <a:ext cx="7586133" cy="1333852"/>
            </a:xfrm>
            <a:prstGeom prst="rect">
              <a:avLst/>
            </a:prstGeom>
          </p:spPr>
          <p:txBody>
            <a:bodyPr lIns="0" tIns="0" rIns="0" bIns="0" rtlCol="0" anchor="ctr"/>
            <a:lstStyle/>
            <a:p>
              <a:pPr algn="ctr">
                <a:lnSpc>
                  <a:spcPts val="5272"/>
                </a:lnSpc>
              </a:pPr>
              <a:r>
                <a:rPr lang="en-US" sz="4393" u="sng" spc="-158">
                  <a:solidFill>
                    <a:srgbClr val="01012C"/>
                  </a:solidFill>
                  <a:latin typeface="Montserrat"/>
                  <a:ea typeface="Montserrat"/>
                  <a:cs typeface="Montserrat"/>
                  <a:sym typeface="Montserrat"/>
                </a:rPr>
                <a:t>Presentation On :</a:t>
              </a:r>
            </a:p>
          </p:txBody>
        </p:sp>
      </p:grpSp>
      <p:grpSp>
        <p:nvGrpSpPr>
          <p:cNvPr id="12" name="Group 12"/>
          <p:cNvGrpSpPr/>
          <p:nvPr/>
        </p:nvGrpSpPr>
        <p:grpSpPr>
          <a:xfrm>
            <a:off x="481021" y="5242091"/>
            <a:ext cx="8662979" cy="853067"/>
            <a:chOff x="0" y="0"/>
            <a:chExt cx="11550638" cy="1137423"/>
          </a:xfrm>
        </p:grpSpPr>
        <p:sp>
          <p:nvSpPr>
            <p:cNvPr id="13" name="Freeform 13"/>
            <p:cNvSpPr/>
            <p:nvPr/>
          </p:nvSpPr>
          <p:spPr>
            <a:xfrm>
              <a:off x="0" y="0"/>
              <a:ext cx="11550638" cy="1137423"/>
            </a:xfrm>
            <a:custGeom>
              <a:avLst/>
              <a:gdLst/>
              <a:ahLst/>
              <a:cxnLst/>
              <a:rect l="l" t="t" r="r" b="b"/>
              <a:pathLst>
                <a:path w="11550638" h="1137423">
                  <a:moveTo>
                    <a:pt x="0" y="0"/>
                  </a:moveTo>
                  <a:lnTo>
                    <a:pt x="11550638" y="0"/>
                  </a:lnTo>
                  <a:lnTo>
                    <a:pt x="11550638" y="1137423"/>
                  </a:lnTo>
                  <a:lnTo>
                    <a:pt x="0" y="1137423"/>
                  </a:lnTo>
                  <a:close/>
                </a:path>
              </a:pathLst>
            </a:custGeom>
            <a:solidFill>
              <a:srgbClr val="000000">
                <a:alpha val="0"/>
              </a:srgbClr>
            </a:solidFill>
          </p:spPr>
        </p:sp>
        <p:sp>
          <p:nvSpPr>
            <p:cNvPr id="14" name="TextBox 14"/>
            <p:cNvSpPr txBox="1"/>
            <p:nvPr/>
          </p:nvSpPr>
          <p:spPr>
            <a:xfrm>
              <a:off x="0" y="0"/>
              <a:ext cx="11550638" cy="1137423"/>
            </a:xfrm>
            <a:prstGeom prst="rect">
              <a:avLst/>
            </a:prstGeom>
          </p:spPr>
          <p:txBody>
            <a:bodyPr lIns="0" tIns="0" rIns="0" bIns="0" rtlCol="0" anchor="ctr"/>
            <a:lstStyle/>
            <a:p>
              <a:pPr algn="ctr">
                <a:lnSpc>
                  <a:spcPts val="5120"/>
                </a:lnSpc>
              </a:pPr>
              <a:r>
                <a:rPr lang="en-US" sz="4266" b="1" spc="-153">
                  <a:solidFill>
                    <a:srgbClr val="01012C"/>
                  </a:solidFill>
                  <a:latin typeface="Montserrat Bold"/>
                  <a:ea typeface="Montserrat Bold"/>
                  <a:cs typeface="Montserrat Bold"/>
                  <a:sym typeface="Montserrat Bold"/>
                </a:rPr>
                <a:t>Restaurant Point of Sale System</a:t>
              </a:r>
            </a:p>
          </p:txBody>
        </p:sp>
      </p:grpSp>
      <p:sp>
        <p:nvSpPr>
          <p:cNvPr id="15" name="Freeform 15"/>
          <p:cNvSpPr/>
          <p:nvPr/>
        </p:nvSpPr>
        <p:spPr>
          <a:xfrm>
            <a:off x="16348269" y="6095158"/>
            <a:ext cx="1343135" cy="1328692"/>
          </a:xfrm>
          <a:custGeom>
            <a:avLst/>
            <a:gdLst/>
            <a:ahLst/>
            <a:cxnLst/>
            <a:rect l="l" t="t" r="r" b="b"/>
            <a:pathLst>
              <a:path w="1343135" h="1328692">
                <a:moveTo>
                  <a:pt x="0" y="0"/>
                </a:moveTo>
                <a:lnTo>
                  <a:pt x="1343135" y="0"/>
                </a:lnTo>
                <a:lnTo>
                  <a:pt x="1343135" y="1328693"/>
                </a:lnTo>
                <a:lnTo>
                  <a:pt x="0" y="1328693"/>
                </a:lnTo>
                <a:lnTo>
                  <a:pt x="0" y="0"/>
                </a:lnTo>
                <a:close/>
              </a:path>
            </a:pathLst>
          </a:custGeom>
          <a:blipFill>
            <a:blip r:embed="rId6"/>
            <a:stretch>
              <a:fillRect/>
            </a:stretch>
          </a:blipFill>
        </p:spPr>
      </p:sp>
      <p:sp>
        <p:nvSpPr>
          <p:cNvPr id="16" name="Freeform 16"/>
          <p:cNvSpPr/>
          <p:nvPr/>
        </p:nvSpPr>
        <p:spPr>
          <a:xfrm>
            <a:off x="717633" y="487226"/>
            <a:ext cx="1443375" cy="1443375"/>
          </a:xfrm>
          <a:custGeom>
            <a:avLst/>
            <a:gdLst/>
            <a:ahLst/>
            <a:cxnLst/>
            <a:rect l="l" t="t" r="r" b="b"/>
            <a:pathLst>
              <a:path w="1443375" h="1443375">
                <a:moveTo>
                  <a:pt x="0" y="0"/>
                </a:moveTo>
                <a:lnTo>
                  <a:pt x="1443375" y="0"/>
                </a:lnTo>
                <a:lnTo>
                  <a:pt x="1443375" y="1443374"/>
                </a:lnTo>
                <a:lnTo>
                  <a:pt x="0" y="1443374"/>
                </a:lnTo>
                <a:lnTo>
                  <a:pt x="0" y="0"/>
                </a:lnTo>
                <a:close/>
              </a:path>
            </a:pathLst>
          </a:custGeom>
          <a:blipFill>
            <a:blip r:embed="rId7"/>
            <a:stretch>
              <a:fillRect/>
            </a:stretch>
          </a:blipFill>
        </p:spPr>
      </p:sp>
      <p:sp>
        <p:nvSpPr>
          <p:cNvPr id="17" name="TextBox 17"/>
          <p:cNvSpPr txBox="1"/>
          <p:nvPr/>
        </p:nvSpPr>
        <p:spPr>
          <a:xfrm>
            <a:off x="2161008" y="1123950"/>
            <a:ext cx="9932213" cy="265176"/>
          </a:xfrm>
          <a:prstGeom prst="rect">
            <a:avLst/>
          </a:prstGeom>
        </p:spPr>
        <p:txBody>
          <a:bodyPr lIns="0" tIns="0" rIns="0" bIns="0" rtlCol="0" anchor="t">
            <a:spAutoFit/>
          </a:bodyPr>
          <a:lstStyle/>
          <a:p>
            <a:pPr algn="l">
              <a:lnSpc>
                <a:spcPts val="1991"/>
              </a:lnSpc>
            </a:pPr>
            <a:r>
              <a:rPr lang="en-US" sz="2400">
                <a:solidFill>
                  <a:srgbClr val="01012C"/>
                </a:solidFill>
                <a:latin typeface="Montserrat"/>
                <a:ea typeface="Montserrat"/>
                <a:cs typeface="Montserrat"/>
                <a:sym typeface="Montserrat"/>
              </a:rPr>
              <a:t>International University of Business Agriculture &amp; Technology</a:t>
            </a:r>
          </a:p>
        </p:txBody>
      </p:sp>
      <p:sp>
        <p:nvSpPr>
          <p:cNvPr id="18" name="TextBox 18"/>
          <p:cNvSpPr txBox="1"/>
          <p:nvPr/>
        </p:nvSpPr>
        <p:spPr>
          <a:xfrm>
            <a:off x="5645531" y="7519101"/>
            <a:ext cx="6996938" cy="889574"/>
          </a:xfrm>
          <a:prstGeom prst="rect">
            <a:avLst/>
          </a:prstGeom>
        </p:spPr>
        <p:txBody>
          <a:bodyPr lIns="0" tIns="0" rIns="0" bIns="0" rtlCol="0" anchor="t">
            <a:spAutoFit/>
          </a:bodyPr>
          <a:lstStyle/>
          <a:p>
            <a:pPr algn="ctr">
              <a:lnSpc>
                <a:spcPts val="2253"/>
              </a:lnSpc>
            </a:pPr>
            <a:r>
              <a:rPr lang="en-US" sz="2714">
                <a:solidFill>
                  <a:srgbClr val="01012C"/>
                </a:solidFill>
                <a:latin typeface="Montserrat"/>
                <a:ea typeface="Montserrat"/>
                <a:cs typeface="Montserrat"/>
                <a:sym typeface="Montserrat"/>
              </a:rPr>
              <a:t>Presentation By :</a:t>
            </a:r>
          </a:p>
          <a:p>
            <a:pPr algn="ctr">
              <a:lnSpc>
                <a:spcPts val="2253"/>
              </a:lnSpc>
            </a:pPr>
            <a:r>
              <a:rPr lang="en-US" sz="2714">
                <a:solidFill>
                  <a:srgbClr val="01012C"/>
                </a:solidFill>
                <a:latin typeface="Montserrat"/>
                <a:ea typeface="Montserrat"/>
                <a:cs typeface="Montserrat"/>
                <a:sym typeface="Montserrat"/>
              </a:rPr>
              <a:t> </a:t>
            </a:r>
          </a:p>
          <a:p>
            <a:pPr algn="ctr">
              <a:lnSpc>
                <a:spcPts val="2253"/>
              </a:lnSpc>
            </a:pPr>
            <a:r>
              <a:rPr lang="en-US" sz="2714" b="1">
                <a:solidFill>
                  <a:srgbClr val="01012C"/>
                </a:solidFill>
                <a:latin typeface="Montserrat Bold"/>
                <a:ea typeface="Montserrat Bold"/>
                <a:cs typeface="Montserrat Bold"/>
                <a:sym typeface="Montserrat Bold"/>
              </a:rPr>
              <a:t>Sarder Rifat Rahman Bandhan</a:t>
            </a:r>
          </a:p>
        </p:txBody>
      </p:sp>
      <p:sp>
        <p:nvSpPr>
          <p:cNvPr id="19" name="TextBox 19"/>
          <p:cNvSpPr txBox="1"/>
          <p:nvPr/>
        </p:nvSpPr>
        <p:spPr>
          <a:xfrm>
            <a:off x="14902745" y="9629935"/>
            <a:ext cx="2817590" cy="265176"/>
          </a:xfrm>
          <a:prstGeom prst="rect">
            <a:avLst/>
          </a:prstGeom>
        </p:spPr>
        <p:txBody>
          <a:bodyPr lIns="0" tIns="0" rIns="0" bIns="0" rtlCol="0" anchor="t">
            <a:spAutoFit/>
          </a:bodyPr>
          <a:lstStyle/>
          <a:p>
            <a:pPr algn="r">
              <a:lnSpc>
                <a:spcPts val="1991"/>
              </a:lnSpc>
            </a:pPr>
            <a:r>
              <a:rPr lang="en-US" sz="2400">
                <a:solidFill>
                  <a:srgbClr val="01012C"/>
                </a:solidFill>
                <a:latin typeface="Montserrat"/>
                <a:ea typeface="Montserrat"/>
                <a:cs typeface="Montserrat"/>
                <a:sym typeface="Montserrat"/>
              </a:rPr>
              <a:t>October 04, 2025</a:t>
            </a:r>
          </a:p>
        </p:txBody>
      </p:sp>
      <p:sp>
        <p:nvSpPr>
          <p:cNvPr id="20" name="TextBox 20"/>
          <p:cNvSpPr txBox="1"/>
          <p:nvPr/>
        </p:nvSpPr>
        <p:spPr>
          <a:xfrm>
            <a:off x="14902745" y="4118039"/>
            <a:ext cx="3280753" cy="1804035"/>
          </a:xfrm>
          <a:prstGeom prst="rect">
            <a:avLst/>
          </a:prstGeom>
        </p:spPr>
        <p:txBody>
          <a:bodyPr lIns="0" tIns="0" rIns="0" bIns="0" rtlCol="0" anchor="t">
            <a:spAutoFit/>
          </a:bodyPr>
          <a:lstStyle/>
          <a:p>
            <a:pPr algn="r">
              <a:lnSpc>
                <a:spcPts val="3600"/>
              </a:lnSpc>
            </a:pPr>
            <a:endParaRPr/>
          </a:p>
          <a:p>
            <a:pPr algn="r">
              <a:lnSpc>
                <a:spcPts val="3600"/>
              </a:lnSpc>
            </a:pPr>
            <a:r>
              <a:rPr lang="en-US" sz="2400" b="1">
                <a:solidFill>
                  <a:srgbClr val="01012C"/>
                </a:solidFill>
                <a:latin typeface="Montserrat Bold"/>
                <a:ea typeface="Montserrat Bold"/>
                <a:cs typeface="Montserrat Bold"/>
                <a:sym typeface="Montserrat Bold"/>
              </a:rPr>
              <a:t>M. M Rakibul Hasan</a:t>
            </a:r>
          </a:p>
          <a:p>
            <a:pPr algn="r">
              <a:lnSpc>
                <a:spcPts val="3600"/>
              </a:lnSpc>
            </a:pPr>
            <a:r>
              <a:rPr lang="en-US" sz="2400">
                <a:solidFill>
                  <a:srgbClr val="01012C"/>
                </a:solidFill>
                <a:latin typeface="Montserrat"/>
                <a:ea typeface="Montserrat"/>
                <a:cs typeface="Montserrat"/>
                <a:sym typeface="Montserrat"/>
              </a:rPr>
              <a:t>Assistant Professor </a:t>
            </a:r>
          </a:p>
          <a:p>
            <a:pPr algn="r">
              <a:lnSpc>
                <a:spcPts val="3600"/>
              </a:lnSpc>
            </a:pPr>
            <a:endParaRPr lang="en-US" sz="2400">
              <a:solidFill>
                <a:srgbClr val="01012C"/>
              </a:solidFill>
              <a:latin typeface="Montserrat"/>
              <a:ea typeface="Montserrat"/>
              <a:cs typeface="Montserrat"/>
              <a:sym typeface="Montserrat"/>
            </a:endParaRPr>
          </a:p>
        </p:txBody>
      </p:sp>
      <p:sp>
        <p:nvSpPr>
          <p:cNvPr id="21" name="TextBox 21"/>
          <p:cNvSpPr txBox="1"/>
          <p:nvPr/>
        </p:nvSpPr>
        <p:spPr>
          <a:xfrm>
            <a:off x="11621992" y="5504081"/>
            <a:ext cx="6561506" cy="277495"/>
          </a:xfrm>
          <a:prstGeom prst="rect">
            <a:avLst/>
          </a:prstGeom>
        </p:spPr>
        <p:txBody>
          <a:bodyPr lIns="0" tIns="0" rIns="0" bIns="0" rtlCol="0" anchor="t">
            <a:spAutoFit/>
          </a:bodyPr>
          <a:lstStyle/>
          <a:p>
            <a:pPr algn="r">
              <a:lnSpc>
                <a:spcPts val="2240"/>
              </a:lnSpc>
            </a:pPr>
            <a:r>
              <a:rPr lang="en-US" sz="2000">
                <a:solidFill>
                  <a:srgbClr val="01012C"/>
                </a:solidFill>
                <a:latin typeface="Montserrat"/>
                <a:ea typeface="Montserrat"/>
                <a:cs typeface="Montserrat"/>
                <a:sym typeface="Montserrat"/>
              </a:rPr>
              <a:t>Department of Computer Science &amp; Engineering</a:t>
            </a:r>
          </a:p>
        </p:txBody>
      </p:sp>
      <p:sp>
        <p:nvSpPr>
          <p:cNvPr id="22" name="TextBox 22"/>
          <p:cNvSpPr txBox="1"/>
          <p:nvPr/>
        </p:nvSpPr>
        <p:spPr>
          <a:xfrm>
            <a:off x="15894497" y="4146614"/>
            <a:ext cx="2316510" cy="396240"/>
          </a:xfrm>
          <a:prstGeom prst="rect">
            <a:avLst/>
          </a:prstGeom>
        </p:spPr>
        <p:txBody>
          <a:bodyPr lIns="0" tIns="0" rIns="0" bIns="0" rtlCol="0" anchor="t">
            <a:spAutoFit/>
          </a:bodyPr>
          <a:lstStyle/>
          <a:p>
            <a:pPr algn="ctr">
              <a:lnSpc>
                <a:spcPts val="3359"/>
              </a:lnSpc>
              <a:spcBef>
                <a:spcPct val="0"/>
              </a:spcBef>
            </a:pPr>
            <a:r>
              <a:rPr lang="en-US" sz="2400">
                <a:solidFill>
                  <a:srgbClr val="01012C"/>
                </a:solidFill>
                <a:latin typeface="Montserrat"/>
                <a:ea typeface="Montserrat"/>
                <a:cs typeface="Montserrat"/>
                <a:sym typeface="Montserrat"/>
              </a:rPr>
              <a:t>Supervised By :</a:t>
            </a:r>
          </a:p>
        </p:txBody>
      </p:sp>
      <p:sp>
        <p:nvSpPr>
          <p:cNvPr id="23" name="TextBox 23"/>
          <p:cNvSpPr txBox="1"/>
          <p:nvPr/>
        </p:nvSpPr>
        <p:spPr>
          <a:xfrm>
            <a:off x="5645531" y="8953385"/>
            <a:ext cx="6996938" cy="318074"/>
          </a:xfrm>
          <a:prstGeom prst="rect">
            <a:avLst/>
          </a:prstGeom>
        </p:spPr>
        <p:txBody>
          <a:bodyPr lIns="0" tIns="0" rIns="0" bIns="0" rtlCol="0" anchor="t">
            <a:spAutoFit/>
          </a:bodyPr>
          <a:lstStyle/>
          <a:p>
            <a:pPr algn="ctr">
              <a:lnSpc>
                <a:spcPts val="2253"/>
              </a:lnSpc>
            </a:pPr>
            <a:r>
              <a:rPr lang="en-US" sz="2714" b="1" dirty="0">
                <a:solidFill>
                  <a:srgbClr val="01012C"/>
                </a:solidFill>
                <a:latin typeface="Montserrat"/>
                <a:ea typeface="Montserrat"/>
                <a:cs typeface="Montserrat"/>
                <a:sym typeface="Montserrat"/>
              </a:rPr>
              <a:t>ID : 21303158</a:t>
            </a:r>
          </a:p>
        </p:txBody>
      </p:sp>
      <p:sp>
        <p:nvSpPr>
          <p:cNvPr id="34" name="Slide Number Placeholder 33">
            <a:extLst>
              <a:ext uri="{FF2B5EF4-FFF2-40B4-BE49-F238E27FC236}">
                <a16:creationId xmlns:a16="http://schemas.microsoft.com/office/drawing/2014/main" id="{E71EB885-8B31-E606-D1AA-05B11EEF5FE2}"/>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803586" y="1104900"/>
            <a:ext cx="10680827" cy="1127124"/>
          </a:xfrm>
          <a:prstGeom prst="rect">
            <a:avLst/>
          </a:prstGeom>
        </p:spPr>
        <p:txBody>
          <a:bodyPr lIns="0" tIns="0" rIns="0" bIns="0" rtlCol="0" anchor="t">
            <a:spAutoFit/>
          </a:bodyPr>
          <a:lstStyle/>
          <a:p>
            <a:pPr marL="0" lvl="0" indent="0" algn="ctr">
              <a:lnSpc>
                <a:spcPts val="7999"/>
              </a:lnSpc>
            </a:pPr>
            <a:r>
              <a:rPr lang="en-US" sz="9999" b="1" spc="-819" dirty="0">
                <a:solidFill>
                  <a:srgbClr val="01012C"/>
                </a:solidFill>
                <a:latin typeface="Arial Nova Bold"/>
                <a:ea typeface="Arial Nova Bold"/>
                <a:cs typeface="Arial Nova Bold"/>
                <a:sym typeface="Arial Nova Bold"/>
              </a:rPr>
              <a:t>TOPICS</a:t>
            </a:r>
          </a:p>
        </p:txBody>
      </p:sp>
      <p:sp>
        <p:nvSpPr>
          <p:cNvPr id="3" name="TextBox 3"/>
          <p:cNvSpPr txBox="1"/>
          <p:nvPr/>
        </p:nvSpPr>
        <p:spPr>
          <a:xfrm>
            <a:off x="15026845" y="9729046"/>
            <a:ext cx="2817590" cy="227330"/>
          </a:xfrm>
          <a:prstGeom prst="rect">
            <a:avLst/>
          </a:prstGeom>
        </p:spPr>
        <p:txBody>
          <a:bodyPr lIns="0" tIns="0" rIns="0" bIns="0" rtlCol="0" anchor="t">
            <a:spAutoFit/>
          </a:bodyPr>
          <a:lstStyle/>
          <a:p>
            <a:pPr algn="r">
              <a:lnSpc>
                <a:spcPts val="1660"/>
              </a:lnSpc>
            </a:pPr>
            <a:r>
              <a:rPr lang="en-US" sz="2000">
                <a:solidFill>
                  <a:srgbClr val="01012C"/>
                </a:solidFill>
                <a:latin typeface="Montserrat"/>
                <a:ea typeface="Montserrat"/>
                <a:cs typeface="Montserrat"/>
                <a:sym typeface="Montserrat"/>
              </a:rPr>
              <a:t>October 04, 2025</a:t>
            </a:r>
          </a:p>
        </p:txBody>
      </p:sp>
      <p:sp>
        <p:nvSpPr>
          <p:cNvPr id="4" name="TextBox 4"/>
          <p:cNvSpPr txBox="1"/>
          <p:nvPr/>
        </p:nvSpPr>
        <p:spPr>
          <a:xfrm>
            <a:off x="1600200" y="3116082"/>
            <a:ext cx="5358110" cy="6612964"/>
          </a:xfrm>
          <a:prstGeom prst="rect">
            <a:avLst/>
          </a:prstGeom>
        </p:spPr>
        <p:txBody>
          <a:bodyPr lIns="0" tIns="0" rIns="0" bIns="0" rtlCol="0" anchor="t">
            <a:spAutoFit/>
          </a:bodyPr>
          <a:lstStyle/>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Introduction</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Project Overview</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Process Model</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Requirement Engineering</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System Planning</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Risk Management</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Cost Estimation </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Designing / Analysis Modeling</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Demonstration</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Limitation</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Future Plan</a:t>
            </a:r>
          </a:p>
          <a:p>
            <a:pPr marL="518160" lvl="1" indent="-259080">
              <a:lnSpc>
                <a:spcPts val="3720"/>
              </a:lnSpc>
              <a:buFont typeface="Arial"/>
              <a:buChar char="•"/>
            </a:pPr>
            <a:r>
              <a:rPr lang="en-US" sz="2800" b="1" dirty="0">
                <a:solidFill>
                  <a:srgbClr val="01012C"/>
                </a:solidFill>
                <a:latin typeface="Montserrat Bold"/>
                <a:ea typeface="Montserrat Bold"/>
                <a:cs typeface="Montserrat Bold"/>
                <a:sym typeface="Montserrat Bold"/>
              </a:rPr>
              <a:t>Conclusion</a:t>
            </a:r>
          </a:p>
        </p:txBody>
      </p:sp>
      <p:sp>
        <p:nvSpPr>
          <p:cNvPr id="15" name="Slide Number Placeholder 14">
            <a:extLst>
              <a:ext uri="{FF2B5EF4-FFF2-40B4-BE49-F238E27FC236}">
                <a16:creationId xmlns:a16="http://schemas.microsoft.com/office/drawing/2014/main" id="{A115C470-DFE1-B4EF-14B8-6407384ED3C0}"/>
              </a:ext>
            </a:extLst>
          </p:cNvP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5" name="Freeform 5"/>
          <p:cNvSpPr/>
          <p:nvPr/>
        </p:nvSpPr>
        <p:spPr>
          <a:xfrm>
            <a:off x="1235199" y="2045296"/>
            <a:ext cx="5713169" cy="1428292"/>
          </a:xfrm>
          <a:custGeom>
            <a:avLst/>
            <a:gdLst/>
            <a:ahLst/>
            <a:cxnLst/>
            <a:rect l="l" t="t" r="r" b="b"/>
            <a:pathLst>
              <a:path w="5713169" h="1428292">
                <a:moveTo>
                  <a:pt x="0" y="0"/>
                </a:moveTo>
                <a:lnTo>
                  <a:pt x="5713169" y="0"/>
                </a:lnTo>
                <a:lnTo>
                  <a:pt x="5713169" y="1428292"/>
                </a:lnTo>
                <a:lnTo>
                  <a:pt x="0" y="1428292"/>
                </a:lnTo>
                <a:lnTo>
                  <a:pt x="0" y="0"/>
                </a:lnTo>
                <a:close/>
              </a:path>
            </a:pathLst>
          </a:custGeom>
          <a:blipFill>
            <a:blip r:embed="rId2"/>
            <a:stretch>
              <a:fillRect/>
            </a:stretch>
          </a:blipFill>
        </p:spPr>
      </p:sp>
      <p:sp>
        <p:nvSpPr>
          <p:cNvPr id="6" name="TextBox 6"/>
          <p:cNvSpPr txBox="1"/>
          <p:nvPr/>
        </p:nvSpPr>
        <p:spPr>
          <a:xfrm>
            <a:off x="4895832" y="705168"/>
            <a:ext cx="8107961" cy="989964"/>
          </a:xfrm>
          <a:prstGeom prst="rect">
            <a:avLst/>
          </a:prstGeom>
        </p:spPr>
        <p:txBody>
          <a:bodyPr lIns="0" tIns="0" rIns="0" bIns="0" rtlCol="0" anchor="t">
            <a:spAutoFit/>
          </a:bodyPr>
          <a:lstStyle/>
          <a:p>
            <a:pPr marL="0" lvl="0" indent="0" algn="l">
              <a:lnSpc>
                <a:spcPts val="7039"/>
              </a:lnSpc>
            </a:pPr>
            <a:r>
              <a:rPr lang="en-US" sz="8799" b="1" spc="-721">
                <a:solidFill>
                  <a:srgbClr val="01012C"/>
                </a:solidFill>
                <a:latin typeface="Arial Nova Bold"/>
                <a:ea typeface="Arial Nova Bold"/>
                <a:cs typeface="Arial Nova Bold"/>
                <a:sym typeface="Arial Nova Bold"/>
              </a:rPr>
              <a:t>ORGANIZATION</a:t>
            </a:r>
          </a:p>
        </p:txBody>
      </p:sp>
      <p:sp>
        <p:nvSpPr>
          <p:cNvPr id="7" name="TextBox 7"/>
          <p:cNvSpPr txBox="1"/>
          <p:nvPr/>
        </p:nvSpPr>
        <p:spPr>
          <a:xfrm>
            <a:off x="10109106" y="957123"/>
            <a:ext cx="7880443" cy="6066020"/>
          </a:xfrm>
          <a:prstGeom prst="rect">
            <a:avLst/>
          </a:prstGeom>
        </p:spPr>
        <p:txBody>
          <a:bodyPr lIns="0" tIns="0" rIns="0" bIns="0" rtlCol="0" anchor="t">
            <a:spAutoFit/>
          </a:bodyPr>
          <a:lstStyle/>
          <a:p>
            <a:pPr algn="l">
              <a:lnSpc>
                <a:spcPts val="3352"/>
              </a:lnSpc>
            </a:pPr>
            <a:endParaRPr dirty="0"/>
          </a:p>
          <a:p>
            <a:pPr algn="l">
              <a:lnSpc>
                <a:spcPts val="3352"/>
              </a:lnSpc>
            </a:pPr>
            <a:endParaRPr dirty="0"/>
          </a:p>
          <a:p>
            <a:pPr algn="l">
              <a:lnSpc>
                <a:spcPts val="3352"/>
              </a:lnSpc>
            </a:pPr>
            <a:r>
              <a:rPr lang="en-US" sz="2235" spc="-80" dirty="0">
                <a:solidFill>
                  <a:srgbClr val="01012C"/>
                </a:solidFill>
                <a:latin typeface="Montserrat"/>
                <a:ea typeface="Montserrat"/>
                <a:cs typeface="Montserrat"/>
                <a:sym typeface="Montserrat"/>
              </a:rPr>
              <a:t>Company Vision</a:t>
            </a:r>
          </a:p>
          <a:p>
            <a:pPr algn="l">
              <a:lnSpc>
                <a:spcPts val="3352"/>
              </a:lnSpc>
            </a:pPr>
            <a:r>
              <a:rPr lang="en-US" sz="2235" b="1" dirty="0">
                <a:solidFill>
                  <a:srgbClr val="01012C"/>
                </a:solidFill>
                <a:latin typeface="Montserrat"/>
                <a:ea typeface="Montserrat"/>
                <a:cs typeface="Montserrat"/>
                <a:sym typeface="Montserrat"/>
              </a:rPr>
              <a:t>"We code better life</a:t>
            </a:r>
            <a:r>
              <a:rPr lang="en-US" sz="2235" dirty="0">
                <a:solidFill>
                  <a:srgbClr val="01012C"/>
                </a:solidFill>
                <a:latin typeface="Montserrat"/>
                <a:ea typeface="Montserrat"/>
                <a:cs typeface="Montserrat"/>
                <a:sym typeface="Montserrat"/>
              </a:rPr>
              <a:t>"</a:t>
            </a:r>
          </a:p>
          <a:p>
            <a:pPr algn="just">
              <a:lnSpc>
                <a:spcPts val="3352"/>
              </a:lnSpc>
            </a:pPr>
            <a:r>
              <a:rPr lang="en-US" sz="2235" dirty="0">
                <a:solidFill>
                  <a:srgbClr val="01012C"/>
                </a:solidFill>
                <a:latin typeface="Montserrat"/>
                <a:ea typeface="Montserrat"/>
                <a:cs typeface="Montserrat"/>
                <a:sym typeface="Montserrat"/>
              </a:rPr>
              <a:t>Concise, aspirational statement reflecting CODETREE's commitment to enhancing everyday experiences through smart, efficient, and life-enriching digital solutions</a:t>
            </a:r>
          </a:p>
          <a:p>
            <a:pPr algn="l">
              <a:lnSpc>
                <a:spcPts val="3352"/>
              </a:lnSpc>
            </a:pPr>
            <a:endParaRPr lang="en-US" sz="2235" dirty="0">
              <a:solidFill>
                <a:srgbClr val="01012C"/>
              </a:solidFill>
              <a:latin typeface="Montserrat"/>
              <a:ea typeface="Montserrat"/>
              <a:cs typeface="Montserrat"/>
              <a:sym typeface="Montserrat"/>
            </a:endParaRPr>
          </a:p>
          <a:p>
            <a:pPr algn="l">
              <a:lnSpc>
                <a:spcPts val="3352"/>
              </a:lnSpc>
            </a:pPr>
            <a:r>
              <a:rPr lang="en-US" sz="2235" spc="-80" dirty="0">
                <a:solidFill>
                  <a:srgbClr val="01012C"/>
                </a:solidFill>
                <a:latin typeface="Montserrat"/>
                <a:ea typeface="Montserrat"/>
                <a:cs typeface="Montserrat"/>
                <a:sym typeface="Montserrat"/>
              </a:rPr>
              <a:t>Company Mission</a:t>
            </a:r>
          </a:p>
          <a:p>
            <a:pPr algn="just">
              <a:lnSpc>
                <a:spcPts val="3352"/>
              </a:lnSpc>
            </a:pPr>
            <a:r>
              <a:rPr lang="en-US" sz="2235" dirty="0">
                <a:solidFill>
                  <a:srgbClr val="01012C"/>
                </a:solidFill>
                <a:latin typeface="Montserrat"/>
                <a:ea typeface="Montserrat"/>
                <a:cs typeface="Montserrat"/>
                <a:sym typeface="Montserrat"/>
              </a:rPr>
              <a:t>CODETREE is driven by a bold mission to </a:t>
            </a:r>
            <a:r>
              <a:rPr lang="en-US" sz="2235" b="1" dirty="0">
                <a:solidFill>
                  <a:srgbClr val="01012C"/>
                </a:solidFill>
                <a:latin typeface="Montserrat"/>
                <a:ea typeface="Montserrat"/>
                <a:cs typeface="Montserrat"/>
                <a:sym typeface="Montserrat"/>
              </a:rPr>
              <a:t>unite the diverse expertise of designers, developers, and entrepreneurs under one roof—one tree—to deliver the best-quality digital outcomes tailored to client needs</a:t>
            </a:r>
          </a:p>
        </p:txBody>
      </p:sp>
      <p:sp>
        <p:nvSpPr>
          <p:cNvPr id="8" name="TextBox 8"/>
          <p:cNvSpPr txBox="1"/>
          <p:nvPr/>
        </p:nvSpPr>
        <p:spPr>
          <a:xfrm>
            <a:off x="532919" y="3766603"/>
            <a:ext cx="7449692" cy="6457950"/>
          </a:xfrm>
          <a:prstGeom prst="rect">
            <a:avLst/>
          </a:prstGeom>
        </p:spPr>
        <p:txBody>
          <a:bodyPr lIns="0" tIns="0" rIns="0" bIns="0" rtlCol="0" anchor="t">
            <a:spAutoFit/>
          </a:bodyPr>
          <a:lstStyle/>
          <a:p>
            <a:pPr algn="just">
              <a:lnSpc>
                <a:spcPts val="3000"/>
              </a:lnSpc>
            </a:pPr>
            <a:r>
              <a:rPr lang="en-US" sz="2000" dirty="0">
                <a:solidFill>
                  <a:srgbClr val="01012C"/>
                </a:solidFill>
                <a:latin typeface="Montserrat"/>
                <a:ea typeface="Montserrat"/>
                <a:cs typeface="Montserrat"/>
                <a:sym typeface="Montserrat"/>
              </a:rPr>
              <a:t>CODETREE is an innovative and forward-thinking company that provides an array of services in </a:t>
            </a:r>
            <a:r>
              <a:rPr lang="en-US" sz="2000" b="1" dirty="0">
                <a:solidFill>
                  <a:srgbClr val="01012C"/>
                </a:solidFill>
                <a:latin typeface="Montserrat"/>
                <a:ea typeface="Montserrat"/>
                <a:cs typeface="Montserrat"/>
                <a:sym typeface="Montserrat"/>
              </a:rPr>
              <a:t>Web Development &amp; Solutions</a:t>
            </a:r>
            <a:r>
              <a:rPr lang="en-US" sz="2000" dirty="0">
                <a:solidFill>
                  <a:srgbClr val="01012C"/>
                </a:solidFill>
                <a:latin typeface="Montserrat"/>
                <a:ea typeface="Montserrat"/>
                <a:cs typeface="Montserrat"/>
                <a:sym typeface="Montserrat"/>
              </a:rPr>
              <a:t>, </a:t>
            </a:r>
            <a:r>
              <a:rPr lang="en-US" sz="2000" b="1" dirty="0">
                <a:solidFill>
                  <a:srgbClr val="01012C"/>
                </a:solidFill>
                <a:latin typeface="Montserrat"/>
                <a:ea typeface="Montserrat"/>
                <a:cs typeface="Montserrat"/>
                <a:sym typeface="Montserrat"/>
              </a:rPr>
              <a:t>Custom Software Development, Mobile Application Development, Digital Marketing, Cloud Hosting, Graphic Design, Point-of-Sale Systems, Inventory Management, School &amp; College Management Systems, Donation Management Platforms, Bulk SMS Services, and IT Consultation.</a:t>
            </a:r>
          </a:p>
          <a:p>
            <a:pPr algn="just">
              <a:lnSpc>
                <a:spcPts val="3000"/>
              </a:lnSpc>
            </a:pPr>
            <a:endParaRPr lang="en-US" sz="2000" dirty="0">
              <a:solidFill>
                <a:srgbClr val="01012C"/>
              </a:solidFill>
              <a:latin typeface="Montserrat"/>
              <a:ea typeface="Montserrat"/>
              <a:cs typeface="Montserrat"/>
              <a:sym typeface="Montserrat"/>
            </a:endParaRPr>
          </a:p>
          <a:p>
            <a:pPr algn="just">
              <a:lnSpc>
                <a:spcPts val="3000"/>
              </a:lnSpc>
            </a:pPr>
            <a:r>
              <a:rPr lang="en-US" sz="2000" dirty="0">
                <a:solidFill>
                  <a:srgbClr val="01012C"/>
                </a:solidFill>
                <a:latin typeface="Montserrat"/>
                <a:ea typeface="Montserrat"/>
                <a:cs typeface="Montserrat"/>
                <a:sym typeface="Montserrat"/>
              </a:rPr>
              <a:t>Established in </a:t>
            </a:r>
            <a:r>
              <a:rPr lang="en-US" sz="2000" b="1" dirty="0">
                <a:solidFill>
                  <a:srgbClr val="01012C"/>
                </a:solidFill>
                <a:latin typeface="Montserrat"/>
                <a:ea typeface="Montserrat"/>
                <a:cs typeface="Montserrat"/>
                <a:sym typeface="Montserrat"/>
              </a:rPr>
              <a:t>2017, </a:t>
            </a:r>
            <a:r>
              <a:rPr lang="en-US" sz="2000" dirty="0">
                <a:solidFill>
                  <a:srgbClr val="01012C"/>
                </a:solidFill>
                <a:latin typeface="Montserrat"/>
                <a:ea typeface="Montserrat"/>
                <a:cs typeface="Montserrat"/>
                <a:sym typeface="Montserrat"/>
              </a:rPr>
              <a:t>CODETREE has positioned itself as a leading software development company based in Dhaka, Bangladesh, with an international presence in Ontario, Canada. The company operates under the vision "We code  better life", reflecting their commitment to enhancing everyday experiences through </a:t>
            </a:r>
            <a:r>
              <a:rPr lang="en-US" sz="2000" b="1" dirty="0">
                <a:solidFill>
                  <a:srgbClr val="01012C"/>
                </a:solidFill>
                <a:latin typeface="Montserrat"/>
                <a:ea typeface="Montserrat"/>
                <a:cs typeface="Montserrat"/>
                <a:sym typeface="Montserrat"/>
              </a:rPr>
              <a:t>smart, efficient, and life-enriching digital solutions.</a:t>
            </a:r>
          </a:p>
          <a:p>
            <a:pPr algn="just">
              <a:lnSpc>
                <a:spcPts val="3000"/>
              </a:lnSpc>
            </a:pPr>
            <a:endParaRPr lang="en-US" sz="2000" dirty="0">
              <a:solidFill>
                <a:srgbClr val="01012C"/>
              </a:solidFill>
              <a:latin typeface="Montserrat"/>
              <a:ea typeface="Montserrat"/>
              <a:cs typeface="Montserrat"/>
              <a:sym typeface="Montserrat"/>
            </a:endParaRPr>
          </a:p>
        </p:txBody>
      </p:sp>
      <p:sp>
        <p:nvSpPr>
          <p:cNvPr id="9" name="TextBox 9"/>
          <p:cNvSpPr txBox="1"/>
          <p:nvPr/>
        </p:nvSpPr>
        <p:spPr>
          <a:xfrm>
            <a:off x="10109106" y="7580629"/>
            <a:ext cx="8025558" cy="2266950"/>
          </a:xfrm>
          <a:prstGeom prst="rect">
            <a:avLst/>
          </a:prstGeom>
        </p:spPr>
        <p:txBody>
          <a:bodyPr lIns="0" tIns="0" rIns="0" bIns="0" rtlCol="0" anchor="t">
            <a:spAutoFit/>
          </a:bodyPr>
          <a:lstStyle/>
          <a:p>
            <a:pPr algn="r">
              <a:lnSpc>
                <a:spcPts val="3000"/>
              </a:lnSpc>
            </a:pPr>
            <a:r>
              <a:rPr lang="en-US" sz="2000" b="1" dirty="0">
                <a:solidFill>
                  <a:srgbClr val="01012C"/>
                </a:solidFill>
                <a:latin typeface="Montserrat"/>
                <a:ea typeface="Montserrat"/>
                <a:cs typeface="Montserrat"/>
                <a:sym typeface="Montserrat"/>
              </a:rPr>
              <a:t>CODE</a:t>
            </a:r>
            <a:r>
              <a:rPr lang="en-US" sz="2000" b="1" dirty="0">
                <a:solidFill>
                  <a:srgbClr val="00B050"/>
                </a:solidFill>
                <a:latin typeface="Montserrat"/>
                <a:ea typeface="Montserrat"/>
                <a:cs typeface="Montserrat"/>
                <a:sym typeface="Montserrat"/>
              </a:rPr>
              <a:t>TREE</a:t>
            </a:r>
          </a:p>
          <a:p>
            <a:pPr algn="r">
              <a:lnSpc>
                <a:spcPts val="3000"/>
              </a:lnSpc>
            </a:pPr>
            <a:r>
              <a:rPr lang="en-US" sz="2000" dirty="0">
                <a:solidFill>
                  <a:srgbClr val="01012C"/>
                </a:solidFill>
                <a:latin typeface="Montserrat"/>
                <a:ea typeface="Montserrat"/>
                <a:cs typeface="Montserrat"/>
                <a:sym typeface="Montserrat"/>
              </a:rPr>
              <a:t>Location: House 73F, Road 12B, Sector 10, Uttara, Dhaka 1230, Bangladesh</a:t>
            </a:r>
          </a:p>
          <a:p>
            <a:pPr algn="r">
              <a:lnSpc>
                <a:spcPts val="3000"/>
              </a:lnSpc>
            </a:pPr>
            <a:r>
              <a:rPr lang="en-US" sz="2000" dirty="0">
                <a:solidFill>
                  <a:srgbClr val="01012C"/>
                </a:solidFill>
                <a:latin typeface="Montserrat"/>
                <a:ea typeface="Montserrat"/>
                <a:cs typeface="Montserrat"/>
                <a:sym typeface="Montserrat"/>
              </a:rPr>
              <a:t>Contact: Phone: 01710070606</a:t>
            </a:r>
          </a:p>
          <a:p>
            <a:pPr algn="r">
              <a:lnSpc>
                <a:spcPts val="3000"/>
              </a:lnSpc>
            </a:pPr>
            <a:r>
              <a:rPr lang="en-US" sz="2000" dirty="0">
                <a:solidFill>
                  <a:srgbClr val="01012C"/>
                </a:solidFill>
                <a:latin typeface="Montserrat"/>
                <a:ea typeface="Montserrat"/>
                <a:cs typeface="Montserrat"/>
                <a:sym typeface="Montserrat"/>
              </a:rPr>
              <a:t>Email: codetreebd@gmail.com</a:t>
            </a:r>
          </a:p>
          <a:p>
            <a:pPr algn="r">
              <a:lnSpc>
                <a:spcPts val="3000"/>
              </a:lnSpc>
            </a:pPr>
            <a:r>
              <a:rPr lang="en-US" sz="2000" dirty="0">
                <a:solidFill>
                  <a:srgbClr val="01012C"/>
                </a:solidFill>
                <a:latin typeface="Montserrat"/>
                <a:ea typeface="Montserrat"/>
                <a:cs typeface="Montserrat"/>
                <a:sym typeface="Montserrat"/>
              </a:rPr>
              <a:t>Working Hours: 09:00 AM – 06:00 PM</a:t>
            </a:r>
          </a:p>
        </p:txBody>
      </p:sp>
      <p:sp>
        <p:nvSpPr>
          <p:cNvPr id="17" name="Slide Number Placeholder 16">
            <a:extLst>
              <a:ext uri="{FF2B5EF4-FFF2-40B4-BE49-F238E27FC236}">
                <a16:creationId xmlns:a16="http://schemas.microsoft.com/office/drawing/2014/main" id="{89ECEA78-F949-A03B-6DDC-F5ED4E9DC400}"/>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6128606" y="9906000"/>
            <a:ext cx="1848291" cy="0"/>
          </a:xfrm>
          <a:prstGeom prst="line">
            <a:avLst/>
          </a:prstGeom>
          <a:ln w="38100" cap="flat">
            <a:solidFill>
              <a:srgbClr val="000000"/>
            </a:solidFill>
            <a:prstDash val="solid"/>
            <a:headEnd type="none" w="sm" len="sm"/>
            <a:tailEnd type="arrow" w="med" len="sm"/>
          </a:ln>
        </p:spPr>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66350" y="5088271"/>
            <a:ext cx="3769290" cy="3809603"/>
          </a:xfrm>
          <a:custGeom>
            <a:avLst/>
            <a:gdLst/>
            <a:ahLst/>
            <a:cxnLst/>
            <a:rect l="l" t="t" r="r" b="b"/>
            <a:pathLst>
              <a:path w="3769290" h="3809603">
                <a:moveTo>
                  <a:pt x="0" y="0"/>
                </a:moveTo>
                <a:lnTo>
                  <a:pt x="3769289" y="0"/>
                </a:lnTo>
                <a:lnTo>
                  <a:pt x="3769289" y="3809603"/>
                </a:lnTo>
                <a:lnTo>
                  <a:pt x="0" y="3809603"/>
                </a:lnTo>
                <a:lnTo>
                  <a:pt x="0" y="0"/>
                </a:lnTo>
                <a:close/>
              </a:path>
            </a:pathLst>
          </a:custGeom>
          <a:blipFill>
            <a:blip r:embed="rId6">
              <a:alphaModFix amt="70000"/>
            </a:blip>
            <a:stretch>
              <a:fillRect/>
            </a:stretch>
          </a:blipFill>
        </p:spPr>
      </p:sp>
      <p:sp>
        <p:nvSpPr>
          <p:cNvPr id="6" name="TextBox 6"/>
          <p:cNvSpPr txBox="1"/>
          <p:nvPr/>
        </p:nvSpPr>
        <p:spPr>
          <a:xfrm>
            <a:off x="4362415" y="705168"/>
            <a:ext cx="11156604" cy="989964"/>
          </a:xfrm>
          <a:prstGeom prst="rect">
            <a:avLst/>
          </a:prstGeom>
        </p:spPr>
        <p:txBody>
          <a:bodyPr lIns="0" tIns="0" rIns="0" bIns="0" rtlCol="0" anchor="t">
            <a:spAutoFit/>
          </a:bodyPr>
          <a:lstStyle/>
          <a:p>
            <a:pPr marL="0" lvl="0" indent="0" algn="l">
              <a:lnSpc>
                <a:spcPts val="7039"/>
              </a:lnSpc>
            </a:pPr>
            <a:r>
              <a:rPr lang="en-US" sz="8799" b="1" spc="-721">
                <a:solidFill>
                  <a:srgbClr val="01012C"/>
                </a:solidFill>
                <a:latin typeface="Arial Nova Bold"/>
                <a:ea typeface="Arial Nova Bold"/>
                <a:cs typeface="Arial Nova Bold"/>
                <a:sym typeface="Arial Nova Bold"/>
              </a:rPr>
              <a:t>PROJECT OVERVIEW</a:t>
            </a:r>
          </a:p>
        </p:txBody>
      </p:sp>
      <p:sp>
        <p:nvSpPr>
          <p:cNvPr id="8" name="TextBox 8"/>
          <p:cNvSpPr txBox="1"/>
          <p:nvPr/>
        </p:nvSpPr>
        <p:spPr>
          <a:xfrm>
            <a:off x="1028700" y="2267802"/>
            <a:ext cx="7064723" cy="6516207"/>
          </a:xfrm>
          <a:prstGeom prst="rect">
            <a:avLst/>
          </a:prstGeom>
        </p:spPr>
        <p:txBody>
          <a:bodyPr lIns="0" tIns="0" rIns="0" bIns="0" rtlCol="0" anchor="t">
            <a:spAutoFit/>
          </a:bodyPr>
          <a:lstStyle/>
          <a:p>
            <a:pPr marL="426404" lvl="1" indent="-213202" algn="just">
              <a:lnSpc>
                <a:spcPts val="2962"/>
              </a:lnSpc>
              <a:buFont typeface="Arial"/>
              <a:buChar char="•"/>
            </a:pP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Restaurant Point of Sale System </a:t>
            </a: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for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CODETREE</a:t>
            </a: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 is responsible for managing all aspects of restaurant operations,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including order management, inventory tracking, payment processing, and comprehensive reporting.</a:t>
            </a:r>
          </a:p>
          <a:p>
            <a:pPr marL="426404" lvl="1" indent="-213202" algn="just">
              <a:lnSpc>
                <a:spcPts val="2962"/>
              </a:lnSpc>
              <a:buFont typeface="Arial"/>
              <a:buChar char="•"/>
            </a:pPr>
            <a:endParaRPr lang="en-US" sz="2400" b="1" dirty="0">
              <a:solidFill>
                <a:srgbClr val="01012C"/>
              </a:solidFill>
              <a:latin typeface="Times New Roman" panose="02020603050405020304" pitchFamily="18" charset="0"/>
              <a:ea typeface="Montserrat"/>
              <a:cs typeface="Times New Roman" panose="02020603050405020304" pitchFamily="18" charset="0"/>
              <a:sym typeface="Montserrat"/>
            </a:endParaRPr>
          </a:p>
          <a:p>
            <a:pPr marL="426404" lvl="1" indent="-213202" algn="just">
              <a:lnSpc>
                <a:spcPts val="2962"/>
              </a:lnSpc>
              <a:buFont typeface="Arial"/>
              <a:buChar char="•"/>
            </a:pP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 This system helps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restaurants automate their daily operations and eliminate manual errors that commonly occur in order taking, billing, and inventory management.</a:t>
            </a:r>
          </a:p>
          <a:p>
            <a:pPr marL="426404" lvl="1" indent="-213202" algn="just">
              <a:lnSpc>
                <a:spcPts val="2962"/>
              </a:lnSpc>
              <a:buFont typeface="Arial"/>
              <a:buChar char="•"/>
            </a:pPr>
            <a:endParaRPr lang="en-US" sz="2400" b="1" dirty="0">
              <a:solidFill>
                <a:srgbClr val="01012C"/>
              </a:solidFill>
              <a:latin typeface="Times New Roman" panose="02020603050405020304" pitchFamily="18" charset="0"/>
              <a:ea typeface="Montserrat"/>
              <a:cs typeface="Times New Roman" panose="02020603050405020304" pitchFamily="18" charset="0"/>
              <a:sym typeface="Montserrat"/>
            </a:endParaRPr>
          </a:p>
          <a:p>
            <a:pPr marL="426404" lvl="1" indent="-213202" algn="just">
              <a:lnSpc>
                <a:spcPts val="2962"/>
              </a:lnSpc>
              <a:buFont typeface="Arial"/>
              <a:buChar char="•"/>
            </a:pP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 The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primary objective </a:t>
            </a: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of the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"Restaurant Point of Sale System" </a:t>
            </a: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project is to </a:t>
            </a: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automate restaurant workflows, streamline operations, reduce processing time, and enhance overall service quality.</a:t>
            </a:r>
          </a:p>
          <a:p>
            <a:pPr algn="just">
              <a:lnSpc>
                <a:spcPts val="2962"/>
              </a:lnSpc>
            </a:pPr>
            <a:endParaRPr lang="en-US" sz="2400" dirty="0">
              <a:solidFill>
                <a:srgbClr val="01012C"/>
              </a:solidFill>
              <a:latin typeface="Times New Roman" panose="02020603050405020304" pitchFamily="18" charset="0"/>
              <a:ea typeface="Montserrat"/>
              <a:cs typeface="Times New Roman" panose="02020603050405020304" pitchFamily="18" charset="0"/>
              <a:sym typeface="Montserrat"/>
            </a:endParaRPr>
          </a:p>
        </p:txBody>
      </p:sp>
      <p:sp>
        <p:nvSpPr>
          <p:cNvPr id="9" name="TextBox 9"/>
          <p:cNvSpPr txBox="1"/>
          <p:nvPr/>
        </p:nvSpPr>
        <p:spPr>
          <a:xfrm>
            <a:off x="10439400" y="1850231"/>
            <a:ext cx="7268546" cy="2462213"/>
          </a:xfrm>
          <a:prstGeom prst="rect">
            <a:avLst/>
          </a:prstGeom>
        </p:spPr>
        <p:txBody>
          <a:bodyPr lIns="0" tIns="0" rIns="0" bIns="0" rtlCol="0" anchor="t">
            <a:spAutoFit/>
          </a:bodyPr>
          <a:lstStyle/>
          <a:p>
            <a:pPr algn="just">
              <a:lnSpc>
                <a:spcPts val="3150"/>
              </a:lnSpc>
            </a:pPr>
            <a:endParaRPr lang="en-US" sz="2400" dirty="0">
              <a:latin typeface="Times New Roman" panose="02020603050405020304" pitchFamily="18" charset="0"/>
              <a:cs typeface="Times New Roman" panose="02020603050405020304" pitchFamily="18" charset="0"/>
            </a:endParaRPr>
          </a:p>
          <a:p>
            <a:pPr marL="453392" lvl="1" indent="-226696" algn="just">
              <a:lnSpc>
                <a:spcPts val="3150"/>
              </a:lnSpc>
              <a:buFont typeface="Arial"/>
              <a:buChar char="•"/>
            </a:pPr>
            <a:r>
              <a:rPr lang="en-US" sz="2800" dirty="0">
                <a:solidFill>
                  <a:srgbClr val="01012C"/>
                </a:solidFill>
                <a:latin typeface="Times New Roman" panose="02020603050405020304" pitchFamily="18" charset="0"/>
                <a:ea typeface="Montserrat"/>
                <a:cs typeface="Times New Roman" panose="02020603050405020304" pitchFamily="18" charset="0"/>
                <a:sym typeface="Montserrat"/>
              </a:rPr>
              <a:t>Built with </a:t>
            </a:r>
            <a:r>
              <a:rPr lang="en-US" sz="2800" b="1" dirty="0">
                <a:solidFill>
                  <a:srgbClr val="01012C"/>
                </a:solidFill>
                <a:latin typeface="Times New Roman" panose="02020603050405020304" pitchFamily="18" charset="0"/>
                <a:ea typeface="Montserrat"/>
                <a:cs typeface="Times New Roman" panose="02020603050405020304" pitchFamily="18" charset="0"/>
                <a:sym typeface="Montserrat"/>
              </a:rPr>
              <a:t>modern web technologies </a:t>
            </a:r>
            <a:r>
              <a:rPr lang="en-US" sz="2800" dirty="0">
                <a:solidFill>
                  <a:srgbClr val="01012C"/>
                </a:solidFill>
                <a:latin typeface="Times New Roman" panose="02020603050405020304" pitchFamily="18" charset="0"/>
                <a:ea typeface="Montserrat"/>
                <a:cs typeface="Times New Roman" panose="02020603050405020304" pitchFamily="18" charset="0"/>
                <a:sym typeface="Montserrat"/>
              </a:rPr>
              <a:t>(</a:t>
            </a:r>
            <a:r>
              <a:rPr lang="en-US" sz="2800" b="1" dirty="0">
                <a:solidFill>
                  <a:srgbClr val="01012C"/>
                </a:solidFill>
                <a:latin typeface="Times New Roman" panose="02020603050405020304" pitchFamily="18" charset="0"/>
                <a:ea typeface="Montserrat"/>
                <a:cs typeface="Times New Roman" panose="02020603050405020304" pitchFamily="18" charset="0"/>
                <a:sym typeface="Montserrat"/>
              </a:rPr>
              <a:t>React.js frontend, Laravel backend, MySQL database</a:t>
            </a:r>
            <a:r>
              <a:rPr lang="en-US" sz="2800" dirty="0">
                <a:solidFill>
                  <a:srgbClr val="01012C"/>
                </a:solidFill>
                <a:latin typeface="Times New Roman" panose="02020603050405020304" pitchFamily="18" charset="0"/>
                <a:ea typeface="Montserrat"/>
                <a:cs typeface="Times New Roman" panose="02020603050405020304" pitchFamily="18" charset="0"/>
                <a:sym typeface="Montserrat"/>
              </a:rPr>
              <a:t>), the system ensures </a:t>
            </a:r>
            <a:r>
              <a:rPr lang="en-US" sz="2800" b="1" dirty="0">
                <a:solidFill>
                  <a:srgbClr val="01012C"/>
                </a:solidFill>
                <a:latin typeface="Times New Roman" panose="02020603050405020304" pitchFamily="18" charset="0"/>
                <a:ea typeface="Montserrat"/>
                <a:cs typeface="Times New Roman" panose="02020603050405020304" pitchFamily="18" charset="0"/>
                <a:sym typeface="Montserrat"/>
              </a:rPr>
              <a:t>reliable performance, secure data handling, and scalable restaurant management solutions.</a:t>
            </a:r>
          </a:p>
        </p:txBody>
      </p:sp>
      <p:sp>
        <p:nvSpPr>
          <p:cNvPr id="17" name="Slide Number Placeholder 16">
            <a:extLst>
              <a:ext uri="{FF2B5EF4-FFF2-40B4-BE49-F238E27FC236}">
                <a16:creationId xmlns:a16="http://schemas.microsoft.com/office/drawing/2014/main" id="{6F5976C7-6F87-F427-0EAD-DD7CD7CD7A24}"/>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15411009" y="9953625"/>
            <a:ext cx="1848291" cy="0"/>
          </a:xfrm>
          <a:prstGeom prst="line">
            <a:avLst/>
          </a:prstGeom>
          <a:ln w="38100" cap="flat">
            <a:solidFill>
              <a:srgbClr val="000000"/>
            </a:solidFill>
            <a:prstDash val="solid"/>
            <a:headEnd type="none" w="sm" len="sm"/>
            <a:tailEnd type="arrow" w="med" len="sm"/>
          </a:ln>
        </p:spPr>
      </p:sp>
      <p:sp>
        <p:nvSpPr>
          <p:cNvPr id="3" name="Freeform 3"/>
          <p:cNvSpPr/>
          <p:nvPr/>
        </p:nvSpPr>
        <p:spPr>
          <a:xfrm>
            <a:off x="5684210" y="1683710"/>
            <a:ext cx="6919580" cy="6919580"/>
          </a:xfrm>
          <a:custGeom>
            <a:avLst/>
            <a:gdLst/>
            <a:ahLst/>
            <a:cxnLst/>
            <a:rect l="l" t="t" r="r" b="b"/>
            <a:pathLst>
              <a:path w="6919580" h="6919580">
                <a:moveTo>
                  <a:pt x="0" y="0"/>
                </a:moveTo>
                <a:lnTo>
                  <a:pt x="6919580" y="0"/>
                </a:lnTo>
                <a:lnTo>
                  <a:pt x="6919580" y="6919580"/>
                </a:lnTo>
                <a:lnTo>
                  <a:pt x="0" y="6919580"/>
                </a:lnTo>
                <a:lnTo>
                  <a:pt x="0" y="0"/>
                </a:lnTo>
                <a:close/>
              </a:path>
            </a:pathLst>
          </a:custGeom>
          <a:blipFill>
            <a:blip r:embed="rId2"/>
            <a:stretch>
              <a:fillRect/>
            </a:stretch>
          </a:blipFill>
        </p:spPr>
      </p:sp>
      <p:sp>
        <p:nvSpPr>
          <p:cNvPr id="4" name="TextBox 4"/>
          <p:cNvSpPr txBox="1"/>
          <p:nvPr/>
        </p:nvSpPr>
        <p:spPr>
          <a:xfrm>
            <a:off x="1028700" y="970344"/>
            <a:ext cx="7029171" cy="739505"/>
          </a:xfrm>
          <a:prstGeom prst="rect">
            <a:avLst/>
          </a:prstGeom>
        </p:spPr>
        <p:txBody>
          <a:bodyPr lIns="0" tIns="0" rIns="0" bIns="0" rtlCol="0" anchor="t">
            <a:spAutoFit/>
          </a:bodyPr>
          <a:lstStyle/>
          <a:p>
            <a:pPr marL="0" lvl="0" indent="0" algn="l">
              <a:lnSpc>
                <a:spcPts val="5195"/>
              </a:lnSpc>
            </a:pPr>
            <a:r>
              <a:rPr lang="en-US" sz="6494" b="1" spc="-532">
                <a:solidFill>
                  <a:srgbClr val="01012C"/>
                </a:solidFill>
                <a:latin typeface="Arial Nova Bold"/>
                <a:ea typeface="Arial Nova Bold"/>
                <a:cs typeface="Arial Nova Bold"/>
                <a:sym typeface="Arial Nova Bold"/>
              </a:rPr>
              <a:t>PROCESS MODEL</a:t>
            </a:r>
          </a:p>
        </p:txBody>
      </p:sp>
      <p:sp>
        <p:nvSpPr>
          <p:cNvPr id="6" name="TextBox 6"/>
          <p:cNvSpPr txBox="1"/>
          <p:nvPr/>
        </p:nvSpPr>
        <p:spPr>
          <a:xfrm>
            <a:off x="7146402" y="8679490"/>
            <a:ext cx="3995196" cy="257423"/>
          </a:xfrm>
          <a:prstGeom prst="rect">
            <a:avLst/>
          </a:prstGeom>
        </p:spPr>
        <p:txBody>
          <a:bodyPr lIns="0" tIns="0" rIns="0" bIns="0" rtlCol="0" anchor="t">
            <a:spAutoFit/>
          </a:bodyPr>
          <a:lstStyle/>
          <a:p>
            <a:pPr algn="ctr">
              <a:lnSpc>
                <a:spcPts val="1855"/>
              </a:lnSpc>
            </a:pPr>
            <a:r>
              <a:rPr lang="en-US" sz="2235">
                <a:solidFill>
                  <a:srgbClr val="01012C"/>
                </a:solidFill>
                <a:latin typeface="Montserrat"/>
                <a:ea typeface="Montserrat"/>
                <a:cs typeface="Montserrat"/>
                <a:sym typeface="Montserrat"/>
              </a:rPr>
              <a:t>Fig : Iterative Process Model </a:t>
            </a:r>
          </a:p>
        </p:txBody>
      </p:sp>
      <p:sp>
        <p:nvSpPr>
          <p:cNvPr id="14" name="Slide Number Placeholder 13">
            <a:extLst>
              <a:ext uri="{FF2B5EF4-FFF2-40B4-BE49-F238E27FC236}">
                <a16:creationId xmlns:a16="http://schemas.microsoft.com/office/drawing/2014/main" id="{B1C70E16-C685-DADC-0814-AECE873BBFC4}"/>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2133600" y="3953819"/>
            <a:ext cx="2745968" cy="2379360"/>
          </a:xfrm>
          <a:custGeom>
            <a:avLst/>
            <a:gdLst/>
            <a:ahLst/>
            <a:cxnLst/>
            <a:rect l="l" t="t" r="r" b="b"/>
            <a:pathLst>
              <a:path w="2745968" h="2379360">
                <a:moveTo>
                  <a:pt x="0" y="0"/>
                </a:moveTo>
                <a:lnTo>
                  <a:pt x="2745968" y="0"/>
                </a:lnTo>
                <a:lnTo>
                  <a:pt x="2745968" y="2379360"/>
                </a:lnTo>
                <a:lnTo>
                  <a:pt x="0" y="2379360"/>
                </a:lnTo>
                <a:lnTo>
                  <a:pt x="0" y="0"/>
                </a:lnTo>
                <a:close/>
              </a:path>
            </a:pathLst>
          </a:custGeom>
          <a:blipFill>
            <a:blip r:embed="rId2">
              <a:alphaModFix amt="70000"/>
            </a:blip>
            <a:stretch>
              <a:fillRect/>
            </a:stretch>
          </a:blipFill>
        </p:spPr>
      </p:sp>
      <p:sp>
        <p:nvSpPr>
          <p:cNvPr id="3" name="TextBox 3"/>
          <p:cNvSpPr txBox="1"/>
          <p:nvPr/>
        </p:nvSpPr>
        <p:spPr>
          <a:xfrm>
            <a:off x="1028700" y="970344"/>
            <a:ext cx="9188752" cy="753207"/>
          </a:xfrm>
          <a:prstGeom prst="rect">
            <a:avLst/>
          </a:prstGeom>
        </p:spPr>
        <p:txBody>
          <a:bodyPr lIns="0" tIns="0" rIns="0" bIns="0" rtlCol="0" anchor="t">
            <a:spAutoFit/>
          </a:bodyPr>
          <a:lstStyle/>
          <a:p>
            <a:pPr marL="0" lvl="0" indent="0" algn="l">
              <a:lnSpc>
                <a:spcPts val="5261"/>
              </a:lnSpc>
            </a:pPr>
            <a:r>
              <a:rPr lang="en-US" sz="6576" b="1" spc="-539">
                <a:solidFill>
                  <a:srgbClr val="01012C"/>
                </a:solidFill>
                <a:latin typeface="Arial Nova Bold"/>
                <a:ea typeface="Arial Nova Bold"/>
                <a:cs typeface="Arial Nova Bold"/>
                <a:sym typeface="Arial Nova Bold"/>
              </a:rPr>
              <a:t>PROCESS MODEL CONT...</a:t>
            </a:r>
          </a:p>
        </p:txBody>
      </p:sp>
      <p:sp>
        <p:nvSpPr>
          <p:cNvPr id="5" name="TextBox 5"/>
          <p:cNvSpPr txBox="1"/>
          <p:nvPr/>
        </p:nvSpPr>
        <p:spPr>
          <a:xfrm>
            <a:off x="1709938" y="2637155"/>
            <a:ext cx="3913138" cy="403059"/>
          </a:xfrm>
          <a:prstGeom prst="rect">
            <a:avLst/>
          </a:prstGeom>
        </p:spPr>
        <p:txBody>
          <a:bodyPr lIns="0" tIns="0" rIns="0" bIns="0" rtlCol="0" anchor="t">
            <a:spAutoFit/>
          </a:bodyPr>
          <a:lstStyle/>
          <a:p>
            <a:pPr algn="ctr">
              <a:lnSpc>
                <a:spcPts val="3359"/>
              </a:lnSpc>
              <a:spcBef>
                <a:spcPct val="0"/>
              </a:spcBef>
            </a:pPr>
            <a:r>
              <a:rPr lang="en-US" sz="2400" b="1" dirty="0">
                <a:solidFill>
                  <a:schemeClr val="tx2">
                    <a:lumMod val="50000"/>
                  </a:schemeClr>
                </a:solidFill>
                <a:latin typeface="Montserrat"/>
                <a:ea typeface="Montserrat"/>
                <a:cs typeface="Montserrat"/>
                <a:sym typeface="Montserrat"/>
              </a:rPr>
              <a:t>Why the Iterative Model? </a:t>
            </a:r>
          </a:p>
        </p:txBody>
      </p:sp>
      <p:sp>
        <p:nvSpPr>
          <p:cNvPr id="9" name="TextBox 8">
            <a:extLst>
              <a:ext uri="{FF2B5EF4-FFF2-40B4-BE49-F238E27FC236}">
                <a16:creationId xmlns:a16="http://schemas.microsoft.com/office/drawing/2014/main" id="{CB647BE4-E887-7050-C8F1-1CAF3A2DF9B7}"/>
              </a:ext>
            </a:extLst>
          </p:cNvPr>
          <p:cNvSpPr txBox="1"/>
          <p:nvPr/>
        </p:nvSpPr>
        <p:spPr>
          <a:xfrm>
            <a:off x="7391400" y="2360526"/>
            <a:ext cx="10896600" cy="5565947"/>
          </a:xfrm>
          <a:prstGeom prst="rect">
            <a:avLst/>
          </a:prstGeom>
          <a:noFill/>
        </p:spPr>
        <p:txBody>
          <a:bodyPr wrap="square">
            <a:spAutoFit/>
          </a:bodyPr>
          <a:lstStyle/>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Quick Response </a:t>
            </a:r>
            <a:r>
              <a:rPr lang="en-US" sz="2400" b="0" i="0" dirty="0">
                <a:effectLst/>
                <a:latin typeface="Times New Roman" panose="02020603050405020304" pitchFamily="18" charset="0"/>
                <a:cs typeface="Times New Roman" panose="02020603050405020304" pitchFamily="18" charset="0"/>
              </a:rPr>
              <a:t>- Stakeholders can test each module independently.</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Lower Risk </a:t>
            </a:r>
            <a:r>
              <a:rPr lang="en-US" sz="2400" b="0" i="0" dirty="0">
                <a:effectLst/>
                <a:latin typeface="Times New Roman" panose="02020603050405020304" pitchFamily="18" charset="0"/>
                <a:cs typeface="Times New Roman" panose="02020603050405020304" pitchFamily="18" charset="0"/>
              </a:rPr>
              <a:t>- Thorough testing before integration reduces development failures.</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Fast Delivery </a:t>
            </a:r>
            <a:r>
              <a:rPr lang="en-US" sz="2400" b="0" i="0" dirty="0">
                <a:effectLst/>
                <a:latin typeface="Times New Roman" panose="02020603050405020304" pitchFamily="18" charset="0"/>
                <a:cs typeface="Times New Roman" panose="02020603050405020304" pitchFamily="18" charset="0"/>
              </a:rPr>
              <a:t>- Working modules generated quickly during development cycle.</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Flexible Changes </a:t>
            </a:r>
            <a:r>
              <a:rPr lang="en-US" sz="2400" b="0" i="0" dirty="0">
                <a:effectLst/>
                <a:latin typeface="Times New Roman" panose="02020603050405020304" pitchFamily="18" charset="0"/>
                <a:cs typeface="Times New Roman" panose="02020603050405020304" pitchFamily="18" charset="0"/>
              </a:rPr>
              <a:t>- Modify individual modules without system-wide impact.</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Easy Error Fixes </a:t>
            </a:r>
            <a:r>
              <a:rPr lang="en-US" sz="2400" b="0" i="0" dirty="0">
                <a:effectLst/>
                <a:latin typeface="Times New Roman" panose="02020603050405020304" pitchFamily="18" charset="0"/>
                <a:cs typeface="Times New Roman" panose="02020603050405020304" pitchFamily="18" charset="0"/>
              </a:rPr>
              <a:t>- Isolated testing identifies problems before integration.</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Early Working Features </a:t>
            </a:r>
            <a:r>
              <a:rPr lang="en-US" sz="2400" b="0" i="0" dirty="0">
                <a:effectLst/>
                <a:latin typeface="Times New Roman" panose="02020603050405020304" pitchFamily="18" charset="0"/>
                <a:cs typeface="Times New Roman" panose="02020603050405020304" pitchFamily="18" charset="0"/>
              </a:rPr>
              <a:t>- Restaurant can use POS functions immediately.</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 Staff Feedback </a:t>
            </a:r>
            <a:r>
              <a:rPr lang="en-US" sz="2400" b="0" i="0" dirty="0">
                <a:effectLst/>
                <a:latin typeface="Times New Roman" panose="02020603050405020304" pitchFamily="18" charset="0"/>
                <a:cs typeface="Times New Roman" panose="02020603050405020304" pitchFamily="18" charset="0"/>
              </a:rPr>
              <a:t>- Real user input after each iteration improves usability.</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 Validated Accuracy </a:t>
            </a:r>
            <a:r>
              <a:rPr lang="en-US" sz="2400" b="0" i="0" dirty="0">
                <a:effectLst/>
                <a:latin typeface="Times New Roman" panose="02020603050405020304" pitchFamily="18" charset="0"/>
                <a:cs typeface="Times New Roman" panose="02020603050405020304" pitchFamily="18" charset="0"/>
              </a:rPr>
              <a:t>- Multiple testing cycles ensure critical POS requirements.</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Manageable Phases </a:t>
            </a:r>
            <a:r>
              <a:rPr lang="en-US" sz="2400" b="0" i="0" dirty="0">
                <a:effectLst/>
                <a:latin typeface="Times New Roman" panose="02020603050405020304" pitchFamily="18" charset="0"/>
                <a:cs typeface="Times New Roman" panose="02020603050405020304" pitchFamily="18" charset="0"/>
              </a:rPr>
              <a:t>- Complex workflows broken into smaller development tasks.</a:t>
            </a:r>
          </a:p>
          <a:p>
            <a:pPr marL="400050" indent="-400050" algn="just">
              <a:lnSpc>
                <a:spcPct val="150000"/>
              </a:lnSpc>
              <a:buFont typeface="+mj-lt"/>
              <a:buAutoNum type="romanLcPeriod"/>
            </a:pPr>
            <a:r>
              <a:rPr lang="en-US" sz="2400" b="1" i="0" dirty="0">
                <a:effectLst/>
                <a:latin typeface="Times New Roman" panose="02020603050405020304" pitchFamily="18" charset="0"/>
                <a:cs typeface="Times New Roman" panose="02020603050405020304" pitchFamily="18" charset="0"/>
              </a:rPr>
              <a:t>Gradual Deployment </a:t>
            </a:r>
            <a:r>
              <a:rPr lang="en-US" sz="2400" b="0" i="0" dirty="0">
                <a:effectLst/>
                <a:latin typeface="Times New Roman" panose="02020603050405020304" pitchFamily="18" charset="0"/>
                <a:cs typeface="Times New Roman" panose="02020603050405020304" pitchFamily="18" charset="0"/>
              </a:rPr>
              <a:t>- Core features first, advanced features added later.</a:t>
            </a:r>
          </a:p>
        </p:txBody>
      </p:sp>
      <p:sp>
        <p:nvSpPr>
          <p:cNvPr id="14" name="Slide Number Placeholder 13">
            <a:extLst>
              <a:ext uri="{FF2B5EF4-FFF2-40B4-BE49-F238E27FC236}">
                <a16:creationId xmlns:a16="http://schemas.microsoft.com/office/drawing/2014/main" id="{10376461-1049-6652-5CF9-79A6A1FA9AA7}"/>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3" name="Freeform 3"/>
          <p:cNvSpPr/>
          <p:nvPr/>
        </p:nvSpPr>
        <p:spPr>
          <a:xfrm>
            <a:off x="16154400" y="643795"/>
            <a:ext cx="1560056" cy="2036410"/>
          </a:xfrm>
          <a:custGeom>
            <a:avLst/>
            <a:gdLst/>
            <a:ahLst/>
            <a:cxnLst/>
            <a:rect l="l" t="t" r="r" b="b"/>
            <a:pathLst>
              <a:path w="1560056" h="2036410">
                <a:moveTo>
                  <a:pt x="0" y="0"/>
                </a:moveTo>
                <a:lnTo>
                  <a:pt x="1560056" y="0"/>
                </a:lnTo>
                <a:lnTo>
                  <a:pt x="1560056" y="2036410"/>
                </a:lnTo>
                <a:lnTo>
                  <a:pt x="0" y="2036410"/>
                </a:lnTo>
                <a:lnTo>
                  <a:pt x="0" y="0"/>
                </a:lnTo>
                <a:close/>
              </a:path>
            </a:pathLst>
          </a:custGeom>
          <a:blipFill>
            <a:blip r:embed="rId2"/>
            <a:stretch>
              <a:fillRect/>
            </a:stretch>
          </a:blipFill>
        </p:spPr>
      </p:sp>
      <p:sp>
        <p:nvSpPr>
          <p:cNvPr id="4" name="TextBox 4"/>
          <p:cNvSpPr txBox="1"/>
          <p:nvPr/>
        </p:nvSpPr>
        <p:spPr>
          <a:xfrm>
            <a:off x="4549624" y="800100"/>
            <a:ext cx="9188752" cy="658000"/>
          </a:xfrm>
          <a:prstGeom prst="rect">
            <a:avLst/>
          </a:prstGeom>
        </p:spPr>
        <p:txBody>
          <a:bodyPr lIns="0" tIns="0" rIns="0" bIns="0" rtlCol="0" anchor="t">
            <a:spAutoFit/>
          </a:bodyPr>
          <a:lstStyle/>
          <a:p>
            <a:pPr marL="0" lvl="0" indent="0" algn="l">
              <a:lnSpc>
                <a:spcPts val="4662"/>
              </a:lnSpc>
            </a:pPr>
            <a:r>
              <a:rPr lang="en-US" sz="5827" b="1" spc="-477" dirty="0">
                <a:solidFill>
                  <a:srgbClr val="01012C"/>
                </a:solidFill>
                <a:latin typeface="Arial Nova Bold"/>
                <a:ea typeface="Arial Nova Bold"/>
                <a:cs typeface="Arial Nova Bold"/>
                <a:sym typeface="Arial Nova Bold"/>
              </a:rPr>
              <a:t>REQUIREMENT ENGINEERING</a:t>
            </a:r>
          </a:p>
        </p:txBody>
      </p:sp>
      <p:sp>
        <p:nvSpPr>
          <p:cNvPr id="6" name="TextBox 6"/>
          <p:cNvSpPr txBox="1"/>
          <p:nvPr/>
        </p:nvSpPr>
        <p:spPr>
          <a:xfrm>
            <a:off x="0" y="2678548"/>
            <a:ext cx="4800600" cy="421847"/>
          </a:xfrm>
          <a:prstGeom prst="rect">
            <a:avLst/>
          </a:prstGeom>
        </p:spPr>
        <p:txBody>
          <a:bodyPr wrap="square" lIns="0" tIns="0" rIns="0" bIns="0" rtlCol="0" anchor="t">
            <a:spAutoFit/>
          </a:bodyPr>
          <a:lstStyle/>
          <a:p>
            <a:pPr marL="571500" lvl="0" indent="-571500" algn="l">
              <a:lnSpc>
                <a:spcPts val="3199"/>
              </a:lnSpc>
              <a:buFont typeface="Wingdings" panose="05000000000000000000" pitchFamily="2" charset="2"/>
              <a:buChar char="ü"/>
            </a:pPr>
            <a:r>
              <a:rPr lang="en-US" sz="3600" spc="-143" dirty="0">
                <a:solidFill>
                  <a:srgbClr val="01012C"/>
                </a:solidFill>
                <a:latin typeface="Montserrat"/>
                <a:ea typeface="Montserrat"/>
                <a:cs typeface="Montserrat"/>
                <a:sym typeface="Montserrat"/>
              </a:rPr>
              <a:t>User Requirements</a:t>
            </a:r>
          </a:p>
        </p:txBody>
      </p:sp>
      <p:sp>
        <p:nvSpPr>
          <p:cNvPr id="10" name="TextBox 9">
            <a:extLst>
              <a:ext uri="{FF2B5EF4-FFF2-40B4-BE49-F238E27FC236}">
                <a16:creationId xmlns:a16="http://schemas.microsoft.com/office/drawing/2014/main" id="{94AD847A-0F42-26ED-83E7-D52368E40E87}"/>
              </a:ext>
            </a:extLst>
          </p:cNvPr>
          <p:cNvSpPr txBox="1"/>
          <p:nvPr/>
        </p:nvSpPr>
        <p:spPr>
          <a:xfrm>
            <a:off x="2819400" y="3750831"/>
            <a:ext cx="5902187" cy="526811"/>
          </a:xfrm>
          <a:prstGeom prst="rect">
            <a:avLst/>
          </a:prstGeom>
          <a:noFill/>
        </p:spPr>
        <p:txBody>
          <a:bodyPr wrap="square">
            <a:spAutoFit/>
          </a:bodyPr>
          <a:lstStyle/>
          <a:p>
            <a:pPr marL="571500" marR="0" lvl="0" indent="-571500" algn="l" defTabSz="914400" rtl="0" eaLnBrk="1" fontAlgn="auto" latinLnBrk="0" hangingPunct="1">
              <a:lnSpc>
                <a:spcPts val="3199"/>
              </a:lnSpc>
              <a:spcBef>
                <a:spcPts val="0"/>
              </a:spcBef>
              <a:spcAft>
                <a:spcPts val="0"/>
              </a:spcAft>
              <a:buClrTx/>
              <a:buSzTx/>
              <a:buFont typeface="Wingdings" panose="05000000000000000000" pitchFamily="2" charset="2"/>
              <a:buChar char="ü"/>
              <a:tabLst/>
              <a:defRPr/>
            </a:pPr>
            <a:r>
              <a:rPr kumimoji="0" lang="en-US" sz="3999" b="0" i="0" u="none" strike="noStrike" kern="1200" cap="none" spc="-143" normalizeH="0" baseline="0" noProof="0" dirty="0">
                <a:ln>
                  <a:noFill/>
                </a:ln>
                <a:solidFill>
                  <a:srgbClr val="01012C"/>
                </a:solidFill>
                <a:effectLst/>
                <a:uLnTx/>
                <a:uFillTx/>
                <a:latin typeface="Montserrat"/>
                <a:ea typeface="Montserrat"/>
                <a:cs typeface="Montserrat"/>
                <a:sym typeface="Montserrat"/>
              </a:rPr>
              <a:t>System Requirement</a:t>
            </a:r>
          </a:p>
        </p:txBody>
      </p:sp>
      <p:sp>
        <p:nvSpPr>
          <p:cNvPr id="12" name="TextBox 11">
            <a:extLst>
              <a:ext uri="{FF2B5EF4-FFF2-40B4-BE49-F238E27FC236}">
                <a16:creationId xmlns:a16="http://schemas.microsoft.com/office/drawing/2014/main" id="{11F9A514-E5D3-4AEC-DB73-53AC76ADD23C}"/>
              </a:ext>
            </a:extLst>
          </p:cNvPr>
          <p:cNvSpPr txBox="1"/>
          <p:nvPr/>
        </p:nvSpPr>
        <p:spPr>
          <a:xfrm>
            <a:off x="5943600" y="4956239"/>
            <a:ext cx="6772676" cy="526811"/>
          </a:xfrm>
          <a:prstGeom prst="rect">
            <a:avLst/>
          </a:prstGeom>
          <a:noFill/>
        </p:spPr>
        <p:txBody>
          <a:bodyPr wrap="square">
            <a:spAutoFit/>
          </a:bodyPr>
          <a:lstStyle/>
          <a:p>
            <a:pPr marL="571500" marR="0" lvl="0" indent="-571500" algn="l" defTabSz="914400" rtl="0" eaLnBrk="1" fontAlgn="auto" latinLnBrk="0" hangingPunct="1">
              <a:lnSpc>
                <a:spcPts val="3199"/>
              </a:lnSpc>
              <a:spcBef>
                <a:spcPts val="0"/>
              </a:spcBef>
              <a:spcAft>
                <a:spcPts val="0"/>
              </a:spcAft>
              <a:buClrTx/>
              <a:buSzTx/>
              <a:buFont typeface="Wingdings" panose="05000000000000000000" pitchFamily="2" charset="2"/>
              <a:buChar char="ü"/>
              <a:tabLst/>
              <a:defRPr/>
            </a:pPr>
            <a:r>
              <a:rPr kumimoji="0" lang="en-US" sz="3999" b="0" i="0" u="none" strike="noStrike" kern="1200" cap="none" spc="-143" normalizeH="0" baseline="0" noProof="0" dirty="0">
                <a:ln>
                  <a:noFill/>
                </a:ln>
                <a:solidFill>
                  <a:srgbClr val="01012C"/>
                </a:solidFill>
                <a:effectLst/>
                <a:uLnTx/>
                <a:uFillTx/>
                <a:latin typeface="Montserrat"/>
                <a:ea typeface="Montserrat"/>
                <a:cs typeface="Montserrat"/>
                <a:sym typeface="Montserrat"/>
              </a:rPr>
              <a:t>Functional Requirement</a:t>
            </a:r>
          </a:p>
        </p:txBody>
      </p:sp>
      <p:sp>
        <p:nvSpPr>
          <p:cNvPr id="14" name="TextBox 13">
            <a:extLst>
              <a:ext uri="{FF2B5EF4-FFF2-40B4-BE49-F238E27FC236}">
                <a16:creationId xmlns:a16="http://schemas.microsoft.com/office/drawing/2014/main" id="{B5E08F77-D181-8357-7FB4-F9A154F4D9C2}"/>
              </a:ext>
            </a:extLst>
          </p:cNvPr>
          <p:cNvSpPr txBox="1"/>
          <p:nvPr/>
        </p:nvSpPr>
        <p:spPr>
          <a:xfrm>
            <a:off x="9144000" y="6461498"/>
            <a:ext cx="8006811" cy="526811"/>
          </a:xfrm>
          <a:prstGeom prst="rect">
            <a:avLst/>
          </a:prstGeom>
          <a:noFill/>
        </p:spPr>
        <p:txBody>
          <a:bodyPr wrap="square">
            <a:spAutoFit/>
          </a:bodyPr>
          <a:lstStyle/>
          <a:p>
            <a:pPr marL="571500" marR="0" lvl="0" indent="-571500" algn="l" defTabSz="914400" rtl="0" eaLnBrk="1" fontAlgn="auto" latinLnBrk="0" hangingPunct="1">
              <a:lnSpc>
                <a:spcPts val="3199"/>
              </a:lnSpc>
              <a:spcBef>
                <a:spcPts val="0"/>
              </a:spcBef>
              <a:spcAft>
                <a:spcPts val="0"/>
              </a:spcAft>
              <a:buClrTx/>
              <a:buSzTx/>
              <a:buFont typeface="Wingdings" panose="05000000000000000000" pitchFamily="2" charset="2"/>
              <a:buChar char="ü"/>
              <a:tabLst/>
              <a:defRPr/>
            </a:pPr>
            <a:r>
              <a:rPr kumimoji="0" lang="en-US" sz="3999" b="0" i="0" u="none" strike="noStrike" kern="1200" cap="none" spc="-143" normalizeH="0" baseline="0" noProof="0" dirty="0">
                <a:ln>
                  <a:noFill/>
                </a:ln>
                <a:solidFill>
                  <a:srgbClr val="01012C"/>
                </a:solidFill>
                <a:effectLst/>
                <a:uLnTx/>
                <a:uFillTx/>
                <a:latin typeface="Montserrat"/>
                <a:ea typeface="Montserrat"/>
                <a:cs typeface="Montserrat"/>
                <a:sym typeface="Montserrat"/>
              </a:rPr>
              <a:t>Non-Functional Requirement</a:t>
            </a:r>
          </a:p>
        </p:txBody>
      </p:sp>
      <p:sp>
        <p:nvSpPr>
          <p:cNvPr id="22" name="Slide Number Placeholder 21">
            <a:extLst>
              <a:ext uri="{FF2B5EF4-FFF2-40B4-BE49-F238E27FC236}">
                <a16:creationId xmlns:a16="http://schemas.microsoft.com/office/drawing/2014/main" id="{DFD566CE-419F-3E1C-6600-4DC0A967F695}"/>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9F7B36F2-7550-8A67-A572-5CA47DB8DD4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51EB9A2-43DC-4868-41B5-9EBDD4D47D26}"/>
              </a:ext>
            </a:extLst>
          </p:cNvPr>
          <p:cNvSpPr/>
          <p:nvPr/>
        </p:nvSpPr>
        <p:spPr>
          <a:xfrm>
            <a:off x="13487400" y="4598581"/>
            <a:ext cx="1560056" cy="2036410"/>
          </a:xfrm>
          <a:custGeom>
            <a:avLst/>
            <a:gdLst/>
            <a:ahLst/>
            <a:cxnLst/>
            <a:rect l="l" t="t" r="r" b="b"/>
            <a:pathLst>
              <a:path w="1560056" h="2036410">
                <a:moveTo>
                  <a:pt x="0" y="0"/>
                </a:moveTo>
                <a:lnTo>
                  <a:pt x="1560056" y="0"/>
                </a:lnTo>
                <a:lnTo>
                  <a:pt x="1560056" y="2036410"/>
                </a:lnTo>
                <a:lnTo>
                  <a:pt x="0" y="2036410"/>
                </a:lnTo>
                <a:lnTo>
                  <a:pt x="0" y="0"/>
                </a:lnTo>
                <a:close/>
              </a:path>
            </a:pathLst>
          </a:custGeom>
          <a:blipFill>
            <a:blip r:embed="rId2"/>
            <a:stretch>
              <a:fillRect/>
            </a:stretch>
          </a:blipFill>
        </p:spPr>
      </p:sp>
      <p:sp>
        <p:nvSpPr>
          <p:cNvPr id="4" name="TextBox 4">
            <a:extLst>
              <a:ext uri="{FF2B5EF4-FFF2-40B4-BE49-F238E27FC236}">
                <a16:creationId xmlns:a16="http://schemas.microsoft.com/office/drawing/2014/main" id="{1F0CA301-259E-6048-3CFC-D4CF7107E18F}"/>
              </a:ext>
            </a:extLst>
          </p:cNvPr>
          <p:cNvSpPr txBox="1"/>
          <p:nvPr/>
        </p:nvSpPr>
        <p:spPr>
          <a:xfrm>
            <a:off x="1028700" y="687862"/>
            <a:ext cx="9188752" cy="658000"/>
          </a:xfrm>
          <a:prstGeom prst="rect">
            <a:avLst/>
          </a:prstGeom>
        </p:spPr>
        <p:txBody>
          <a:bodyPr lIns="0" tIns="0" rIns="0" bIns="0" rtlCol="0" anchor="t">
            <a:spAutoFit/>
          </a:bodyPr>
          <a:lstStyle/>
          <a:p>
            <a:pPr marL="0" lvl="0" indent="0" algn="l">
              <a:lnSpc>
                <a:spcPts val="4662"/>
              </a:lnSpc>
            </a:pPr>
            <a:r>
              <a:rPr lang="en-US" sz="5827" b="1" spc="-477" dirty="0">
                <a:solidFill>
                  <a:srgbClr val="01012C"/>
                </a:solidFill>
                <a:latin typeface="Arial Nova Bold"/>
                <a:ea typeface="Arial Nova Bold"/>
                <a:cs typeface="Arial Nova Bold"/>
                <a:sym typeface="Arial Nova Bold"/>
              </a:rPr>
              <a:t>REQUIREMENT ENGINEERING</a:t>
            </a:r>
          </a:p>
        </p:txBody>
      </p:sp>
      <p:sp>
        <p:nvSpPr>
          <p:cNvPr id="6" name="TextBox 6">
            <a:extLst>
              <a:ext uri="{FF2B5EF4-FFF2-40B4-BE49-F238E27FC236}">
                <a16:creationId xmlns:a16="http://schemas.microsoft.com/office/drawing/2014/main" id="{C78DC20F-294A-20D8-9D7F-8EC2D332294F}"/>
              </a:ext>
            </a:extLst>
          </p:cNvPr>
          <p:cNvSpPr txBox="1"/>
          <p:nvPr/>
        </p:nvSpPr>
        <p:spPr>
          <a:xfrm>
            <a:off x="1028700" y="1376154"/>
            <a:ext cx="4229100" cy="421847"/>
          </a:xfrm>
          <a:prstGeom prst="rect">
            <a:avLst/>
          </a:prstGeom>
        </p:spPr>
        <p:txBody>
          <a:bodyPr wrap="square" lIns="0" tIns="0" rIns="0" bIns="0" rtlCol="0" anchor="t">
            <a:spAutoFit/>
          </a:bodyPr>
          <a:lstStyle/>
          <a:p>
            <a:pPr marL="0" lvl="0" indent="0" algn="l">
              <a:lnSpc>
                <a:spcPts val="3199"/>
              </a:lnSpc>
            </a:pPr>
            <a:r>
              <a:rPr lang="en-US" sz="3600" spc="-143" dirty="0">
                <a:solidFill>
                  <a:srgbClr val="01012C"/>
                </a:solidFill>
                <a:latin typeface="Montserrat"/>
                <a:ea typeface="Montserrat"/>
                <a:cs typeface="Montserrat"/>
                <a:sym typeface="Montserrat"/>
              </a:rPr>
              <a:t>User Requirements</a:t>
            </a:r>
          </a:p>
        </p:txBody>
      </p:sp>
      <p:sp>
        <p:nvSpPr>
          <p:cNvPr id="8" name="TextBox 7">
            <a:extLst>
              <a:ext uri="{FF2B5EF4-FFF2-40B4-BE49-F238E27FC236}">
                <a16:creationId xmlns:a16="http://schemas.microsoft.com/office/drawing/2014/main" id="{1A5D2144-F104-71DD-4AA5-FFBC74A8C7FD}"/>
              </a:ext>
            </a:extLst>
          </p:cNvPr>
          <p:cNvSpPr txBox="1"/>
          <p:nvPr/>
        </p:nvSpPr>
        <p:spPr>
          <a:xfrm>
            <a:off x="1132646" y="1731364"/>
            <a:ext cx="12049954" cy="7124514"/>
          </a:xfrm>
          <a:prstGeom prst="rect">
            <a:avLst/>
          </a:prstGeom>
          <a:noFill/>
        </p:spPr>
        <p:txBody>
          <a:bodyPr wrap="square">
            <a:spAutoFit/>
          </a:bodyPr>
          <a:lstStyle/>
          <a:p>
            <a:pPr algn="just">
              <a:lnSpc>
                <a:spcPct val="150000"/>
              </a:lnSpc>
              <a:buNone/>
            </a:pPr>
            <a:r>
              <a:rPr lang="en-US" sz="2800" b="0" i="0" dirty="0">
                <a:effectLst/>
                <a:latin typeface="Times New Roman" panose="02020603050405020304" pitchFamily="18" charset="0"/>
                <a:cs typeface="Times New Roman" panose="02020603050405020304" pitchFamily="18" charset="0"/>
              </a:rPr>
              <a:t>(Admin Role Requirements):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Secure Login </a:t>
            </a:r>
            <a:r>
              <a:rPr lang="en-US" sz="2800" b="0" i="0" dirty="0">
                <a:effectLst/>
                <a:latin typeface="Times New Roman" panose="02020603050405020304" pitchFamily="18" charset="0"/>
                <a:cs typeface="Times New Roman" panose="02020603050405020304" pitchFamily="18" charset="0"/>
              </a:rPr>
              <a:t>- Access with protected credentials.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Operations Management </a:t>
            </a:r>
            <a:r>
              <a:rPr lang="en-US" sz="2800" b="0" i="0" dirty="0">
                <a:effectLst/>
                <a:latin typeface="Times New Roman" panose="02020603050405020304" pitchFamily="18" charset="0"/>
                <a:cs typeface="Times New Roman" panose="02020603050405020304" pitchFamily="18" charset="0"/>
              </a:rPr>
              <a:t>- Control orders, payments, and inventory.</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Menu Configuration </a:t>
            </a:r>
            <a:r>
              <a:rPr lang="en-US" sz="2800" b="0" i="0" dirty="0">
                <a:effectLst/>
                <a:latin typeface="Times New Roman" panose="02020603050405020304" pitchFamily="18" charset="0"/>
                <a:cs typeface="Times New Roman" panose="02020603050405020304" pitchFamily="18" charset="0"/>
              </a:rPr>
              <a:t>- Set items, pricing, categories, and settings.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Order Processing </a:t>
            </a:r>
            <a:r>
              <a:rPr lang="en-US" sz="2800" b="0" i="0" dirty="0">
                <a:effectLst/>
                <a:latin typeface="Times New Roman" panose="02020603050405020304" pitchFamily="18" charset="0"/>
                <a:cs typeface="Times New Roman" panose="02020603050405020304" pitchFamily="18" charset="0"/>
              </a:rPr>
              <a:t>- Handle customer orders and payment transactions.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Report Generation </a:t>
            </a:r>
            <a:r>
              <a:rPr lang="en-US" sz="2800" b="0" i="0" dirty="0">
                <a:effectLst/>
                <a:latin typeface="Times New Roman" panose="02020603050405020304" pitchFamily="18" charset="0"/>
                <a:cs typeface="Times New Roman" panose="02020603050405020304" pitchFamily="18" charset="0"/>
              </a:rPr>
              <a:t>- Create daily, weekly, and monthly reports.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Data Validation </a:t>
            </a:r>
            <a:r>
              <a:rPr lang="en-US" sz="2800" b="0" i="0" dirty="0">
                <a:effectLst/>
                <a:latin typeface="Times New Roman" panose="02020603050405020304" pitchFamily="18" charset="0"/>
                <a:cs typeface="Times New Roman" panose="02020603050405020304" pitchFamily="18" charset="0"/>
              </a:rPr>
              <a:t>- Verify all restaurant data and system information.</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Inventory Control </a:t>
            </a:r>
            <a:r>
              <a:rPr lang="en-US" sz="2800" b="0" i="0" dirty="0">
                <a:effectLst/>
                <a:latin typeface="Times New Roman" panose="02020603050405020304" pitchFamily="18" charset="0"/>
                <a:cs typeface="Times New Roman" panose="02020603050405020304" pitchFamily="18" charset="0"/>
              </a:rPr>
              <a:t>- Manage stock levels and supplier information.</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Activity Monitoring </a:t>
            </a:r>
            <a:r>
              <a:rPr lang="en-US" sz="2800" b="0" i="0" dirty="0">
                <a:effectLst/>
                <a:latin typeface="Times New Roman" panose="02020603050405020304" pitchFamily="18" charset="0"/>
                <a:cs typeface="Times New Roman" panose="02020603050405020304" pitchFamily="18" charset="0"/>
              </a:rPr>
              <a:t>- Track restaurant activities and ensure accuracy.</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Full Authority </a:t>
            </a:r>
            <a:r>
              <a:rPr lang="en-US" sz="2800" b="0" i="0" dirty="0">
                <a:effectLst/>
                <a:latin typeface="Times New Roman" panose="02020603050405020304" pitchFamily="18" charset="0"/>
                <a:cs typeface="Times New Roman" panose="02020603050405020304" pitchFamily="18" charset="0"/>
              </a:rPr>
              <a:t>- Add, modify, or remove system data and configurations.</a:t>
            </a:r>
          </a:p>
          <a:p>
            <a:pPr lvl="1" algn="just">
              <a:lnSpc>
                <a:spcPct val="150000"/>
              </a:lnSpc>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Customer Management </a:t>
            </a:r>
            <a:r>
              <a:rPr lang="en-US" sz="2800" b="0" i="0" dirty="0">
                <a:effectLst/>
                <a:latin typeface="Times New Roman" panose="02020603050405020304" pitchFamily="18" charset="0"/>
                <a:cs typeface="Times New Roman" panose="02020603050405020304" pitchFamily="18" charset="0"/>
              </a:rPr>
              <a:t>- Handle customer data, order history, and feedback.</a:t>
            </a:r>
          </a:p>
        </p:txBody>
      </p:sp>
      <p:sp>
        <p:nvSpPr>
          <p:cNvPr id="13" name="Slide Number Placeholder 12">
            <a:extLst>
              <a:ext uri="{FF2B5EF4-FFF2-40B4-BE49-F238E27FC236}">
                <a16:creationId xmlns:a16="http://schemas.microsoft.com/office/drawing/2014/main" id="{5798D75F-2B7B-FB42-62FC-914D732125EA}"/>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1956587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239461" y="3585349"/>
            <a:ext cx="4858296" cy="3328832"/>
          </a:xfrm>
          <a:custGeom>
            <a:avLst/>
            <a:gdLst/>
            <a:ahLst/>
            <a:cxnLst/>
            <a:rect l="l" t="t" r="r" b="b"/>
            <a:pathLst>
              <a:path w="4858296" h="3328832">
                <a:moveTo>
                  <a:pt x="0" y="0"/>
                </a:moveTo>
                <a:lnTo>
                  <a:pt x="4858296" y="0"/>
                </a:lnTo>
                <a:lnTo>
                  <a:pt x="4858296" y="3328833"/>
                </a:lnTo>
                <a:lnTo>
                  <a:pt x="0" y="3328833"/>
                </a:lnTo>
                <a:lnTo>
                  <a:pt x="0" y="0"/>
                </a:lnTo>
                <a:close/>
              </a:path>
            </a:pathLst>
          </a:custGeom>
          <a:blipFill>
            <a:blip r:embed="rId2"/>
            <a:stretch>
              <a:fillRect/>
            </a:stretch>
          </a:blipFill>
        </p:spPr>
      </p:sp>
      <p:sp>
        <p:nvSpPr>
          <p:cNvPr id="3" name="TextBox 3"/>
          <p:cNvSpPr txBox="1"/>
          <p:nvPr/>
        </p:nvSpPr>
        <p:spPr>
          <a:xfrm>
            <a:off x="1028700" y="932244"/>
            <a:ext cx="11017375" cy="620365"/>
          </a:xfrm>
          <a:prstGeom prst="rect">
            <a:avLst/>
          </a:prstGeom>
        </p:spPr>
        <p:txBody>
          <a:bodyPr lIns="0" tIns="0" rIns="0" bIns="0" rtlCol="0" anchor="t">
            <a:spAutoFit/>
          </a:bodyPr>
          <a:lstStyle/>
          <a:p>
            <a:pPr marL="0" lvl="0" indent="0" algn="l">
              <a:lnSpc>
                <a:spcPts val="4369"/>
              </a:lnSpc>
            </a:pPr>
            <a:r>
              <a:rPr lang="en-US" sz="5461" b="1" spc="-447">
                <a:solidFill>
                  <a:srgbClr val="01012C"/>
                </a:solidFill>
                <a:latin typeface="Arial Nova Bold"/>
                <a:ea typeface="Arial Nova Bold"/>
                <a:cs typeface="Arial Nova Bold"/>
                <a:sym typeface="Arial Nova Bold"/>
              </a:rPr>
              <a:t>REQUIREMENT ENGINEERING CONT ...</a:t>
            </a:r>
          </a:p>
        </p:txBody>
      </p:sp>
      <p:sp>
        <p:nvSpPr>
          <p:cNvPr id="5" name="TextBox 5"/>
          <p:cNvSpPr txBox="1"/>
          <p:nvPr/>
        </p:nvSpPr>
        <p:spPr>
          <a:xfrm>
            <a:off x="1028700" y="1991787"/>
            <a:ext cx="9188752" cy="441325"/>
          </a:xfrm>
          <a:prstGeom prst="rect">
            <a:avLst/>
          </a:prstGeom>
        </p:spPr>
        <p:txBody>
          <a:bodyPr lIns="0" tIns="0" rIns="0" bIns="0" rtlCol="0" anchor="t">
            <a:spAutoFit/>
          </a:bodyPr>
          <a:lstStyle/>
          <a:p>
            <a:pPr marL="0" lvl="0" indent="0" algn="l">
              <a:lnSpc>
                <a:spcPts val="3199"/>
              </a:lnSpc>
            </a:pPr>
            <a:r>
              <a:rPr lang="en-US" sz="3999" spc="-143" dirty="0">
                <a:solidFill>
                  <a:srgbClr val="01012C"/>
                </a:solidFill>
                <a:latin typeface="Montserrat"/>
                <a:ea typeface="Montserrat"/>
                <a:cs typeface="Montserrat"/>
                <a:sym typeface="Montserrat"/>
              </a:rPr>
              <a:t>System Requirement</a:t>
            </a:r>
          </a:p>
        </p:txBody>
      </p:sp>
      <p:sp>
        <p:nvSpPr>
          <p:cNvPr id="6" name="TextBox 6"/>
          <p:cNvSpPr txBox="1"/>
          <p:nvPr/>
        </p:nvSpPr>
        <p:spPr>
          <a:xfrm>
            <a:off x="1028700" y="2433112"/>
            <a:ext cx="11722895" cy="5082160"/>
          </a:xfrm>
          <a:prstGeom prst="rect">
            <a:avLst/>
          </a:prstGeom>
        </p:spPr>
        <p:txBody>
          <a:bodyPr lIns="0" tIns="0" rIns="0" bIns="0" rtlCol="0" anchor="t">
            <a:spAutoFit/>
          </a:bodyPr>
          <a:lstStyle/>
          <a:p>
            <a:pPr algn="just">
              <a:lnSpc>
                <a:spcPct val="150000"/>
              </a:lnSpc>
            </a:pPr>
            <a:r>
              <a:rPr lang="en-US" sz="3200" b="1" dirty="0">
                <a:latin typeface="Times New Roman" panose="02020603050405020304" pitchFamily="18" charset="0"/>
                <a:cs typeface="Times New Roman" panose="02020603050405020304" pitchFamily="18" charset="0"/>
              </a:rPr>
              <a:t>Admin Login Process:</a:t>
            </a:r>
          </a:p>
          <a:p>
            <a:pPr marL="914400" lvl="1" indent="-457200" algn="just">
              <a:lnSpc>
                <a:spcPct val="150000"/>
              </a:lnSpc>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Enter Credentials </a:t>
            </a:r>
            <a:r>
              <a:rPr lang="en-US" sz="3200" dirty="0">
                <a:latin typeface="Times New Roman" panose="02020603050405020304" pitchFamily="18" charset="0"/>
                <a:cs typeface="Times New Roman" panose="02020603050405020304" pitchFamily="18" charset="0"/>
              </a:rPr>
              <a:t>- Admin inputs username and password, clicks submit.</a:t>
            </a:r>
          </a:p>
          <a:p>
            <a:pPr marL="914400" lvl="1" indent="-457200" algn="just">
              <a:lnSpc>
                <a:spcPct val="150000"/>
              </a:lnSpc>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Successful Login </a:t>
            </a:r>
            <a:r>
              <a:rPr lang="en-US" sz="3200" dirty="0">
                <a:latin typeface="Times New Roman" panose="02020603050405020304" pitchFamily="18" charset="0"/>
                <a:cs typeface="Times New Roman" panose="02020603050405020304" pitchFamily="18" charset="0"/>
              </a:rPr>
              <a:t>- Correct credentials grant direct dashboard access with full system control.</a:t>
            </a:r>
          </a:p>
          <a:p>
            <a:pPr marL="914400" lvl="1" indent="-457200" algn="just">
              <a:lnSpc>
                <a:spcPct val="150000"/>
              </a:lnSpc>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Failed Login </a:t>
            </a:r>
            <a:r>
              <a:rPr lang="en-US" sz="3200" dirty="0">
                <a:latin typeface="Times New Roman" panose="02020603050405020304" pitchFamily="18" charset="0"/>
                <a:cs typeface="Times New Roman" panose="02020603050405020304" pitchFamily="18" charset="0"/>
              </a:rPr>
              <a:t>- Incorrect credentials display "invalid user info" error message.</a:t>
            </a:r>
          </a:p>
        </p:txBody>
      </p:sp>
      <p:sp>
        <p:nvSpPr>
          <p:cNvPr id="14" name="Slide Number Placeholder 13">
            <a:extLst>
              <a:ext uri="{FF2B5EF4-FFF2-40B4-BE49-F238E27FC236}">
                <a16:creationId xmlns:a16="http://schemas.microsoft.com/office/drawing/2014/main" id="{906CAB5E-F944-BBA1-8551-6CC62929FCE3}"/>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sp>
      <p:sp>
        <p:nvSpPr>
          <p:cNvPr id="3" name="TextBox 3"/>
          <p:cNvSpPr txBox="1"/>
          <p:nvPr/>
        </p:nvSpPr>
        <p:spPr>
          <a:xfrm>
            <a:off x="1028700" y="2634979"/>
            <a:ext cx="11722895" cy="6027612"/>
          </a:xfrm>
          <a:prstGeom prst="rect">
            <a:avLst/>
          </a:prstGeom>
        </p:spPr>
        <p:txBody>
          <a:bodyPr lIns="0" tIns="0" rIns="0" bIns="0" rtlCol="0" anchor="t">
            <a:spAutoFit/>
          </a:bodyPr>
          <a:lstStyle/>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Centralized Operations </a:t>
            </a:r>
            <a:r>
              <a:rPr lang="en-US" sz="2400" dirty="0">
                <a:latin typeface="Times New Roman" panose="02020603050405020304" pitchFamily="18" charset="0"/>
                <a:cs typeface="Times New Roman" panose="02020603050405020304" pitchFamily="18" charset="0"/>
              </a:rPr>
              <a:t>- Admin manages all restaurant operations from single interface</a:t>
            </a:r>
          </a:p>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Customer Database </a:t>
            </a:r>
            <a:r>
              <a:rPr lang="en-US" sz="2400" dirty="0">
                <a:latin typeface="Times New Roman" panose="02020603050405020304" pitchFamily="18" charset="0"/>
                <a:cs typeface="Times New Roman" panose="02020603050405020304" pitchFamily="18" charset="0"/>
              </a:rPr>
              <a:t>- Stores customer information, contact details, order preferences, and payment history</a:t>
            </a:r>
          </a:p>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Menu Management </a:t>
            </a:r>
            <a:r>
              <a:rPr lang="en-US" sz="2400" dirty="0">
                <a:latin typeface="Times New Roman" panose="02020603050405020304" pitchFamily="18" charset="0"/>
                <a:cs typeface="Times New Roman" panose="02020603050405020304" pitchFamily="18" charset="0"/>
              </a:rPr>
              <a:t>- Complete database with item details, pricing, categories, availability, and ingredients (admin-controlled)</a:t>
            </a:r>
          </a:p>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Order Processing </a:t>
            </a:r>
            <a:r>
              <a:rPr lang="en-US" sz="2400" dirty="0">
                <a:latin typeface="Times New Roman" panose="02020603050405020304" pitchFamily="18" charset="0"/>
                <a:cs typeface="Times New Roman" panose="02020603050405020304" pitchFamily="18" charset="0"/>
              </a:rPr>
              <a:t>- Handles orders from placement to completion with status tracking, payments, and receipts</a:t>
            </a:r>
          </a:p>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Inventory Control </a:t>
            </a:r>
            <a:r>
              <a:rPr lang="en-US" sz="2400" dirty="0">
                <a:latin typeface="Times New Roman" panose="02020603050405020304" pitchFamily="18" charset="0"/>
                <a:cs typeface="Times New Roman" panose="02020603050405020304" pitchFamily="18" charset="0"/>
              </a:rPr>
              <a:t>- Real-time management with automatic alerts, supplier tracking, and stock monitoring (admin-only)</a:t>
            </a:r>
          </a:p>
          <a:p>
            <a:pPr marL="800100" lvl="1" indent="-342900" algn="just">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Business Reports </a:t>
            </a:r>
            <a:r>
              <a:rPr lang="en-US" sz="2400" dirty="0">
                <a:latin typeface="Times New Roman" panose="02020603050405020304" pitchFamily="18" charset="0"/>
                <a:cs typeface="Times New Roman" panose="02020603050405020304" pitchFamily="18" charset="0"/>
              </a:rPr>
              <a:t>- Generates sales analytics, inventory reports, and performance metrics (admin-exclusive</a:t>
            </a:r>
          </a:p>
        </p:txBody>
      </p:sp>
      <p:sp>
        <p:nvSpPr>
          <p:cNvPr id="4" name="Freeform 4"/>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sp>
      <p:sp>
        <p:nvSpPr>
          <p:cNvPr id="5" name="TextBox 5"/>
          <p:cNvSpPr txBox="1"/>
          <p:nvPr/>
        </p:nvSpPr>
        <p:spPr>
          <a:xfrm>
            <a:off x="1028700" y="932244"/>
            <a:ext cx="11017375" cy="620365"/>
          </a:xfrm>
          <a:prstGeom prst="rect">
            <a:avLst/>
          </a:prstGeom>
        </p:spPr>
        <p:txBody>
          <a:bodyPr lIns="0" tIns="0" rIns="0" bIns="0" rtlCol="0" anchor="t">
            <a:spAutoFit/>
          </a:bodyPr>
          <a:lstStyle/>
          <a:p>
            <a:pPr marL="0" lvl="0" indent="0" algn="l">
              <a:lnSpc>
                <a:spcPts val="4369"/>
              </a:lnSpc>
            </a:pPr>
            <a:r>
              <a:rPr lang="en-US" sz="5461" b="1" spc="-447">
                <a:solidFill>
                  <a:srgbClr val="01012C"/>
                </a:solidFill>
                <a:latin typeface="Arial Nova Bold"/>
                <a:ea typeface="Arial Nova Bold"/>
                <a:cs typeface="Arial Nova Bold"/>
                <a:sym typeface="Arial Nova Bold"/>
              </a:rPr>
              <a:t>REQUIREMENT ENGINEERING CONT ...</a:t>
            </a:r>
          </a:p>
        </p:txBody>
      </p:sp>
      <p:sp>
        <p:nvSpPr>
          <p:cNvPr id="7" name="TextBox 7"/>
          <p:cNvSpPr txBox="1"/>
          <p:nvPr/>
        </p:nvSpPr>
        <p:spPr>
          <a:xfrm>
            <a:off x="1028700" y="1991787"/>
            <a:ext cx="9188752" cy="441325"/>
          </a:xfrm>
          <a:prstGeom prst="rect">
            <a:avLst/>
          </a:prstGeom>
        </p:spPr>
        <p:txBody>
          <a:bodyPr lIns="0" tIns="0" rIns="0" bIns="0" rtlCol="0" anchor="t">
            <a:spAutoFit/>
          </a:bodyPr>
          <a:lstStyle/>
          <a:p>
            <a:pPr marL="0" lvl="0" indent="0" algn="l">
              <a:lnSpc>
                <a:spcPts val="3199"/>
              </a:lnSpc>
            </a:pPr>
            <a:r>
              <a:rPr lang="en-US" sz="3999" spc="-143" dirty="0">
                <a:solidFill>
                  <a:srgbClr val="01012C"/>
                </a:solidFill>
                <a:latin typeface="Montserrat"/>
                <a:ea typeface="Montserrat"/>
                <a:cs typeface="Montserrat"/>
                <a:sym typeface="Montserrat"/>
              </a:rPr>
              <a:t>Functional Requirement</a:t>
            </a:r>
          </a:p>
        </p:txBody>
      </p:sp>
      <p:sp>
        <p:nvSpPr>
          <p:cNvPr id="15" name="Slide Number Placeholder 14">
            <a:extLst>
              <a:ext uri="{FF2B5EF4-FFF2-40B4-BE49-F238E27FC236}">
                <a16:creationId xmlns:a16="http://schemas.microsoft.com/office/drawing/2014/main" id="{49C4DDCD-FEA6-F580-352B-E7708CCDB02E}"/>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sp>
      <p:sp>
        <p:nvSpPr>
          <p:cNvPr id="4" name="Freeform 4"/>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sp>
      <p:sp>
        <p:nvSpPr>
          <p:cNvPr id="5" name="TextBox 5"/>
          <p:cNvSpPr txBox="1"/>
          <p:nvPr/>
        </p:nvSpPr>
        <p:spPr>
          <a:xfrm>
            <a:off x="1028700" y="266700"/>
            <a:ext cx="11017375" cy="620365"/>
          </a:xfrm>
          <a:prstGeom prst="rect">
            <a:avLst/>
          </a:prstGeom>
        </p:spPr>
        <p:txBody>
          <a:bodyPr lIns="0" tIns="0" rIns="0" bIns="0" rtlCol="0" anchor="t">
            <a:spAutoFit/>
          </a:bodyPr>
          <a:lstStyle/>
          <a:p>
            <a:pPr marL="0" lvl="0" indent="0" algn="l">
              <a:lnSpc>
                <a:spcPts val="4369"/>
              </a:lnSpc>
            </a:pPr>
            <a:r>
              <a:rPr lang="en-US" sz="5461" b="1" spc="-447" dirty="0">
                <a:solidFill>
                  <a:srgbClr val="01012C"/>
                </a:solidFill>
                <a:latin typeface="Arial Nova Bold"/>
                <a:ea typeface="Arial Nova Bold"/>
                <a:cs typeface="Arial Nova Bold"/>
                <a:sym typeface="Arial Nova Bold"/>
              </a:rPr>
              <a:t>REQUIREMENT ENGINEERING CONT ...</a:t>
            </a:r>
          </a:p>
        </p:txBody>
      </p:sp>
      <p:sp>
        <p:nvSpPr>
          <p:cNvPr id="7" name="TextBox 7"/>
          <p:cNvSpPr txBox="1"/>
          <p:nvPr/>
        </p:nvSpPr>
        <p:spPr>
          <a:xfrm>
            <a:off x="1028700" y="1172240"/>
            <a:ext cx="9188752" cy="441325"/>
          </a:xfrm>
          <a:prstGeom prst="rect">
            <a:avLst/>
          </a:prstGeom>
        </p:spPr>
        <p:txBody>
          <a:bodyPr lIns="0" tIns="0" rIns="0" bIns="0" rtlCol="0" anchor="t">
            <a:spAutoFit/>
          </a:bodyPr>
          <a:lstStyle/>
          <a:p>
            <a:pPr marL="0" lvl="0" indent="0" algn="l">
              <a:lnSpc>
                <a:spcPts val="3199"/>
              </a:lnSpc>
            </a:pPr>
            <a:r>
              <a:rPr lang="en-US" sz="3999" spc="-143" dirty="0">
                <a:solidFill>
                  <a:srgbClr val="01012C"/>
                </a:solidFill>
                <a:latin typeface="Montserrat"/>
                <a:ea typeface="Montserrat"/>
                <a:cs typeface="Montserrat"/>
                <a:sym typeface="Montserrat"/>
              </a:rPr>
              <a:t>Non-Functional Requirement</a:t>
            </a:r>
          </a:p>
        </p:txBody>
      </p:sp>
      <p:sp>
        <p:nvSpPr>
          <p:cNvPr id="9" name="TextBox 8">
            <a:extLst>
              <a:ext uri="{FF2B5EF4-FFF2-40B4-BE49-F238E27FC236}">
                <a16:creationId xmlns:a16="http://schemas.microsoft.com/office/drawing/2014/main" id="{804F0D8F-A310-7CF4-325A-A057B3F1861D}"/>
              </a:ext>
            </a:extLst>
          </p:cNvPr>
          <p:cNvSpPr txBox="1"/>
          <p:nvPr/>
        </p:nvSpPr>
        <p:spPr>
          <a:xfrm>
            <a:off x="1028700" y="1435373"/>
            <a:ext cx="7505700" cy="8335936"/>
          </a:xfrm>
          <a:prstGeom prst="rect">
            <a:avLst/>
          </a:prstGeom>
          <a:noFill/>
        </p:spPr>
        <p:txBody>
          <a:bodyPr wrap="square">
            <a:spAutoFit/>
          </a:bodyPr>
          <a:lstStyle/>
          <a:p>
            <a:pPr algn="just">
              <a:lnSpc>
                <a:spcPct val="150000"/>
              </a:lnSpc>
              <a:buNone/>
            </a:pPr>
            <a:r>
              <a:rPr lang="en-US" sz="2400" b="1" i="0" dirty="0">
                <a:effectLst/>
                <a:latin typeface="Times New Roman" panose="02020603050405020304" pitchFamily="18" charset="0"/>
                <a:cs typeface="Times New Roman" panose="02020603050405020304" pitchFamily="18" charset="0"/>
              </a:rPr>
              <a:t>Performance Requirements: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Responds within 5 seconds for all actions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Handles up to 10,000 daily transactions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Supports multiple admin sessions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Fast data retrieval for analytics (&lt;3 seconds)</a:t>
            </a:r>
          </a:p>
          <a:p>
            <a:pPr algn="just">
              <a:lnSpc>
                <a:spcPct val="150000"/>
              </a:lnSpc>
              <a:buNone/>
            </a:pPr>
            <a:r>
              <a:rPr lang="en-US" sz="2400" b="1" i="0" dirty="0">
                <a:effectLst/>
                <a:latin typeface="Times New Roman" panose="02020603050405020304" pitchFamily="18" charset="0"/>
                <a:cs typeface="Times New Roman" panose="02020603050405020304" pitchFamily="18" charset="0"/>
              </a:rPr>
              <a:t>Security Requirements: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Data encryption for payments and sensitive info</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Role-based access with admin verification</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Audit logging of all actions and transactions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Automatic secure daily backups</a:t>
            </a:r>
          </a:p>
          <a:p>
            <a:pPr algn="just">
              <a:lnSpc>
                <a:spcPct val="150000"/>
              </a:lnSpc>
              <a:buNone/>
            </a:pPr>
            <a:r>
              <a:rPr lang="en-US" sz="2400" b="1" i="0" dirty="0">
                <a:effectLst/>
                <a:latin typeface="Times New Roman" panose="02020603050405020304" pitchFamily="18" charset="0"/>
                <a:cs typeface="Times New Roman" panose="02020603050405020304" pitchFamily="18" charset="0"/>
              </a:rPr>
              <a:t>Reliability Requirements:</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99.9% system uptime with failover</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Graceful error handling and recovery</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Ensures data integrity for orders, payments, inventory</a:t>
            </a:r>
          </a:p>
          <a:p>
            <a:pPr lvl="1"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Fast backup and recovery</a:t>
            </a:r>
          </a:p>
        </p:txBody>
      </p:sp>
      <p:sp>
        <p:nvSpPr>
          <p:cNvPr id="17" name="Slide Number Placeholder 16">
            <a:extLst>
              <a:ext uri="{FF2B5EF4-FFF2-40B4-BE49-F238E27FC236}">
                <a16:creationId xmlns:a16="http://schemas.microsoft.com/office/drawing/2014/main" id="{F18CA361-2D2F-8524-6D6F-868D996040E2}"/>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3782434" y="1028700"/>
            <a:ext cx="3890631" cy="2665803"/>
          </a:xfrm>
          <a:custGeom>
            <a:avLst/>
            <a:gdLst/>
            <a:ahLst/>
            <a:cxnLst/>
            <a:rect l="l" t="t" r="r" b="b"/>
            <a:pathLst>
              <a:path w="3890631" h="2665803">
                <a:moveTo>
                  <a:pt x="0" y="0"/>
                </a:moveTo>
                <a:lnTo>
                  <a:pt x="3890631" y="0"/>
                </a:lnTo>
                <a:lnTo>
                  <a:pt x="3890631" y="2665803"/>
                </a:lnTo>
                <a:lnTo>
                  <a:pt x="0" y="2665803"/>
                </a:lnTo>
                <a:lnTo>
                  <a:pt x="0" y="0"/>
                </a:lnTo>
                <a:close/>
              </a:path>
            </a:pathLst>
          </a:custGeom>
          <a:blipFill>
            <a:blip r:embed="rId2"/>
            <a:stretch>
              <a:fillRect/>
            </a:stretch>
          </a:blipFill>
        </p:spPr>
      </p:sp>
      <p:sp>
        <p:nvSpPr>
          <p:cNvPr id="3" name="Freeform 3"/>
          <p:cNvSpPr/>
          <p:nvPr/>
        </p:nvSpPr>
        <p:spPr>
          <a:xfrm>
            <a:off x="13554140" y="4108869"/>
            <a:ext cx="4347218" cy="5338128"/>
          </a:xfrm>
          <a:custGeom>
            <a:avLst/>
            <a:gdLst/>
            <a:ahLst/>
            <a:cxnLst/>
            <a:rect l="l" t="t" r="r" b="b"/>
            <a:pathLst>
              <a:path w="4347218" h="5338128">
                <a:moveTo>
                  <a:pt x="0" y="0"/>
                </a:moveTo>
                <a:lnTo>
                  <a:pt x="4347218" y="0"/>
                </a:lnTo>
                <a:lnTo>
                  <a:pt x="4347218" y="5338128"/>
                </a:lnTo>
                <a:lnTo>
                  <a:pt x="0" y="5338128"/>
                </a:lnTo>
                <a:lnTo>
                  <a:pt x="0" y="0"/>
                </a:lnTo>
                <a:close/>
              </a:path>
            </a:pathLst>
          </a:custGeom>
          <a:blipFill>
            <a:blip r:embed="rId3"/>
            <a:stretch>
              <a:fillRect/>
            </a:stretch>
          </a:blipFill>
        </p:spPr>
      </p:sp>
      <p:sp>
        <p:nvSpPr>
          <p:cNvPr id="4" name="TextBox 4"/>
          <p:cNvSpPr txBox="1"/>
          <p:nvPr/>
        </p:nvSpPr>
        <p:spPr>
          <a:xfrm>
            <a:off x="1028700" y="433183"/>
            <a:ext cx="11017375" cy="620365"/>
          </a:xfrm>
          <a:prstGeom prst="rect">
            <a:avLst/>
          </a:prstGeom>
        </p:spPr>
        <p:txBody>
          <a:bodyPr lIns="0" tIns="0" rIns="0" bIns="0" rtlCol="0" anchor="t">
            <a:spAutoFit/>
          </a:bodyPr>
          <a:lstStyle/>
          <a:p>
            <a:pPr marL="0" lvl="0" indent="0" algn="l">
              <a:lnSpc>
                <a:spcPts val="4369"/>
              </a:lnSpc>
            </a:pPr>
            <a:r>
              <a:rPr lang="en-US" sz="5461" b="1" spc="-447" dirty="0">
                <a:solidFill>
                  <a:srgbClr val="01012C"/>
                </a:solidFill>
                <a:latin typeface="Arial Nova Bold"/>
                <a:ea typeface="Arial Nova Bold"/>
                <a:cs typeface="Arial Nova Bold"/>
                <a:sym typeface="Arial Nova Bold"/>
              </a:rPr>
              <a:t>REQUIREMENT ENGINEERING CONT ...</a:t>
            </a:r>
          </a:p>
        </p:txBody>
      </p:sp>
      <p:sp>
        <p:nvSpPr>
          <p:cNvPr id="6" name="TextBox 6"/>
          <p:cNvSpPr txBox="1"/>
          <p:nvPr/>
        </p:nvSpPr>
        <p:spPr>
          <a:xfrm>
            <a:off x="1028700" y="1191673"/>
            <a:ext cx="9188752" cy="441325"/>
          </a:xfrm>
          <a:prstGeom prst="rect">
            <a:avLst/>
          </a:prstGeom>
        </p:spPr>
        <p:txBody>
          <a:bodyPr lIns="0" tIns="0" rIns="0" bIns="0" rtlCol="0" anchor="t">
            <a:spAutoFit/>
          </a:bodyPr>
          <a:lstStyle/>
          <a:p>
            <a:pPr marL="0" lvl="0" indent="0" algn="l">
              <a:lnSpc>
                <a:spcPts val="3199"/>
              </a:lnSpc>
            </a:pPr>
            <a:r>
              <a:rPr lang="en-US" sz="3999" spc="-143" dirty="0">
                <a:solidFill>
                  <a:srgbClr val="01012C"/>
                </a:solidFill>
                <a:latin typeface="Montserrat"/>
                <a:ea typeface="Montserrat"/>
                <a:cs typeface="Montserrat"/>
                <a:sym typeface="Montserrat"/>
              </a:rPr>
              <a:t>Non-Functional Requirement</a:t>
            </a:r>
          </a:p>
        </p:txBody>
      </p:sp>
      <p:sp>
        <p:nvSpPr>
          <p:cNvPr id="9" name="TextBox 8">
            <a:extLst>
              <a:ext uri="{FF2B5EF4-FFF2-40B4-BE49-F238E27FC236}">
                <a16:creationId xmlns:a16="http://schemas.microsoft.com/office/drawing/2014/main" id="{85F7A2EA-0F68-D7F0-81DA-7BAC993B5E96}"/>
              </a:ext>
            </a:extLst>
          </p:cNvPr>
          <p:cNvSpPr txBox="1"/>
          <p:nvPr/>
        </p:nvSpPr>
        <p:spPr>
          <a:xfrm>
            <a:off x="1028700" y="1561697"/>
            <a:ext cx="9144000" cy="8274958"/>
          </a:xfrm>
          <a:prstGeom prst="rect">
            <a:avLst/>
          </a:prstGeom>
          <a:noFill/>
        </p:spPr>
        <p:txBody>
          <a:bodyPr wrap="square">
            <a:spAutoFit/>
          </a:bodyPr>
          <a:lstStyle/>
          <a:p>
            <a:pPr algn="l">
              <a:lnSpc>
                <a:spcPct val="150000"/>
              </a:lnSpc>
              <a:buNone/>
            </a:pPr>
            <a:r>
              <a:rPr lang="en-US" sz="2100" b="1" i="0" dirty="0">
                <a:effectLst/>
                <a:latin typeface="Times New Roman" panose="02020603050405020304" pitchFamily="18" charset="0"/>
                <a:cs typeface="Times New Roman" panose="02020603050405020304" pitchFamily="18" charset="0"/>
              </a:rPr>
              <a:t>Usability Requirements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Intuitive, user-friendly interface</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Simple, minimal-training navigation</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Easy-access dashboards for key functions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Clear confirmation and validation messages</a:t>
            </a:r>
          </a:p>
          <a:p>
            <a:pPr algn="l">
              <a:lnSpc>
                <a:spcPct val="150000"/>
              </a:lnSpc>
              <a:buNone/>
            </a:pPr>
            <a:r>
              <a:rPr lang="en-US" sz="2100" b="1" i="0" dirty="0">
                <a:effectLst/>
                <a:latin typeface="Times New Roman" panose="02020603050405020304" pitchFamily="18" charset="0"/>
                <a:cs typeface="Times New Roman" panose="02020603050405020304" pitchFamily="18" charset="0"/>
              </a:rPr>
              <a:t>Scalability Requirements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Supports 200% transaction/database growth</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Expandable storage for menus, customers, history</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Modular, easily expandable features</a:t>
            </a:r>
          </a:p>
          <a:p>
            <a:pPr algn="l">
              <a:lnSpc>
                <a:spcPct val="150000"/>
              </a:lnSpc>
              <a:buNone/>
            </a:pPr>
            <a:r>
              <a:rPr lang="en-US" sz="2100" b="1" i="0" dirty="0">
                <a:effectLst/>
                <a:latin typeface="Times New Roman" panose="02020603050405020304" pitchFamily="18" charset="0"/>
                <a:cs typeface="Times New Roman" panose="02020603050405020304" pitchFamily="18" charset="0"/>
              </a:rPr>
              <a:t>Maintainability Requirements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Clean, well-documented code (React.js, Laravel, MySQL)</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Easy updates and bug fixes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Built-in monitoring tools</a:t>
            </a:r>
          </a:p>
          <a:p>
            <a:pPr algn="just">
              <a:lnSpc>
                <a:spcPct val="150000"/>
              </a:lnSpc>
              <a:buNone/>
            </a:pPr>
            <a:r>
              <a:rPr lang="en-US" sz="2100" b="1" i="0" dirty="0">
                <a:effectLst/>
                <a:latin typeface="Times New Roman" panose="02020603050405020304" pitchFamily="18" charset="0"/>
                <a:cs typeface="Times New Roman" panose="02020603050405020304" pitchFamily="18" charset="0"/>
              </a:rPr>
              <a:t>Portability Requirements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Works on desktop, tablet, mobile (web-based)</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Compatible with major browsers</a:t>
            </a:r>
          </a:p>
          <a:p>
            <a:pPr lvl="1">
              <a:lnSpc>
                <a:spcPct val="150000"/>
              </a:lnSpc>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Runs on multiple operating systems</a:t>
            </a:r>
          </a:p>
        </p:txBody>
      </p:sp>
      <p:sp>
        <p:nvSpPr>
          <p:cNvPr id="17" name="Slide Number Placeholder 16">
            <a:extLst>
              <a:ext uri="{FF2B5EF4-FFF2-40B4-BE49-F238E27FC236}">
                <a16:creationId xmlns:a16="http://schemas.microsoft.com/office/drawing/2014/main" id="{460C011D-1439-9056-F82E-6A4719E5E333}"/>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7943744" y="1723551"/>
            <a:ext cx="9870652" cy="7982889"/>
          </a:xfrm>
          <a:custGeom>
            <a:avLst/>
            <a:gdLst/>
            <a:ahLst/>
            <a:cxnLst/>
            <a:rect l="l" t="t" r="r" b="b"/>
            <a:pathLst>
              <a:path w="9870652" h="7982889">
                <a:moveTo>
                  <a:pt x="0" y="0"/>
                </a:moveTo>
                <a:lnTo>
                  <a:pt x="9870652" y="0"/>
                </a:lnTo>
                <a:lnTo>
                  <a:pt x="9870652" y="7982889"/>
                </a:lnTo>
                <a:lnTo>
                  <a:pt x="0" y="7982889"/>
                </a:lnTo>
                <a:lnTo>
                  <a:pt x="0" y="0"/>
                </a:lnTo>
                <a:close/>
              </a:path>
            </a:pathLst>
          </a:custGeom>
          <a:blipFill>
            <a:blip r:embed="rId2"/>
            <a:stretch>
              <a:fillRect/>
            </a:stretch>
          </a:blipFill>
        </p:spPr>
      </p:sp>
      <p:sp>
        <p:nvSpPr>
          <p:cNvPr id="3" name="TextBox 3"/>
          <p:cNvSpPr txBox="1"/>
          <p:nvPr/>
        </p:nvSpPr>
        <p:spPr>
          <a:xfrm>
            <a:off x="1028700" y="970344"/>
            <a:ext cx="11017375" cy="753207"/>
          </a:xfrm>
          <a:prstGeom prst="rect">
            <a:avLst/>
          </a:prstGeom>
        </p:spPr>
        <p:txBody>
          <a:bodyPr lIns="0" tIns="0" rIns="0" bIns="0" rtlCol="0" anchor="t">
            <a:spAutoFit/>
          </a:bodyPr>
          <a:lstStyle/>
          <a:p>
            <a:pPr marL="0" lvl="0" indent="0" algn="l">
              <a:lnSpc>
                <a:spcPts val="5261"/>
              </a:lnSpc>
            </a:pPr>
            <a:r>
              <a:rPr lang="en-US" sz="6576" b="1" spc="-539">
                <a:solidFill>
                  <a:srgbClr val="01012C"/>
                </a:solidFill>
                <a:latin typeface="Arial Nova Bold"/>
                <a:ea typeface="Arial Nova Bold"/>
                <a:cs typeface="Arial Nova Bold"/>
                <a:sym typeface="Arial Nova Bold"/>
              </a:rPr>
              <a:t>USE CASE DIAGRAM</a:t>
            </a:r>
          </a:p>
        </p:txBody>
      </p:sp>
      <p:sp>
        <p:nvSpPr>
          <p:cNvPr id="5" name="TextBox 5"/>
          <p:cNvSpPr txBox="1"/>
          <p:nvPr/>
        </p:nvSpPr>
        <p:spPr>
          <a:xfrm>
            <a:off x="3276601" y="5094313"/>
            <a:ext cx="2209800" cy="1271182"/>
          </a:xfrm>
          <a:prstGeom prst="rect">
            <a:avLst/>
          </a:prstGeom>
        </p:spPr>
        <p:txBody>
          <a:bodyPr wrap="square" lIns="0" tIns="0" rIns="0" bIns="0" rtlCol="0" anchor="t">
            <a:spAutoFit/>
          </a:bodyPr>
          <a:lstStyle/>
          <a:p>
            <a:pPr>
              <a:lnSpc>
                <a:spcPts val="3359"/>
              </a:lnSpc>
              <a:spcBef>
                <a:spcPct val="0"/>
              </a:spcBef>
            </a:pPr>
            <a:r>
              <a:rPr lang="en-US" sz="2400" spc="-86" dirty="0">
                <a:solidFill>
                  <a:srgbClr val="01012C"/>
                </a:solidFill>
                <a:latin typeface="Times New Roman" panose="02020603050405020304" pitchFamily="18" charset="0"/>
                <a:ea typeface="Montserrat"/>
                <a:cs typeface="Times New Roman" panose="02020603050405020304" pitchFamily="18" charset="0"/>
                <a:sym typeface="Montserrat"/>
              </a:rPr>
              <a:t>Actors: </a:t>
            </a: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Admin</a:t>
            </a:r>
            <a:endParaRPr lang="en-US" sz="2400" spc="-86" dirty="0">
              <a:solidFill>
                <a:srgbClr val="01012C"/>
              </a:solidFill>
              <a:latin typeface="Times New Roman" panose="02020603050405020304" pitchFamily="18" charset="0"/>
              <a:ea typeface="Montserrat"/>
              <a:cs typeface="Times New Roman" panose="02020603050405020304" pitchFamily="18" charset="0"/>
              <a:sym typeface="Montserrat"/>
            </a:endParaRPr>
          </a:p>
          <a:p>
            <a:pPr algn="l">
              <a:lnSpc>
                <a:spcPts val="3359"/>
              </a:lnSpc>
              <a:spcBef>
                <a:spcPct val="0"/>
              </a:spcBef>
            </a:pPr>
            <a:endParaRPr lang="en-US" sz="2400" spc="-86" dirty="0">
              <a:solidFill>
                <a:srgbClr val="01012C"/>
              </a:solidFill>
              <a:latin typeface="Times New Roman" panose="02020603050405020304" pitchFamily="18" charset="0"/>
              <a:ea typeface="Montserrat"/>
              <a:cs typeface="Times New Roman" panose="02020603050405020304" pitchFamily="18" charset="0"/>
              <a:sym typeface="Montserrat"/>
            </a:endParaRPr>
          </a:p>
          <a:p>
            <a:pPr algn="just">
              <a:lnSpc>
                <a:spcPts val="3359"/>
              </a:lnSpc>
              <a:spcBef>
                <a:spcPct val="0"/>
              </a:spcBef>
            </a:pPr>
            <a:endParaRPr lang="en-US" sz="2400" dirty="0">
              <a:solidFill>
                <a:srgbClr val="01012C"/>
              </a:solidFill>
              <a:latin typeface="Times New Roman" panose="02020603050405020304" pitchFamily="18" charset="0"/>
              <a:ea typeface="Montserrat"/>
              <a:cs typeface="Times New Roman" panose="02020603050405020304" pitchFamily="18" charset="0"/>
              <a:sym typeface="Montserrat"/>
            </a:endParaRPr>
          </a:p>
        </p:txBody>
      </p:sp>
      <p:sp>
        <p:nvSpPr>
          <p:cNvPr id="13" name="Slide Number Placeholder 12">
            <a:extLst>
              <a:ext uri="{FF2B5EF4-FFF2-40B4-BE49-F238E27FC236}">
                <a16:creationId xmlns:a16="http://schemas.microsoft.com/office/drawing/2014/main" id="{4D1D8B11-1304-B7D9-90E9-055C688153D8}"/>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a:effectLst>
              <a:glow rad="63500">
                <a:schemeClr val="accent1">
                  <a:satMod val="175000"/>
                  <a:alpha val="40000"/>
                </a:schemeClr>
              </a:glow>
            </a:effectLst>
          </p:spPr>
          <p:txBody>
            <a:bodyPr/>
            <a:lstStyle/>
            <a:p>
              <a:endParaRPr lang="en-US" dirty="0"/>
            </a:p>
          </p:txBody>
        </p:sp>
      </p:grpSp>
      <p:sp>
        <p:nvSpPr>
          <p:cNvPr id="8" name="TextBox 8"/>
          <p:cNvSpPr txBox="1"/>
          <p:nvPr/>
        </p:nvSpPr>
        <p:spPr>
          <a:xfrm>
            <a:off x="7850237" y="3326309"/>
            <a:ext cx="9445526" cy="1757362"/>
          </a:xfrm>
          <a:prstGeom prst="rect">
            <a:avLst/>
          </a:prstGeom>
        </p:spPr>
        <p:txBody>
          <a:bodyPr lIns="0" tIns="0" rIns="0" bIns="0" rtlCol="0" anchor="t">
            <a:spAutoFit/>
          </a:bodyPr>
          <a:lstStyle/>
          <a:p>
            <a:pPr algn="l">
              <a:lnSpc>
                <a:spcPts val="6937"/>
              </a:lnSpc>
            </a:pPr>
            <a:r>
              <a:rPr lang="en-US" sz="5562" b="1" spc="-200" dirty="0">
                <a:solidFill>
                  <a:srgbClr val="01012C"/>
                </a:solidFill>
                <a:latin typeface="Times New Roman" panose="02020603050405020304" pitchFamily="18" charset="0"/>
                <a:ea typeface="Montserrat"/>
                <a:cs typeface="Times New Roman" panose="02020603050405020304" pitchFamily="18" charset="0"/>
                <a:sym typeface="Montserrat"/>
              </a:rPr>
              <a:t>Function Point Estimation for POS System</a:t>
            </a:r>
          </a:p>
        </p:txBody>
      </p:sp>
      <p:sp>
        <p:nvSpPr>
          <p:cNvPr id="9" name="TextBox 9"/>
          <p:cNvSpPr txBox="1"/>
          <p:nvPr/>
        </p:nvSpPr>
        <p:spPr>
          <a:xfrm>
            <a:off x="7850237" y="5475834"/>
            <a:ext cx="9445526" cy="1309687"/>
          </a:xfrm>
          <a:prstGeom prst="rect">
            <a:avLst/>
          </a:prstGeom>
        </p:spPr>
        <p:txBody>
          <a:bodyPr lIns="0" tIns="0" rIns="0" bIns="0" rtlCol="0" anchor="t">
            <a:spAutoFit/>
          </a:bodyPr>
          <a:lstStyle/>
          <a:p>
            <a:pPr algn="l">
              <a:lnSpc>
                <a:spcPts val="3562"/>
              </a:lnSpc>
            </a:pPr>
            <a:r>
              <a:rPr lang="en-US" sz="2187" dirty="0">
                <a:solidFill>
                  <a:srgbClr val="01012C"/>
                </a:solidFill>
                <a:latin typeface="Montserrat"/>
                <a:ea typeface="Montserrat"/>
                <a:cs typeface="Montserrat"/>
                <a:sym typeface="Montserrat"/>
              </a:rPr>
              <a:t>A comprehensive analysis of software estimation techniques for restaurant management systems, including function point analysis, project scheduling, and cost estimation.</a:t>
            </a:r>
          </a:p>
        </p:txBody>
      </p:sp>
      <p:sp>
        <p:nvSpPr>
          <p:cNvPr id="18" name="Slide Number Placeholder 17">
            <a:extLst>
              <a:ext uri="{FF2B5EF4-FFF2-40B4-BE49-F238E27FC236}">
                <a16:creationId xmlns:a16="http://schemas.microsoft.com/office/drawing/2014/main" id="{F7D05263-D15C-958E-D4E3-326A3B68B95A}"/>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txBody>
            <a:bodyPr/>
            <a:lstStyle/>
            <a:p>
              <a:endParaRPr lang="en-US" b="1" dirty="0"/>
            </a:p>
          </p:txBody>
        </p:sp>
      </p:grpSp>
      <p:sp>
        <p:nvSpPr>
          <p:cNvPr id="6" name="TextBox 6"/>
          <p:cNvSpPr txBox="1"/>
          <p:nvPr/>
        </p:nvSpPr>
        <p:spPr>
          <a:xfrm>
            <a:off x="766911" y="583406"/>
            <a:ext cx="6895356" cy="572273"/>
          </a:xfrm>
          <a:prstGeom prst="rect">
            <a:avLst/>
          </a:prstGeom>
        </p:spPr>
        <p:txBody>
          <a:bodyPr lIns="0" tIns="0" rIns="0" bIns="0" rtlCol="0" anchor="t">
            <a:spAutoFit/>
          </a:bodyPr>
          <a:lstStyle/>
          <a:p>
            <a:pPr algn="l">
              <a:lnSpc>
                <a:spcPts val="4762"/>
              </a:lnSpc>
            </a:pPr>
            <a:r>
              <a:rPr lang="en-US" sz="3821" b="1" spc="-313" dirty="0">
                <a:solidFill>
                  <a:srgbClr val="01012C"/>
                </a:solidFill>
                <a:latin typeface="Arial Nova Bold"/>
                <a:ea typeface="Arial Nova Bold"/>
                <a:cs typeface="Arial Nova Bold"/>
                <a:sym typeface="Arial Nova Bold"/>
              </a:rPr>
              <a:t> FUNCTION POINT ESTIMATION</a:t>
            </a:r>
          </a:p>
        </p:txBody>
      </p:sp>
      <p:sp>
        <p:nvSpPr>
          <p:cNvPr id="7" name="TextBox 7"/>
          <p:cNvSpPr txBox="1"/>
          <p:nvPr/>
        </p:nvSpPr>
        <p:spPr>
          <a:xfrm>
            <a:off x="766911" y="1658690"/>
            <a:ext cx="16754178" cy="1040926"/>
          </a:xfrm>
          <a:prstGeom prst="rect">
            <a:avLst/>
          </a:prstGeom>
        </p:spPr>
        <p:txBody>
          <a:bodyPr lIns="0" tIns="0" rIns="0" bIns="0" rtlCol="0" anchor="t">
            <a:spAutoFit/>
          </a:bodyPr>
          <a:lstStyle/>
          <a:p>
            <a:pPr algn="l">
              <a:lnSpc>
                <a:spcPts val="2750"/>
              </a:lnSpc>
            </a:pPr>
            <a:r>
              <a:rPr lang="en-US" sz="1687" dirty="0">
                <a:solidFill>
                  <a:srgbClr val="01012C"/>
                </a:solidFill>
                <a:latin typeface="Montserrat"/>
                <a:ea typeface="Montserrat"/>
                <a:cs typeface="Montserrat"/>
                <a:sym typeface="Montserrat"/>
              </a:rPr>
              <a:t>Function Point Estimation (FPE) is a standard technique used to measure the size and complexity of a software application from the user's perspective. For the POS System for Restaurants, FPE is used to evaluate the system's functional components, focusing on order processing, payment handling, inventory management, and reporting.</a:t>
            </a:r>
          </a:p>
        </p:txBody>
      </p:sp>
      <p:sp>
        <p:nvSpPr>
          <p:cNvPr id="8" name="TextBox 8"/>
          <p:cNvSpPr txBox="1"/>
          <p:nvPr/>
        </p:nvSpPr>
        <p:spPr>
          <a:xfrm>
            <a:off x="766911" y="3095922"/>
            <a:ext cx="6204348" cy="510480"/>
          </a:xfrm>
          <a:prstGeom prst="rect">
            <a:avLst/>
          </a:prstGeom>
        </p:spPr>
        <p:txBody>
          <a:bodyPr lIns="0" tIns="0" rIns="0" bIns="0" rtlCol="0" anchor="t">
            <a:spAutoFit/>
          </a:bodyPr>
          <a:lstStyle/>
          <a:p>
            <a:pPr algn="l">
              <a:lnSpc>
                <a:spcPts val="4150"/>
              </a:lnSpc>
            </a:pPr>
            <a:r>
              <a:rPr lang="en-US" sz="3308" b="1" spc="-119" dirty="0">
                <a:solidFill>
                  <a:srgbClr val="01012C"/>
                </a:solidFill>
                <a:latin typeface="Montserrat"/>
                <a:ea typeface="Montserrat"/>
                <a:cs typeface="Montserrat"/>
                <a:sym typeface="Montserrat"/>
              </a:rPr>
              <a:t> Functionality, Input, Output</a:t>
            </a:r>
          </a:p>
        </p:txBody>
      </p:sp>
      <p:grpSp>
        <p:nvGrpSpPr>
          <p:cNvPr id="9" name="Group 9"/>
          <p:cNvGrpSpPr/>
          <p:nvPr/>
        </p:nvGrpSpPr>
        <p:grpSpPr>
          <a:xfrm>
            <a:off x="762149" y="3977134"/>
            <a:ext cx="16763702" cy="5719911"/>
            <a:chOff x="0" y="0"/>
            <a:chExt cx="22351603" cy="7626548"/>
          </a:xfrm>
        </p:grpSpPr>
        <p:sp>
          <p:nvSpPr>
            <p:cNvPr id="10" name="Freeform 10"/>
            <p:cNvSpPr/>
            <p:nvPr/>
          </p:nvSpPr>
          <p:spPr>
            <a:xfrm>
              <a:off x="0" y="0"/>
              <a:ext cx="22351493" cy="7626604"/>
            </a:xfrm>
            <a:custGeom>
              <a:avLst/>
              <a:gdLst/>
              <a:ahLst/>
              <a:cxnLst/>
              <a:rect l="l" t="t" r="r" b="b"/>
              <a:pathLst>
                <a:path w="22351493" h="7626604">
                  <a:moveTo>
                    <a:pt x="0" y="129032"/>
                  </a:moveTo>
                  <a:cubicBezTo>
                    <a:pt x="0" y="57785"/>
                    <a:pt x="57912" y="0"/>
                    <a:pt x="129159" y="0"/>
                  </a:cubicBezTo>
                  <a:lnTo>
                    <a:pt x="22222333" y="0"/>
                  </a:lnTo>
                  <a:lnTo>
                    <a:pt x="22222333" y="6350"/>
                  </a:lnTo>
                  <a:lnTo>
                    <a:pt x="22222333" y="0"/>
                  </a:lnTo>
                  <a:cubicBezTo>
                    <a:pt x="22293707" y="0"/>
                    <a:pt x="22351493" y="57785"/>
                    <a:pt x="22351493" y="129032"/>
                  </a:cubicBezTo>
                  <a:lnTo>
                    <a:pt x="22345143" y="129032"/>
                  </a:lnTo>
                  <a:lnTo>
                    <a:pt x="22351493" y="129032"/>
                  </a:lnTo>
                  <a:lnTo>
                    <a:pt x="22351493" y="7497445"/>
                  </a:lnTo>
                  <a:lnTo>
                    <a:pt x="22345143" y="7497445"/>
                  </a:lnTo>
                  <a:lnTo>
                    <a:pt x="22351493" y="7497445"/>
                  </a:lnTo>
                  <a:cubicBezTo>
                    <a:pt x="22351493" y="7568692"/>
                    <a:pt x="22293580" y="7626476"/>
                    <a:pt x="22222333" y="7626476"/>
                  </a:cubicBezTo>
                  <a:lnTo>
                    <a:pt x="22222333" y="7620126"/>
                  </a:lnTo>
                  <a:lnTo>
                    <a:pt x="22222333" y="7626476"/>
                  </a:lnTo>
                  <a:lnTo>
                    <a:pt x="129159" y="7626476"/>
                  </a:lnTo>
                  <a:lnTo>
                    <a:pt x="129159" y="7620126"/>
                  </a:lnTo>
                  <a:lnTo>
                    <a:pt x="129159" y="7626476"/>
                  </a:lnTo>
                  <a:cubicBezTo>
                    <a:pt x="57912" y="7626604"/>
                    <a:pt x="0" y="7568819"/>
                    <a:pt x="0" y="7497445"/>
                  </a:cubicBezTo>
                  <a:lnTo>
                    <a:pt x="0" y="129032"/>
                  </a:lnTo>
                  <a:lnTo>
                    <a:pt x="6350" y="129032"/>
                  </a:lnTo>
                  <a:lnTo>
                    <a:pt x="0" y="129032"/>
                  </a:lnTo>
                  <a:moveTo>
                    <a:pt x="12700" y="129032"/>
                  </a:moveTo>
                  <a:lnTo>
                    <a:pt x="12700" y="7497445"/>
                  </a:lnTo>
                  <a:lnTo>
                    <a:pt x="6350" y="7497445"/>
                  </a:lnTo>
                  <a:lnTo>
                    <a:pt x="12700" y="7497445"/>
                  </a:lnTo>
                  <a:cubicBezTo>
                    <a:pt x="12700" y="7561707"/>
                    <a:pt x="64897" y="7613776"/>
                    <a:pt x="129159" y="7613776"/>
                  </a:cubicBezTo>
                  <a:lnTo>
                    <a:pt x="22222333" y="7613776"/>
                  </a:lnTo>
                  <a:cubicBezTo>
                    <a:pt x="22286722" y="7613776"/>
                    <a:pt x="22338793" y="7561707"/>
                    <a:pt x="22338793" y="7497445"/>
                  </a:cubicBezTo>
                  <a:lnTo>
                    <a:pt x="22338793" y="129032"/>
                  </a:lnTo>
                  <a:cubicBezTo>
                    <a:pt x="22338793" y="64770"/>
                    <a:pt x="22286596" y="12700"/>
                    <a:pt x="22222333" y="12700"/>
                  </a:cubicBezTo>
                  <a:lnTo>
                    <a:pt x="129159" y="12700"/>
                  </a:lnTo>
                  <a:lnTo>
                    <a:pt x="129159" y="6350"/>
                  </a:lnTo>
                  <a:lnTo>
                    <a:pt x="129159" y="12700"/>
                  </a:lnTo>
                  <a:cubicBezTo>
                    <a:pt x="64897" y="12700"/>
                    <a:pt x="12700" y="64770"/>
                    <a:pt x="12700" y="129032"/>
                  </a:cubicBezTo>
                  <a:close/>
                </a:path>
              </a:pathLst>
            </a:custGeom>
            <a:solidFill>
              <a:srgbClr val="F8F8F8">
                <a:alpha val="392"/>
              </a:srgbClr>
            </a:solidFill>
          </p:spPr>
        </p:sp>
      </p:grpSp>
      <p:grpSp>
        <p:nvGrpSpPr>
          <p:cNvPr id="11" name="Group 11"/>
          <p:cNvGrpSpPr/>
          <p:nvPr/>
        </p:nvGrpSpPr>
        <p:grpSpPr>
          <a:xfrm>
            <a:off x="776436" y="3991421"/>
            <a:ext cx="16733341" cy="632371"/>
            <a:chOff x="0" y="0"/>
            <a:chExt cx="22311122" cy="843162"/>
          </a:xfrm>
        </p:grpSpPr>
        <p:sp>
          <p:nvSpPr>
            <p:cNvPr id="12" name="Freeform 1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13" name="TextBox 13"/>
          <p:cNvSpPr txBox="1"/>
          <p:nvPr/>
        </p:nvSpPr>
        <p:spPr>
          <a:xfrm>
            <a:off x="997297" y="4065686"/>
            <a:ext cx="5134272" cy="332655"/>
          </a:xfrm>
          <a:prstGeom prst="rect">
            <a:avLst/>
          </a:prstGeom>
        </p:spPr>
        <p:txBody>
          <a:bodyPr lIns="0" tIns="0" rIns="0" bIns="0" rtlCol="0" anchor="t">
            <a:spAutoFit/>
          </a:bodyPr>
          <a:lstStyle/>
          <a:p>
            <a:pPr algn="l">
              <a:lnSpc>
                <a:spcPts val="2750"/>
              </a:lnSpc>
            </a:pPr>
            <a:r>
              <a:rPr lang="en-US" sz="2000" b="1" dirty="0">
                <a:solidFill>
                  <a:srgbClr val="01012C"/>
                </a:solidFill>
                <a:latin typeface="Montserrat"/>
                <a:ea typeface="Montserrat"/>
                <a:cs typeface="Montserrat"/>
                <a:sym typeface="Montserrat"/>
              </a:rPr>
              <a:t>Functionality</a:t>
            </a:r>
          </a:p>
        </p:txBody>
      </p:sp>
      <p:sp>
        <p:nvSpPr>
          <p:cNvPr id="14" name="TextBox 14"/>
          <p:cNvSpPr txBox="1"/>
          <p:nvPr/>
        </p:nvSpPr>
        <p:spPr>
          <a:xfrm>
            <a:off x="6579245" y="4065686"/>
            <a:ext cx="5129510" cy="332655"/>
          </a:xfrm>
          <a:prstGeom prst="rect">
            <a:avLst/>
          </a:prstGeom>
        </p:spPr>
        <p:txBody>
          <a:bodyPr lIns="0" tIns="0" rIns="0" bIns="0" rtlCol="0" anchor="t">
            <a:spAutoFit/>
          </a:bodyPr>
          <a:lstStyle/>
          <a:p>
            <a:pPr algn="l">
              <a:lnSpc>
                <a:spcPts val="2750"/>
              </a:lnSpc>
            </a:pPr>
            <a:r>
              <a:rPr lang="en-US" sz="2000" b="1">
                <a:solidFill>
                  <a:srgbClr val="01012C"/>
                </a:solidFill>
                <a:latin typeface="Montserrat"/>
                <a:ea typeface="Montserrat"/>
                <a:cs typeface="Montserrat"/>
                <a:sym typeface="Montserrat"/>
              </a:rPr>
              <a:t>Input</a:t>
            </a:r>
          </a:p>
        </p:txBody>
      </p:sp>
      <p:sp>
        <p:nvSpPr>
          <p:cNvPr id="15" name="TextBox 15"/>
          <p:cNvSpPr txBox="1"/>
          <p:nvPr/>
        </p:nvSpPr>
        <p:spPr>
          <a:xfrm>
            <a:off x="12156430" y="4065686"/>
            <a:ext cx="5134273" cy="332655"/>
          </a:xfrm>
          <a:prstGeom prst="rect">
            <a:avLst/>
          </a:prstGeom>
        </p:spPr>
        <p:txBody>
          <a:bodyPr lIns="0" tIns="0" rIns="0" bIns="0" rtlCol="0" anchor="t">
            <a:spAutoFit/>
          </a:bodyPr>
          <a:lstStyle/>
          <a:p>
            <a:pPr algn="l">
              <a:lnSpc>
                <a:spcPts val="2750"/>
              </a:lnSpc>
            </a:pPr>
            <a:r>
              <a:rPr lang="en-US" sz="2000" b="1">
                <a:solidFill>
                  <a:srgbClr val="01012C"/>
                </a:solidFill>
                <a:latin typeface="Montserrat"/>
                <a:ea typeface="Montserrat"/>
                <a:cs typeface="Montserrat"/>
                <a:sym typeface="Montserrat"/>
              </a:rPr>
              <a:t>Output</a:t>
            </a:r>
          </a:p>
        </p:txBody>
      </p:sp>
      <p:grpSp>
        <p:nvGrpSpPr>
          <p:cNvPr id="16" name="Group 16"/>
          <p:cNvGrpSpPr/>
          <p:nvPr/>
        </p:nvGrpSpPr>
        <p:grpSpPr>
          <a:xfrm>
            <a:off x="776436" y="4623792"/>
            <a:ext cx="16733341" cy="632371"/>
            <a:chOff x="0" y="0"/>
            <a:chExt cx="22311122" cy="843162"/>
          </a:xfrm>
        </p:grpSpPr>
        <p:sp>
          <p:nvSpPr>
            <p:cNvPr id="17" name="Freeform 1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18" name="TextBox 18"/>
          <p:cNvSpPr txBox="1"/>
          <p:nvPr/>
        </p:nvSpPr>
        <p:spPr>
          <a:xfrm>
            <a:off x="997297" y="4698057"/>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1. User Management</a:t>
            </a:r>
          </a:p>
        </p:txBody>
      </p:sp>
      <p:sp>
        <p:nvSpPr>
          <p:cNvPr id="19" name="TextBox 19"/>
          <p:cNvSpPr txBox="1"/>
          <p:nvPr/>
        </p:nvSpPr>
        <p:spPr>
          <a:xfrm>
            <a:off x="6579245" y="4698057"/>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User details, role assignments</a:t>
            </a:r>
          </a:p>
        </p:txBody>
      </p:sp>
      <p:sp>
        <p:nvSpPr>
          <p:cNvPr id="20" name="TextBox 20"/>
          <p:cNvSpPr txBox="1"/>
          <p:nvPr/>
        </p:nvSpPr>
        <p:spPr>
          <a:xfrm>
            <a:off x="12156430" y="4698057"/>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Confirmation Message or Error Message</a:t>
            </a:r>
          </a:p>
        </p:txBody>
      </p:sp>
      <p:grpSp>
        <p:nvGrpSpPr>
          <p:cNvPr id="21" name="Group 21"/>
          <p:cNvGrpSpPr/>
          <p:nvPr/>
        </p:nvGrpSpPr>
        <p:grpSpPr>
          <a:xfrm>
            <a:off x="776436" y="5256162"/>
            <a:ext cx="16733341" cy="632371"/>
            <a:chOff x="0" y="0"/>
            <a:chExt cx="22311122" cy="843162"/>
          </a:xfrm>
        </p:grpSpPr>
        <p:sp>
          <p:nvSpPr>
            <p:cNvPr id="22" name="Freeform 2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23" name="TextBox 23"/>
          <p:cNvSpPr txBox="1"/>
          <p:nvPr/>
        </p:nvSpPr>
        <p:spPr>
          <a:xfrm>
            <a:off x="997297" y="5330429"/>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2. Menu Management</a:t>
            </a:r>
          </a:p>
        </p:txBody>
      </p:sp>
      <p:sp>
        <p:nvSpPr>
          <p:cNvPr id="24" name="TextBox 24"/>
          <p:cNvSpPr txBox="1"/>
          <p:nvPr/>
        </p:nvSpPr>
        <p:spPr>
          <a:xfrm>
            <a:off x="6579245" y="5330429"/>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Menu items, pricing, categories</a:t>
            </a:r>
          </a:p>
        </p:txBody>
      </p:sp>
      <p:sp>
        <p:nvSpPr>
          <p:cNvPr id="25" name="TextBox 25"/>
          <p:cNvSpPr txBox="1"/>
          <p:nvPr/>
        </p:nvSpPr>
        <p:spPr>
          <a:xfrm>
            <a:off x="12156430" y="5330429"/>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Confirmation Message or Error Message</a:t>
            </a:r>
          </a:p>
        </p:txBody>
      </p:sp>
      <p:grpSp>
        <p:nvGrpSpPr>
          <p:cNvPr id="26" name="Group 26"/>
          <p:cNvGrpSpPr/>
          <p:nvPr/>
        </p:nvGrpSpPr>
        <p:grpSpPr>
          <a:xfrm>
            <a:off x="776436" y="5888534"/>
            <a:ext cx="16733341" cy="632371"/>
            <a:chOff x="0" y="0"/>
            <a:chExt cx="22311122" cy="843162"/>
          </a:xfrm>
        </p:grpSpPr>
        <p:sp>
          <p:nvSpPr>
            <p:cNvPr id="27" name="Freeform 2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28" name="TextBox 28"/>
          <p:cNvSpPr txBox="1"/>
          <p:nvPr/>
        </p:nvSpPr>
        <p:spPr>
          <a:xfrm>
            <a:off x="997297" y="5962799"/>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3. Order Processing</a:t>
            </a:r>
          </a:p>
        </p:txBody>
      </p:sp>
      <p:sp>
        <p:nvSpPr>
          <p:cNvPr id="29" name="TextBox 29"/>
          <p:cNvSpPr txBox="1"/>
          <p:nvPr/>
        </p:nvSpPr>
        <p:spPr>
          <a:xfrm>
            <a:off x="6579245" y="5962799"/>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Order details, customer preferences</a:t>
            </a:r>
          </a:p>
        </p:txBody>
      </p:sp>
      <p:sp>
        <p:nvSpPr>
          <p:cNvPr id="30" name="TextBox 30"/>
          <p:cNvSpPr txBox="1"/>
          <p:nvPr/>
        </p:nvSpPr>
        <p:spPr>
          <a:xfrm>
            <a:off x="12156430" y="5962799"/>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Order confirmation, receipt</a:t>
            </a:r>
          </a:p>
        </p:txBody>
      </p:sp>
      <p:grpSp>
        <p:nvGrpSpPr>
          <p:cNvPr id="31" name="Group 31"/>
          <p:cNvGrpSpPr/>
          <p:nvPr/>
        </p:nvGrpSpPr>
        <p:grpSpPr>
          <a:xfrm>
            <a:off x="776436" y="6520904"/>
            <a:ext cx="16733341" cy="632371"/>
            <a:chOff x="0" y="0"/>
            <a:chExt cx="22311122" cy="843162"/>
          </a:xfrm>
        </p:grpSpPr>
        <p:sp>
          <p:nvSpPr>
            <p:cNvPr id="32" name="Freeform 3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33" name="TextBox 33"/>
          <p:cNvSpPr txBox="1"/>
          <p:nvPr/>
        </p:nvSpPr>
        <p:spPr>
          <a:xfrm>
            <a:off x="997297" y="6595170"/>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4. Payment &amp; Receipts</a:t>
            </a:r>
          </a:p>
        </p:txBody>
      </p:sp>
      <p:sp>
        <p:nvSpPr>
          <p:cNvPr id="34" name="TextBox 34"/>
          <p:cNvSpPr txBox="1"/>
          <p:nvPr/>
        </p:nvSpPr>
        <p:spPr>
          <a:xfrm>
            <a:off x="6579245" y="6595170"/>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Payment details (cash, card, etc.)</a:t>
            </a:r>
          </a:p>
        </p:txBody>
      </p:sp>
      <p:sp>
        <p:nvSpPr>
          <p:cNvPr id="35" name="TextBox 35"/>
          <p:cNvSpPr txBox="1"/>
          <p:nvPr/>
        </p:nvSpPr>
        <p:spPr>
          <a:xfrm>
            <a:off x="12156430" y="6595170"/>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Payment confirmation, receipt</a:t>
            </a:r>
          </a:p>
        </p:txBody>
      </p:sp>
      <p:grpSp>
        <p:nvGrpSpPr>
          <p:cNvPr id="36" name="Group 36"/>
          <p:cNvGrpSpPr/>
          <p:nvPr/>
        </p:nvGrpSpPr>
        <p:grpSpPr>
          <a:xfrm>
            <a:off x="776436" y="7153275"/>
            <a:ext cx="16733341" cy="632371"/>
            <a:chOff x="0" y="0"/>
            <a:chExt cx="22311122" cy="843162"/>
          </a:xfrm>
        </p:grpSpPr>
        <p:sp>
          <p:nvSpPr>
            <p:cNvPr id="37" name="Freeform 3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38" name="TextBox 38"/>
          <p:cNvSpPr txBox="1"/>
          <p:nvPr/>
        </p:nvSpPr>
        <p:spPr>
          <a:xfrm>
            <a:off x="997297" y="7227540"/>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5. Inventory Management</a:t>
            </a:r>
          </a:p>
        </p:txBody>
      </p:sp>
      <p:sp>
        <p:nvSpPr>
          <p:cNvPr id="39" name="TextBox 39"/>
          <p:cNvSpPr txBox="1"/>
          <p:nvPr/>
        </p:nvSpPr>
        <p:spPr>
          <a:xfrm>
            <a:off x="6579245" y="7227540"/>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Stock levels, menu items, orders</a:t>
            </a:r>
          </a:p>
        </p:txBody>
      </p:sp>
      <p:sp>
        <p:nvSpPr>
          <p:cNvPr id="40" name="TextBox 40"/>
          <p:cNvSpPr txBox="1"/>
          <p:nvPr/>
        </p:nvSpPr>
        <p:spPr>
          <a:xfrm>
            <a:off x="12156430" y="7227540"/>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Inventory updates, low stock alerts</a:t>
            </a:r>
          </a:p>
        </p:txBody>
      </p:sp>
      <p:grpSp>
        <p:nvGrpSpPr>
          <p:cNvPr id="41" name="Group 41"/>
          <p:cNvGrpSpPr/>
          <p:nvPr/>
        </p:nvGrpSpPr>
        <p:grpSpPr>
          <a:xfrm>
            <a:off x="776436" y="7785646"/>
            <a:ext cx="16733341" cy="632371"/>
            <a:chOff x="0" y="0"/>
            <a:chExt cx="22311122" cy="843162"/>
          </a:xfrm>
        </p:grpSpPr>
        <p:sp>
          <p:nvSpPr>
            <p:cNvPr id="42" name="Freeform 4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43" name="TextBox 43"/>
          <p:cNvSpPr txBox="1"/>
          <p:nvPr/>
        </p:nvSpPr>
        <p:spPr>
          <a:xfrm>
            <a:off x="997297" y="7859911"/>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6. Sales Reporting</a:t>
            </a:r>
          </a:p>
        </p:txBody>
      </p:sp>
      <p:sp>
        <p:nvSpPr>
          <p:cNvPr id="44" name="TextBox 44"/>
          <p:cNvSpPr txBox="1"/>
          <p:nvPr/>
        </p:nvSpPr>
        <p:spPr>
          <a:xfrm>
            <a:off x="6579245" y="7859911"/>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Date range, report type</a:t>
            </a:r>
          </a:p>
        </p:txBody>
      </p:sp>
      <p:sp>
        <p:nvSpPr>
          <p:cNvPr id="45" name="TextBox 45"/>
          <p:cNvSpPr txBox="1"/>
          <p:nvPr/>
        </p:nvSpPr>
        <p:spPr>
          <a:xfrm>
            <a:off x="12156430" y="7859911"/>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Sales report (daily, weekly, monthly)</a:t>
            </a:r>
          </a:p>
        </p:txBody>
      </p:sp>
      <p:grpSp>
        <p:nvGrpSpPr>
          <p:cNvPr id="46" name="Group 46"/>
          <p:cNvGrpSpPr/>
          <p:nvPr/>
        </p:nvGrpSpPr>
        <p:grpSpPr>
          <a:xfrm>
            <a:off x="776436" y="8418016"/>
            <a:ext cx="16733341" cy="632371"/>
            <a:chOff x="0" y="0"/>
            <a:chExt cx="22311122" cy="843162"/>
          </a:xfrm>
        </p:grpSpPr>
        <p:sp>
          <p:nvSpPr>
            <p:cNvPr id="47" name="Freeform 47"/>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48" name="TextBox 48"/>
          <p:cNvSpPr txBox="1"/>
          <p:nvPr/>
        </p:nvSpPr>
        <p:spPr>
          <a:xfrm>
            <a:off x="997297" y="8492281"/>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7. End of Day Process</a:t>
            </a:r>
          </a:p>
        </p:txBody>
      </p:sp>
      <p:sp>
        <p:nvSpPr>
          <p:cNvPr id="49" name="TextBox 49"/>
          <p:cNvSpPr txBox="1"/>
          <p:nvPr/>
        </p:nvSpPr>
        <p:spPr>
          <a:xfrm>
            <a:off x="6579245" y="8492281"/>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Day-end command</a:t>
            </a:r>
          </a:p>
        </p:txBody>
      </p:sp>
      <p:sp>
        <p:nvSpPr>
          <p:cNvPr id="50" name="TextBox 50"/>
          <p:cNvSpPr txBox="1"/>
          <p:nvPr/>
        </p:nvSpPr>
        <p:spPr>
          <a:xfrm>
            <a:off x="12156430" y="8492281"/>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Database backup, sales export</a:t>
            </a:r>
          </a:p>
        </p:txBody>
      </p:sp>
      <p:grpSp>
        <p:nvGrpSpPr>
          <p:cNvPr id="51" name="Group 51"/>
          <p:cNvGrpSpPr/>
          <p:nvPr/>
        </p:nvGrpSpPr>
        <p:grpSpPr>
          <a:xfrm>
            <a:off x="776436" y="9050388"/>
            <a:ext cx="16733341" cy="632371"/>
            <a:chOff x="0" y="0"/>
            <a:chExt cx="22311122" cy="843162"/>
          </a:xfrm>
        </p:grpSpPr>
        <p:sp>
          <p:nvSpPr>
            <p:cNvPr id="52" name="Freeform 52"/>
            <p:cNvSpPr/>
            <p:nvPr/>
          </p:nvSpPr>
          <p:spPr>
            <a:xfrm>
              <a:off x="0" y="0"/>
              <a:ext cx="22311106" cy="843153"/>
            </a:xfrm>
            <a:custGeom>
              <a:avLst/>
              <a:gdLst/>
              <a:ahLst/>
              <a:cxnLst/>
              <a:rect l="l" t="t" r="r" b="b"/>
              <a:pathLst>
                <a:path w="22311106" h="843153">
                  <a:moveTo>
                    <a:pt x="0" y="0"/>
                  </a:moveTo>
                  <a:lnTo>
                    <a:pt x="22311106" y="0"/>
                  </a:lnTo>
                  <a:lnTo>
                    <a:pt x="22311106" y="843153"/>
                  </a:lnTo>
                  <a:lnTo>
                    <a:pt x="0" y="843153"/>
                  </a:lnTo>
                  <a:close/>
                </a:path>
              </a:pathLst>
            </a:custGeom>
            <a:solidFill>
              <a:srgbClr val="F8F8F8">
                <a:alpha val="0"/>
              </a:srgbClr>
            </a:solidFill>
          </p:spPr>
        </p:sp>
      </p:grpSp>
      <p:sp>
        <p:nvSpPr>
          <p:cNvPr id="53" name="TextBox 53"/>
          <p:cNvSpPr txBox="1"/>
          <p:nvPr/>
        </p:nvSpPr>
        <p:spPr>
          <a:xfrm>
            <a:off x="997297" y="9124652"/>
            <a:ext cx="5134272" cy="322781"/>
          </a:xfrm>
          <a:prstGeom prst="rect">
            <a:avLst/>
          </a:prstGeom>
        </p:spPr>
        <p:txBody>
          <a:bodyPr lIns="0" tIns="0" rIns="0" bIns="0" rtlCol="0" anchor="t">
            <a:spAutoFit/>
          </a:bodyPr>
          <a:lstStyle/>
          <a:p>
            <a:pPr algn="l">
              <a:lnSpc>
                <a:spcPts val="2750"/>
              </a:lnSpc>
            </a:pPr>
            <a:r>
              <a:rPr lang="en-US" sz="1687" b="1" dirty="0">
                <a:solidFill>
                  <a:srgbClr val="01012C"/>
                </a:solidFill>
                <a:latin typeface="Montserrat"/>
                <a:ea typeface="Montserrat"/>
                <a:cs typeface="Montserrat"/>
                <a:sym typeface="Montserrat"/>
              </a:rPr>
              <a:t>8. Customer Feedback</a:t>
            </a:r>
          </a:p>
        </p:txBody>
      </p:sp>
      <p:sp>
        <p:nvSpPr>
          <p:cNvPr id="54" name="TextBox 54"/>
          <p:cNvSpPr txBox="1"/>
          <p:nvPr/>
        </p:nvSpPr>
        <p:spPr>
          <a:xfrm>
            <a:off x="6579245" y="9124652"/>
            <a:ext cx="5129510"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Customer feedback</a:t>
            </a:r>
          </a:p>
        </p:txBody>
      </p:sp>
      <p:sp>
        <p:nvSpPr>
          <p:cNvPr id="55" name="TextBox 55"/>
          <p:cNvSpPr txBox="1"/>
          <p:nvPr/>
        </p:nvSpPr>
        <p:spPr>
          <a:xfrm>
            <a:off x="12156430" y="9124652"/>
            <a:ext cx="5134273" cy="322781"/>
          </a:xfrm>
          <a:prstGeom prst="rect">
            <a:avLst/>
          </a:prstGeom>
        </p:spPr>
        <p:txBody>
          <a:bodyPr lIns="0" tIns="0" rIns="0" bIns="0" rtlCol="0" anchor="t">
            <a:spAutoFit/>
          </a:bodyPr>
          <a:lstStyle/>
          <a:p>
            <a:pPr algn="l">
              <a:lnSpc>
                <a:spcPts val="2750"/>
              </a:lnSpc>
            </a:pPr>
            <a:r>
              <a:rPr lang="en-US" sz="1687" b="1">
                <a:solidFill>
                  <a:srgbClr val="01012C"/>
                </a:solidFill>
                <a:latin typeface="Montserrat"/>
                <a:ea typeface="Montserrat"/>
                <a:cs typeface="Montserrat"/>
                <a:sym typeface="Montserrat"/>
              </a:rPr>
              <a:t>Feedback confirmation, report</a:t>
            </a:r>
          </a:p>
        </p:txBody>
      </p:sp>
      <p:sp>
        <p:nvSpPr>
          <p:cNvPr id="64" name="Slide Number Placeholder 63">
            <a:extLst>
              <a:ext uri="{FF2B5EF4-FFF2-40B4-BE49-F238E27FC236}">
                <a16:creationId xmlns:a16="http://schemas.microsoft.com/office/drawing/2014/main" id="{2598322E-9EF2-030F-4D3B-350A988B8F67}"/>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496044" y="494407"/>
            <a:ext cx="3759696" cy="381386"/>
          </a:xfrm>
          <a:prstGeom prst="rect">
            <a:avLst/>
          </a:prstGeom>
        </p:spPr>
        <p:txBody>
          <a:bodyPr lIns="0" tIns="0" rIns="0" bIns="0" rtlCol="0" anchor="t">
            <a:spAutoFit/>
          </a:bodyPr>
          <a:lstStyle/>
          <a:p>
            <a:pPr algn="l">
              <a:lnSpc>
                <a:spcPts val="3179"/>
              </a:lnSpc>
            </a:pPr>
            <a:r>
              <a:rPr lang="en-US" sz="2543" b="1" spc="-208" dirty="0">
                <a:solidFill>
                  <a:srgbClr val="01012C"/>
                </a:solidFill>
                <a:latin typeface="Arial Nova Bold"/>
                <a:ea typeface="Arial Nova Bold"/>
                <a:cs typeface="Arial Nova Bold"/>
                <a:sym typeface="Arial Nova Bold"/>
              </a:rPr>
              <a:t> IDENTIFY COMPLEXITY</a:t>
            </a:r>
          </a:p>
        </p:txBody>
      </p:sp>
      <p:sp>
        <p:nvSpPr>
          <p:cNvPr id="7" name="TextBox 7"/>
          <p:cNvSpPr txBox="1"/>
          <p:nvPr/>
        </p:nvSpPr>
        <p:spPr>
          <a:xfrm>
            <a:off x="496044" y="1149846"/>
            <a:ext cx="7454205" cy="296556"/>
          </a:xfrm>
          <a:prstGeom prst="rect">
            <a:avLst/>
          </a:prstGeom>
        </p:spPr>
        <p:txBody>
          <a:bodyPr lIns="0" tIns="0" rIns="0" bIns="0" rtlCol="0" anchor="t">
            <a:spAutoFit/>
          </a:bodyPr>
          <a:lstStyle/>
          <a:p>
            <a:pPr algn="l">
              <a:lnSpc>
                <a:spcPts val="2436"/>
              </a:lnSpc>
            </a:pPr>
            <a:r>
              <a:rPr lang="en-US" sz="1938" b="1" dirty="0">
                <a:solidFill>
                  <a:srgbClr val="01012C"/>
                </a:solidFill>
                <a:latin typeface="Times New Roman" panose="02020603050405020304" pitchFamily="18" charset="0"/>
                <a:ea typeface="Montserrat"/>
                <a:cs typeface="Times New Roman" panose="02020603050405020304" pitchFamily="18" charset="0"/>
                <a:sym typeface="Montserrat"/>
              </a:rPr>
              <a:t>Identify Complexity of Transaction Functions (TF)</a:t>
            </a:r>
          </a:p>
        </p:txBody>
      </p:sp>
      <p:grpSp>
        <p:nvGrpSpPr>
          <p:cNvPr id="8" name="Group 8"/>
          <p:cNvGrpSpPr/>
          <p:nvPr/>
        </p:nvGrpSpPr>
        <p:grpSpPr>
          <a:xfrm>
            <a:off x="491281" y="1731020"/>
            <a:ext cx="17305436" cy="3771008"/>
            <a:chOff x="0" y="0"/>
            <a:chExt cx="23073915" cy="5028010"/>
          </a:xfrm>
        </p:grpSpPr>
        <p:sp>
          <p:nvSpPr>
            <p:cNvPr id="9" name="Freeform 9"/>
            <p:cNvSpPr/>
            <p:nvPr/>
          </p:nvSpPr>
          <p:spPr>
            <a:xfrm>
              <a:off x="0" y="0"/>
              <a:ext cx="23073868" cy="5027930"/>
            </a:xfrm>
            <a:custGeom>
              <a:avLst/>
              <a:gdLst/>
              <a:ahLst/>
              <a:cxnLst/>
              <a:rect l="l" t="t" r="r" b="b"/>
              <a:pathLst>
                <a:path w="23073868" h="5027930">
                  <a:moveTo>
                    <a:pt x="0" y="85725"/>
                  </a:moveTo>
                  <a:cubicBezTo>
                    <a:pt x="0" y="38354"/>
                    <a:pt x="38481" y="0"/>
                    <a:pt x="85852" y="0"/>
                  </a:cubicBezTo>
                  <a:lnTo>
                    <a:pt x="22988015" y="0"/>
                  </a:lnTo>
                  <a:lnTo>
                    <a:pt x="22988015" y="6350"/>
                  </a:lnTo>
                  <a:lnTo>
                    <a:pt x="22988015" y="0"/>
                  </a:lnTo>
                  <a:cubicBezTo>
                    <a:pt x="23035386" y="0"/>
                    <a:pt x="23073868" y="38354"/>
                    <a:pt x="23073868" y="85725"/>
                  </a:cubicBezTo>
                  <a:lnTo>
                    <a:pt x="23067518" y="85725"/>
                  </a:lnTo>
                  <a:lnTo>
                    <a:pt x="23073868" y="85725"/>
                  </a:lnTo>
                  <a:lnTo>
                    <a:pt x="23073868" y="4942205"/>
                  </a:lnTo>
                  <a:lnTo>
                    <a:pt x="23067518" y="4942205"/>
                  </a:lnTo>
                  <a:lnTo>
                    <a:pt x="23073868" y="4942205"/>
                  </a:lnTo>
                  <a:cubicBezTo>
                    <a:pt x="23073868" y="4989576"/>
                    <a:pt x="23035386" y="5027930"/>
                    <a:pt x="22988015" y="5027930"/>
                  </a:cubicBezTo>
                  <a:lnTo>
                    <a:pt x="22988015" y="5021580"/>
                  </a:lnTo>
                  <a:lnTo>
                    <a:pt x="22988015" y="5027930"/>
                  </a:lnTo>
                  <a:lnTo>
                    <a:pt x="85852" y="5027930"/>
                  </a:lnTo>
                  <a:lnTo>
                    <a:pt x="85852" y="5021580"/>
                  </a:lnTo>
                  <a:lnTo>
                    <a:pt x="85852" y="5027930"/>
                  </a:lnTo>
                  <a:cubicBezTo>
                    <a:pt x="38481" y="5027930"/>
                    <a:pt x="0" y="4989576"/>
                    <a:pt x="0" y="4942205"/>
                  </a:cubicBezTo>
                  <a:lnTo>
                    <a:pt x="0" y="85725"/>
                  </a:lnTo>
                  <a:lnTo>
                    <a:pt x="6350" y="85725"/>
                  </a:lnTo>
                  <a:lnTo>
                    <a:pt x="0" y="85725"/>
                  </a:lnTo>
                  <a:moveTo>
                    <a:pt x="12700" y="85725"/>
                  </a:moveTo>
                  <a:lnTo>
                    <a:pt x="12700" y="4942205"/>
                  </a:lnTo>
                  <a:lnTo>
                    <a:pt x="6350" y="4942205"/>
                  </a:lnTo>
                  <a:lnTo>
                    <a:pt x="12700" y="4942205"/>
                  </a:lnTo>
                  <a:cubicBezTo>
                    <a:pt x="12700" y="4982591"/>
                    <a:pt x="45466" y="5015230"/>
                    <a:pt x="85852" y="5015230"/>
                  </a:cubicBezTo>
                  <a:lnTo>
                    <a:pt x="22988015" y="5015230"/>
                  </a:lnTo>
                  <a:cubicBezTo>
                    <a:pt x="23028402" y="5015230"/>
                    <a:pt x="23061168" y="4982464"/>
                    <a:pt x="23061168" y="4942205"/>
                  </a:cubicBezTo>
                  <a:lnTo>
                    <a:pt x="23061168" y="85725"/>
                  </a:lnTo>
                  <a:cubicBezTo>
                    <a:pt x="23061168" y="45339"/>
                    <a:pt x="23028402" y="12700"/>
                    <a:pt x="22988015" y="12700"/>
                  </a:cubicBezTo>
                  <a:lnTo>
                    <a:pt x="85852" y="12700"/>
                  </a:lnTo>
                  <a:lnTo>
                    <a:pt x="85852" y="6350"/>
                  </a:lnTo>
                  <a:lnTo>
                    <a:pt x="85852" y="12700"/>
                  </a:lnTo>
                  <a:cubicBezTo>
                    <a:pt x="45466" y="12700"/>
                    <a:pt x="12700" y="45466"/>
                    <a:pt x="12700" y="85725"/>
                  </a:cubicBezTo>
                  <a:close/>
                </a:path>
              </a:pathLst>
            </a:custGeom>
            <a:solidFill>
              <a:srgbClr val="F8F8F8">
                <a:alpha val="392"/>
              </a:srgbClr>
            </a:solidFill>
          </p:spPr>
        </p:sp>
      </p:grpSp>
      <p:grpSp>
        <p:nvGrpSpPr>
          <p:cNvPr id="10" name="Group 10"/>
          <p:cNvGrpSpPr/>
          <p:nvPr/>
        </p:nvGrpSpPr>
        <p:grpSpPr>
          <a:xfrm>
            <a:off x="505569" y="1745307"/>
            <a:ext cx="17276861" cy="415826"/>
            <a:chOff x="0" y="0"/>
            <a:chExt cx="23035815" cy="554435"/>
          </a:xfrm>
        </p:grpSpPr>
        <p:sp>
          <p:nvSpPr>
            <p:cNvPr id="11" name="Freeform 11"/>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2" name="TextBox 12"/>
          <p:cNvSpPr txBox="1"/>
          <p:nvPr/>
        </p:nvSpPr>
        <p:spPr>
          <a:xfrm>
            <a:off x="647402" y="1792189"/>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Functionality</a:t>
            </a:r>
          </a:p>
        </p:txBody>
      </p:sp>
      <p:sp>
        <p:nvSpPr>
          <p:cNvPr id="13" name="TextBox 13"/>
          <p:cNvSpPr txBox="1"/>
          <p:nvPr/>
        </p:nvSpPr>
        <p:spPr>
          <a:xfrm>
            <a:off x="4107507" y="179218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Input</a:t>
            </a:r>
          </a:p>
        </p:txBody>
      </p:sp>
      <p:sp>
        <p:nvSpPr>
          <p:cNvPr id="14" name="TextBox 14"/>
          <p:cNvSpPr txBox="1"/>
          <p:nvPr/>
        </p:nvSpPr>
        <p:spPr>
          <a:xfrm>
            <a:off x="7562850" y="179218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Output</a:t>
            </a:r>
          </a:p>
        </p:txBody>
      </p:sp>
      <p:sp>
        <p:nvSpPr>
          <p:cNvPr id="15" name="TextBox 15"/>
          <p:cNvSpPr txBox="1"/>
          <p:nvPr/>
        </p:nvSpPr>
        <p:spPr>
          <a:xfrm>
            <a:off x="11018192" y="179218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Functionality</a:t>
            </a:r>
          </a:p>
        </p:txBody>
      </p:sp>
      <p:sp>
        <p:nvSpPr>
          <p:cNvPr id="16" name="TextBox 16"/>
          <p:cNvSpPr txBox="1"/>
          <p:nvPr/>
        </p:nvSpPr>
        <p:spPr>
          <a:xfrm>
            <a:off x="14473535" y="1792189"/>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Input</a:t>
            </a:r>
          </a:p>
        </p:txBody>
      </p:sp>
      <p:grpSp>
        <p:nvGrpSpPr>
          <p:cNvPr id="17" name="Group 17"/>
          <p:cNvGrpSpPr/>
          <p:nvPr/>
        </p:nvGrpSpPr>
        <p:grpSpPr>
          <a:xfrm>
            <a:off x="505569" y="2161134"/>
            <a:ext cx="17276861" cy="415826"/>
            <a:chOff x="0" y="0"/>
            <a:chExt cx="23035815" cy="554435"/>
          </a:xfrm>
        </p:grpSpPr>
        <p:sp>
          <p:nvSpPr>
            <p:cNvPr id="18" name="Freeform 18"/>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9" name="TextBox 19"/>
          <p:cNvSpPr txBox="1"/>
          <p:nvPr/>
        </p:nvSpPr>
        <p:spPr>
          <a:xfrm>
            <a:off x="647402" y="2208014"/>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1 User Management</a:t>
            </a:r>
          </a:p>
        </p:txBody>
      </p:sp>
      <p:sp>
        <p:nvSpPr>
          <p:cNvPr id="20" name="TextBox 20"/>
          <p:cNvSpPr txBox="1"/>
          <p:nvPr/>
        </p:nvSpPr>
        <p:spPr>
          <a:xfrm>
            <a:off x="4107507" y="2208014"/>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User details, role assignments</a:t>
            </a:r>
          </a:p>
        </p:txBody>
      </p:sp>
      <p:sp>
        <p:nvSpPr>
          <p:cNvPr id="21" name="TextBox 21"/>
          <p:cNvSpPr txBox="1"/>
          <p:nvPr/>
        </p:nvSpPr>
        <p:spPr>
          <a:xfrm>
            <a:off x="7562850" y="2208014"/>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Confirmation Message or Error Message</a:t>
            </a:r>
          </a:p>
        </p:txBody>
      </p:sp>
      <p:sp>
        <p:nvSpPr>
          <p:cNvPr id="22" name="TextBox 22"/>
          <p:cNvSpPr txBox="1"/>
          <p:nvPr/>
        </p:nvSpPr>
        <p:spPr>
          <a:xfrm>
            <a:off x="11018192" y="2208014"/>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User Management</a:t>
            </a:r>
          </a:p>
        </p:txBody>
      </p:sp>
      <p:sp>
        <p:nvSpPr>
          <p:cNvPr id="23" name="TextBox 23"/>
          <p:cNvSpPr txBox="1"/>
          <p:nvPr/>
        </p:nvSpPr>
        <p:spPr>
          <a:xfrm>
            <a:off x="14473535" y="2208014"/>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User details, role assignments</a:t>
            </a:r>
          </a:p>
        </p:txBody>
      </p:sp>
      <p:grpSp>
        <p:nvGrpSpPr>
          <p:cNvPr id="24" name="Group 24"/>
          <p:cNvGrpSpPr/>
          <p:nvPr/>
        </p:nvGrpSpPr>
        <p:grpSpPr>
          <a:xfrm>
            <a:off x="505569" y="2576959"/>
            <a:ext cx="17276861" cy="415826"/>
            <a:chOff x="0" y="0"/>
            <a:chExt cx="23035815" cy="554435"/>
          </a:xfrm>
        </p:grpSpPr>
        <p:sp>
          <p:nvSpPr>
            <p:cNvPr id="25" name="Freeform 25"/>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26" name="TextBox 26"/>
          <p:cNvSpPr txBox="1"/>
          <p:nvPr/>
        </p:nvSpPr>
        <p:spPr>
          <a:xfrm>
            <a:off x="647402" y="2623840"/>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2 Menu Management</a:t>
            </a:r>
          </a:p>
        </p:txBody>
      </p:sp>
      <p:sp>
        <p:nvSpPr>
          <p:cNvPr id="27" name="TextBox 27"/>
          <p:cNvSpPr txBox="1"/>
          <p:nvPr/>
        </p:nvSpPr>
        <p:spPr>
          <a:xfrm>
            <a:off x="4107507" y="2623840"/>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Menu items, pricing, categories</a:t>
            </a:r>
          </a:p>
        </p:txBody>
      </p:sp>
      <p:sp>
        <p:nvSpPr>
          <p:cNvPr id="28" name="TextBox 28"/>
          <p:cNvSpPr txBox="1"/>
          <p:nvPr/>
        </p:nvSpPr>
        <p:spPr>
          <a:xfrm>
            <a:off x="7562850" y="2623840"/>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Confirmation Message or Error Message</a:t>
            </a:r>
          </a:p>
        </p:txBody>
      </p:sp>
      <p:sp>
        <p:nvSpPr>
          <p:cNvPr id="29" name="TextBox 29"/>
          <p:cNvSpPr txBox="1"/>
          <p:nvPr/>
        </p:nvSpPr>
        <p:spPr>
          <a:xfrm>
            <a:off x="11018192" y="2623840"/>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Menu Management</a:t>
            </a:r>
          </a:p>
        </p:txBody>
      </p:sp>
      <p:sp>
        <p:nvSpPr>
          <p:cNvPr id="30" name="TextBox 30"/>
          <p:cNvSpPr txBox="1"/>
          <p:nvPr/>
        </p:nvSpPr>
        <p:spPr>
          <a:xfrm>
            <a:off x="14473535" y="2623840"/>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Menu items, pricing, categories</a:t>
            </a:r>
          </a:p>
        </p:txBody>
      </p:sp>
      <p:grpSp>
        <p:nvGrpSpPr>
          <p:cNvPr id="31" name="Group 31"/>
          <p:cNvGrpSpPr/>
          <p:nvPr/>
        </p:nvGrpSpPr>
        <p:grpSpPr>
          <a:xfrm>
            <a:off x="505569" y="2992785"/>
            <a:ext cx="17276861" cy="415826"/>
            <a:chOff x="0" y="0"/>
            <a:chExt cx="23035815" cy="554435"/>
          </a:xfrm>
        </p:grpSpPr>
        <p:sp>
          <p:nvSpPr>
            <p:cNvPr id="32" name="Freeform 32"/>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33" name="TextBox 33"/>
          <p:cNvSpPr txBox="1"/>
          <p:nvPr/>
        </p:nvSpPr>
        <p:spPr>
          <a:xfrm>
            <a:off x="647402" y="3039665"/>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3 Order Processing</a:t>
            </a:r>
          </a:p>
        </p:txBody>
      </p:sp>
      <p:sp>
        <p:nvSpPr>
          <p:cNvPr id="34" name="TextBox 34"/>
          <p:cNvSpPr txBox="1"/>
          <p:nvPr/>
        </p:nvSpPr>
        <p:spPr>
          <a:xfrm>
            <a:off x="4107507" y="3039665"/>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Order details, customer preferences</a:t>
            </a:r>
          </a:p>
        </p:txBody>
      </p:sp>
      <p:sp>
        <p:nvSpPr>
          <p:cNvPr id="35" name="TextBox 35"/>
          <p:cNvSpPr txBox="1"/>
          <p:nvPr/>
        </p:nvSpPr>
        <p:spPr>
          <a:xfrm>
            <a:off x="7562850" y="3039665"/>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Order confirmation, receipt</a:t>
            </a:r>
          </a:p>
        </p:txBody>
      </p:sp>
      <p:sp>
        <p:nvSpPr>
          <p:cNvPr id="36" name="TextBox 36"/>
          <p:cNvSpPr txBox="1"/>
          <p:nvPr/>
        </p:nvSpPr>
        <p:spPr>
          <a:xfrm>
            <a:off x="11018192" y="3039665"/>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Order Processing</a:t>
            </a:r>
          </a:p>
        </p:txBody>
      </p:sp>
      <p:sp>
        <p:nvSpPr>
          <p:cNvPr id="37" name="TextBox 37"/>
          <p:cNvSpPr txBox="1"/>
          <p:nvPr/>
        </p:nvSpPr>
        <p:spPr>
          <a:xfrm>
            <a:off x="14473535" y="3039665"/>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Order details, customer preferences</a:t>
            </a:r>
          </a:p>
        </p:txBody>
      </p:sp>
      <p:grpSp>
        <p:nvGrpSpPr>
          <p:cNvPr id="38" name="Group 38"/>
          <p:cNvGrpSpPr/>
          <p:nvPr/>
        </p:nvGrpSpPr>
        <p:grpSpPr>
          <a:xfrm>
            <a:off x="505569" y="3408610"/>
            <a:ext cx="17276861" cy="415826"/>
            <a:chOff x="0" y="0"/>
            <a:chExt cx="23035815" cy="554435"/>
          </a:xfrm>
        </p:grpSpPr>
        <p:sp>
          <p:nvSpPr>
            <p:cNvPr id="39" name="Freeform 39"/>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40" name="TextBox 40"/>
          <p:cNvSpPr txBox="1"/>
          <p:nvPr/>
        </p:nvSpPr>
        <p:spPr>
          <a:xfrm>
            <a:off x="647402" y="3455491"/>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4 Payment &amp; Receipts</a:t>
            </a:r>
          </a:p>
        </p:txBody>
      </p:sp>
      <p:sp>
        <p:nvSpPr>
          <p:cNvPr id="41" name="TextBox 41"/>
          <p:cNvSpPr txBox="1"/>
          <p:nvPr/>
        </p:nvSpPr>
        <p:spPr>
          <a:xfrm>
            <a:off x="4107507" y="3455491"/>
            <a:ext cx="3162449" cy="209096"/>
          </a:xfrm>
          <a:prstGeom prst="rect">
            <a:avLst/>
          </a:prstGeom>
        </p:spPr>
        <p:txBody>
          <a:bodyPr lIns="0" tIns="0" rIns="0" bIns="0" rtlCol="0" anchor="t">
            <a:spAutoFit/>
          </a:bodyPr>
          <a:lstStyle/>
          <a:p>
            <a:pPr algn="l">
              <a:lnSpc>
                <a:spcPts val="1750"/>
              </a:lnSpc>
            </a:pPr>
            <a:r>
              <a:rPr lang="en-US" sz="1062" b="1" dirty="0">
                <a:solidFill>
                  <a:srgbClr val="01012C"/>
                </a:solidFill>
                <a:latin typeface="Montserrat"/>
                <a:ea typeface="Montserrat"/>
                <a:cs typeface="Montserrat"/>
                <a:sym typeface="Montserrat"/>
              </a:rPr>
              <a:t>Payment details (cash, card, etc.)</a:t>
            </a:r>
          </a:p>
        </p:txBody>
      </p:sp>
      <p:sp>
        <p:nvSpPr>
          <p:cNvPr id="42" name="TextBox 42"/>
          <p:cNvSpPr txBox="1"/>
          <p:nvPr/>
        </p:nvSpPr>
        <p:spPr>
          <a:xfrm>
            <a:off x="7562850" y="3455491"/>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Payment confirmation, receipt</a:t>
            </a:r>
          </a:p>
        </p:txBody>
      </p:sp>
      <p:sp>
        <p:nvSpPr>
          <p:cNvPr id="43" name="TextBox 43"/>
          <p:cNvSpPr txBox="1"/>
          <p:nvPr/>
        </p:nvSpPr>
        <p:spPr>
          <a:xfrm>
            <a:off x="11018192" y="3455491"/>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Payment &amp; Receipts</a:t>
            </a:r>
          </a:p>
        </p:txBody>
      </p:sp>
      <p:sp>
        <p:nvSpPr>
          <p:cNvPr id="44" name="TextBox 44"/>
          <p:cNvSpPr txBox="1"/>
          <p:nvPr/>
        </p:nvSpPr>
        <p:spPr>
          <a:xfrm>
            <a:off x="14473535" y="3455491"/>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Payment details (cash, card, etc.)</a:t>
            </a:r>
          </a:p>
        </p:txBody>
      </p:sp>
      <p:grpSp>
        <p:nvGrpSpPr>
          <p:cNvPr id="45" name="Group 45"/>
          <p:cNvGrpSpPr/>
          <p:nvPr/>
        </p:nvGrpSpPr>
        <p:grpSpPr>
          <a:xfrm>
            <a:off x="505569" y="3824436"/>
            <a:ext cx="17276861" cy="415826"/>
            <a:chOff x="0" y="0"/>
            <a:chExt cx="23035815" cy="554435"/>
          </a:xfrm>
        </p:grpSpPr>
        <p:sp>
          <p:nvSpPr>
            <p:cNvPr id="46" name="Freeform 46"/>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47" name="TextBox 47"/>
          <p:cNvSpPr txBox="1"/>
          <p:nvPr/>
        </p:nvSpPr>
        <p:spPr>
          <a:xfrm>
            <a:off x="647402" y="3871317"/>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5 Inventory Management</a:t>
            </a:r>
          </a:p>
        </p:txBody>
      </p:sp>
      <p:sp>
        <p:nvSpPr>
          <p:cNvPr id="48" name="TextBox 48"/>
          <p:cNvSpPr txBox="1"/>
          <p:nvPr/>
        </p:nvSpPr>
        <p:spPr>
          <a:xfrm>
            <a:off x="4107507" y="3871317"/>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Stock levels, menu items, orders</a:t>
            </a:r>
          </a:p>
        </p:txBody>
      </p:sp>
      <p:sp>
        <p:nvSpPr>
          <p:cNvPr id="49" name="TextBox 49"/>
          <p:cNvSpPr txBox="1"/>
          <p:nvPr/>
        </p:nvSpPr>
        <p:spPr>
          <a:xfrm>
            <a:off x="7562850" y="3871317"/>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Inventory updates, low stock alerts</a:t>
            </a:r>
          </a:p>
        </p:txBody>
      </p:sp>
      <p:sp>
        <p:nvSpPr>
          <p:cNvPr id="50" name="TextBox 50"/>
          <p:cNvSpPr txBox="1"/>
          <p:nvPr/>
        </p:nvSpPr>
        <p:spPr>
          <a:xfrm>
            <a:off x="11018192" y="3871317"/>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Inventory Management</a:t>
            </a:r>
          </a:p>
        </p:txBody>
      </p:sp>
      <p:sp>
        <p:nvSpPr>
          <p:cNvPr id="51" name="TextBox 51"/>
          <p:cNvSpPr txBox="1"/>
          <p:nvPr/>
        </p:nvSpPr>
        <p:spPr>
          <a:xfrm>
            <a:off x="14473535" y="3871317"/>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Stock levels, menu items, orders</a:t>
            </a:r>
          </a:p>
        </p:txBody>
      </p:sp>
      <p:grpSp>
        <p:nvGrpSpPr>
          <p:cNvPr id="52" name="Group 52"/>
          <p:cNvGrpSpPr/>
          <p:nvPr/>
        </p:nvGrpSpPr>
        <p:grpSpPr>
          <a:xfrm>
            <a:off x="505569" y="4240262"/>
            <a:ext cx="17276861" cy="415826"/>
            <a:chOff x="0" y="0"/>
            <a:chExt cx="23035815" cy="554435"/>
          </a:xfrm>
        </p:grpSpPr>
        <p:sp>
          <p:nvSpPr>
            <p:cNvPr id="53" name="Freeform 53"/>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54" name="TextBox 54"/>
          <p:cNvSpPr txBox="1"/>
          <p:nvPr/>
        </p:nvSpPr>
        <p:spPr>
          <a:xfrm>
            <a:off x="647402" y="4287143"/>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6 Sales Reporting</a:t>
            </a:r>
          </a:p>
        </p:txBody>
      </p:sp>
      <p:sp>
        <p:nvSpPr>
          <p:cNvPr id="55" name="TextBox 55"/>
          <p:cNvSpPr txBox="1"/>
          <p:nvPr/>
        </p:nvSpPr>
        <p:spPr>
          <a:xfrm>
            <a:off x="4107507" y="4287143"/>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Date range, report type</a:t>
            </a:r>
          </a:p>
        </p:txBody>
      </p:sp>
      <p:sp>
        <p:nvSpPr>
          <p:cNvPr id="56" name="TextBox 56"/>
          <p:cNvSpPr txBox="1"/>
          <p:nvPr/>
        </p:nvSpPr>
        <p:spPr>
          <a:xfrm>
            <a:off x="7562850" y="4287143"/>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Sales report (daily, weekly, monthly)</a:t>
            </a:r>
          </a:p>
        </p:txBody>
      </p:sp>
      <p:sp>
        <p:nvSpPr>
          <p:cNvPr id="57" name="TextBox 57"/>
          <p:cNvSpPr txBox="1"/>
          <p:nvPr/>
        </p:nvSpPr>
        <p:spPr>
          <a:xfrm>
            <a:off x="11018192" y="4287143"/>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Sales Reporting</a:t>
            </a:r>
          </a:p>
        </p:txBody>
      </p:sp>
      <p:sp>
        <p:nvSpPr>
          <p:cNvPr id="58" name="TextBox 58"/>
          <p:cNvSpPr txBox="1"/>
          <p:nvPr/>
        </p:nvSpPr>
        <p:spPr>
          <a:xfrm>
            <a:off x="14473535" y="4287143"/>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Date range, report type</a:t>
            </a:r>
          </a:p>
        </p:txBody>
      </p:sp>
      <p:grpSp>
        <p:nvGrpSpPr>
          <p:cNvPr id="59" name="Group 59"/>
          <p:cNvGrpSpPr/>
          <p:nvPr/>
        </p:nvGrpSpPr>
        <p:grpSpPr>
          <a:xfrm>
            <a:off x="505569" y="4656087"/>
            <a:ext cx="17276861" cy="415826"/>
            <a:chOff x="0" y="0"/>
            <a:chExt cx="23035815" cy="554435"/>
          </a:xfrm>
        </p:grpSpPr>
        <p:sp>
          <p:nvSpPr>
            <p:cNvPr id="60" name="Freeform 60"/>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61" name="TextBox 61"/>
          <p:cNvSpPr txBox="1"/>
          <p:nvPr/>
        </p:nvSpPr>
        <p:spPr>
          <a:xfrm>
            <a:off x="647402" y="4702969"/>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7 End of Day Process</a:t>
            </a:r>
          </a:p>
        </p:txBody>
      </p:sp>
      <p:sp>
        <p:nvSpPr>
          <p:cNvPr id="62" name="TextBox 62"/>
          <p:cNvSpPr txBox="1"/>
          <p:nvPr/>
        </p:nvSpPr>
        <p:spPr>
          <a:xfrm>
            <a:off x="4107507" y="470296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Day-end command</a:t>
            </a:r>
          </a:p>
        </p:txBody>
      </p:sp>
      <p:sp>
        <p:nvSpPr>
          <p:cNvPr id="63" name="TextBox 63"/>
          <p:cNvSpPr txBox="1"/>
          <p:nvPr/>
        </p:nvSpPr>
        <p:spPr>
          <a:xfrm>
            <a:off x="7562850" y="470296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Database backup, sales export</a:t>
            </a:r>
          </a:p>
        </p:txBody>
      </p:sp>
      <p:sp>
        <p:nvSpPr>
          <p:cNvPr id="64" name="TextBox 64"/>
          <p:cNvSpPr txBox="1"/>
          <p:nvPr/>
        </p:nvSpPr>
        <p:spPr>
          <a:xfrm>
            <a:off x="11018192" y="4702969"/>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End of Day Process</a:t>
            </a:r>
          </a:p>
        </p:txBody>
      </p:sp>
      <p:sp>
        <p:nvSpPr>
          <p:cNvPr id="65" name="TextBox 65"/>
          <p:cNvSpPr txBox="1"/>
          <p:nvPr/>
        </p:nvSpPr>
        <p:spPr>
          <a:xfrm>
            <a:off x="14473535" y="4702969"/>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Day-end command</a:t>
            </a:r>
          </a:p>
        </p:txBody>
      </p:sp>
      <p:grpSp>
        <p:nvGrpSpPr>
          <p:cNvPr id="66" name="Group 66"/>
          <p:cNvGrpSpPr/>
          <p:nvPr/>
        </p:nvGrpSpPr>
        <p:grpSpPr>
          <a:xfrm>
            <a:off x="505569" y="5071914"/>
            <a:ext cx="17276861" cy="415826"/>
            <a:chOff x="0" y="0"/>
            <a:chExt cx="23035815" cy="554435"/>
          </a:xfrm>
        </p:grpSpPr>
        <p:sp>
          <p:nvSpPr>
            <p:cNvPr id="67" name="Freeform 67"/>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68" name="TextBox 68"/>
          <p:cNvSpPr txBox="1"/>
          <p:nvPr/>
        </p:nvSpPr>
        <p:spPr>
          <a:xfrm>
            <a:off x="647402" y="5118795"/>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8 Customer Feedback</a:t>
            </a:r>
          </a:p>
        </p:txBody>
      </p:sp>
      <p:sp>
        <p:nvSpPr>
          <p:cNvPr id="69" name="TextBox 69"/>
          <p:cNvSpPr txBox="1"/>
          <p:nvPr/>
        </p:nvSpPr>
        <p:spPr>
          <a:xfrm>
            <a:off x="4107507" y="5118795"/>
            <a:ext cx="3162449" cy="209096"/>
          </a:xfrm>
          <a:prstGeom prst="rect">
            <a:avLst/>
          </a:prstGeom>
        </p:spPr>
        <p:txBody>
          <a:bodyPr lIns="0" tIns="0" rIns="0" bIns="0" rtlCol="0" anchor="t">
            <a:spAutoFit/>
          </a:bodyPr>
          <a:lstStyle/>
          <a:p>
            <a:pPr algn="l">
              <a:lnSpc>
                <a:spcPts val="1750"/>
              </a:lnSpc>
            </a:pPr>
            <a:r>
              <a:rPr lang="en-US" sz="1062" b="1" dirty="0">
                <a:solidFill>
                  <a:srgbClr val="01012C"/>
                </a:solidFill>
                <a:latin typeface="Montserrat"/>
                <a:ea typeface="Montserrat"/>
                <a:cs typeface="Montserrat"/>
                <a:sym typeface="Montserrat"/>
              </a:rPr>
              <a:t>Customer feedback</a:t>
            </a:r>
          </a:p>
        </p:txBody>
      </p:sp>
      <p:sp>
        <p:nvSpPr>
          <p:cNvPr id="70" name="TextBox 70"/>
          <p:cNvSpPr txBox="1"/>
          <p:nvPr/>
        </p:nvSpPr>
        <p:spPr>
          <a:xfrm>
            <a:off x="7562850" y="5118795"/>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Feedback confirmation, report</a:t>
            </a:r>
          </a:p>
        </p:txBody>
      </p:sp>
      <p:sp>
        <p:nvSpPr>
          <p:cNvPr id="71" name="TextBox 71"/>
          <p:cNvSpPr txBox="1"/>
          <p:nvPr/>
        </p:nvSpPr>
        <p:spPr>
          <a:xfrm>
            <a:off x="11018192" y="5118795"/>
            <a:ext cx="3162449"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Customer Feedback</a:t>
            </a:r>
          </a:p>
        </p:txBody>
      </p:sp>
      <p:sp>
        <p:nvSpPr>
          <p:cNvPr id="72" name="TextBox 72"/>
          <p:cNvSpPr txBox="1"/>
          <p:nvPr/>
        </p:nvSpPr>
        <p:spPr>
          <a:xfrm>
            <a:off x="14473535" y="5118795"/>
            <a:ext cx="3167211" cy="209096"/>
          </a:xfrm>
          <a:prstGeom prst="rect">
            <a:avLst/>
          </a:prstGeom>
        </p:spPr>
        <p:txBody>
          <a:bodyPr lIns="0" tIns="0" rIns="0" bIns="0" rtlCol="0" anchor="t">
            <a:spAutoFit/>
          </a:bodyPr>
          <a:lstStyle/>
          <a:p>
            <a:pPr algn="l">
              <a:lnSpc>
                <a:spcPts val="1750"/>
              </a:lnSpc>
            </a:pPr>
            <a:r>
              <a:rPr lang="en-US" sz="1062" b="1">
                <a:solidFill>
                  <a:srgbClr val="01012C"/>
                </a:solidFill>
                <a:latin typeface="Montserrat"/>
                <a:ea typeface="Montserrat"/>
                <a:cs typeface="Montserrat"/>
                <a:sym typeface="Montserrat"/>
              </a:rPr>
              <a:t>Customer feedback</a:t>
            </a:r>
          </a:p>
        </p:txBody>
      </p:sp>
      <p:sp>
        <p:nvSpPr>
          <p:cNvPr id="133" name="Slide Number Placeholder 132">
            <a:extLst>
              <a:ext uri="{FF2B5EF4-FFF2-40B4-BE49-F238E27FC236}">
                <a16:creationId xmlns:a16="http://schemas.microsoft.com/office/drawing/2014/main" id="{C429EBB0-442C-E5FB-4634-7D0DA2B407E0}"/>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0D2AF499-6E58-5D9B-A8D3-A7FBEC2D675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7422C4A9-1D1D-649D-DEFE-A807710BF6AC}"/>
              </a:ext>
            </a:extLst>
          </p:cNvPr>
          <p:cNvSpPr txBox="1"/>
          <p:nvPr/>
        </p:nvSpPr>
        <p:spPr>
          <a:xfrm>
            <a:off x="496044" y="494407"/>
            <a:ext cx="3759696" cy="381386"/>
          </a:xfrm>
          <a:prstGeom prst="rect">
            <a:avLst/>
          </a:prstGeom>
        </p:spPr>
        <p:txBody>
          <a:bodyPr lIns="0" tIns="0" rIns="0" bIns="0" rtlCol="0" anchor="t">
            <a:spAutoFit/>
          </a:bodyPr>
          <a:lstStyle/>
          <a:p>
            <a:pPr algn="l">
              <a:lnSpc>
                <a:spcPts val="3179"/>
              </a:lnSpc>
            </a:pPr>
            <a:r>
              <a:rPr lang="en-US" sz="2543" b="1" spc="-208" dirty="0">
                <a:solidFill>
                  <a:srgbClr val="01012C"/>
                </a:solidFill>
                <a:latin typeface="Arial Nova Bold"/>
                <a:ea typeface="Arial Nova Bold"/>
                <a:cs typeface="Arial Nova Bold"/>
                <a:sym typeface="Arial Nova Bold"/>
              </a:rPr>
              <a:t> IDENTIFY COMPLEXITY</a:t>
            </a:r>
          </a:p>
        </p:txBody>
      </p:sp>
      <p:sp>
        <p:nvSpPr>
          <p:cNvPr id="2" name="TextBox 73">
            <a:extLst>
              <a:ext uri="{FF2B5EF4-FFF2-40B4-BE49-F238E27FC236}">
                <a16:creationId xmlns:a16="http://schemas.microsoft.com/office/drawing/2014/main" id="{91B38BC1-AAF8-EC26-4272-4DFD2B74BEB6}"/>
              </a:ext>
            </a:extLst>
          </p:cNvPr>
          <p:cNvSpPr txBox="1"/>
          <p:nvPr/>
        </p:nvSpPr>
        <p:spPr>
          <a:xfrm>
            <a:off x="1031772" y="1456853"/>
            <a:ext cx="11086356" cy="363113"/>
          </a:xfrm>
          <a:prstGeom prst="rect">
            <a:avLst/>
          </a:prstGeom>
        </p:spPr>
        <p:txBody>
          <a:bodyPr wrap="square" lIns="0" tIns="0" rIns="0" bIns="0" rtlCol="0" anchor="t">
            <a:spAutoFit/>
          </a:bodyPr>
          <a:lstStyle/>
          <a:p>
            <a:pPr algn="l">
              <a:lnSpc>
                <a:spcPts val="2436"/>
              </a:lnSpc>
            </a:pPr>
            <a:r>
              <a:rPr lang="en-US" sz="4400" b="1" dirty="0">
                <a:solidFill>
                  <a:srgbClr val="01012C"/>
                </a:solidFill>
                <a:latin typeface="Times New Roman" panose="02020603050405020304" pitchFamily="18" charset="0"/>
                <a:ea typeface="Montserrat"/>
                <a:cs typeface="Times New Roman" panose="02020603050405020304" pitchFamily="18" charset="0"/>
                <a:sym typeface="Montserrat"/>
              </a:rPr>
              <a:t>Identify Complexity of Data Functions (DF)</a:t>
            </a:r>
          </a:p>
        </p:txBody>
      </p:sp>
      <p:grpSp>
        <p:nvGrpSpPr>
          <p:cNvPr id="3" name="Group 74">
            <a:extLst>
              <a:ext uri="{FF2B5EF4-FFF2-40B4-BE49-F238E27FC236}">
                <a16:creationId xmlns:a16="http://schemas.microsoft.com/office/drawing/2014/main" id="{D3AE8653-2CCB-FE58-95CC-27C566DCE9DA}"/>
              </a:ext>
            </a:extLst>
          </p:cNvPr>
          <p:cNvGrpSpPr/>
          <p:nvPr/>
        </p:nvGrpSpPr>
        <p:grpSpPr>
          <a:xfrm>
            <a:off x="1038398" y="2119018"/>
            <a:ext cx="17305436" cy="2939355"/>
            <a:chOff x="0" y="0"/>
            <a:chExt cx="23073915" cy="3919140"/>
          </a:xfrm>
        </p:grpSpPr>
        <p:sp>
          <p:nvSpPr>
            <p:cNvPr id="4" name="Freeform 75">
              <a:extLst>
                <a:ext uri="{FF2B5EF4-FFF2-40B4-BE49-F238E27FC236}">
                  <a16:creationId xmlns:a16="http://schemas.microsoft.com/office/drawing/2014/main" id="{60E0AC72-DCB5-F46D-E272-F6E9CE3E7097}"/>
                </a:ext>
              </a:extLst>
            </p:cNvPr>
            <p:cNvSpPr/>
            <p:nvPr/>
          </p:nvSpPr>
          <p:spPr>
            <a:xfrm>
              <a:off x="0" y="0"/>
              <a:ext cx="23073995" cy="3919093"/>
            </a:xfrm>
            <a:custGeom>
              <a:avLst/>
              <a:gdLst/>
              <a:ahLst/>
              <a:cxnLst/>
              <a:rect l="l" t="t" r="r" b="b"/>
              <a:pathLst>
                <a:path w="23073995" h="3919093">
                  <a:moveTo>
                    <a:pt x="0" y="85725"/>
                  </a:moveTo>
                  <a:cubicBezTo>
                    <a:pt x="0" y="38354"/>
                    <a:pt x="38481" y="0"/>
                    <a:pt x="85979" y="0"/>
                  </a:cubicBezTo>
                  <a:lnTo>
                    <a:pt x="22988015" y="0"/>
                  </a:lnTo>
                  <a:lnTo>
                    <a:pt x="22988015" y="6350"/>
                  </a:lnTo>
                  <a:lnTo>
                    <a:pt x="22988015" y="0"/>
                  </a:lnTo>
                  <a:cubicBezTo>
                    <a:pt x="23035513" y="0"/>
                    <a:pt x="23073995" y="38354"/>
                    <a:pt x="23073995" y="85725"/>
                  </a:cubicBezTo>
                  <a:lnTo>
                    <a:pt x="23067645" y="85725"/>
                  </a:lnTo>
                  <a:lnTo>
                    <a:pt x="23073995" y="85725"/>
                  </a:lnTo>
                  <a:lnTo>
                    <a:pt x="23073995" y="3833368"/>
                  </a:lnTo>
                  <a:lnTo>
                    <a:pt x="23067645" y="3833368"/>
                  </a:lnTo>
                  <a:lnTo>
                    <a:pt x="23073995" y="3833368"/>
                  </a:lnTo>
                  <a:cubicBezTo>
                    <a:pt x="23073995" y="3880739"/>
                    <a:pt x="23035513" y="3919093"/>
                    <a:pt x="22988015" y="3919093"/>
                  </a:cubicBezTo>
                  <a:lnTo>
                    <a:pt x="22988015" y="3912743"/>
                  </a:lnTo>
                  <a:lnTo>
                    <a:pt x="22988015" y="3919093"/>
                  </a:lnTo>
                  <a:lnTo>
                    <a:pt x="85979" y="3919093"/>
                  </a:lnTo>
                  <a:lnTo>
                    <a:pt x="85979" y="3912743"/>
                  </a:lnTo>
                  <a:lnTo>
                    <a:pt x="85979" y="3919093"/>
                  </a:lnTo>
                  <a:cubicBezTo>
                    <a:pt x="38481" y="3919093"/>
                    <a:pt x="0" y="3880739"/>
                    <a:pt x="0" y="3833368"/>
                  </a:cubicBezTo>
                  <a:lnTo>
                    <a:pt x="0" y="85725"/>
                  </a:lnTo>
                  <a:lnTo>
                    <a:pt x="6350" y="85725"/>
                  </a:lnTo>
                  <a:lnTo>
                    <a:pt x="0" y="85725"/>
                  </a:lnTo>
                  <a:moveTo>
                    <a:pt x="12700" y="85725"/>
                  </a:moveTo>
                  <a:lnTo>
                    <a:pt x="12700" y="3833368"/>
                  </a:lnTo>
                  <a:lnTo>
                    <a:pt x="6350" y="3833368"/>
                  </a:lnTo>
                  <a:lnTo>
                    <a:pt x="12700" y="3833368"/>
                  </a:lnTo>
                  <a:cubicBezTo>
                    <a:pt x="12700" y="3873627"/>
                    <a:pt x="45466" y="3906393"/>
                    <a:pt x="85979" y="3906393"/>
                  </a:cubicBezTo>
                  <a:lnTo>
                    <a:pt x="22988015" y="3906393"/>
                  </a:lnTo>
                  <a:cubicBezTo>
                    <a:pt x="23028529" y="3906393"/>
                    <a:pt x="23061295" y="3873627"/>
                    <a:pt x="23061295" y="3833368"/>
                  </a:cubicBezTo>
                  <a:lnTo>
                    <a:pt x="23061295" y="85725"/>
                  </a:lnTo>
                  <a:cubicBezTo>
                    <a:pt x="23061295" y="45466"/>
                    <a:pt x="23028529" y="12700"/>
                    <a:pt x="22988015" y="12700"/>
                  </a:cubicBezTo>
                  <a:lnTo>
                    <a:pt x="85979" y="12700"/>
                  </a:lnTo>
                  <a:lnTo>
                    <a:pt x="85979" y="6350"/>
                  </a:lnTo>
                  <a:lnTo>
                    <a:pt x="85979" y="12700"/>
                  </a:lnTo>
                  <a:cubicBezTo>
                    <a:pt x="45466" y="12700"/>
                    <a:pt x="12700" y="45466"/>
                    <a:pt x="12700" y="85725"/>
                  </a:cubicBezTo>
                  <a:close/>
                </a:path>
              </a:pathLst>
            </a:custGeom>
            <a:solidFill>
              <a:srgbClr val="F8F8F8">
                <a:alpha val="392"/>
              </a:srgbClr>
            </a:solidFill>
          </p:spPr>
        </p:sp>
      </p:grpSp>
      <p:grpSp>
        <p:nvGrpSpPr>
          <p:cNvPr id="5" name="Group 76">
            <a:extLst>
              <a:ext uri="{FF2B5EF4-FFF2-40B4-BE49-F238E27FC236}">
                <a16:creationId xmlns:a16="http://schemas.microsoft.com/office/drawing/2014/main" id="{AFBEDE55-C21F-1C8A-FB49-322E7EA52DC3}"/>
              </a:ext>
            </a:extLst>
          </p:cNvPr>
          <p:cNvGrpSpPr/>
          <p:nvPr/>
        </p:nvGrpSpPr>
        <p:grpSpPr>
          <a:xfrm>
            <a:off x="1052686" y="2133305"/>
            <a:ext cx="17276861" cy="415826"/>
            <a:chOff x="0" y="0"/>
            <a:chExt cx="23035815" cy="554435"/>
          </a:xfrm>
        </p:grpSpPr>
        <p:sp>
          <p:nvSpPr>
            <p:cNvPr id="73" name="Freeform 77">
              <a:extLst>
                <a:ext uri="{FF2B5EF4-FFF2-40B4-BE49-F238E27FC236}">
                  <a16:creationId xmlns:a16="http://schemas.microsoft.com/office/drawing/2014/main" id="{0304EECC-D8CE-F498-30DA-601DAEC0D7B5}"/>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74" name="TextBox 78">
            <a:extLst>
              <a:ext uri="{FF2B5EF4-FFF2-40B4-BE49-F238E27FC236}">
                <a16:creationId xmlns:a16="http://schemas.microsoft.com/office/drawing/2014/main" id="{FBBD1189-3B20-2966-48D4-DF0421BB7929}"/>
              </a:ext>
            </a:extLst>
          </p:cNvPr>
          <p:cNvSpPr txBox="1"/>
          <p:nvPr/>
        </p:nvSpPr>
        <p:spPr>
          <a:xfrm>
            <a:off x="1171813" y="2150492"/>
            <a:ext cx="3167211" cy="245260"/>
          </a:xfrm>
          <a:prstGeom prst="rect">
            <a:avLst/>
          </a:prstGeom>
        </p:spPr>
        <p:txBody>
          <a:bodyPr lIns="0" tIns="0" rIns="0" bIns="0" rtlCol="0" anchor="t">
            <a:spAutoFit/>
          </a:bodyPr>
          <a:lstStyle/>
          <a:p>
            <a:pPr algn="l">
              <a:lnSpc>
                <a:spcPts val="175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Data Function</a:t>
            </a:r>
          </a:p>
        </p:txBody>
      </p:sp>
      <p:sp>
        <p:nvSpPr>
          <p:cNvPr id="75" name="TextBox 79">
            <a:extLst>
              <a:ext uri="{FF2B5EF4-FFF2-40B4-BE49-F238E27FC236}">
                <a16:creationId xmlns:a16="http://schemas.microsoft.com/office/drawing/2014/main" id="{D6521926-3A86-84FD-C8E6-05FBFA509F33}"/>
              </a:ext>
            </a:extLst>
          </p:cNvPr>
          <p:cNvSpPr txBox="1"/>
          <p:nvPr/>
        </p:nvSpPr>
        <p:spPr>
          <a:xfrm>
            <a:off x="4631918" y="2150492"/>
            <a:ext cx="3162449" cy="245260"/>
          </a:xfrm>
          <a:prstGeom prst="rect">
            <a:avLst/>
          </a:prstGeom>
        </p:spPr>
        <p:txBody>
          <a:bodyPr lIns="0" tIns="0" rIns="0" bIns="0" rtlCol="0" anchor="t">
            <a:spAutoFit/>
          </a:bodyPr>
          <a:lstStyle/>
          <a:p>
            <a:pPr algn="l">
              <a:lnSpc>
                <a:spcPts val="175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Type</a:t>
            </a:r>
          </a:p>
        </p:txBody>
      </p:sp>
      <p:sp>
        <p:nvSpPr>
          <p:cNvPr id="76" name="TextBox 80">
            <a:extLst>
              <a:ext uri="{FF2B5EF4-FFF2-40B4-BE49-F238E27FC236}">
                <a16:creationId xmlns:a16="http://schemas.microsoft.com/office/drawing/2014/main" id="{817DC74B-7DF6-41EE-A435-0F2AA705CD07}"/>
              </a:ext>
            </a:extLst>
          </p:cNvPr>
          <p:cNvSpPr txBox="1"/>
          <p:nvPr/>
        </p:nvSpPr>
        <p:spPr>
          <a:xfrm>
            <a:off x="8087261" y="2150492"/>
            <a:ext cx="3162449" cy="245260"/>
          </a:xfrm>
          <a:prstGeom prst="rect">
            <a:avLst/>
          </a:prstGeom>
        </p:spPr>
        <p:txBody>
          <a:bodyPr lIns="0" tIns="0" rIns="0" bIns="0" rtlCol="0" anchor="t">
            <a:spAutoFit/>
          </a:bodyPr>
          <a:lstStyle/>
          <a:p>
            <a:pPr algn="l">
              <a:lnSpc>
                <a:spcPts val="175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RET</a:t>
            </a:r>
          </a:p>
        </p:txBody>
      </p:sp>
      <p:sp>
        <p:nvSpPr>
          <p:cNvPr id="77" name="TextBox 81">
            <a:extLst>
              <a:ext uri="{FF2B5EF4-FFF2-40B4-BE49-F238E27FC236}">
                <a16:creationId xmlns:a16="http://schemas.microsoft.com/office/drawing/2014/main" id="{319E84E8-4B53-8DF2-ED9B-427324304CF6}"/>
              </a:ext>
            </a:extLst>
          </p:cNvPr>
          <p:cNvSpPr txBox="1"/>
          <p:nvPr/>
        </p:nvSpPr>
        <p:spPr>
          <a:xfrm>
            <a:off x="11542603" y="2150492"/>
            <a:ext cx="3162449" cy="245260"/>
          </a:xfrm>
          <a:prstGeom prst="rect">
            <a:avLst/>
          </a:prstGeom>
        </p:spPr>
        <p:txBody>
          <a:bodyPr lIns="0" tIns="0" rIns="0" bIns="0" rtlCol="0" anchor="t">
            <a:spAutoFit/>
          </a:bodyPr>
          <a:lstStyle/>
          <a:p>
            <a:pPr algn="l">
              <a:lnSpc>
                <a:spcPts val="175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DET</a:t>
            </a:r>
          </a:p>
        </p:txBody>
      </p:sp>
      <p:sp>
        <p:nvSpPr>
          <p:cNvPr id="78" name="TextBox 82">
            <a:extLst>
              <a:ext uri="{FF2B5EF4-FFF2-40B4-BE49-F238E27FC236}">
                <a16:creationId xmlns:a16="http://schemas.microsoft.com/office/drawing/2014/main" id="{B127ABE1-5045-A229-DF20-EBABBB945512}"/>
              </a:ext>
            </a:extLst>
          </p:cNvPr>
          <p:cNvSpPr txBox="1"/>
          <p:nvPr/>
        </p:nvSpPr>
        <p:spPr>
          <a:xfrm>
            <a:off x="14997946" y="2150492"/>
            <a:ext cx="3167211" cy="245260"/>
          </a:xfrm>
          <a:prstGeom prst="rect">
            <a:avLst/>
          </a:prstGeom>
        </p:spPr>
        <p:txBody>
          <a:bodyPr lIns="0" tIns="0" rIns="0" bIns="0" rtlCol="0" anchor="t">
            <a:spAutoFit/>
          </a:bodyPr>
          <a:lstStyle/>
          <a:p>
            <a:pPr algn="l">
              <a:lnSpc>
                <a:spcPts val="175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Complexity</a:t>
            </a:r>
          </a:p>
        </p:txBody>
      </p:sp>
      <p:sp>
        <p:nvSpPr>
          <p:cNvPr id="81" name="TextBox 85">
            <a:extLst>
              <a:ext uri="{FF2B5EF4-FFF2-40B4-BE49-F238E27FC236}">
                <a16:creationId xmlns:a16="http://schemas.microsoft.com/office/drawing/2014/main" id="{FA87E51E-6A9F-5366-D377-1ED534FA67A6}"/>
              </a:ext>
            </a:extLst>
          </p:cNvPr>
          <p:cNvSpPr txBox="1"/>
          <p:nvPr/>
        </p:nvSpPr>
        <p:spPr>
          <a:xfrm>
            <a:off x="1194519" y="2596012"/>
            <a:ext cx="3167211"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1 Users</a:t>
            </a:r>
          </a:p>
        </p:txBody>
      </p:sp>
      <p:sp>
        <p:nvSpPr>
          <p:cNvPr id="82" name="TextBox 86">
            <a:extLst>
              <a:ext uri="{FF2B5EF4-FFF2-40B4-BE49-F238E27FC236}">
                <a16:creationId xmlns:a16="http://schemas.microsoft.com/office/drawing/2014/main" id="{37A4A282-CF9E-04C1-B530-EC41A67B7C6A}"/>
              </a:ext>
            </a:extLst>
          </p:cNvPr>
          <p:cNvSpPr txBox="1"/>
          <p:nvPr/>
        </p:nvSpPr>
        <p:spPr>
          <a:xfrm>
            <a:off x="4654624" y="2596012"/>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83" name="TextBox 87">
            <a:extLst>
              <a:ext uri="{FF2B5EF4-FFF2-40B4-BE49-F238E27FC236}">
                <a16:creationId xmlns:a16="http://schemas.microsoft.com/office/drawing/2014/main" id="{39B415FB-62C0-58C9-7054-AA13CC8AE006}"/>
              </a:ext>
            </a:extLst>
          </p:cNvPr>
          <p:cNvSpPr txBox="1"/>
          <p:nvPr/>
        </p:nvSpPr>
        <p:spPr>
          <a:xfrm>
            <a:off x="8109967" y="2596012"/>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84" name="TextBox 88">
            <a:extLst>
              <a:ext uri="{FF2B5EF4-FFF2-40B4-BE49-F238E27FC236}">
                <a16:creationId xmlns:a16="http://schemas.microsoft.com/office/drawing/2014/main" id="{BAABC8D3-A1A8-5EA2-96CB-A82FD5276E5A}"/>
              </a:ext>
            </a:extLst>
          </p:cNvPr>
          <p:cNvSpPr txBox="1"/>
          <p:nvPr/>
        </p:nvSpPr>
        <p:spPr>
          <a:xfrm>
            <a:off x="11565309" y="2596012"/>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7</a:t>
            </a:r>
          </a:p>
        </p:txBody>
      </p:sp>
      <p:sp>
        <p:nvSpPr>
          <p:cNvPr id="85" name="TextBox 89">
            <a:extLst>
              <a:ext uri="{FF2B5EF4-FFF2-40B4-BE49-F238E27FC236}">
                <a16:creationId xmlns:a16="http://schemas.microsoft.com/office/drawing/2014/main" id="{ED9CF544-B664-4D60-783E-EDB98A7A967A}"/>
              </a:ext>
            </a:extLst>
          </p:cNvPr>
          <p:cNvSpPr txBox="1"/>
          <p:nvPr/>
        </p:nvSpPr>
        <p:spPr>
          <a:xfrm>
            <a:off x="15020652" y="2596012"/>
            <a:ext cx="3167211"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88" name="TextBox 92">
            <a:extLst>
              <a:ext uri="{FF2B5EF4-FFF2-40B4-BE49-F238E27FC236}">
                <a16:creationId xmlns:a16="http://schemas.microsoft.com/office/drawing/2014/main" id="{FC0B60B0-4296-F3CE-A327-4B505605DA53}"/>
              </a:ext>
            </a:extLst>
          </p:cNvPr>
          <p:cNvSpPr txBox="1"/>
          <p:nvPr/>
        </p:nvSpPr>
        <p:spPr>
          <a:xfrm>
            <a:off x="1194519" y="3011838"/>
            <a:ext cx="3167211"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2 Menu Items</a:t>
            </a:r>
          </a:p>
        </p:txBody>
      </p:sp>
      <p:sp>
        <p:nvSpPr>
          <p:cNvPr id="89" name="TextBox 93">
            <a:extLst>
              <a:ext uri="{FF2B5EF4-FFF2-40B4-BE49-F238E27FC236}">
                <a16:creationId xmlns:a16="http://schemas.microsoft.com/office/drawing/2014/main" id="{CCDDB12D-CF7D-004A-4182-ABE2A6407C55}"/>
              </a:ext>
            </a:extLst>
          </p:cNvPr>
          <p:cNvSpPr txBox="1"/>
          <p:nvPr/>
        </p:nvSpPr>
        <p:spPr>
          <a:xfrm>
            <a:off x="4654624" y="3011838"/>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90" name="TextBox 94">
            <a:extLst>
              <a:ext uri="{FF2B5EF4-FFF2-40B4-BE49-F238E27FC236}">
                <a16:creationId xmlns:a16="http://schemas.microsoft.com/office/drawing/2014/main" id="{C24C5806-1041-CEAF-E48A-2D605CEC65EF}"/>
              </a:ext>
            </a:extLst>
          </p:cNvPr>
          <p:cNvSpPr txBox="1"/>
          <p:nvPr/>
        </p:nvSpPr>
        <p:spPr>
          <a:xfrm>
            <a:off x="8109967" y="3011838"/>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91" name="TextBox 95">
            <a:extLst>
              <a:ext uri="{FF2B5EF4-FFF2-40B4-BE49-F238E27FC236}">
                <a16:creationId xmlns:a16="http://schemas.microsoft.com/office/drawing/2014/main" id="{ABD7D8F6-7857-2CD5-C515-3EB1DD57A615}"/>
              </a:ext>
            </a:extLst>
          </p:cNvPr>
          <p:cNvSpPr txBox="1"/>
          <p:nvPr/>
        </p:nvSpPr>
        <p:spPr>
          <a:xfrm>
            <a:off x="11565309" y="3011838"/>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8</a:t>
            </a:r>
          </a:p>
        </p:txBody>
      </p:sp>
      <p:sp>
        <p:nvSpPr>
          <p:cNvPr id="92" name="TextBox 96">
            <a:extLst>
              <a:ext uri="{FF2B5EF4-FFF2-40B4-BE49-F238E27FC236}">
                <a16:creationId xmlns:a16="http://schemas.microsoft.com/office/drawing/2014/main" id="{9BC176C5-2B63-C62A-BAB1-AA7B1D155051}"/>
              </a:ext>
            </a:extLst>
          </p:cNvPr>
          <p:cNvSpPr txBox="1"/>
          <p:nvPr/>
        </p:nvSpPr>
        <p:spPr>
          <a:xfrm>
            <a:off x="15020652" y="3011838"/>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grpSp>
        <p:nvGrpSpPr>
          <p:cNvPr id="93" name="Group 97">
            <a:extLst>
              <a:ext uri="{FF2B5EF4-FFF2-40B4-BE49-F238E27FC236}">
                <a16:creationId xmlns:a16="http://schemas.microsoft.com/office/drawing/2014/main" id="{1DA21AC5-3C58-B514-2E39-3CF43F27471C}"/>
              </a:ext>
            </a:extLst>
          </p:cNvPr>
          <p:cNvGrpSpPr/>
          <p:nvPr/>
        </p:nvGrpSpPr>
        <p:grpSpPr>
          <a:xfrm>
            <a:off x="1052686" y="3380783"/>
            <a:ext cx="17276861" cy="415826"/>
            <a:chOff x="0" y="0"/>
            <a:chExt cx="23035815" cy="554435"/>
          </a:xfrm>
        </p:grpSpPr>
        <p:sp>
          <p:nvSpPr>
            <p:cNvPr id="94" name="Freeform 98">
              <a:extLst>
                <a:ext uri="{FF2B5EF4-FFF2-40B4-BE49-F238E27FC236}">
                  <a16:creationId xmlns:a16="http://schemas.microsoft.com/office/drawing/2014/main" id="{7570F374-CBFB-E3B0-7D8D-A671CF06F901}"/>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95" name="TextBox 99">
            <a:extLst>
              <a:ext uri="{FF2B5EF4-FFF2-40B4-BE49-F238E27FC236}">
                <a16:creationId xmlns:a16="http://schemas.microsoft.com/office/drawing/2014/main" id="{F7488A4D-B08C-1CFE-40E8-CF27EE8ACF9A}"/>
              </a:ext>
            </a:extLst>
          </p:cNvPr>
          <p:cNvSpPr txBox="1"/>
          <p:nvPr/>
        </p:nvSpPr>
        <p:spPr>
          <a:xfrm>
            <a:off x="1194519" y="3427663"/>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3 Orders</a:t>
            </a:r>
          </a:p>
        </p:txBody>
      </p:sp>
      <p:sp>
        <p:nvSpPr>
          <p:cNvPr id="96" name="TextBox 100">
            <a:extLst>
              <a:ext uri="{FF2B5EF4-FFF2-40B4-BE49-F238E27FC236}">
                <a16:creationId xmlns:a16="http://schemas.microsoft.com/office/drawing/2014/main" id="{BF0C61DB-DC22-C79E-BDFE-CFAB33AD0D20}"/>
              </a:ext>
            </a:extLst>
          </p:cNvPr>
          <p:cNvSpPr txBox="1"/>
          <p:nvPr/>
        </p:nvSpPr>
        <p:spPr>
          <a:xfrm>
            <a:off x="4654624" y="3427663"/>
            <a:ext cx="3162449"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97" name="TextBox 101">
            <a:extLst>
              <a:ext uri="{FF2B5EF4-FFF2-40B4-BE49-F238E27FC236}">
                <a16:creationId xmlns:a16="http://schemas.microsoft.com/office/drawing/2014/main" id="{AF3F92D9-1CA0-BB18-1AFD-F1AE7C0837E3}"/>
              </a:ext>
            </a:extLst>
          </p:cNvPr>
          <p:cNvSpPr txBox="1"/>
          <p:nvPr/>
        </p:nvSpPr>
        <p:spPr>
          <a:xfrm>
            <a:off x="8109967" y="3427663"/>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98" name="TextBox 102">
            <a:extLst>
              <a:ext uri="{FF2B5EF4-FFF2-40B4-BE49-F238E27FC236}">
                <a16:creationId xmlns:a16="http://schemas.microsoft.com/office/drawing/2014/main" id="{8E0896C3-08ED-FF21-CF04-AAD176A6F38F}"/>
              </a:ext>
            </a:extLst>
          </p:cNvPr>
          <p:cNvSpPr txBox="1"/>
          <p:nvPr/>
        </p:nvSpPr>
        <p:spPr>
          <a:xfrm>
            <a:off x="11565309" y="3427663"/>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12</a:t>
            </a:r>
          </a:p>
        </p:txBody>
      </p:sp>
      <p:sp>
        <p:nvSpPr>
          <p:cNvPr id="99" name="TextBox 103">
            <a:extLst>
              <a:ext uri="{FF2B5EF4-FFF2-40B4-BE49-F238E27FC236}">
                <a16:creationId xmlns:a16="http://schemas.microsoft.com/office/drawing/2014/main" id="{A5395454-36FC-A0DB-5C1B-054468943830}"/>
              </a:ext>
            </a:extLst>
          </p:cNvPr>
          <p:cNvSpPr txBox="1"/>
          <p:nvPr/>
        </p:nvSpPr>
        <p:spPr>
          <a:xfrm>
            <a:off x="15020652" y="3427663"/>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grpSp>
        <p:nvGrpSpPr>
          <p:cNvPr id="100" name="Group 104">
            <a:extLst>
              <a:ext uri="{FF2B5EF4-FFF2-40B4-BE49-F238E27FC236}">
                <a16:creationId xmlns:a16="http://schemas.microsoft.com/office/drawing/2014/main" id="{7930BC23-0469-D9C7-1FC7-1682B08B6B12}"/>
              </a:ext>
            </a:extLst>
          </p:cNvPr>
          <p:cNvGrpSpPr/>
          <p:nvPr/>
        </p:nvGrpSpPr>
        <p:grpSpPr>
          <a:xfrm>
            <a:off x="1066975" y="3833955"/>
            <a:ext cx="17276861" cy="415826"/>
            <a:chOff x="0" y="0"/>
            <a:chExt cx="23035815" cy="554435"/>
          </a:xfrm>
        </p:grpSpPr>
        <p:sp>
          <p:nvSpPr>
            <p:cNvPr id="101" name="Freeform 105">
              <a:extLst>
                <a:ext uri="{FF2B5EF4-FFF2-40B4-BE49-F238E27FC236}">
                  <a16:creationId xmlns:a16="http://schemas.microsoft.com/office/drawing/2014/main" id="{92D00E9A-3184-FC08-6240-A0751606352A}"/>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02" name="TextBox 106">
            <a:extLst>
              <a:ext uri="{FF2B5EF4-FFF2-40B4-BE49-F238E27FC236}">
                <a16:creationId xmlns:a16="http://schemas.microsoft.com/office/drawing/2014/main" id="{06C2D5C9-9419-0FD0-F327-22F714D54726}"/>
              </a:ext>
            </a:extLst>
          </p:cNvPr>
          <p:cNvSpPr txBox="1"/>
          <p:nvPr/>
        </p:nvSpPr>
        <p:spPr>
          <a:xfrm>
            <a:off x="1194519" y="3843489"/>
            <a:ext cx="3167211"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4 Transactions</a:t>
            </a:r>
          </a:p>
        </p:txBody>
      </p:sp>
      <p:sp>
        <p:nvSpPr>
          <p:cNvPr id="103" name="TextBox 107">
            <a:extLst>
              <a:ext uri="{FF2B5EF4-FFF2-40B4-BE49-F238E27FC236}">
                <a16:creationId xmlns:a16="http://schemas.microsoft.com/office/drawing/2014/main" id="{0ED242B5-81FB-1AD4-CE78-6FA94BA959BF}"/>
              </a:ext>
            </a:extLst>
          </p:cNvPr>
          <p:cNvSpPr txBox="1"/>
          <p:nvPr/>
        </p:nvSpPr>
        <p:spPr>
          <a:xfrm>
            <a:off x="4654624" y="3843489"/>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104" name="TextBox 108">
            <a:extLst>
              <a:ext uri="{FF2B5EF4-FFF2-40B4-BE49-F238E27FC236}">
                <a16:creationId xmlns:a16="http://schemas.microsoft.com/office/drawing/2014/main" id="{61339C48-3181-7F46-17ED-40E27CBAAFC8}"/>
              </a:ext>
            </a:extLst>
          </p:cNvPr>
          <p:cNvSpPr txBox="1"/>
          <p:nvPr/>
        </p:nvSpPr>
        <p:spPr>
          <a:xfrm>
            <a:off x="8109967" y="3843489"/>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105" name="TextBox 109">
            <a:extLst>
              <a:ext uri="{FF2B5EF4-FFF2-40B4-BE49-F238E27FC236}">
                <a16:creationId xmlns:a16="http://schemas.microsoft.com/office/drawing/2014/main" id="{6D6CC221-475E-EB54-00EA-25D2DFB6B928}"/>
              </a:ext>
            </a:extLst>
          </p:cNvPr>
          <p:cNvSpPr txBox="1"/>
          <p:nvPr/>
        </p:nvSpPr>
        <p:spPr>
          <a:xfrm>
            <a:off x="11565309" y="3843489"/>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10</a:t>
            </a:r>
          </a:p>
        </p:txBody>
      </p:sp>
      <p:sp>
        <p:nvSpPr>
          <p:cNvPr id="106" name="TextBox 110">
            <a:extLst>
              <a:ext uri="{FF2B5EF4-FFF2-40B4-BE49-F238E27FC236}">
                <a16:creationId xmlns:a16="http://schemas.microsoft.com/office/drawing/2014/main" id="{6BE4DE0A-6A8D-4EF7-5FC3-3D9EAFB0D3B9}"/>
              </a:ext>
            </a:extLst>
          </p:cNvPr>
          <p:cNvSpPr txBox="1"/>
          <p:nvPr/>
        </p:nvSpPr>
        <p:spPr>
          <a:xfrm>
            <a:off x="15020652" y="3843489"/>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grpSp>
        <p:nvGrpSpPr>
          <p:cNvPr id="107" name="Group 111">
            <a:extLst>
              <a:ext uri="{FF2B5EF4-FFF2-40B4-BE49-F238E27FC236}">
                <a16:creationId xmlns:a16="http://schemas.microsoft.com/office/drawing/2014/main" id="{5FDA7D61-9E7C-948D-F37B-96A410162C09}"/>
              </a:ext>
            </a:extLst>
          </p:cNvPr>
          <p:cNvGrpSpPr/>
          <p:nvPr/>
        </p:nvGrpSpPr>
        <p:grpSpPr>
          <a:xfrm>
            <a:off x="1052686" y="4212434"/>
            <a:ext cx="17276861" cy="415826"/>
            <a:chOff x="0" y="0"/>
            <a:chExt cx="23035815" cy="554435"/>
          </a:xfrm>
        </p:grpSpPr>
        <p:sp>
          <p:nvSpPr>
            <p:cNvPr id="108" name="Freeform 112">
              <a:extLst>
                <a:ext uri="{FF2B5EF4-FFF2-40B4-BE49-F238E27FC236}">
                  <a16:creationId xmlns:a16="http://schemas.microsoft.com/office/drawing/2014/main" id="{0360418E-FFF9-7D82-6769-6996627B0BE5}"/>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09" name="TextBox 113">
            <a:extLst>
              <a:ext uri="{FF2B5EF4-FFF2-40B4-BE49-F238E27FC236}">
                <a16:creationId xmlns:a16="http://schemas.microsoft.com/office/drawing/2014/main" id="{D43D1213-5B14-062F-85C5-550D8987D570}"/>
              </a:ext>
            </a:extLst>
          </p:cNvPr>
          <p:cNvSpPr txBox="1"/>
          <p:nvPr/>
        </p:nvSpPr>
        <p:spPr>
          <a:xfrm>
            <a:off x="1194519" y="4259315"/>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5 Stock</a:t>
            </a:r>
          </a:p>
        </p:txBody>
      </p:sp>
      <p:sp>
        <p:nvSpPr>
          <p:cNvPr id="110" name="TextBox 114">
            <a:extLst>
              <a:ext uri="{FF2B5EF4-FFF2-40B4-BE49-F238E27FC236}">
                <a16:creationId xmlns:a16="http://schemas.microsoft.com/office/drawing/2014/main" id="{AC7A6192-4005-7BCD-8D09-E464DA97E3E7}"/>
              </a:ext>
            </a:extLst>
          </p:cNvPr>
          <p:cNvSpPr txBox="1"/>
          <p:nvPr/>
        </p:nvSpPr>
        <p:spPr>
          <a:xfrm>
            <a:off x="4654624" y="4259315"/>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111" name="TextBox 115">
            <a:extLst>
              <a:ext uri="{FF2B5EF4-FFF2-40B4-BE49-F238E27FC236}">
                <a16:creationId xmlns:a16="http://schemas.microsoft.com/office/drawing/2014/main" id="{316F7D37-4A89-A8B3-3971-0F4F0023C800}"/>
              </a:ext>
            </a:extLst>
          </p:cNvPr>
          <p:cNvSpPr txBox="1"/>
          <p:nvPr/>
        </p:nvSpPr>
        <p:spPr>
          <a:xfrm>
            <a:off x="8109967" y="4259315"/>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112" name="TextBox 116">
            <a:extLst>
              <a:ext uri="{FF2B5EF4-FFF2-40B4-BE49-F238E27FC236}">
                <a16:creationId xmlns:a16="http://schemas.microsoft.com/office/drawing/2014/main" id="{A5E2FA19-15CF-0F86-81D7-072E958EDB35}"/>
              </a:ext>
            </a:extLst>
          </p:cNvPr>
          <p:cNvSpPr txBox="1"/>
          <p:nvPr/>
        </p:nvSpPr>
        <p:spPr>
          <a:xfrm>
            <a:off x="11565309" y="4259315"/>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6</a:t>
            </a:r>
          </a:p>
        </p:txBody>
      </p:sp>
      <p:sp>
        <p:nvSpPr>
          <p:cNvPr id="113" name="TextBox 117">
            <a:extLst>
              <a:ext uri="{FF2B5EF4-FFF2-40B4-BE49-F238E27FC236}">
                <a16:creationId xmlns:a16="http://schemas.microsoft.com/office/drawing/2014/main" id="{9C4F1E33-29F5-64B0-2C18-F59F72A78594}"/>
              </a:ext>
            </a:extLst>
          </p:cNvPr>
          <p:cNvSpPr txBox="1"/>
          <p:nvPr/>
        </p:nvSpPr>
        <p:spPr>
          <a:xfrm>
            <a:off x="15020652" y="4259315"/>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grpSp>
        <p:nvGrpSpPr>
          <p:cNvPr id="114" name="Group 118">
            <a:extLst>
              <a:ext uri="{FF2B5EF4-FFF2-40B4-BE49-F238E27FC236}">
                <a16:creationId xmlns:a16="http://schemas.microsoft.com/office/drawing/2014/main" id="{E7BFB19D-A137-1FEF-A6D2-967F99C9DD37}"/>
              </a:ext>
            </a:extLst>
          </p:cNvPr>
          <p:cNvGrpSpPr/>
          <p:nvPr/>
        </p:nvGrpSpPr>
        <p:grpSpPr>
          <a:xfrm>
            <a:off x="1052686" y="4628261"/>
            <a:ext cx="17276861" cy="415826"/>
            <a:chOff x="0" y="0"/>
            <a:chExt cx="23035815" cy="554435"/>
          </a:xfrm>
        </p:grpSpPr>
        <p:sp>
          <p:nvSpPr>
            <p:cNvPr id="115" name="Freeform 119">
              <a:extLst>
                <a:ext uri="{FF2B5EF4-FFF2-40B4-BE49-F238E27FC236}">
                  <a16:creationId xmlns:a16="http://schemas.microsoft.com/office/drawing/2014/main" id="{8C3420D3-B68A-4E68-775F-D7960954B4D0}"/>
                </a:ext>
              </a:extLst>
            </p:cNvPr>
            <p:cNvSpPr/>
            <p:nvPr/>
          </p:nvSpPr>
          <p:spPr>
            <a:xfrm>
              <a:off x="0" y="0"/>
              <a:ext cx="23035768" cy="554482"/>
            </a:xfrm>
            <a:custGeom>
              <a:avLst/>
              <a:gdLst/>
              <a:ahLst/>
              <a:cxnLst/>
              <a:rect l="l" t="t" r="r" b="b"/>
              <a:pathLst>
                <a:path w="23035768" h="554482">
                  <a:moveTo>
                    <a:pt x="0" y="0"/>
                  </a:moveTo>
                  <a:lnTo>
                    <a:pt x="23035768" y="0"/>
                  </a:lnTo>
                  <a:lnTo>
                    <a:pt x="23035768" y="554482"/>
                  </a:lnTo>
                  <a:lnTo>
                    <a:pt x="0" y="554482"/>
                  </a:lnTo>
                  <a:close/>
                </a:path>
              </a:pathLst>
            </a:custGeom>
            <a:solidFill>
              <a:srgbClr val="F8F8F8">
                <a:alpha val="0"/>
              </a:srgbClr>
            </a:solidFill>
          </p:spPr>
        </p:sp>
      </p:grpSp>
      <p:sp>
        <p:nvSpPr>
          <p:cNvPr id="116" name="TextBox 120">
            <a:extLst>
              <a:ext uri="{FF2B5EF4-FFF2-40B4-BE49-F238E27FC236}">
                <a16:creationId xmlns:a16="http://schemas.microsoft.com/office/drawing/2014/main" id="{2F4D92C6-01AC-D9F9-5BFF-7CB0AE03494B}"/>
              </a:ext>
            </a:extLst>
          </p:cNvPr>
          <p:cNvSpPr txBox="1"/>
          <p:nvPr/>
        </p:nvSpPr>
        <p:spPr>
          <a:xfrm>
            <a:off x="1194519" y="4675140"/>
            <a:ext cx="3167211" cy="487634"/>
          </a:xfrm>
          <a:prstGeom prst="rect">
            <a:avLst/>
          </a:prstGeom>
        </p:spPr>
        <p:txBody>
          <a:bodyPr lIns="0" tIns="0" rIns="0" bIns="0" rtlCol="0" anchor="t">
            <a:spAutoFit/>
          </a:bodyPr>
          <a:lstStyle/>
          <a:p>
            <a:pPr algn="l">
              <a:lnSpc>
                <a:spcPct val="150000"/>
              </a:lnSpc>
            </a:pPr>
            <a:r>
              <a:rPr lang="en-US" sz="2400" b="1" dirty="0">
                <a:solidFill>
                  <a:srgbClr val="01012C"/>
                </a:solidFill>
                <a:latin typeface="Times New Roman" panose="02020603050405020304" pitchFamily="18" charset="0"/>
                <a:ea typeface="Montserrat"/>
                <a:cs typeface="Times New Roman" panose="02020603050405020304" pitchFamily="18" charset="0"/>
                <a:sym typeface="Montserrat"/>
              </a:rPr>
              <a:t>6 Reports</a:t>
            </a:r>
          </a:p>
        </p:txBody>
      </p:sp>
      <p:sp>
        <p:nvSpPr>
          <p:cNvPr id="117" name="TextBox 121">
            <a:extLst>
              <a:ext uri="{FF2B5EF4-FFF2-40B4-BE49-F238E27FC236}">
                <a16:creationId xmlns:a16="http://schemas.microsoft.com/office/drawing/2014/main" id="{FF176B95-776B-2991-BEF0-FA790AF63569}"/>
              </a:ext>
            </a:extLst>
          </p:cNvPr>
          <p:cNvSpPr txBox="1"/>
          <p:nvPr/>
        </p:nvSpPr>
        <p:spPr>
          <a:xfrm>
            <a:off x="4654624" y="4675140"/>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ILF</a:t>
            </a:r>
          </a:p>
        </p:txBody>
      </p:sp>
      <p:sp>
        <p:nvSpPr>
          <p:cNvPr id="118" name="TextBox 122">
            <a:extLst>
              <a:ext uri="{FF2B5EF4-FFF2-40B4-BE49-F238E27FC236}">
                <a16:creationId xmlns:a16="http://schemas.microsoft.com/office/drawing/2014/main" id="{088A4F8C-C1EA-2FA2-DE3C-57080635DBC4}"/>
              </a:ext>
            </a:extLst>
          </p:cNvPr>
          <p:cNvSpPr txBox="1"/>
          <p:nvPr/>
        </p:nvSpPr>
        <p:spPr>
          <a:xfrm>
            <a:off x="8109967" y="4675140"/>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119" name="TextBox 123">
            <a:extLst>
              <a:ext uri="{FF2B5EF4-FFF2-40B4-BE49-F238E27FC236}">
                <a16:creationId xmlns:a16="http://schemas.microsoft.com/office/drawing/2014/main" id="{1670F7CA-49B4-3656-27F6-CE8372CC6AD4}"/>
              </a:ext>
            </a:extLst>
          </p:cNvPr>
          <p:cNvSpPr txBox="1"/>
          <p:nvPr/>
        </p:nvSpPr>
        <p:spPr>
          <a:xfrm>
            <a:off x="11565309" y="4675140"/>
            <a:ext cx="3162449"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9</a:t>
            </a:r>
          </a:p>
        </p:txBody>
      </p:sp>
      <p:sp>
        <p:nvSpPr>
          <p:cNvPr id="120" name="TextBox 124">
            <a:extLst>
              <a:ext uri="{FF2B5EF4-FFF2-40B4-BE49-F238E27FC236}">
                <a16:creationId xmlns:a16="http://schemas.microsoft.com/office/drawing/2014/main" id="{6CDF7D4E-679E-F80F-4A5D-8BEBA78C505D}"/>
              </a:ext>
            </a:extLst>
          </p:cNvPr>
          <p:cNvSpPr txBox="1"/>
          <p:nvPr/>
        </p:nvSpPr>
        <p:spPr>
          <a:xfrm>
            <a:off x="15020652" y="4675140"/>
            <a:ext cx="3167211" cy="487634"/>
          </a:xfrm>
          <a:prstGeom prst="rect">
            <a:avLst/>
          </a:prstGeom>
        </p:spPr>
        <p:txBody>
          <a:bodyPr lIns="0" tIns="0" rIns="0" bIns="0" rtlCol="0" anchor="t">
            <a:spAutoFit/>
          </a:bodyPr>
          <a:lstStyle/>
          <a:p>
            <a:pPr algn="l">
              <a:lnSpc>
                <a:spcPct val="150000"/>
              </a:lnSpc>
            </a:pPr>
            <a:r>
              <a:rPr lang="en-US" sz="2400"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128" name="Slide Number Placeholder 127">
            <a:extLst>
              <a:ext uri="{FF2B5EF4-FFF2-40B4-BE49-F238E27FC236}">
                <a16:creationId xmlns:a16="http://schemas.microsoft.com/office/drawing/2014/main" id="{35DBF2EE-C92B-B6FC-8643-991998818A59}"/>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094280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7620000" y="2609525"/>
            <a:ext cx="8389800" cy="5067950"/>
          </a:xfrm>
          <a:custGeom>
            <a:avLst/>
            <a:gdLst/>
            <a:ahLst/>
            <a:cxnLst/>
            <a:rect l="l" t="t" r="r" b="b"/>
            <a:pathLst>
              <a:path w="8389800" h="5067950">
                <a:moveTo>
                  <a:pt x="0" y="0"/>
                </a:moveTo>
                <a:lnTo>
                  <a:pt x="8389800" y="0"/>
                </a:lnTo>
                <a:lnTo>
                  <a:pt x="8389800" y="5067950"/>
                </a:lnTo>
                <a:lnTo>
                  <a:pt x="0" y="5067950"/>
                </a:lnTo>
                <a:lnTo>
                  <a:pt x="0" y="0"/>
                </a:lnTo>
                <a:close/>
              </a:path>
            </a:pathLst>
          </a:custGeom>
          <a:blipFill>
            <a:blip r:embed="rId2"/>
            <a:stretch>
              <a:fillRect/>
            </a:stretch>
          </a:blipFill>
        </p:spPr>
      </p:sp>
      <p:sp>
        <p:nvSpPr>
          <p:cNvPr id="3" name="TextBox 3"/>
          <p:cNvSpPr txBox="1"/>
          <p:nvPr/>
        </p:nvSpPr>
        <p:spPr>
          <a:xfrm>
            <a:off x="990600" y="4076700"/>
            <a:ext cx="5574209" cy="318492"/>
          </a:xfrm>
          <a:prstGeom prst="rect">
            <a:avLst/>
          </a:prstGeom>
        </p:spPr>
        <p:txBody>
          <a:bodyPr lIns="0" tIns="0" rIns="0" bIns="0" rtlCol="0" anchor="t">
            <a:spAutoFit/>
          </a:bodyPr>
          <a:lstStyle/>
          <a:p>
            <a:pPr algn="l">
              <a:lnSpc>
                <a:spcPts val="2578"/>
              </a:lnSpc>
            </a:pPr>
            <a:r>
              <a:rPr lang="en-US" sz="2050" b="1" spc="-73" dirty="0">
                <a:solidFill>
                  <a:srgbClr val="01012C"/>
                </a:solidFill>
                <a:latin typeface="Montserrat Bold"/>
                <a:ea typeface="Montserrat Bold"/>
                <a:cs typeface="Montserrat Bold"/>
                <a:sym typeface="Montserrat Bold"/>
              </a:rPr>
              <a:t>Unadjusted Function Point Contribution</a:t>
            </a:r>
          </a:p>
        </p:txBody>
      </p:sp>
      <p:sp>
        <p:nvSpPr>
          <p:cNvPr id="12" name="Slide Number Placeholder 11">
            <a:extLst>
              <a:ext uri="{FF2B5EF4-FFF2-40B4-BE49-F238E27FC236}">
                <a16:creationId xmlns:a16="http://schemas.microsoft.com/office/drawing/2014/main" id="{7A29736B-2B74-91DF-4ED5-D4F748BD0FF9}"/>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708838" y="365879"/>
            <a:ext cx="16832759"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Table  shows how much each transaction function adds to the total function points.</a:t>
            </a:r>
          </a:p>
        </p:txBody>
      </p:sp>
      <p:sp>
        <p:nvSpPr>
          <p:cNvPr id="7" name="TextBox 7"/>
          <p:cNvSpPr txBox="1"/>
          <p:nvPr/>
        </p:nvSpPr>
        <p:spPr>
          <a:xfrm>
            <a:off x="672395" y="827326"/>
            <a:ext cx="4158406" cy="488403"/>
          </a:xfrm>
          <a:prstGeom prst="rect">
            <a:avLst/>
          </a:prstGeom>
        </p:spPr>
        <p:txBody>
          <a:bodyPr lIns="0" tIns="0" rIns="0" bIns="0" rtlCol="0" anchor="t">
            <a:spAutoFit/>
          </a:bodyPr>
          <a:lstStyle/>
          <a:p>
            <a:pPr algn="l">
              <a:lnSpc>
                <a:spcPts val="4062"/>
              </a:lnSpc>
            </a:pPr>
            <a:r>
              <a:rPr lang="en-US" sz="3249" b="1" spc="-266" dirty="0">
                <a:solidFill>
                  <a:srgbClr val="01012C"/>
                </a:solidFill>
                <a:latin typeface="Times New Roman" panose="02020603050405020304" pitchFamily="18" charset="0"/>
                <a:ea typeface="Arial Nova Bold"/>
                <a:cs typeface="Times New Roman" panose="02020603050405020304" pitchFamily="18" charset="0"/>
                <a:sym typeface="Arial Nova Bold"/>
              </a:rPr>
              <a:t> UFP OF TF</a:t>
            </a:r>
          </a:p>
        </p:txBody>
      </p:sp>
      <p:sp>
        <p:nvSpPr>
          <p:cNvPr id="12" name="TextBox 12"/>
          <p:cNvSpPr txBox="1"/>
          <p:nvPr/>
        </p:nvSpPr>
        <p:spPr>
          <a:xfrm>
            <a:off x="1029645" y="1427152"/>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Bold"/>
                <a:cs typeface="Times New Roman" panose="02020603050405020304" pitchFamily="18" charset="0"/>
                <a:sym typeface="Montserrat Bold"/>
              </a:rPr>
              <a:t>Transaction Function</a:t>
            </a:r>
          </a:p>
        </p:txBody>
      </p:sp>
      <p:sp>
        <p:nvSpPr>
          <p:cNvPr id="13" name="TextBox 13"/>
          <p:cNvSpPr txBox="1"/>
          <p:nvPr/>
        </p:nvSpPr>
        <p:spPr>
          <a:xfrm>
            <a:off x="3837139" y="142715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Bold"/>
                <a:cs typeface="Times New Roman" panose="02020603050405020304" pitchFamily="18" charset="0"/>
                <a:sym typeface="Montserrat Bold"/>
              </a:rPr>
              <a:t>TF</a:t>
            </a:r>
          </a:p>
        </p:txBody>
      </p:sp>
      <p:sp>
        <p:nvSpPr>
          <p:cNvPr id="14" name="TextBox 14"/>
          <p:cNvSpPr txBox="1"/>
          <p:nvPr/>
        </p:nvSpPr>
        <p:spPr>
          <a:xfrm>
            <a:off x="4853979" y="1427152"/>
            <a:ext cx="2377380"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Bold"/>
                <a:cs typeface="Times New Roman" panose="02020603050405020304" pitchFamily="18" charset="0"/>
                <a:sym typeface="Montserrat Bold"/>
              </a:rPr>
              <a:t>FTR</a:t>
            </a:r>
          </a:p>
        </p:txBody>
      </p:sp>
      <p:sp>
        <p:nvSpPr>
          <p:cNvPr id="15" name="TextBox 15"/>
          <p:cNvSpPr txBox="1"/>
          <p:nvPr/>
        </p:nvSpPr>
        <p:spPr>
          <a:xfrm>
            <a:off x="5878941" y="1436321"/>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Bold"/>
                <a:cs typeface="Times New Roman" panose="02020603050405020304" pitchFamily="18" charset="0"/>
                <a:sym typeface="Montserrat Bold"/>
              </a:rPr>
              <a:t>DET</a:t>
            </a:r>
          </a:p>
        </p:txBody>
      </p:sp>
      <p:sp>
        <p:nvSpPr>
          <p:cNvPr id="16" name="TextBox 16"/>
          <p:cNvSpPr txBox="1"/>
          <p:nvPr/>
        </p:nvSpPr>
        <p:spPr>
          <a:xfrm>
            <a:off x="6997778" y="1458743"/>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Bold"/>
                <a:cs typeface="Times New Roman" panose="02020603050405020304" pitchFamily="18" charset="0"/>
                <a:sym typeface="Montserrat Bold"/>
              </a:rPr>
              <a:t>Complexity</a:t>
            </a:r>
          </a:p>
        </p:txBody>
      </p:sp>
      <p:sp>
        <p:nvSpPr>
          <p:cNvPr id="17" name="TextBox 17"/>
          <p:cNvSpPr txBox="1"/>
          <p:nvPr/>
        </p:nvSpPr>
        <p:spPr>
          <a:xfrm>
            <a:off x="8584257" y="1587927"/>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Bold"/>
                <a:cs typeface="Times New Roman" panose="02020603050405020304" pitchFamily="18" charset="0"/>
                <a:sym typeface="Montserrat Bold"/>
              </a:rPr>
              <a:t>UFP</a:t>
            </a:r>
          </a:p>
        </p:txBody>
      </p:sp>
      <p:grpSp>
        <p:nvGrpSpPr>
          <p:cNvPr id="26" name="Group 26"/>
          <p:cNvGrpSpPr/>
          <p:nvPr/>
        </p:nvGrpSpPr>
        <p:grpSpPr>
          <a:xfrm>
            <a:off x="846452" y="1945038"/>
            <a:ext cx="16816982" cy="601116"/>
            <a:chOff x="0" y="0"/>
            <a:chExt cx="22422643" cy="801488"/>
          </a:xfrm>
        </p:grpSpPr>
        <p:sp>
          <p:nvSpPr>
            <p:cNvPr id="27" name="Freeform 27"/>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28" name="TextBox 28"/>
          <p:cNvSpPr txBox="1"/>
          <p:nvPr/>
        </p:nvSpPr>
        <p:spPr>
          <a:xfrm>
            <a:off x="1054960" y="2022132"/>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1. User Management</a:t>
            </a:r>
          </a:p>
        </p:txBody>
      </p:sp>
      <p:sp>
        <p:nvSpPr>
          <p:cNvPr id="29" name="TextBox 29"/>
          <p:cNvSpPr txBox="1"/>
          <p:nvPr/>
        </p:nvSpPr>
        <p:spPr>
          <a:xfrm>
            <a:off x="3862454" y="202213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30" name="TextBox 30"/>
          <p:cNvSpPr txBox="1"/>
          <p:nvPr/>
        </p:nvSpPr>
        <p:spPr>
          <a:xfrm>
            <a:off x="4879294" y="202213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31" name="TextBox 31"/>
          <p:cNvSpPr txBox="1"/>
          <p:nvPr/>
        </p:nvSpPr>
        <p:spPr>
          <a:xfrm>
            <a:off x="5904256" y="2031301"/>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sp>
        <p:nvSpPr>
          <p:cNvPr id="32" name="TextBox 32"/>
          <p:cNvSpPr txBox="1"/>
          <p:nvPr/>
        </p:nvSpPr>
        <p:spPr>
          <a:xfrm>
            <a:off x="7023093" y="2053723"/>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33" name="TextBox 33"/>
          <p:cNvSpPr txBox="1"/>
          <p:nvPr/>
        </p:nvSpPr>
        <p:spPr>
          <a:xfrm>
            <a:off x="8609572" y="2182907"/>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grpSp>
        <p:nvGrpSpPr>
          <p:cNvPr id="34" name="Group 34"/>
          <p:cNvGrpSpPr/>
          <p:nvPr/>
        </p:nvGrpSpPr>
        <p:grpSpPr>
          <a:xfrm>
            <a:off x="846452" y="2546156"/>
            <a:ext cx="16816982" cy="601116"/>
            <a:chOff x="0" y="0"/>
            <a:chExt cx="22422643" cy="801488"/>
          </a:xfrm>
        </p:grpSpPr>
        <p:sp>
          <p:nvSpPr>
            <p:cNvPr id="35" name="Freeform 35"/>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36" name="TextBox 36"/>
          <p:cNvSpPr txBox="1"/>
          <p:nvPr/>
        </p:nvSpPr>
        <p:spPr>
          <a:xfrm>
            <a:off x="1054960" y="2623248"/>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2. Menu Management</a:t>
            </a:r>
          </a:p>
        </p:txBody>
      </p:sp>
      <p:sp>
        <p:nvSpPr>
          <p:cNvPr id="37" name="TextBox 37"/>
          <p:cNvSpPr txBox="1"/>
          <p:nvPr/>
        </p:nvSpPr>
        <p:spPr>
          <a:xfrm>
            <a:off x="3862454" y="262324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38" name="TextBox 38"/>
          <p:cNvSpPr txBox="1"/>
          <p:nvPr/>
        </p:nvSpPr>
        <p:spPr>
          <a:xfrm>
            <a:off x="4879294" y="262324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39" name="TextBox 39"/>
          <p:cNvSpPr txBox="1"/>
          <p:nvPr/>
        </p:nvSpPr>
        <p:spPr>
          <a:xfrm>
            <a:off x="5904256" y="2632417"/>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5</a:t>
            </a:r>
          </a:p>
        </p:txBody>
      </p:sp>
      <p:sp>
        <p:nvSpPr>
          <p:cNvPr id="40" name="TextBox 40"/>
          <p:cNvSpPr txBox="1"/>
          <p:nvPr/>
        </p:nvSpPr>
        <p:spPr>
          <a:xfrm>
            <a:off x="7023093" y="2654839"/>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Avg</a:t>
            </a:r>
          </a:p>
        </p:txBody>
      </p:sp>
      <p:sp>
        <p:nvSpPr>
          <p:cNvPr id="41" name="TextBox 41"/>
          <p:cNvSpPr txBox="1"/>
          <p:nvPr/>
        </p:nvSpPr>
        <p:spPr>
          <a:xfrm>
            <a:off x="8609572" y="2784023"/>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grpSp>
        <p:nvGrpSpPr>
          <p:cNvPr id="42" name="Group 42"/>
          <p:cNvGrpSpPr/>
          <p:nvPr/>
        </p:nvGrpSpPr>
        <p:grpSpPr>
          <a:xfrm>
            <a:off x="846452" y="3147272"/>
            <a:ext cx="16816982" cy="601116"/>
            <a:chOff x="0" y="0"/>
            <a:chExt cx="22422643" cy="801488"/>
          </a:xfrm>
        </p:grpSpPr>
        <p:sp>
          <p:nvSpPr>
            <p:cNvPr id="43" name="Freeform 43"/>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44" name="TextBox 44"/>
          <p:cNvSpPr txBox="1"/>
          <p:nvPr/>
        </p:nvSpPr>
        <p:spPr>
          <a:xfrm>
            <a:off x="1054960" y="3224366"/>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3. Order Processing</a:t>
            </a:r>
          </a:p>
        </p:txBody>
      </p:sp>
      <p:sp>
        <p:nvSpPr>
          <p:cNvPr id="45" name="TextBox 45"/>
          <p:cNvSpPr txBox="1"/>
          <p:nvPr/>
        </p:nvSpPr>
        <p:spPr>
          <a:xfrm>
            <a:off x="3862454" y="3224366"/>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46" name="TextBox 46"/>
          <p:cNvSpPr txBox="1"/>
          <p:nvPr/>
        </p:nvSpPr>
        <p:spPr>
          <a:xfrm>
            <a:off x="4879294" y="3224366"/>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47" name="TextBox 47"/>
          <p:cNvSpPr txBox="1"/>
          <p:nvPr/>
        </p:nvSpPr>
        <p:spPr>
          <a:xfrm>
            <a:off x="5904256" y="3233535"/>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6</a:t>
            </a:r>
          </a:p>
        </p:txBody>
      </p:sp>
      <p:sp>
        <p:nvSpPr>
          <p:cNvPr id="48" name="TextBox 48"/>
          <p:cNvSpPr txBox="1"/>
          <p:nvPr/>
        </p:nvSpPr>
        <p:spPr>
          <a:xfrm>
            <a:off x="7023093" y="3255957"/>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49" name="TextBox 49"/>
          <p:cNvSpPr txBox="1"/>
          <p:nvPr/>
        </p:nvSpPr>
        <p:spPr>
          <a:xfrm>
            <a:off x="8609572" y="3385141"/>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grpSp>
        <p:nvGrpSpPr>
          <p:cNvPr id="50" name="Group 50"/>
          <p:cNvGrpSpPr/>
          <p:nvPr/>
        </p:nvGrpSpPr>
        <p:grpSpPr>
          <a:xfrm>
            <a:off x="846452" y="3748389"/>
            <a:ext cx="16816982" cy="601116"/>
            <a:chOff x="0" y="0"/>
            <a:chExt cx="22422643" cy="801488"/>
          </a:xfrm>
        </p:grpSpPr>
        <p:sp>
          <p:nvSpPr>
            <p:cNvPr id="51" name="Freeform 51"/>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52" name="TextBox 52"/>
          <p:cNvSpPr txBox="1"/>
          <p:nvPr/>
        </p:nvSpPr>
        <p:spPr>
          <a:xfrm>
            <a:off x="1054960" y="3825482"/>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4. Payment &amp; Receipts</a:t>
            </a:r>
          </a:p>
        </p:txBody>
      </p:sp>
      <p:sp>
        <p:nvSpPr>
          <p:cNvPr id="53" name="TextBox 53"/>
          <p:cNvSpPr txBox="1"/>
          <p:nvPr/>
        </p:nvSpPr>
        <p:spPr>
          <a:xfrm>
            <a:off x="3862454" y="382548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54" name="TextBox 54"/>
          <p:cNvSpPr txBox="1"/>
          <p:nvPr/>
        </p:nvSpPr>
        <p:spPr>
          <a:xfrm>
            <a:off x="4879294" y="382548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55" name="TextBox 55"/>
          <p:cNvSpPr txBox="1"/>
          <p:nvPr/>
        </p:nvSpPr>
        <p:spPr>
          <a:xfrm>
            <a:off x="5904256" y="3834651"/>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6</a:t>
            </a:r>
          </a:p>
        </p:txBody>
      </p:sp>
      <p:sp>
        <p:nvSpPr>
          <p:cNvPr id="56" name="TextBox 56"/>
          <p:cNvSpPr txBox="1"/>
          <p:nvPr/>
        </p:nvSpPr>
        <p:spPr>
          <a:xfrm>
            <a:off x="7023093" y="3857073"/>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57" name="TextBox 57"/>
          <p:cNvSpPr txBox="1"/>
          <p:nvPr/>
        </p:nvSpPr>
        <p:spPr>
          <a:xfrm>
            <a:off x="8609572" y="3986257"/>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grpSp>
        <p:nvGrpSpPr>
          <p:cNvPr id="58" name="Group 58"/>
          <p:cNvGrpSpPr/>
          <p:nvPr/>
        </p:nvGrpSpPr>
        <p:grpSpPr>
          <a:xfrm>
            <a:off x="846452" y="4349506"/>
            <a:ext cx="16816982" cy="933747"/>
            <a:chOff x="0" y="0"/>
            <a:chExt cx="22422643" cy="1244997"/>
          </a:xfrm>
        </p:grpSpPr>
        <p:sp>
          <p:nvSpPr>
            <p:cNvPr id="59" name="Freeform 59"/>
            <p:cNvSpPr/>
            <p:nvPr/>
          </p:nvSpPr>
          <p:spPr>
            <a:xfrm>
              <a:off x="0" y="0"/>
              <a:ext cx="22422613" cy="1244981"/>
            </a:xfrm>
            <a:custGeom>
              <a:avLst/>
              <a:gdLst/>
              <a:ahLst/>
              <a:cxnLst/>
              <a:rect l="l" t="t" r="r" b="b"/>
              <a:pathLst>
                <a:path w="22422613" h="1244981">
                  <a:moveTo>
                    <a:pt x="0" y="0"/>
                  </a:moveTo>
                  <a:lnTo>
                    <a:pt x="22422613" y="0"/>
                  </a:lnTo>
                  <a:lnTo>
                    <a:pt x="22422613" y="1244981"/>
                  </a:lnTo>
                  <a:lnTo>
                    <a:pt x="0" y="1244981"/>
                  </a:lnTo>
                  <a:close/>
                </a:path>
              </a:pathLst>
            </a:custGeom>
            <a:solidFill>
              <a:srgbClr val="F8F8F8">
                <a:alpha val="0"/>
              </a:srgbClr>
            </a:solidFill>
          </p:spPr>
        </p:sp>
      </p:grpSp>
      <p:sp>
        <p:nvSpPr>
          <p:cNvPr id="60" name="TextBox 60"/>
          <p:cNvSpPr txBox="1"/>
          <p:nvPr/>
        </p:nvSpPr>
        <p:spPr>
          <a:xfrm>
            <a:off x="1054960" y="4426598"/>
            <a:ext cx="2382142" cy="298928"/>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5. Inventory Management</a:t>
            </a:r>
          </a:p>
        </p:txBody>
      </p:sp>
      <p:sp>
        <p:nvSpPr>
          <p:cNvPr id="61" name="TextBox 61"/>
          <p:cNvSpPr txBox="1"/>
          <p:nvPr/>
        </p:nvSpPr>
        <p:spPr>
          <a:xfrm>
            <a:off x="3862454" y="442659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62" name="TextBox 62"/>
          <p:cNvSpPr txBox="1"/>
          <p:nvPr/>
        </p:nvSpPr>
        <p:spPr>
          <a:xfrm>
            <a:off x="4879294" y="442659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63" name="TextBox 63"/>
          <p:cNvSpPr txBox="1"/>
          <p:nvPr/>
        </p:nvSpPr>
        <p:spPr>
          <a:xfrm>
            <a:off x="5904256" y="4435767"/>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sp>
        <p:nvSpPr>
          <p:cNvPr id="64" name="TextBox 64"/>
          <p:cNvSpPr txBox="1"/>
          <p:nvPr/>
        </p:nvSpPr>
        <p:spPr>
          <a:xfrm>
            <a:off x="7023093" y="4458189"/>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65" name="TextBox 65"/>
          <p:cNvSpPr txBox="1"/>
          <p:nvPr/>
        </p:nvSpPr>
        <p:spPr>
          <a:xfrm>
            <a:off x="8609572" y="4587373"/>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grpSp>
        <p:nvGrpSpPr>
          <p:cNvPr id="66" name="Group 66"/>
          <p:cNvGrpSpPr/>
          <p:nvPr/>
        </p:nvGrpSpPr>
        <p:grpSpPr>
          <a:xfrm>
            <a:off x="846452" y="5283253"/>
            <a:ext cx="16816982" cy="601116"/>
            <a:chOff x="0" y="0"/>
            <a:chExt cx="22422643" cy="801488"/>
          </a:xfrm>
        </p:grpSpPr>
        <p:sp>
          <p:nvSpPr>
            <p:cNvPr id="67" name="Freeform 67"/>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68" name="TextBox 68"/>
          <p:cNvSpPr txBox="1"/>
          <p:nvPr/>
        </p:nvSpPr>
        <p:spPr>
          <a:xfrm>
            <a:off x="1054960" y="5360347"/>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6. Sales Reporting</a:t>
            </a:r>
          </a:p>
        </p:txBody>
      </p:sp>
      <p:sp>
        <p:nvSpPr>
          <p:cNvPr id="69" name="TextBox 69"/>
          <p:cNvSpPr txBox="1"/>
          <p:nvPr/>
        </p:nvSpPr>
        <p:spPr>
          <a:xfrm>
            <a:off x="3862454" y="5360347"/>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EO</a:t>
            </a:r>
          </a:p>
        </p:txBody>
      </p:sp>
      <p:sp>
        <p:nvSpPr>
          <p:cNvPr id="70" name="TextBox 70"/>
          <p:cNvSpPr txBox="1"/>
          <p:nvPr/>
        </p:nvSpPr>
        <p:spPr>
          <a:xfrm>
            <a:off x="4879294" y="5360347"/>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71" name="TextBox 71"/>
          <p:cNvSpPr txBox="1"/>
          <p:nvPr/>
        </p:nvSpPr>
        <p:spPr>
          <a:xfrm>
            <a:off x="5904256" y="5369516"/>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sp>
        <p:nvSpPr>
          <p:cNvPr id="72" name="TextBox 72"/>
          <p:cNvSpPr txBox="1"/>
          <p:nvPr/>
        </p:nvSpPr>
        <p:spPr>
          <a:xfrm>
            <a:off x="7023093" y="539193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73" name="TextBox 73"/>
          <p:cNvSpPr txBox="1"/>
          <p:nvPr/>
        </p:nvSpPr>
        <p:spPr>
          <a:xfrm>
            <a:off x="8609572" y="5521122"/>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grpSp>
        <p:nvGrpSpPr>
          <p:cNvPr id="74" name="Group 74"/>
          <p:cNvGrpSpPr/>
          <p:nvPr/>
        </p:nvGrpSpPr>
        <p:grpSpPr>
          <a:xfrm>
            <a:off x="846452" y="5884371"/>
            <a:ext cx="16816982" cy="601116"/>
            <a:chOff x="0" y="0"/>
            <a:chExt cx="22422643" cy="801488"/>
          </a:xfrm>
        </p:grpSpPr>
        <p:sp>
          <p:nvSpPr>
            <p:cNvPr id="75" name="Freeform 75"/>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76" name="TextBox 76"/>
          <p:cNvSpPr txBox="1"/>
          <p:nvPr/>
        </p:nvSpPr>
        <p:spPr>
          <a:xfrm>
            <a:off x="1054960" y="5961463"/>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7. End of Day Process</a:t>
            </a:r>
          </a:p>
        </p:txBody>
      </p:sp>
      <p:sp>
        <p:nvSpPr>
          <p:cNvPr id="77" name="TextBox 77"/>
          <p:cNvSpPr txBox="1"/>
          <p:nvPr/>
        </p:nvSpPr>
        <p:spPr>
          <a:xfrm>
            <a:off x="3862454" y="5961463"/>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EI</a:t>
            </a:r>
          </a:p>
        </p:txBody>
      </p:sp>
      <p:sp>
        <p:nvSpPr>
          <p:cNvPr id="78" name="TextBox 78"/>
          <p:cNvSpPr txBox="1"/>
          <p:nvPr/>
        </p:nvSpPr>
        <p:spPr>
          <a:xfrm>
            <a:off x="4879294" y="5961463"/>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79" name="TextBox 79"/>
          <p:cNvSpPr txBox="1"/>
          <p:nvPr/>
        </p:nvSpPr>
        <p:spPr>
          <a:xfrm>
            <a:off x="5904256" y="5970632"/>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80" name="TextBox 80"/>
          <p:cNvSpPr txBox="1"/>
          <p:nvPr/>
        </p:nvSpPr>
        <p:spPr>
          <a:xfrm>
            <a:off x="7023093" y="5993054"/>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81" name="TextBox 81"/>
          <p:cNvSpPr txBox="1"/>
          <p:nvPr/>
        </p:nvSpPr>
        <p:spPr>
          <a:xfrm>
            <a:off x="8609572" y="6122238"/>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grpSp>
        <p:nvGrpSpPr>
          <p:cNvPr id="82" name="Group 82"/>
          <p:cNvGrpSpPr/>
          <p:nvPr/>
        </p:nvGrpSpPr>
        <p:grpSpPr>
          <a:xfrm>
            <a:off x="846452" y="6485487"/>
            <a:ext cx="16816982" cy="601116"/>
            <a:chOff x="0" y="0"/>
            <a:chExt cx="22422643" cy="801488"/>
          </a:xfrm>
        </p:grpSpPr>
        <p:sp>
          <p:nvSpPr>
            <p:cNvPr id="83" name="Freeform 83"/>
            <p:cNvSpPr/>
            <p:nvPr/>
          </p:nvSpPr>
          <p:spPr>
            <a:xfrm>
              <a:off x="0" y="0"/>
              <a:ext cx="22422613" cy="801497"/>
            </a:xfrm>
            <a:custGeom>
              <a:avLst/>
              <a:gdLst/>
              <a:ahLst/>
              <a:cxnLst/>
              <a:rect l="l" t="t" r="r" b="b"/>
              <a:pathLst>
                <a:path w="22422613" h="801497">
                  <a:moveTo>
                    <a:pt x="0" y="0"/>
                  </a:moveTo>
                  <a:lnTo>
                    <a:pt x="22422613" y="0"/>
                  </a:lnTo>
                  <a:lnTo>
                    <a:pt x="22422613" y="801497"/>
                  </a:lnTo>
                  <a:lnTo>
                    <a:pt x="0" y="801497"/>
                  </a:lnTo>
                  <a:close/>
                </a:path>
              </a:pathLst>
            </a:custGeom>
            <a:solidFill>
              <a:srgbClr val="F8F8F8">
                <a:alpha val="0"/>
              </a:srgbClr>
            </a:solidFill>
          </p:spPr>
        </p:sp>
      </p:grpSp>
      <p:sp>
        <p:nvSpPr>
          <p:cNvPr id="84" name="TextBox 84"/>
          <p:cNvSpPr txBox="1"/>
          <p:nvPr/>
        </p:nvSpPr>
        <p:spPr>
          <a:xfrm>
            <a:off x="1054960" y="6562579"/>
            <a:ext cx="2382142" cy="303212"/>
          </a:xfrm>
          <a:prstGeom prst="rect">
            <a:avLst/>
          </a:prstGeom>
        </p:spPr>
        <p:txBody>
          <a:bodyPr lIns="0" tIns="0" rIns="0" bIns="0" rtlCol="0" anchor="t">
            <a:spAutoFit/>
          </a:bodyPr>
          <a:lstStyle/>
          <a:p>
            <a:pPr algn="l">
              <a:lnSpc>
                <a:spcPts val="2562"/>
              </a:lnSpc>
            </a:pPr>
            <a:r>
              <a:rPr lang="en-US" sz="1625" b="1" dirty="0">
                <a:solidFill>
                  <a:srgbClr val="01012C"/>
                </a:solidFill>
                <a:latin typeface="Times New Roman" panose="02020603050405020304" pitchFamily="18" charset="0"/>
                <a:ea typeface="Montserrat"/>
                <a:cs typeface="Times New Roman" panose="02020603050405020304" pitchFamily="18" charset="0"/>
                <a:sym typeface="Montserrat"/>
              </a:rPr>
              <a:t>8. Customer Feedback</a:t>
            </a:r>
          </a:p>
        </p:txBody>
      </p:sp>
      <p:sp>
        <p:nvSpPr>
          <p:cNvPr id="85" name="TextBox 85"/>
          <p:cNvSpPr txBox="1"/>
          <p:nvPr/>
        </p:nvSpPr>
        <p:spPr>
          <a:xfrm>
            <a:off x="3862454" y="6562579"/>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EO</a:t>
            </a:r>
          </a:p>
        </p:txBody>
      </p:sp>
      <p:sp>
        <p:nvSpPr>
          <p:cNvPr id="86" name="TextBox 86"/>
          <p:cNvSpPr txBox="1"/>
          <p:nvPr/>
        </p:nvSpPr>
        <p:spPr>
          <a:xfrm>
            <a:off x="4879294" y="6562579"/>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87" name="TextBox 87"/>
          <p:cNvSpPr txBox="1"/>
          <p:nvPr/>
        </p:nvSpPr>
        <p:spPr>
          <a:xfrm>
            <a:off x="5904256" y="6571748"/>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sp>
        <p:nvSpPr>
          <p:cNvPr id="88" name="TextBox 88"/>
          <p:cNvSpPr txBox="1"/>
          <p:nvPr/>
        </p:nvSpPr>
        <p:spPr>
          <a:xfrm>
            <a:off x="7023093" y="6594170"/>
            <a:ext cx="2377380"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Low</a:t>
            </a:r>
          </a:p>
        </p:txBody>
      </p:sp>
      <p:sp>
        <p:nvSpPr>
          <p:cNvPr id="89" name="TextBox 89"/>
          <p:cNvSpPr txBox="1"/>
          <p:nvPr/>
        </p:nvSpPr>
        <p:spPr>
          <a:xfrm>
            <a:off x="8609572" y="6723354"/>
            <a:ext cx="2382142" cy="303212"/>
          </a:xfrm>
          <a:prstGeom prst="rect">
            <a:avLst/>
          </a:prstGeom>
        </p:spPr>
        <p:txBody>
          <a:bodyPr lIns="0" tIns="0" rIns="0" bIns="0" rtlCol="0" anchor="t">
            <a:spAutoFit/>
          </a:bodyPr>
          <a:lstStyle/>
          <a:p>
            <a:pPr algn="l">
              <a:lnSpc>
                <a:spcPts val="2562"/>
              </a:lnSpc>
            </a:pPr>
            <a:r>
              <a:rPr lang="en-US" sz="1625" b="1">
                <a:solidFill>
                  <a:srgbClr val="01012C"/>
                </a:solidFill>
                <a:latin typeface="Times New Roman" panose="02020603050405020304" pitchFamily="18" charset="0"/>
                <a:ea typeface="Montserrat"/>
                <a:cs typeface="Times New Roman" panose="02020603050405020304" pitchFamily="18" charset="0"/>
                <a:sym typeface="Montserrat"/>
              </a:rPr>
              <a:t>4</a:t>
            </a:r>
          </a:p>
        </p:txBody>
      </p:sp>
      <p:sp>
        <p:nvSpPr>
          <p:cNvPr id="93" name="TextBox 92">
            <a:extLst>
              <a:ext uri="{FF2B5EF4-FFF2-40B4-BE49-F238E27FC236}">
                <a16:creationId xmlns:a16="http://schemas.microsoft.com/office/drawing/2014/main" id="{7EA11358-9654-78A0-8C33-73CC5348A157}"/>
              </a:ext>
            </a:extLst>
          </p:cNvPr>
          <p:cNvSpPr txBox="1"/>
          <p:nvPr/>
        </p:nvSpPr>
        <p:spPr>
          <a:xfrm>
            <a:off x="3240775" y="7187773"/>
            <a:ext cx="6172200" cy="396519"/>
          </a:xfrm>
          <a:prstGeom prst="rect">
            <a:avLst/>
          </a:prstGeom>
          <a:noFill/>
        </p:spPr>
        <p:txBody>
          <a:bodyPr wrap="square">
            <a:spAutoFit/>
          </a:bodyPr>
          <a:lstStyle/>
          <a:p>
            <a:pPr lvl="8">
              <a:lnSpc>
                <a:spcPts val="2562"/>
              </a:lnSpc>
            </a:pPr>
            <a:r>
              <a:rPr lang="en-US" sz="1800" b="1" dirty="0">
                <a:solidFill>
                  <a:srgbClr val="01012C"/>
                </a:solidFill>
                <a:latin typeface="Times New Roman" panose="02020603050405020304" pitchFamily="18" charset="0"/>
                <a:ea typeface="Montserrat Bold"/>
                <a:cs typeface="Times New Roman" panose="02020603050405020304" pitchFamily="18" charset="0"/>
                <a:sym typeface="Montserrat Bold"/>
              </a:rPr>
              <a:t>Total UFP (TF) 35</a:t>
            </a:r>
          </a:p>
        </p:txBody>
      </p:sp>
      <p:pic>
        <p:nvPicPr>
          <p:cNvPr id="92" name="Picture 91">
            <a:extLst>
              <a:ext uri="{FF2B5EF4-FFF2-40B4-BE49-F238E27FC236}">
                <a16:creationId xmlns:a16="http://schemas.microsoft.com/office/drawing/2014/main" id="{99305725-518E-6E3A-90A3-C7807CC69644}"/>
              </a:ext>
            </a:extLst>
          </p:cNvPr>
          <p:cNvPicPr>
            <a:picLocks noChangeAspect="1"/>
          </p:cNvPicPr>
          <p:nvPr/>
        </p:nvPicPr>
        <p:blipFill>
          <a:blip r:embed="rId2"/>
          <a:stretch>
            <a:fillRect/>
          </a:stretch>
        </p:blipFill>
        <p:spPr>
          <a:xfrm>
            <a:off x="12365751" y="2007022"/>
            <a:ext cx="4286848" cy="4201111"/>
          </a:xfrm>
          <a:prstGeom prst="rect">
            <a:avLst/>
          </a:prstGeom>
        </p:spPr>
      </p:pic>
      <p:sp>
        <p:nvSpPr>
          <p:cNvPr id="95" name="TextBox 94">
            <a:extLst>
              <a:ext uri="{FF2B5EF4-FFF2-40B4-BE49-F238E27FC236}">
                <a16:creationId xmlns:a16="http://schemas.microsoft.com/office/drawing/2014/main" id="{0B234747-D251-9CE2-CDE0-0EC1489DA530}"/>
              </a:ext>
            </a:extLst>
          </p:cNvPr>
          <p:cNvSpPr txBox="1"/>
          <p:nvPr/>
        </p:nvSpPr>
        <p:spPr>
          <a:xfrm>
            <a:off x="11145067" y="6296266"/>
            <a:ext cx="6970201" cy="385362"/>
          </a:xfrm>
          <a:prstGeom prst="rect">
            <a:avLst/>
          </a:prstGeom>
          <a:noFill/>
        </p:spPr>
        <p:txBody>
          <a:bodyPr wrap="square">
            <a:spAutoFit/>
          </a:bodyPr>
          <a:lstStyle/>
          <a:p>
            <a:pPr marL="0" marR="0" algn="just">
              <a:lnSpc>
                <a:spcPct val="115000"/>
              </a:lnSpc>
              <a:spcBef>
                <a:spcPts val="1200"/>
              </a:spcBef>
              <a:spcAft>
                <a:spcPts val="1200"/>
              </a:spcAft>
              <a:buNone/>
            </a:pPr>
            <a:r>
              <a:rPr lang="en-US" sz="1800" dirty="0">
                <a:solidFill>
                  <a:srgbClr val="000000"/>
                </a:solidFill>
                <a:effectLst/>
                <a:latin typeface="Times New Roman" panose="02020603050405020304" pitchFamily="18" charset="0"/>
                <a:ea typeface="Calibri" panose="020F0502020204030204" pitchFamily="34" charset="0"/>
              </a:rPr>
              <a:t>Table: shows the unadjusted function point contribution of data functions. </a:t>
            </a:r>
            <a:endParaRPr lang="en-US" sz="1800" dirty="0">
              <a:effectLst/>
              <a:latin typeface="Times New Roman" panose="02020603050405020304" pitchFamily="18" charset="0"/>
              <a:ea typeface="Calibri" panose="020F0502020204030204" pitchFamily="34" charset="0"/>
            </a:endParaRPr>
          </a:p>
        </p:txBody>
      </p:sp>
      <p:sp>
        <p:nvSpPr>
          <p:cNvPr id="103" name="Slide Number Placeholder 102">
            <a:extLst>
              <a:ext uri="{FF2B5EF4-FFF2-40B4-BE49-F238E27FC236}">
                <a16:creationId xmlns:a16="http://schemas.microsoft.com/office/drawing/2014/main" id="{0CDEA568-5A2D-6172-9CE6-0561A4024907}"/>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0" name="Group 10"/>
          <p:cNvGrpSpPr/>
          <p:nvPr/>
        </p:nvGrpSpPr>
        <p:grpSpPr>
          <a:xfrm>
            <a:off x="505569" y="11572280"/>
            <a:ext cx="17275076" cy="415826"/>
            <a:chOff x="0" y="0"/>
            <a:chExt cx="23033435" cy="554435"/>
          </a:xfrm>
        </p:grpSpPr>
        <p:sp>
          <p:nvSpPr>
            <p:cNvPr id="11" name="Freeform 11"/>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grpSp>
        <p:nvGrpSpPr>
          <p:cNvPr id="12" name="Group 12"/>
          <p:cNvGrpSpPr/>
          <p:nvPr/>
        </p:nvGrpSpPr>
        <p:grpSpPr>
          <a:xfrm>
            <a:off x="505569" y="11988105"/>
            <a:ext cx="17275076" cy="415826"/>
            <a:chOff x="0" y="0"/>
            <a:chExt cx="23033435" cy="554435"/>
          </a:xfrm>
        </p:grpSpPr>
        <p:sp>
          <p:nvSpPr>
            <p:cNvPr id="13" name="Freeform 13"/>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grpSp>
        <p:nvGrpSpPr>
          <p:cNvPr id="14" name="Group 14"/>
          <p:cNvGrpSpPr/>
          <p:nvPr/>
        </p:nvGrpSpPr>
        <p:grpSpPr>
          <a:xfrm>
            <a:off x="505569" y="12403931"/>
            <a:ext cx="17275076" cy="415826"/>
            <a:chOff x="0" y="0"/>
            <a:chExt cx="23033435" cy="554435"/>
          </a:xfrm>
        </p:grpSpPr>
        <p:sp>
          <p:nvSpPr>
            <p:cNvPr id="15" name="Freeform 15"/>
            <p:cNvSpPr/>
            <p:nvPr/>
          </p:nvSpPr>
          <p:spPr>
            <a:xfrm>
              <a:off x="0" y="0"/>
              <a:ext cx="23033482" cy="554482"/>
            </a:xfrm>
            <a:custGeom>
              <a:avLst/>
              <a:gdLst/>
              <a:ahLst/>
              <a:cxnLst/>
              <a:rect l="l" t="t" r="r" b="b"/>
              <a:pathLst>
                <a:path w="23033482" h="554482">
                  <a:moveTo>
                    <a:pt x="0" y="0"/>
                  </a:moveTo>
                  <a:lnTo>
                    <a:pt x="23033482" y="0"/>
                  </a:lnTo>
                  <a:lnTo>
                    <a:pt x="23033482" y="554482"/>
                  </a:lnTo>
                  <a:lnTo>
                    <a:pt x="0" y="554482"/>
                  </a:lnTo>
                  <a:close/>
                </a:path>
              </a:pathLst>
            </a:custGeom>
            <a:solidFill>
              <a:srgbClr val="F8F8F8">
                <a:alpha val="0"/>
              </a:srgbClr>
            </a:solidFill>
          </p:spPr>
        </p:sp>
      </p:grpSp>
      <p:sp>
        <p:nvSpPr>
          <p:cNvPr id="18" name="TextBox 18"/>
          <p:cNvSpPr txBox="1"/>
          <p:nvPr/>
        </p:nvSpPr>
        <p:spPr>
          <a:xfrm>
            <a:off x="325676" y="238446"/>
            <a:ext cx="2835325" cy="332592"/>
          </a:xfrm>
          <a:prstGeom prst="rect">
            <a:avLst/>
          </a:prstGeom>
        </p:spPr>
        <p:txBody>
          <a:bodyPr lIns="0" tIns="0" rIns="0" bIns="0" rtlCol="0" anchor="t">
            <a:spAutoFit/>
          </a:bodyPr>
          <a:lstStyle/>
          <a:p>
            <a:pPr algn="l">
              <a:lnSpc>
                <a:spcPts val="2750"/>
              </a:lnSpc>
            </a:pPr>
            <a:r>
              <a:rPr lang="en-US" sz="2187" b="1" spc="-179" dirty="0">
                <a:solidFill>
                  <a:srgbClr val="01012C"/>
                </a:solidFill>
                <a:latin typeface="Times New Roman" panose="02020603050405020304" pitchFamily="18" charset="0"/>
                <a:ea typeface="Arial Nova Bold"/>
                <a:cs typeface="Times New Roman" panose="02020603050405020304" pitchFamily="18" charset="0"/>
                <a:sym typeface="Arial Nova Bold"/>
              </a:rPr>
              <a:t> UFP OF DF</a:t>
            </a:r>
          </a:p>
        </p:txBody>
      </p:sp>
      <p:sp>
        <p:nvSpPr>
          <p:cNvPr id="21" name="TextBox 21"/>
          <p:cNvSpPr txBox="1"/>
          <p:nvPr/>
        </p:nvSpPr>
        <p:spPr>
          <a:xfrm>
            <a:off x="921026" y="4943367"/>
            <a:ext cx="1771948" cy="223587"/>
          </a:xfrm>
          <a:prstGeom prst="rect">
            <a:avLst/>
          </a:prstGeom>
        </p:spPr>
        <p:txBody>
          <a:bodyPr lIns="0" tIns="0" rIns="0" bIns="0" rtlCol="0" anchor="t">
            <a:spAutoFit/>
          </a:bodyPr>
          <a:lstStyle/>
          <a:p>
            <a:pPr algn="l">
              <a:lnSpc>
                <a:spcPts val="1687"/>
              </a:lnSpc>
            </a:pPr>
            <a:r>
              <a:rPr lang="en-US" sz="2000" b="1" dirty="0">
                <a:solidFill>
                  <a:srgbClr val="01012C"/>
                </a:solidFill>
                <a:latin typeface="Times New Roman" panose="02020603050405020304" pitchFamily="18" charset="0"/>
                <a:ea typeface="Montserrat"/>
                <a:cs typeface="Times New Roman" panose="02020603050405020304" pitchFamily="18" charset="0"/>
                <a:sym typeface="Montserrat"/>
              </a:rPr>
              <a:t>Total UFP</a:t>
            </a:r>
          </a:p>
        </p:txBody>
      </p:sp>
      <p:sp>
        <p:nvSpPr>
          <p:cNvPr id="22" name="TextBox 22"/>
          <p:cNvSpPr txBox="1"/>
          <p:nvPr/>
        </p:nvSpPr>
        <p:spPr>
          <a:xfrm>
            <a:off x="921026" y="5227584"/>
            <a:ext cx="8274695" cy="230832"/>
          </a:xfrm>
          <a:prstGeom prst="rect">
            <a:avLst/>
          </a:prstGeom>
        </p:spPr>
        <p:txBody>
          <a:bodyPr lIns="0" tIns="0" rIns="0" bIns="0" rtlCol="0" anchor="t">
            <a:spAutoFit/>
          </a:bodyPr>
          <a:lstStyle/>
          <a:p>
            <a:pPr algn="l">
              <a:lnSpc>
                <a:spcPts val="1750"/>
              </a:lnSpc>
            </a:pPr>
            <a:r>
              <a:rPr lang="en-US" sz="1600" b="1">
                <a:solidFill>
                  <a:srgbClr val="01012C"/>
                </a:solidFill>
                <a:latin typeface="Times New Roman" panose="02020603050405020304" pitchFamily="18" charset="0"/>
                <a:ea typeface="Montserrat"/>
                <a:cs typeface="Times New Roman" panose="02020603050405020304" pitchFamily="18" charset="0"/>
                <a:sym typeface="Montserrat"/>
              </a:rPr>
              <a:t>UFP(TF) + UFP(DF) = 35 + 49 = 84</a:t>
            </a:r>
          </a:p>
        </p:txBody>
      </p:sp>
      <p:sp>
        <p:nvSpPr>
          <p:cNvPr id="23" name="TextBox 23"/>
          <p:cNvSpPr txBox="1"/>
          <p:nvPr/>
        </p:nvSpPr>
        <p:spPr>
          <a:xfrm>
            <a:off x="10105131" y="4754452"/>
            <a:ext cx="7686824" cy="307777"/>
          </a:xfrm>
          <a:prstGeom prst="rect">
            <a:avLst/>
          </a:prstGeom>
        </p:spPr>
        <p:txBody>
          <a:bodyPr wrap="square" lIns="0" tIns="0" rIns="0" bIns="0" rtlCol="0" anchor="t">
            <a:spAutoFit/>
          </a:bodyPr>
          <a:lstStyle/>
          <a:p>
            <a:pPr algn="l">
              <a:lnSpc>
                <a:spcPts val="2436"/>
              </a:lnSpc>
            </a:pPr>
            <a:r>
              <a:rPr lang="en-US" sz="2400" b="1" spc="-158" dirty="0">
                <a:solidFill>
                  <a:srgbClr val="01012C"/>
                </a:solidFill>
                <a:latin typeface="Times New Roman" panose="02020603050405020304" pitchFamily="18" charset="0"/>
                <a:ea typeface="Arial Nova Bold"/>
                <a:cs typeface="Times New Roman" panose="02020603050405020304" pitchFamily="18" charset="0"/>
                <a:sym typeface="Arial Nova Bold"/>
              </a:rPr>
              <a:t> CALCULATION OF TOTAL DEGREE OF INFLUENCE (TDI) :</a:t>
            </a:r>
          </a:p>
        </p:txBody>
      </p:sp>
      <p:sp>
        <p:nvSpPr>
          <p:cNvPr id="34" name="TextBox 34"/>
          <p:cNvSpPr txBox="1"/>
          <p:nvPr/>
        </p:nvSpPr>
        <p:spPr>
          <a:xfrm>
            <a:off x="12169379" y="11619160"/>
            <a:ext cx="5469582" cy="206375"/>
          </a:xfrm>
          <a:prstGeom prst="rect">
            <a:avLst/>
          </a:prstGeom>
        </p:spPr>
        <p:txBody>
          <a:bodyPr lIns="0" tIns="0" rIns="0" bIns="0" rtlCol="0" anchor="t">
            <a:spAutoFit/>
          </a:bodyPr>
          <a:lstStyle/>
          <a:p>
            <a:pPr algn="l">
              <a:lnSpc>
                <a:spcPts val="1750"/>
              </a:lnSpc>
            </a:pPr>
            <a:r>
              <a:rPr lang="en-US" sz="1062"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sp>
        <p:nvSpPr>
          <p:cNvPr id="37" name="TextBox 37"/>
          <p:cNvSpPr txBox="1"/>
          <p:nvPr/>
        </p:nvSpPr>
        <p:spPr>
          <a:xfrm>
            <a:off x="12169379" y="12034986"/>
            <a:ext cx="5469582" cy="206375"/>
          </a:xfrm>
          <a:prstGeom prst="rect">
            <a:avLst/>
          </a:prstGeom>
        </p:spPr>
        <p:txBody>
          <a:bodyPr lIns="0" tIns="0" rIns="0" bIns="0" rtlCol="0" anchor="t">
            <a:spAutoFit/>
          </a:bodyPr>
          <a:lstStyle/>
          <a:p>
            <a:pPr algn="l">
              <a:lnSpc>
                <a:spcPts val="1750"/>
              </a:lnSpc>
            </a:pPr>
            <a:r>
              <a:rPr lang="en-US" sz="1062" b="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40" name="TextBox 40"/>
          <p:cNvSpPr txBox="1"/>
          <p:nvPr/>
        </p:nvSpPr>
        <p:spPr>
          <a:xfrm>
            <a:off x="12169379" y="12450812"/>
            <a:ext cx="5469582" cy="206375"/>
          </a:xfrm>
          <a:prstGeom prst="rect">
            <a:avLst/>
          </a:prstGeom>
        </p:spPr>
        <p:txBody>
          <a:bodyPr lIns="0" tIns="0" rIns="0" bIns="0" rtlCol="0" anchor="t">
            <a:spAutoFit/>
          </a:bodyPr>
          <a:lstStyle/>
          <a:p>
            <a:pPr algn="l">
              <a:lnSpc>
                <a:spcPts val="1750"/>
              </a:lnSpc>
            </a:pPr>
            <a:r>
              <a:rPr lang="en-US" sz="1062" b="1">
                <a:solidFill>
                  <a:srgbClr val="01012C"/>
                </a:solidFill>
                <a:latin typeface="Times New Roman" panose="02020603050405020304" pitchFamily="18" charset="0"/>
                <a:ea typeface="Montserrat"/>
                <a:cs typeface="Times New Roman" panose="02020603050405020304" pitchFamily="18" charset="0"/>
                <a:sym typeface="Montserrat"/>
              </a:rPr>
              <a:t>3</a:t>
            </a:r>
          </a:p>
        </p:txBody>
      </p:sp>
      <p:pic>
        <p:nvPicPr>
          <p:cNvPr id="52" name="Picture 51">
            <a:extLst>
              <a:ext uri="{FF2B5EF4-FFF2-40B4-BE49-F238E27FC236}">
                <a16:creationId xmlns:a16="http://schemas.microsoft.com/office/drawing/2014/main" id="{F784C47D-C67E-B350-714D-9530A291850C}"/>
              </a:ext>
            </a:extLst>
          </p:cNvPr>
          <p:cNvPicPr>
            <a:picLocks noChangeAspect="1"/>
          </p:cNvPicPr>
          <p:nvPr/>
        </p:nvPicPr>
        <p:blipFill>
          <a:blip r:embed="rId2"/>
          <a:srcRect l="5781" r="7137"/>
          <a:stretch>
            <a:fillRect/>
          </a:stretch>
        </p:blipFill>
        <p:spPr>
          <a:xfrm>
            <a:off x="914400" y="721236"/>
            <a:ext cx="8686800" cy="3666838"/>
          </a:xfrm>
          <a:prstGeom prst="rect">
            <a:avLst/>
          </a:prstGeom>
        </p:spPr>
      </p:pic>
      <p:pic>
        <p:nvPicPr>
          <p:cNvPr id="54" name="Picture 53">
            <a:extLst>
              <a:ext uri="{FF2B5EF4-FFF2-40B4-BE49-F238E27FC236}">
                <a16:creationId xmlns:a16="http://schemas.microsoft.com/office/drawing/2014/main" id="{157CE929-346A-33DD-7C46-66D53B0FD05C}"/>
              </a:ext>
            </a:extLst>
          </p:cNvPr>
          <p:cNvPicPr>
            <a:picLocks noChangeAspect="1"/>
          </p:cNvPicPr>
          <p:nvPr/>
        </p:nvPicPr>
        <p:blipFill>
          <a:blip r:embed="rId3"/>
          <a:srcRect l="4474" t="2318" r="4785" b="3428"/>
          <a:stretch>
            <a:fillRect/>
          </a:stretch>
        </p:blipFill>
        <p:spPr>
          <a:xfrm>
            <a:off x="9512029" y="5166954"/>
            <a:ext cx="8583625" cy="4886629"/>
          </a:xfrm>
          <a:prstGeom prst="rect">
            <a:avLst/>
          </a:prstGeom>
        </p:spPr>
      </p:pic>
      <p:pic>
        <p:nvPicPr>
          <p:cNvPr id="58" name="Picture 57">
            <a:extLst>
              <a:ext uri="{FF2B5EF4-FFF2-40B4-BE49-F238E27FC236}">
                <a16:creationId xmlns:a16="http://schemas.microsoft.com/office/drawing/2014/main" id="{698FD7CE-2414-CCC0-1254-E32FFB3E6E80}"/>
              </a:ext>
            </a:extLst>
          </p:cNvPr>
          <p:cNvPicPr>
            <a:picLocks noChangeAspect="1"/>
          </p:cNvPicPr>
          <p:nvPr/>
        </p:nvPicPr>
        <p:blipFill>
          <a:blip r:embed="rId4"/>
          <a:stretch>
            <a:fillRect/>
          </a:stretch>
        </p:blipFill>
        <p:spPr>
          <a:xfrm>
            <a:off x="742213" y="6721475"/>
            <a:ext cx="8020865" cy="3315483"/>
          </a:xfrm>
          <a:prstGeom prst="rect">
            <a:avLst/>
          </a:prstGeom>
        </p:spPr>
      </p:pic>
      <p:sp>
        <p:nvSpPr>
          <p:cNvPr id="60" name="TextBox 59">
            <a:extLst>
              <a:ext uri="{FF2B5EF4-FFF2-40B4-BE49-F238E27FC236}">
                <a16:creationId xmlns:a16="http://schemas.microsoft.com/office/drawing/2014/main" id="{134931CF-B81B-3991-E884-5EF34AEDF165}"/>
              </a:ext>
            </a:extLst>
          </p:cNvPr>
          <p:cNvSpPr txBox="1"/>
          <p:nvPr/>
        </p:nvSpPr>
        <p:spPr>
          <a:xfrm>
            <a:off x="742213" y="6132877"/>
            <a:ext cx="2273029" cy="385362"/>
          </a:xfrm>
          <a:prstGeom prst="rect">
            <a:avLst/>
          </a:prstGeom>
          <a:noFill/>
        </p:spPr>
        <p:txBody>
          <a:bodyPr wrap="square">
            <a:spAutoFit/>
          </a:bodyPr>
          <a:lstStyle/>
          <a:p>
            <a:pPr marL="0" marR="0" algn="just">
              <a:lnSpc>
                <a:spcPct val="115000"/>
              </a:lnSpc>
              <a:spcBef>
                <a:spcPts val="1200"/>
              </a:spcBef>
              <a:spcAft>
                <a:spcPts val="600"/>
              </a:spcAft>
              <a:buNone/>
            </a:pPr>
            <a:r>
              <a:rPr lang="en-US" sz="1800" b="1" u="sng" dirty="0">
                <a:solidFill>
                  <a:srgbClr val="000000"/>
                </a:solidFill>
                <a:effectLst/>
                <a:latin typeface="Times New Roman" panose="02020603050405020304" pitchFamily="18" charset="0"/>
              </a:rPr>
              <a:t>Final Calculation</a:t>
            </a:r>
            <a:endParaRPr lang="en-US" sz="1800" b="1" u="sng" dirty="0">
              <a:effectLst/>
              <a:latin typeface="Times New Roman" panose="02020603050405020304" pitchFamily="18" charset="0"/>
            </a:endParaRPr>
          </a:p>
        </p:txBody>
      </p:sp>
      <p:sp>
        <p:nvSpPr>
          <p:cNvPr id="66" name="Slide Number Placeholder 65">
            <a:extLst>
              <a:ext uri="{FF2B5EF4-FFF2-40B4-BE49-F238E27FC236}">
                <a16:creationId xmlns:a16="http://schemas.microsoft.com/office/drawing/2014/main" id="{A63B1060-C607-D0E4-9416-57C346B25865}"/>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sp>
        <p:nvSpPr>
          <p:cNvPr id="6" name="Freeform 6"/>
          <p:cNvSpPr/>
          <p:nvPr/>
        </p:nvSpPr>
        <p:spPr>
          <a:xfrm>
            <a:off x="1028700" y="3144609"/>
            <a:ext cx="6322401" cy="5177990"/>
          </a:xfrm>
          <a:custGeom>
            <a:avLst/>
            <a:gdLst/>
            <a:ahLst/>
            <a:cxnLst/>
            <a:rect l="l" t="t" r="r" b="b"/>
            <a:pathLst>
              <a:path w="6322401" h="5177990">
                <a:moveTo>
                  <a:pt x="0" y="0"/>
                </a:moveTo>
                <a:lnTo>
                  <a:pt x="6322401" y="0"/>
                </a:lnTo>
                <a:lnTo>
                  <a:pt x="6322401" y="5177990"/>
                </a:lnTo>
                <a:lnTo>
                  <a:pt x="0" y="5177990"/>
                </a:lnTo>
                <a:lnTo>
                  <a:pt x="0" y="0"/>
                </a:lnTo>
                <a:close/>
              </a:path>
            </a:pathLst>
          </a:custGeom>
          <a:blipFill>
            <a:blip r:embed="rId2"/>
            <a:stretch>
              <a:fillRect/>
            </a:stretch>
          </a:blipFill>
        </p:spPr>
      </p:sp>
      <p:sp>
        <p:nvSpPr>
          <p:cNvPr id="7" name="TextBox 7"/>
          <p:cNvSpPr txBox="1"/>
          <p:nvPr/>
        </p:nvSpPr>
        <p:spPr>
          <a:xfrm>
            <a:off x="7850237" y="4005709"/>
            <a:ext cx="7088237" cy="844213"/>
          </a:xfrm>
          <a:prstGeom prst="rect">
            <a:avLst/>
          </a:prstGeom>
        </p:spPr>
        <p:txBody>
          <a:bodyPr lIns="0" tIns="0" rIns="0" bIns="0" rtlCol="0" anchor="t">
            <a:spAutoFit/>
          </a:bodyPr>
          <a:lstStyle/>
          <a:p>
            <a:pPr algn="l">
              <a:lnSpc>
                <a:spcPts val="6677"/>
              </a:lnSpc>
            </a:pPr>
            <a:r>
              <a:rPr lang="en-US" sz="5353" spc="-192" dirty="0">
                <a:solidFill>
                  <a:srgbClr val="01012C"/>
                </a:solidFill>
                <a:latin typeface="Montserrat"/>
                <a:ea typeface="Montserrat"/>
                <a:cs typeface="Montserrat"/>
                <a:sym typeface="Montserrat"/>
              </a:rPr>
              <a:t> Project Scheduling</a:t>
            </a:r>
          </a:p>
        </p:txBody>
      </p:sp>
      <p:sp>
        <p:nvSpPr>
          <p:cNvPr id="8" name="TextBox 8"/>
          <p:cNvSpPr txBox="1"/>
          <p:nvPr/>
        </p:nvSpPr>
        <p:spPr>
          <a:xfrm>
            <a:off x="7850237" y="5259735"/>
            <a:ext cx="9445526" cy="862012"/>
          </a:xfrm>
          <a:prstGeom prst="rect">
            <a:avLst/>
          </a:prstGeom>
        </p:spPr>
        <p:txBody>
          <a:bodyPr lIns="0" tIns="0" rIns="0" bIns="0" rtlCol="0" anchor="t">
            <a:spAutoFit/>
          </a:bodyPr>
          <a:lstStyle/>
          <a:p>
            <a:pPr algn="l">
              <a:lnSpc>
                <a:spcPts val="3562"/>
              </a:lnSpc>
            </a:pPr>
            <a:r>
              <a:rPr lang="en-US" sz="2187" dirty="0">
                <a:solidFill>
                  <a:srgbClr val="01012C"/>
                </a:solidFill>
                <a:latin typeface="Montserrat"/>
                <a:ea typeface="Montserrat"/>
                <a:cs typeface="Montserrat"/>
                <a:sym typeface="Montserrat"/>
              </a:rPr>
              <a:t>The project is planned to be completed in 12 weeks (3 months). Below is the Gantt chart illustrating the schedule:</a:t>
            </a:r>
          </a:p>
        </p:txBody>
      </p:sp>
      <p:sp>
        <p:nvSpPr>
          <p:cNvPr id="17" name="Slide Number Placeholder 16">
            <a:extLst>
              <a:ext uri="{FF2B5EF4-FFF2-40B4-BE49-F238E27FC236}">
                <a16:creationId xmlns:a16="http://schemas.microsoft.com/office/drawing/2014/main" id="{5833900C-3821-5132-6BAB-E540F151D0A5}"/>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4C05-F6F0-D951-50E8-2F29EADDA4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324100"/>
            <a:ext cx="18288000" cy="7086600"/>
          </a:xfrm>
          <a:prstGeom prst="rect">
            <a:avLst/>
          </a:prstGeom>
          <a:noFill/>
          <a:ln>
            <a:noFill/>
          </a:ln>
        </p:spPr>
      </p:pic>
      <p:sp>
        <p:nvSpPr>
          <p:cNvPr id="5" name="Rectangle 4">
            <a:extLst>
              <a:ext uri="{FF2B5EF4-FFF2-40B4-BE49-F238E27FC236}">
                <a16:creationId xmlns:a16="http://schemas.microsoft.com/office/drawing/2014/main" id="{116CCECC-79D6-9D6F-9448-D256DF4A28CA}"/>
              </a:ext>
            </a:extLst>
          </p:cNvPr>
          <p:cNvSpPr/>
          <p:nvPr/>
        </p:nvSpPr>
        <p:spPr>
          <a:xfrm>
            <a:off x="24384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Rectangle 7">
            <a:extLst>
              <a:ext uri="{FF2B5EF4-FFF2-40B4-BE49-F238E27FC236}">
                <a16:creationId xmlns:a16="http://schemas.microsoft.com/office/drawing/2014/main" id="{11E77648-D64A-487C-A324-826765F0E9D9}"/>
              </a:ext>
            </a:extLst>
          </p:cNvPr>
          <p:cNvSpPr/>
          <p:nvPr/>
        </p:nvSpPr>
        <p:spPr>
          <a:xfrm>
            <a:off x="89916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14C5C283-79EC-A8BC-5C10-F4426D2C7DA1}"/>
              </a:ext>
            </a:extLst>
          </p:cNvPr>
          <p:cNvSpPr/>
          <p:nvPr/>
        </p:nvSpPr>
        <p:spPr>
          <a:xfrm>
            <a:off x="14820900" y="29337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053A73F8-B435-272D-9F15-44E6095231AC}"/>
              </a:ext>
            </a:extLst>
          </p:cNvPr>
          <p:cNvSpPr/>
          <p:nvPr/>
        </p:nvSpPr>
        <p:spPr>
          <a:xfrm>
            <a:off x="14706600" y="91059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25E1F3FB-25E4-DF85-0EEE-C59DEA364A33}"/>
              </a:ext>
            </a:extLst>
          </p:cNvPr>
          <p:cNvSpPr/>
          <p:nvPr/>
        </p:nvSpPr>
        <p:spPr>
          <a:xfrm>
            <a:off x="8839200" y="9105900"/>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DBAC8D58-715B-0F23-DFC1-84D9BB571E34}"/>
              </a:ext>
            </a:extLst>
          </p:cNvPr>
          <p:cNvSpPr/>
          <p:nvPr/>
        </p:nvSpPr>
        <p:spPr>
          <a:xfrm>
            <a:off x="2209800" y="9147313"/>
            <a:ext cx="2057400" cy="304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TextBox 13">
            <a:extLst>
              <a:ext uri="{FF2B5EF4-FFF2-40B4-BE49-F238E27FC236}">
                <a16:creationId xmlns:a16="http://schemas.microsoft.com/office/drawing/2014/main" id="{ADBDBB9C-E168-1707-90B9-F571A5F40397}"/>
              </a:ext>
            </a:extLst>
          </p:cNvPr>
          <p:cNvSpPr txBox="1"/>
          <p:nvPr/>
        </p:nvSpPr>
        <p:spPr>
          <a:xfrm>
            <a:off x="381000" y="1562100"/>
            <a:ext cx="9144000" cy="584775"/>
          </a:xfrm>
          <a:prstGeom prst="rect">
            <a:avLst/>
          </a:prstGeom>
          <a:noFill/>
        </p:spPr>
        <p:txBody>
          <a:bodyPr wrap="square">
            <a:spAutoFit/>
          </a:bodyPr>
          <a:lstStyle/>
          <a:p>
            <a:r>
              <a:rPr lang="en-US" sz="3200" b="1" u="sng" dirty="0">
                <a:effectLst/>
                <a:latin typeface="Times New Roman" panose="02020603050405020304" pitchFamily="18" charset="0"/>
                <a:ea typeface="Calibri" panose="020F0502020204030204" pitchFamily="34" charset="0"/>
              </a:rPr>
              <a:t>Project Scheduling</a:t>
            </a:r>
            <a:endParaRPr lang="en-US" sz="4400" b="1" u="sng" dirty="0"/>
          </a:p>
        </p:txBody>
      </p:sp>
      <p:sp>
        <p:nvSpPr>
          <p:cNvPr id="22" name="Slide Number Placeholder 21">
            <a:extLst>
              <a:ext uri="{FF2B5EF4-FFF2-40B4-BE49-F238E27FC236}">
                <a16:creationId xmlns:a16="http://schemas.microsoft.com/office/drawing/2014/main" id="{5771A232-82F5-52EC-008D-EE6403C7D64E}"/>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6" name="TextBox 6"/>
          <p:cNvSpPr txBox="1"/>
          <p:nvPr/>
        </p:nvSpPr>
        <p:spPr>
          <a:xfrm>
            <a:off x="986879" y="747117"/>
            <a:ext cx="8390781" cy="721351"/>
          </a:xfrm>
          <a:prstGeom prst="rect">
            <a:avLst/>
          </a:prstGeom>
        </p:spPr>
        <p:txBody>
          <a:bodyPr lIns="0" tIns="0" rIns="0" bIns="0" rtlCol="0" anchor="t">
            <a:spAutoFit/>
          </a:bodyPr>
          <a:lstStyle/>
          <a:p>
            <a:pPr algn="just">
              <a:lnSpc>
                <a:spcPts val="5954"/>
              </a:lnSpc>
            </a:pPr>
            <a:r>
              <a:rPr lang="en-US" sz="4800" spc="-387">
                <a:solidFill>
                  <a:srgbClr val="01012C"/>
                </a:solidFill>
                <a:latin typeface="Times New Roman" panose="02020603050405020304" pitchFamily="18" charset="0"/>
                <a:ea typeface="Arial Nova Bold"/>
                <a:cs typeface="Times New Roman" panose="02020603050405020304" pitchFamily="18" charset="0"/>
                <a:sym typeface="Arial Nova Bold"/>
              </a:rPr>
              <a:t>PROJECT PHASES AND TIMELINE</a:t>
            </a:r>
          </a:p>
        </p:txBody>
      </p:sp>
      <p:sp>
        <p:nvSpPr>
          <p:cNvPr id="7" name="TextBox 7"/>
          <p:cNvSpPr txBox="1"/>
          <p:nvPr/>
        </p:nvSpPr>
        <p:spPr>
          <a:xfrm>
            <a:off x="986878" y="2134940"/>
            <a:ext cx="537121" cy="408766"/>
          </a:xfrm>
          <a:prstGeom prst="rect">
            <a:avLst/>
          </a:prstGeom>
        </p:spPr>
        <p:txBody>
          <a:bodyPr wrap="square" lIns="0" tIns="0" rIns="0" bIns="0" rtlCol="0" anchor="t">
            <a:spAutoFit/>
          </a:bodyPr>
          <a:lstStyle/>
          <a:p>
            <a:pPr algn="just">
              <a:lnSpc>
                <a:spcPts val="3456"/>
              </a:lnSpc>
            </a:pPr>
            <a:r>
              <a:rPr lang="en-US" sz="2400" dirty="0">
                <a:solidFill>
                  <a:srgbClr val="01012C"/>
                </a:solidFill>
                <a:latin typeface="Times New Roman" panose="02020603050405020304" pitchFamily="18" charset="0"/>
                <a:ea typeface="Montserrat"/>
                <a:cs typeface="Times New Roman" panose="02020603050405020304" pitchFamily="18" charset="0"/>
                <a:sym typeface="Montserrat"/>
              </a:rPr>
              <a:t>01</a:t>
            </a:r>
          </a:p>
        </p:txBody>
      </p:sp>
      <p:grpSp>
        <p:nvGrpSpPr>
          <p:cNvPr id="8" name="Group 8"/>
          <p:cNvGrpSpPr/>
          <p:nvPr/>
        </p:nvGrpSpPr>
        <p:grpSpPr>
          <a:xfrm>
            <a:off x="986879" y="2661642"/>
            <a:ext cx="5250061" cy="38100"/>
            <a:chOff x="0" y="0"/>
            <a:chExt cx="7000082" cy="50800"/>
          </a:xfrm>
        </p:grpSpPr>
        <p:sp>
          <p:nvSpPr>
            <p:cNvPr id="9" name="Freeform 9"/>
            <p:cNvSpPr/>
            <p:nvPr/>
          </p:nvSpPr>
          <p:spPr>
            <a:xfrm>
              <a:off x="0" y="0"/>
              <a:ext cx="7000113" cy="50800"/>
            </a:xfrm>
            <a:custGeom>
              <a:avLst/>
              <a:gdLst/>
              <a:ahLst/>
              <a:cxnLst/>
              <a:rect l="l" t="t" r="r" b="b"/>
              <a:pathLst>
                <a:path w="7000113" h="50800">
                  <a:moveTo>
                    <a:pt x="0" y="0"/>
                  </a:moveTo>
                  <a:lnTo>
                    <a:pt x="7000113" y="0"/>
                  </a:lnTo>
                  <a:lnTo>
                    <a:pt x="7000113" y="50800"/>
                  </a:lnTo>
                  <a:lnTo>
                    <a:pt x="0" y="50800"/>
                  </a:lnTo>
                  <a:close/>
                </a:path>
              </a:pathLst>
            </a:custGeom>
            <a:solidFill>
              <a:srgbClr val="000000"/>
            </a:solidFill>
          </p:spPr>
        </p:sp>
      </p:grpSp>
      <p:sp>
        <p:nvSpPr>
          <p:cNvPr id="10" name="TextBox 10"/>
          <p:cNvSpPr txBox="1"/>
          <p:nvPr/>
        </p:nvSpPr>
        <p:spPr>
          <a:xfrm>
            <a:off x="986879" y="2859732"/>
            <a:ext cx="5250061" cy="409664"/>
          </a:xfrm>
          <a:prstGeom prst="rect">
            <a:avLst/>
          </a:prstGeom>
        </p:spPr>
        <p:txBody>
          <a:bodyPr lIns="0" tIns="0" rIns="0" bIns="0" rtlCol="0" anchor="t">
            <a:spAutoFit/>
          </a:bodyPr>
          <a:lstStyle/>
          <a:p>
            <a:pPr algn="just">
              <a:lnSpc>
                <a:spcPts val="3437"/>
              </a:lnSpc>
            </a:pPr>
            <a:r>
              <a:rPr lang="en-US" sz="2800" spc="-99">
                <a:solidFill>
                  <a:srgbClr val="01012C"/>
                </a:solidFill>
                <a:latin typeface="Times New Roman" panose="02020603050405020304" pitchFamily="18" charset="0"/>
                <a:ea typeface="Montserrat"/>
                <a:cs typeface="Times New Roman" panose="02020603050405020304" pitchFamily="18" charset="0"/>
                <a:sym typeface="Montserrat"/>
              </a:rPr>
              <a:t>Planning &amp; Requirement Gathering</a:t>
            </a:r>
          </a:p>
        </p:txBody>
      </p:sp>
      <p:sp>
        <p:nvSpPr>
          <p:cNvPr id="11" name="TextBox 11"/>
          <p:cNvSpPr txBox="1"/>
          <p:nvPr/>
        </p:nvSpPr>
        <p:spPr>
          <a:xfrm>
            <a:off x="986878" y="3526558"/>
            <a:ext cx="4651921" cy="2703625"/>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Conduct background research and study</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Complete requirements analysis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Prepare requirements specification in week 3</a:t>
            </a:r>
          </a:p>
        </p:txBody>
      </p:sp>
      <p:sp>
        <p:nvSpPr>
          <p:cNvPr id="12" name="TextBox 12"/>
          <p:cNvSpPr txBox="1"/>
          <p:nvPr/>
        </p:nvSpPr>
        <p:spPr>
          <a:xfrm>
            <a:off x="6518821" y="2153990"/>
            <a:ext cx="281880" cy="335989"/>
          </a:xfrm>
          <a:prstGeom prst="rect">
            <a:avLst/>
          </a:prstGeom>
        </p:spPr>
        <p:txBody>
          <a:bodyPr lIns="0" tIns="0" rIns="0" bIns="0" rtlCol="0" anchor="t">
            <a:spAutoFit/>
          </a:bodyPr>
          <a:lstStyle/>
          <a:p>
            <a:pPr algn="just">
              <a:lnSpc>
                <a:spcPts val="2882"/>
              </a:lnSpc>
            </a:pPr>
            <a:r>
              <a:rPr lang="en-US" sz="2000">
                <a:solidFill>
                  <a:srgbClr val="01012C"/>
                </a:solidFill>
                <a:latin typeface="Times New Roman" panose="02020603050405020304" pitchFamily="18" charset="0"/>
                <a:ea typeface="Montserrat"/>
                <a:cs typeface="Times New Roman" panose="02020603050405020304" pitchFamily="18" charset="0"/>
                <a:sym typeface="Montserrat"/>
              </a:rPr>
              <a:t>02</a:t>
            </a:r>
          </a:p>
        </p:txBody>
      </p:sp>
      <p:grpSp>
        <p:nvGrpSpPr>
          <p:cNvPr id="13" name="Group 13"/>
          <p:cNvGrpSpPr/>
          <p:nvPr/>
        </p:nvGrpSpPr>
        <p:grpSpPr>
          <a:xfrm>
            <a:off x="6518821" y="2661642"/>
            <a:ext cx="5250210" cy="38100"/>
            <a:chOff x="0" y="0"/>
            <a:chExt cx="7000280" cy="50800"/>
          </a:xfrm>
        </p:grpSpPr>
        <p:sp>
          <p:nvSpPr>
            <p:cNvPr id="14" name="Freeform 14"/>
            <p:cNvSpPr/>
            <p:nvPr/>
          </p:nvSpPr>
          <p:spPr>
            <a:xfrm>
              <a:off x="0" y="0"/>
              <a:ext cx="7000240" cy="50800"/>
            </a:xfrm>
            <a:custGeom>
              <a:avLst/>
              <a:gdLst/>
              <a:ahLst/>
              <a:cxnLst/>
              <a:rect l="l" t="t" r="r" b="b"/>
              <a:pathLst>
                <a:path w="7000240" h="50800">
                  <a:moveTo>
                    <a:pt x="0" y="0"/>
                  </a:moveTo>
                  <a:lnTo>
                    <a:pt x="7000240" y="0"/>
                  </a:lnTo>
                  <a:lnTo>
                    <a:pt x="7000240" y="50800"/>
                  </a:lnTo>
                  <a:lnTo>
                    <a:pt x="0" y="50800"/>
                  </a:lnTo>
                  <a:close/>
                </a:path>
              </a:pathLst>
            </a:custGeom>
            <a:solidFill>
              <a:srgbClr val="000000"/>
            </a:solidFill>
          </p:spPr>
        </p:sp>
      </p:grpSp>
      <p:sp>
        <p:nvSpPr>
          <p:cNvPr id="15" name="TextBox 15"/>
          <p:cNvSpPr txBox="1"/>
          <p:nvPr/>
        </p:nvSpPr>
        <p:spPr>
          <a:xfrm>
            <a:off x="6518821" y="2859732"/>
            <a:ext cx="3524547" cy="409664"/>
          </a:xfrm>
          <a:prstGeom prst="rect">
            <a:avLst/>
          </a:prstGeom>
        </p:spPr>
        <p:txBody>
          <a:bodyPr lIns="0" tIns="0" rIns="0" bIns="0" rtlCol="0" anchor="t">
            <a:spAutoFit/>
          </a:bodyPr>
          <a:lstStyle/>
          <a:p>
            <a:pPr algn="just">
              <a:lnSpc>
                <a:spcPts val="3437"/>
              </a:lnSpc>
            </a:pPr>
            <a:r>
              <a:rPr lang="en-US" sz="2800" spc="-99">
                <a:solidFill>
                  <a:srgbClr val="01012C"/>
                </a:solidFill>
                <a:latin typeface="Times New Roman" panose="02020603050405020304" pitchFamily="18" charset="0"/>
                <a:ea typeface="Montserrat"/>
                <a:cs typeface="Times New Roman" panose="02020603050405020304" pitchFamily="18" charset="0"/>
                <a:sym typeface="Montserrat"/>
              </a:rPr>
              <a:t>Analysis Modelling</a:t>
            </a:r>
          </a:p>
        </p:txBody>
      </p:sp>
      <p:sp>
        <p:nvSpPr>
          <p:cNvPr id="16" name="TextBox 16"/>
          <p:cNvSpPr txBox="1"/>
          <p:nvPr/>
        </p:nvSpPr>
        <p:spPr>
          <a:xfrm>
            <a:off x="6518821" y="3412182"/>
            <a:ext cx="5250180" cy="1595630"/>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use case, class, and object diagrams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Present demo in week 5</a:t>
            </a:r>
          </a:p>
        </p:txBody>
      </p:sp>
      <p:sp>
        <p:nvSpPr>
          <p:cNvPr id="17" name="TextBox 17"/>
          <p:cNvSpPr txBox="1"/>
          <p:nvPr/>
        </p:nvSpPr>
        <p:spPr>
          <a:xfrm>
            <a:off x="12050911" y="2153990"/>
            <a:ext cx="281880" cy="335989"/>
          </a:xfrm>
          <a:prstGeom prst="rect">
            <a:avLst/>
          </a:prstGeom>
        </p:spPr>
        <p:txBody>
          <a:bodyPr lIns="0" tIns="0" rIns="0" bIns="0" rtlCol="0" anchor="t">
            <a:spAutoFit/>
          </a:bodyPr>
          <a:lstStyle/>
          <a:p>
            <a:pPr algn="just">
              <a:lnSpc>
                <a:spcPts val="2882"/>
              </a:lnSpc>
            </a:pPr>
            <a:r>
              <a:rPr lang="en-US" sz="2000">
                <a:solidFill>
                  <a:srgbClr val="01012C"/>
                </a:solidFill>
                <a:latin typeface="Times New Roman" panose="02020603050405020304" pitchFamily="18" charset="0"/>
                <a:ea typeface="Montserrat"/>
                <a:cs typeface="Times New Roman" panose="02020603050405020304" pitchFamily="18" charset="0"/>
                <a:sym typeface="Montserrat"/>
              </a:rPr>
              <a:t>03</a:t>
            </a:r>
          </a:p>
        </p:txBody>
      </p:sp>
      <p:grpSp>
        <p:nvGrpSpPr>
          <p:cNvPr id="18" name="Group 18"/>
          <p:cNvGrpSpPr/>
          <p:nvPr/>
        </p:nvGrpSpPr>
        <p:grpSpPr>
          <a:xfrm>
            <a:off x="12050911" y="2661642"/>
            <a:ext cx="5250210" cy="38100"/>
            <a:chOff x="0" y="0"/>
            <a:chExt cx="7000280" cy="50800"/>
          </a:xfrm>
        </p:grpSpPr>
        <p:sp>
          <p:nvSpPr>
            <p:cNvPr id="19" name="Freeform 19"/>
            <p:cNvSpPr/>
            <p:nvPr/>
          </p:nvSpPr>
          <p:spPr>
            <a:xfrm>
              <a:off x="0" y="0"/>
              <a:ext cx="7000240" cy="50800"/>
            </a:xfrm>
            <a:custGeom>
              <a:avLst/>
              <a:gdLst/>
              <a:ahLst/>
              <a:cxnLst/>
              <a:rect l="l" t="t" r="r" b="b"/>
              <a:pathLst>
                <a:path w="7000240" h="50800">
                  <a:moveTo>
                    <a:pt x="0" y="0"/>
                  </a:moveTo>
                  <a:lnTo>
                    <a:pt x="7000240" y="0"/>
                  </a:lnTo>
                  <a:lnTo>
                    <a:pt x="7000240" y="50800"/>
                  </a:lnTo>
                  <a:lnTo>
                    <a:pt x="0" y="50800"/>
                  </a:lnTo>
                  <a:close/>
                </a:path>
              </a:pathLst>
            </a:custGeom>
            <a:solidFill>
              <a:srgbClr val="000000"/>
            </a:solidFill>
          </p:spPr>
        </p:sp>
      </p:grpSp>
      <p:sp>
        <p:nvSpPr>
          <p:cNvPr id="20" name="TextBox 20"/>
          <p:cNvSpPr txBox="1"/>
          <p:nvPr/>
        </p:nvSpPr>
        <p:spPr>
          <a:xfrm>
            <a:off x="12050911" y="2859732"/>
            <a:ext cx="3524548" cy="409664"/>
          </a:xfrm>
          <a:prstGeom prst="rect">
            <a:avLst/>
          </a:prstGeom>
        </p:spPr>
        <p:txBody>
          <a:bodyPr lIns="0" tIns="0" rIns="0" bIns="0" rtlCol="0" anchor="t">
            <a:spAutoFit/>
          </a:bodyPr>
          <a:lstStyle/>
          <a:p>
            <a:pPr algn="just">
              <a:lnSpc>
                <a:spcPts val="3437"/>
              </a:lnSpc>
            </a:pPr>
            <a:r>
              <a:rPr lang="en-US" sz="2800" spc="-99">
                <a:solidFill>
                  <a:srgbClr val="01012C"/>
                </a:solidFill>
                <a:latin typeface="Times New Roman" panose="02020603050405020304" pitchFamily="18" charset="0"/>
                <a:ea typeface="Montserrat"/>
                <a:cs typeface="Times New Roman" panose="02020603050405020304" pitchFamily="18" charset="0"/>
                <a:sym typeface="Montserrat"/>
              </a:rPr>
              <a:t>Design</a:t>
            </a:r>
          </a:p>
        </p:txBody>
      </p:sp>
      <p:sp>
        <p:nvSpPr>
          <p:cNvPr id="21" name="TextBox 21"/>
          <p:cNvSpPr txBox="1"/>
          <p:nvPr/>
        </p:nvSpPr>
        <p:spPr>
          <a:xfrm>
            <a:off x="12050911" y="3412182"/>
            <a:ext cx="5250210" cy="1041632"/>
          </a:xfrm>
          <a:prstGeom prst="rect">
            <a:avLst/>
          </a:prstGeom>
        </p:spPr>
        <p:txBody>
          <a:bodyPr lIns="0" tIns="0" rIns="0" bIns="0" rtlCol="0" anchor="t">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ER and DFD design in week 5</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Input/output design in week 6</a:t>
            </a:r>
          </a:p>
        </p:txBody>
      </p:sp>
      <p:sp>
        <p:nvSpPr>
          <p:cNvPr id="22" name="TextBox 22"/>
          <p:cNvSpPr txBox="1"/>
          <p:nvPr/>
        </p:nvSpPr>
        <p:spPr>
          <a:xfrm>
            <a:off x="986879" y="6621215"/>
            <a:ext cx="281880" cy="312393"/>
          </a:xfrm>
          <a:prstGeom prst="rect">
            <a:avLst/>
          </a:prstGeom>
        </p:spPr>
        <p:txBody>
          <a:bodyPr lIns="0" tIns="0" rIns="0" bIns="0" rtlCol="0" anchor="t">
            <a:spAutoFit/>
          </a:bodyPr>
          <a:lstStyle/>
          <a:p>
            <a:pPr algn="just">
              <a:lnSpc>
                <a:spcPts val="2663"/>
              </a:lnSpc>
            </a:pPr>
            <a:r>
              <a:rPr lang="en-US">
                <a:solidFill>
                  <a:srgbClr val="01012C"/>
                </a:solidFill>
                <a:latin typeface="Times New Roman" panose="02020603050405020304" pitchFamily="18" charset="0"/>
                <a:ea typeface="Montserrat"/>
                <a:cs typeface="Times New Roman" panose="02020603050405020304" pitchFamily="18" charset="0"/>
                <a:sym typeface="Montserrat"/>
              </a:rPr>
              <a:t>04</a:t>
            </a:r>
          </a:p>
        </p:txBody>
      </p:sp>
      <p:grpSp>
        <p:nvGrpSpPr>
          <p:cNvPr id="23" name="Group 23"/>
          <p:cNvGrpSpPr/>
          <p:nvPr/>
        </p:nvGrpSpPr>
        <p:grpSpPr>
          <a:xfrm>
            <a:off x="986879" y="7119342"/>
            <a:ext cx="8016180" cy="38100"/>
            <a:chOff x="0" y="0"/>
            <a:chExt cx="10688240" cy="50800"/>
          </a:xfrm>
        </p:grpSpPr>
        <p:sp>
          <p:nvSpPr>
            <p:cNvPr id="24" name="Freeform 24"/>
            <p:cNvSpPr/>
            <p:nvPr/>
          </p:nvSpPr>
          <p:spPr>
            <a:xfrm>
              <a:off x="0" y="0"/>
              <a:ext cx="10688193" cy="50800"/>
            </a:xfrm>
            <a:custGeom>
              <a:avLst/>
              <a:gdLst/>
              <a:ahLst/>
              <a:cxnLst/>
              <a:rect l="l" t="t" r="r" b="b"/>
              <a:pathLst>
                <a:path w="10688193" h="50800">
                  <a:moveTo>
                    <a:pt x="0" y="0"/>
                  </a:moveTo>
                  <a:lnTo>
                    <a:pt x="10688193" y="0"/>
                  </a:lnTo>
                  <a:lnTo>
                    <a:pt x="10688193" y="50800"/>
                  </a:lnTo>
                  <a:lnTo>
                    <a:pt x="0" y="50800"/>
                  </a:lnTo>
                  <a:close/>
                </a:path>
              </a:pathLst>
            </a:custGeom>
            <a:solidFill>
              <a:srgbClr val="000000"/>
            </a:solidFill>
          </p:spPr>
        </p:sp>
      </p:grpSp>
      <p:sp>
        <p:nvSpPr>
          <p:cNvPr id="25" name="TextBox 25"/>
          <p:cNvSpPr txBox="1"/>
          <p:nvPr/>
        </p:nvSpPr>
        <p:spPr>
          <a:xfrm>
            <a:off x="986879" y="7317432"/>
            <a:ext cx="3524548" cy="409664"/>
          </a:xfrm>
          <a:prstGeom prst="rect">
            <a:avLst/>
          </a:prstGeom>
        </p:spPr>
        <p:txBody>
          <a:bodyPr lIns="0" tIns="0" rIns="0" bIns="0" rtlCol="0" anchor="t">
            <a:spAutoFit/>
          </a:bodyPr>
          <a:lstStyle/>
          <a:p>
            <a:pPr algn="just">
              <a:lnSpc>
                <a:spcPts val="3437"/>
              </a:lnSpc>
            </a:pPr>
            <a:r>
              <a:rPr lang="en-US" sz="2800" spc="-99">
                <a:solidFill>
                  <a:srgbClr val="01012C"/>
                </a:solidFill>
                <a:latin typeface="Times New Roman" panose="02020603050405020304" pitchFamily="18" charset="0"/>
                <a:ea typeface="Montserrat"/>
                <a:cs typeface="Times New Roman" panose="02020603050405020304" pitchFamily="18" charset="0"/>
                <a:sym typeface="Montserrat"/>
              </a:rPr>
              <a:t>Coding</a:t>
            </a:r>
          </a:p>
        </p:txBody>
      </p:sp>
      <p:sp>
        <p:nvSpPr>
          <p:cNvPr id="26" name="TextBox 26"/>
          <p:cNvSpPr txBox="1"/>
          <p:nvPr/>
        </p:nvSpPr>
        <p:spPr>
          <a:xfrm>
            <a:off x="986879" y="7860357"/>
            <a:ext cx="8016180" cy="369332"/>
          </a:xfrm>
          <a:prstGeom prst="rect">
            <a:avLst/>
          </a:prstGeom>
        </p:spPr>
        <p:txBody>
          <a:bodyPr lIns="0" tIns="0" rIns="0" bIns="0" rtlCol="0" anchor="t">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 coding and documentation phase</a:t>
            </a:r>
          </a:p>
        </p:txBody>
      </p:sp>
      <p:sp>
        <p:nvSpPr>
          <p:cNvPr id="27" name="TextBox 27"/>
          <p:cNvSpPr txBox="1"/>
          <p:nvPr/>
        </p:nvSpPr>
        <p:spPr>
          <a:xfrm>
            <a:off x="9284940" y="6611690"/>
            <a:ext cx="281880" cy="335989"/>
          </a:xfrm>
          <a:prstGeom prst="rect">
            <a:avLst/>
          </a:prstGeom>
        </p:spPr>
        <p:txBody>
          <a:bodyPr lIns="0" tIns="0" rIns="0" bIns="0" rtlCol="0" anchor="t">
            <a:spAutoFit/>
          </a:bodyPr>
          <a:lstStyle/>
          <a:p>
            <a:pPr algn="just">
              <a:lnSpc>
                <a:spcPts val="2882"/>
              </a:lnSpc>
            </a:pPr>
            <a:r>
              <a:rPr lang="en-US" sz="2000">
                <a:solidFill>
                  <a:srgbClr val="01012C"/>
                </a:solidFill>
                <a:latin typeface="Times New Roman" panose="02020603050405020304" pitchFamily="18" charset="0"/>
                <a:ea typeface="Montserrat"/>
                <a:cs typeface="Times New Roman" panose="02020603050405020304" pitchFamily="18" charset="0"/>
                <a:sym typeface="Montserrat"/>
              </a:rPr>
              <a:t>05</a:t>
            </a:r>
          </a:p>
        </p:txBody>
      </p:sp>
      <p:grpSp>
        <p:nvGrpSpPr>
          <p:cNvPr id="28" name="Group 28"/>
          <p:cNvGrpSpPr/>
          <p:nvPr/>
        </p:nvGrpSpPr>
        <p:grpSpPr>
          <a:xfrm>
            <a:off x="9284940" y="7119342"/>
            <a:ext cx="8016180" cy="38100"/>
            <a:chOff x="0" y="0"/>
            <a:chExt cx="10688240" cy="50800"/>
          </a:xfrm>
        </p:grpSpPr>
        <p:sp>
          <p:nvSpPr>
            <p:cNvPr id="29" name="Freeform 29"/>
            <p:cNvSpPr/>
            <p:nvPr/>
          </p:nvSpPr>
          <p:spPr>
            <a:xfrm>
              <a:off x="0" y="0"/>
              <a:ext cx="10688193" cy="50800"/>
            </a:xfrm>
            <a:custGeom>
              <a:avLst/>
              <a:gdLst/>
              <a:ahLst/>
              <a:cxnLst/>
              <a:rect l="l" t="t" r="r" b="b"/>
              <a:pathLst>
                <a:path w="10688193" h="50800">
                  <a:moveTo>
                    <a:pt x="0" y="0"/>
                  </a:moveTo>
                  <a:lnTo>
                    <a:pt x="10688193" y="0"/>
                  </a:lnTo>
                  <a:lnTo>
                    <a:pt x="10688193" y="50800"/>
                  </a:lnTo>
                  <a:lnTo>
                    <a:pt x="0" y="50800"/>
                  </a:lnTo>
                  <a:close/>
                </a:path>
              </a:pathLst>
            </a:custGeom>
            <a:solidFill>
              <a:srgbClr val="000000"/>
            </a:solidFill>
          </p:spPr>
        </p:sp>
      </p:grpSp>
      <p:sp>
        <p:nvSpPr>
          <p:cNvPr id="30" name="TextBox 30"/>
          <p:cNvSpPr txBox="1"/>
          <p:nvPr/>
        </p:nvSpPr>
        <p:spPr>
          <a:xfrm>
            <a:off x="9284940" y="7317432"/>
            <a:ext cx="3524548" cy="409664"/>
          </a:xfrm>
          <a:prstGeom prst="rect">
            <a:avLst/>
          </a:prstGeom>
        </p:spPr>
        <p:txBody>
          <a:bodyPr lIns="0" tIns="0" rIns="0" bIns="0" rtlCol="0" anchor="t">
            <a:spAutoFit/>
          </a:bodyPr>
          <a:lstStyle/>
          <a:p>
            <a:pPr algn="just">
              <a:lnSpc>
                <a:spcPts val="3437"/>
              </a:lnSpc>
            </a:pPr>
            <a:r>
              <a:rPr lang="en-US" sz="2800" spc="-99">
                <a:solidFill>
                  <a:srgbClr val="01012C"/>
                </a:solidFill>
                <a:latin typeface="Times New Roman" panose="02020603050405020304" pitchFamily="18" charset="0"/>
                <a:ea typeface="Montserrat"/>
                <a:cs typeface="Times New Roman" panose="02020603050405020304" pitchFamily="18" charset="0"/>
                <a:sym typeface="Montserrat"/>
              </a:rPr>
              <a:t>Testing</a:t>
            </a:r>
          </a:p>
        </p:txBody>
      </p:sp>
      <p:sp>
        <p:nvSpPr>
          <p:cNvPr id="31" name="TextBox 31"/>
          <p:cNvSpPr txBox="1"/>
          <p:nvPr/>
        </p:nvSpPr>
        <p:spPr>
          <a:xfrm>
            <a:off x="9284940" y="7860357"/>
            <a:ext cx="8016180" cy="1041632"/>
          </a:xfrm>
          <a:prstGeom prst="rect">
            <a:avLst/>
          </a:prstGeom>
        </p:spPr>
        <p:txBody>
          <a:bodyPr lIns="0" tIns="0" rIns="0" bIns="0" rtlCol="0" anchor="t">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Self-testing in week 10</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Reviews and retrospective in weeks 11–12</a:t>
            </a:r>
          </a:p>
        </p:txBody>
      </p:sp>
      <p:sp>
        <p:nvSpPr>
          <p:cNvPr id="40" name="Slide Number Placeholder 39">
            <a:extLst>
              <a:ext uri="{FF2B5EF4-FFF2-40B4-BE49-F238E27FC236}">
                <a16:creationId xmlns:a16="http://schemas.microsoft.com/office/drawing/2014/main" id="{74BEFBE7-465D-1D14-EC87-48F61AD0E38A}"/>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497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sp>
        <p:nvSpPr>
          <p:cNvPr id="6" name="TextBox 6"/>
          <p:cNvSpPr txBox="1"/>
          <p:nvPr/>
        </p:nvSpPr>
        <p:spPr>
          <a:xfrm>
            <a:off x="674042" y="510480"/>
            <a:ext cx="5726758" cy="481414"/>
          </a:xfrm>
          <a:prstGeom prst="rect">
            <a:avLst/>
          </a:prstGeom>
        </p:spPr>
        <p:txBody>
          <a:bodyPr wrap="square" lIns="0" tIns="0" rIns="0" bIns="0" rtlCol="0" anchor="t">
            <a:spAutoFit/>
          </a:bodyPr>
          <a:lstStyle/>
          <a:p>
            <a:pPr algn="l">
              <a:lnSpc>
                <a:spcPts val="4023"/>
              </a:lnSpc>
            </a:pPr>
            <a:r>
              <a:rPr lang="en-US" sz="3218" b="1" spc="-263" dirty="0">
                <a:solidFill>
                  <a:srgbClr val="01012C"/>
                </a:solidFill>
                <a:latin typeface="Times New Roman" panose="02020603050405020304" pitchFamily="18" charset="0"/>
                <a:ea typeface="Arial Nova Bold"/>
                <a:cs typeface="Times New Roman" panose="02020603050405020304" pitchFamily="18" charset="0"/>
                <a:sym typeface="Arial Nova Bold"/>
              </a:rPr>
              <a:t>KEY  PROJECT  MILESTONES</a:t>
            </a:r>
          </a:p>
        </p:txBody>
      </p:sp>
      <p:grpSp>
        <p:nvGrpSpPr>
          <p:cNvPr id="7" name="Group 7"/>
          <p:cNvGrpSpPr/>
          <p:nvPr/>
        </p:nvGrpSpPr>
        <p:grpSpPr>
          <a:xfrm>
            <a:off x="9129712" y="1516410"/>
            <a:ext cx="28575" cy="5750124"/>
            <a:chOff x="0" y="0"/>
            <a:chExt cx="38100" cy="7666832"/>
          </a:xfrm>
        </p:grpSpPr>
        <p:sp>
          <p:nvSpPr>
            <p:cNvPr id="8" name="Freeform 8"/>
            <p:cNvSpPr/>
            <p:nvPr/>
          </p:nvSpPr>
          <p:spPr>
            <a:xfrm>
              <a:off x="0" y="0"/>
              <a:ext cx="38100" cy="7666863"/>
            </a:xfrm>
            <a:custGeom>
              <a:avLst/>
              <a:gdLst/>
              <a:ahLst/>
              <a:cxnLst/>
              <a:rect l="l" t="t" r="r" b="b"/>
              <a:pathLst>
                <a:path w="38100" h="7666863">
                  <a:moveTo>
                    <a:pt x="0" y="19050"/>
                  </a:moveTo>
                  <a:cubicBezTo>
                    <a:pt x="0" y="8509"/>
                    <a:pt x="8509" y="0"/>
                    <a:pt x="19050" y="0"/>
                  </a:cubicBezTo>
                  <a:cubicBezTo>
                    <a:pt x="29591" y="0"/>
                    <a:pt x="38100" y="8509"/>
                    <a:pt x="38100" y="19050"/>
                  </a:cubicBezTo>
                  <a:lnTo>
                    <a:pt x="38100" y="7647813"/>
                  </a:lnTo>
                  <a:cubicBezTo>
                    <a:pt x="38100" y="7658354"/>
                    <a:pt x="29591" y="7666863"/>
                    <a:pt x="19050" y="7666863"/>
                  </a:cubicBezTo>
                  <a:cubicBezTo>
                    <a:pt x="8509" y="7666863"/>
                    <a:pt x="0" y="7658354"/>
                    <a:pt x="0" y="7647813"/>
                  </a:cubicBezTo>
                  <a:close/>
                </a:path>
              </a:pathLst>
            </a:custGeom>
            <a:solidFill>
              <a:srgbClr val="F8F8F8"/>
            </a:solidFill>
          </p:spPr>
        </p:sp>
      </p:grpSp>
      <p:grpSp>
        <p:nvGrpSpPr>
          <p:cNvPr id="9" name="Group 9"/>
          <p:cNvGrpSpPr/>
          <p:nvPr/>
        </p:nvGrpSpPr>
        <p:grpSpPr>
          <a:xfrm>
            <a:off x="8378205" y="1718667"/>
            <a:ext cx="577751" cy="28575"/>
            <a:chOff x="0" y="0"/>
            <a:chExt cx="770335" cy="38100"/>
          </a:xfrm>
        </p:grpSpPr>
        <p:sp>
          <p:nvSpPr>
            <p:cNvPr id="10" name="Freeform 10"/>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11" name="Group 11"/>
          <p:cNvGrpSpPr/>
          <p:nvPr/>
        </p:nvGrpSpPr>
        <p:grpSpPr>
          <a:xfrm>
            <a:off x="8922619" y="1506677"/>
            <a:ext cx="442764" cy="442764"/>
            <a:chOff x="0" y="0"/>
            <a:chExt cx="590352" cy="590352"/>
          </a:xfrm>
        </p:grpSpPr>
        <p:sp>
          <p:nvSpPr>
            <p:cNvPr id="12" name="Freeform 12"/>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13" name="Freeform 13"/>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14" name="TextBox 14"/>
          <p:cNvSpPr txBox="1"/>
          <p:nvPr/>
        </p:nvSpPr>
        <p:spPr>
          <a:xfrm>
            <a:off x="8999487" y="1590526"/>
            <a:ext cx="288875" cy="304800"/>
          </a:xfrm>
          <a:prstGeom prst="rect">
            <a:avLst/>
          </a:prstGeom>
        </p:spPr>
        <p:txBody>
          <a:bodyPr lIns="0" tIns="0" rIns="0" bIns="0" rtlCol="0" anchor="t">
            <a:spAutoFit/>
          </a:bodyPr>
          <a:lstStyle/>
          <a:p>
            <a:pPr algn="ctr">
              <a:lnSpc>
                <a:spcPts val="2250"/>
              </a:lnSpc>
            </a:pPr>
            <a:r>
              <a:rPr lang="en-US" sz="2250" b="1" spc="-81">
                <a:solidFill>
                  <a:srgbClr val="01012C"/>
                </a:solidFill>
                <a:latin typeface="Times New Roman" panose="02020603050405020304" pitchFamily="18" charset="0"/>
                <a:ea typeface="Montserrat"/>
                <a:cs typeface="Times New Roman" panose="02020603050405020304" pitchFamily="18" charset="0"/>
                <a:sym typeface="Montserrat"/>
              </a:rPr>
              <a:t>1</a:t>
            </a:r>
          </a:p>
        </p:txBody>
      </p:sp>
      <p:sp>
        <p:nvSpPr>
          <p:cNvPr id="15" name="TextBox 15"/>
          <p:cNvSpPr txBox="1"/>
          <p:nvPr/>
        </p:nvSpPr>
        <p:spPr>
          <a:xfrm>
            <a:off x="3422154" y="1567995"/>
            <a:ext cx="4758929" cy="487313"/>
          </a:xfrm>
          <a:prstGeom prst="rect">
            <a:avLst/>
          </a:prstGeom>
        </p:spPr>
        <p:txBody>
          <a:bodyPr lIns="0" tIns="0" rIns="0" bIns="0" rtlCol="0" anchor="t">
            <a:spAutoFit/>
          </a:bodyPr>
          <a:lstStyle/>
          <a:p>
            <a:pPr algn="r">
              <a:lnSpc>
                <a:spcPts val="1920"/>
              </a:lnSpc>
            </a:pPr>
            <a:r>
              <a:rPr lang="en-US" sz="2000" b="1" dirty="0">
                <a:solidFill>
                  <a:srgbClr val="01012C"/>
                </a:solidFill>
                <a:latin typeface="Times New Roman" panose="02020603050405020304" pitchFamily="18" charset="0"/>
                <a:ea typeface="Montserrat"/>
                <a:cs typeface="Times New Roman" panose="02020603050405020304" pitchFamily="18" charset="0"/>
                <a:sym typeface="Montserrat"/>
              </a:rPr>
              <a:t>Week 3: Requirements specification completed</a:t>
            </a:r>
          </a:p>
        </p:txBody>
      </p:sp>
      <p:grpSp>
        <p:nvGrpSpPr>
          <p:cNvPr id="16" name="Group 16"/>
          <p:cNvGrpSpPr/>
          <p:nvPr/>
        </p:nvGrpSpPr>
        <p:grpSpPr>
          <a:xfrm>
            <a:off x="9332044" y="2874169"/>
            <a:ext cx="577751" cy="28575"/>
            <a:chOff x="0" y="0"/>
            <a:chExt cx="770335" cy="38100"/>
          </a:xfrm>
        </p:grpSpPr>
        <p:sp>
          <p:nvSpPr>
            <p:cNvPr id="17" name="Freeform 17"/>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18" name="Group 18"/>
          <p:cNvGrpSpPr/>
          <p:nvPr/>
        </p:nvGrpSpPr>
        <p:grpSpPr>
          <a:xfrm>
            <a:off x="8922619" y="2667149"/>
            <a:ext cx="442764" cy="442764"/>
            <a:chOff x="0" y="0"/>
            <a:chExt cx="590352" cy="590352"/>
          </a:xfrm>
        </p:grpSpPr>
        <p:sp>
          <p:nvSpPr>
            <p:cNvPr id="19" name="Freeform 19"/>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20" name="Freeform 20"/>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21" name="TextBox 21"/>
          <p:cNvSpPr txBox="1"/>
          <p:nvPr/>
        </p:nvSpPr>
        <p:spPr>
          <a:xfrm>
            <a:off x="8999487" y="2741058"/>
            <a:ext cx="288875" cy="317395"/>
          </a:xfrm>
          <a:prstGeom prst="rect">
            <a:avLst/>
          </a:prstGeom>
        </p:spPr>
        <p:txBody>
          <a:bodyPr lIns="0" tIns="0" rIns="0" bIns="0" rtlCol="0" anchor="t">
            <a:spAutoFit/>
          </a:bodyPr>
          <a:lstStyle/>
          <a:p>
            <a:pPr algn="ctr">
              <a:lnSpc>
                <a:spcPts val="2250"/>
              </a:lnSpc>
            </a:pPr>
            <a:r>
              <a:rPr lang="en-US" sz="3200" b="1" spc="-81">
                <a:solidFill>
                  <a:srgbClr val="01012C"/>
                </a:solidFill>
                <a:latin typeface="Times New Roman" panose="02020603050405020304" pitchFamily="18" charset="0"/>
                <a:ea typeface="Montserrat"/>
                <a:cs typeface="Times New Roman" panose="02020603050405020304" pitchFamily="18" charset="0"/>
                <a:sym typeface="Montserrat"/>
              </a:rPr>
              <a:t>2</a:t>
            </a:r>
          </a:p>
        </p:txBody>
      </p:sp>
      <p:sp>
        <p:nvSpPr>
          <p:cNvPr id="22" name="TextBox 22"/>
          <p:cNvSpPr txBox="1"/>
          <p:nvPr/>
        </p:nvSpPr>
        <p:spPr>
          <a:xfrm>
            <a:off x="10106917" y="2723496"/>
            <a:ext cx="3239244" cy="512961"/>
          </a:xfrm>
          <a:prstGeom prst="rect">
            <a:avLst/>
          </a:prstGeom>
        </p:spPr>
        <p:txBody>
          <a:bodyPr lIns="0" tIns="0" rIns="0" bIns="0" rtlCol="0" anchor="t">
            <a:spAutoFit/>
          </a:bodyPr>
          <a:lstStyle/>
          <a:p>
            <a:pPr algn="l">
              <a:lnSpc>
                <a:spcPts val="1952"/>
              </a:lnSpc>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 6: System design finalised</a:t>
            </a:r>
          </a:p>
        </p:txBody>
      </p:sp>
      <p:grpSp>
        <p:nvGrpSpPr>
          <p:cNvPr id="23" name="Group 23"/>
          <p:cNvGrpSpPr/>
          <p:nvPr/>
        </p:nvGrpSpPr>
        <p:grpSpPr>
          <a:xfrm>
            <a:off x="8378205" y="3870126"/>
            <a:ext cx="577751" cy="28575"/>
            <a:chOff x="0" y="0"/>
            <a:chExt cx="770335" cy="38100"/>
          </a:xfrm>
        </p:grpSpPr>
        <p:sp>
          <p:nvSpPr>
            <p:cNvPr id="24" name="Freeform 24"/>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25" name="Group 25"/>
          <p:cNvGrpSpPr/>
          <p:nvPr/>
        </p:nvGrpSpPr>
        <p:grpSpPr>
          <a:xfrm>
            <a:off x="8922619" y="3658136"/>
            <a:ext cx="442764" cy="442764"/>
            <a:chOff x="0" y="0"/>
            <a:chExt cx="590352" cy="590352"/>
          </a:xfrm>
        </p:grpSpPr>
        <p:sp>
          <p:nvSpPr>
            <p:cNvPr id="26" name="Freeform 26"/>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27" name="Freeform 27"/>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28" name="TextBox 28"/>
          <p:cNvSpPr txBox="1"/>
          <p:nvPr/>
        </p:nvSpPr>
        <p:spPr>
          <a:xfrm>
            <a:off x="8999487" y="3741985"/>
            <a:ext cx="288875" cy="304800"/>
          </a:xfrm>
          <a:prstGeom prst="rect">
            <a:avLst/>
          </a:prstGeom>
        </p:spPr>
        <p:txBody>
          <a:bodyPr lIns="0" tIns="0" rIns="0" bIns="0" rtlCol="0" anchor="t">
            <a:spAutoFit/>
          </a:bodyPr>
          <a:lstStyle/>
          <a:p>
            <a:pPr algn="ctr">
              <a:lnSpc>
                <a:spcPts val="2250"/>
              </a:lnSpc>
            </a:pPr>
            <a:r>
              <a:rPr lang="en-US" sz="2250" b="1" spc="-81" dirty="0">
                <a:solidFill>
                  <a:srgbClr val="01012C"/>
                </a:solidFill>
                <a:latin typeface="Times New Roman" panose="02020603050405020304" pitchFamily="18" charset="0"/>
                <a:ea typeface="Montserrat"/>
                <a:cs typeface="Times New Roman" panose="02020603050405020304" pitchFamily="18" charset="0"/>
                <a:sym typeface="Montserrat"/>
              </a:rPr>
              <a:t>3</a:t>
            </a:r>
          </a:p>
        </p:txBody>
      </p:sp>
      <p:sp>
        <p:nvSpPr>
          <p:cNvPr id="29" name="TextBox 29"/>
          <p:cNvSpPr txBox="1"/>
          <p:nvPr/>
        </p:nvSpPr>
        <p:spPr>
          <a:xfrm>
            <a:off x="3742581" y="3728979"/>
            <a:ext cx="4438501" cy="520976"/>
          </a:xfrm>
          <a:prstGeom prst="rect">
            <a:avLst/>
          </a:prstGeom>
        </p:spPr>
        <p:txBody>
          <a:bodyPr lIns="0" tIns="0" rIns="0" bIns="0" rtlCol="0" anchor="t">
            <a:spAutoFit/>
          </a:bodyPr>
          <a:lstStyle/>
          <a:p>
            <a:pPr algn="r">
              <a:lnSpc>
                <a:spcPts val="1984"/>
              </a:lnSpc>
            </a:pPr>
            <a:r>
              <a:rPr lang="en-US" sz="2200" b="1" dirty="0">
                <a:solidFill>
                  <a:srgbClr val="01012C"/>
                </a:solidFill>
                <a:latin typeface="Times New Roman" panose="02020603050405020304" pitchFamily="18" charset="0"/>
                <a:ea typeface="Montserrat"/>
                <a:cs typeface="Times New Roman" panose="02020603050405020304" pitchFamily="18" charset="0"/>
                <a:sym typeface="Montserrat"/>
              </a:rPr>
              <a:t>Week 8: Core functionality implementation</a:t>
            </a:r>
          </a:p>
        </p:txBody>
      </p:sp>
      <p:grpSp>
        <p:nvGrpSpPr>
          <p:cNvPr id="30" name="Group 30"/>
          <p:cNvGrpSpPr/>
          <p:nvPr/>
        </p:nvGrpSpPr>
        <p:grpSpPr>
          <a:xfrm>
            <a:off x="9332044" y="4866085"/>
            <a:ext cx="577751" cy="28575"/>
            <a:chOff x="0" y="0"/>
            <a:chExt cx="770335" cy="38100"/>
          </a:xfrm>
        </p:grpSpPr>
        <p:sp>
          <p:nvSpPr>
            <p:cNvPr id="31" name="Freeform 31"/>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32" name="Group 32"/>
          <p:cNvGrpSpPr/>
          <p:nvPr/>
        </p:nvGrpSpPr>
        <p:grpSpPr>
          <a:xfrm>
            <a:off x="8922619" y="4654095"/>
            <a:ext cx="442764" cy="442764"/>
            <a:chOff x="0" y="0"/>
            <a:chExt cx="590352" cy="590352"/>
          </a:xfrm>
        </p:grpSpPr>
        <p:sp>
          <p:nvSpPr>
            <p:cNvPr id="33" name="Freeform 33"/>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txBody>
            <a:bodyPr/>
            <a:lstStyle/>
            <a:p>
              <a:endParaRPr lang="en-US" dirty="0"/>
            </a:p>
          </p:txBody>
        </p:sp>
        <p:sp>
          <p:nvSpPr>
            <p:cNvPr id="34" name="Freeform 34"/>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35" name="TextBox 35"/>
          <p:cNvSpPr txBox="1"/>
          <p:nvPr/>
        </p:nvSpPr>
        <p:spPr>
          <a:xfrm>
            <a:off x="8999487" y="4737944"/>
            <a:ext cx="288875" cy="304800"/>
          </a:xfrm>
          <a:prstGeom prst="rect">
            <a:avLst/>
          </a:prstGeom>
        </p:spPr>
        <p:txBody>
          <a:bodyPr lIns="0" tIns="0" rIns="0" bIns="0" rtlCol="0" anchor="t">
            <a:spAutoFit/>
          </a:bodyPr>
          <a:lstStyle/>
          <a:p>
            <a:pPr algn="ctr">
              <a:lnSpc>
                <a:spcPts val="2250"/>
              </a:lnSpc>
            </a:pPr>
            <a:r>
              <a:rPr lang="en-US" sz="2800" b="1" spc="-81" dirty="0">
                <a:solidFill>
                  <a:srgbClr val="01012C"/>
                </a:solidFill>
                <a:latin typeface="Times New Roman" panose="02020603050405020304" pitchFamily="18" charset="0"/>
                <a:ea typeface="Montserrat"/>
                <a:cs typeface="Times New Roman" panose="02020603050405020304" pitchFamily="18" charset="0"/>
                <a:sym typeface="Montserrat"/>
              </a:rPr>
              <a:t>4</a:t>
            </a:r>
            <a:endParaRPr lang="en-US" sz="2250" b="1" spc="-81" dirty="0">
              <a:solidFill>
                <a:srgbClr val="01012C"/>
              </a:solidFill>
              <a:latin typeface="Times New Roman" panose="02020603050405020304" pitchFamily="18" charset="0"/>
              <a:ea typeface="Montserrat"/>
              <a:cs typeface="Times New Roman" panose="02020603050405020304" pitchFamily="18" charset="0"/>
              <a:sym typeface="Montserrat"/>
            </a:endParaRPr>
          </a:p>
        </p:txBody>
      </p:sp>
      <p:sp>
        <p:nvSpPr>
          <p:cNvPr id="36" name="TextBox 36"/>
          <p:cNvSpPr txBox="1"/>
          <p:nvPr/>
        </p:nvSpPr>
        <p:spPr>
          <a:xfrm>
            <a:off x="10106918" y="4715411"/>
            <a:ext cx="3837831" cy="512961"/>
          </a:xfrm>
          <a:prstGeom prst="rect">
            <a:avLst/>
          </a:prstGeom>
        </p:spPr>
        <p:txBody>
          <a:bodyPr lIns="0" tIns="0" rIns="0" bIns="0" rtlCol="0" anchor="t">
            <a:spAutoFit/>
          </a:bodyPr>
          <a:lstStyle/>
          <a:p>
            <a:pPr algn="l">
              <a:lnSpc>
                <a:spcPts val="1952"/>
              </a:lnSpc>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 10: Alpha version testing begins</a:t>
            </a:r>
          </a:p>
        </p:txBody>
      </p:sp>
      <p:grpSp>
        <p:nvGrpSpPr>
          <p:cNvPr id="37" name="Group 37"/>
          <p:cNvGrpSpPr/>
          <p:nvPr/>
        </p:nvGrpSpPr>
        <p:grpSpPr>
          <a:xfrm>
            <a:off x="8378205" y="5862042"/>
            <a:ext cx="577751" cy="28575"/>
            <a:chOff x="0" y="0"/>
            <a:chExt cx="770335" cy="38100"/>
          </a:xfrm>
        </p:grpSpPr>
        <p:sp>
          <p:nvSpPr>
            <p:cNvPr id="38" name="Freeform 38"/>
            <p:cNvSpPr/>
            <p:nvPr/>
          </p:nvSpPr>
          <p:spPr>
            <a:xfrm>
              <a:off x="0" y="0"/>
              <a:ext cx="770382" cy="38100"/>
            </a:xfrm>
            <a:custGeom>
              <a:avLst/>
              <a:gdLst/>
              <a:ahLst/>
              <a:cxnLst/>
              <a:rect l="l" t="t" r="r" b="b"/>
              <a:pathLst>
                <a:path w="770382" h="38100">
                  <a:moveTo>
                    <a:pt x="0" y="19050"/>
                  </a:moveTo>
                  <a:cubicBezTo>
                    <a:pt x="0" y="8509"/>
                    <a:pt x="8509" y="0"/>
                    <a:pt x="19050" y="0"/>
                  </a:cubicBezTo>
                  <a:lnTo>
                    <a:pt x="751332" y="0"/>
                  </a:lnTo>
                  <a:cubicBezTo>
                    <a:pt x="761873" y="0"/>
                    <a:pt x="770382" y="8509"/>
                    <a:pt x="770382" y="19050"/>
                  </a:cubicBezTo>
                  <a:cubicBezTo>
                    <a:pt x="770382" y="29591"/>
                    <a:pt x="761746" y="38100"/>
                    <a:pt x="751332" y="38100"/>
                  </a:cubicBezTo>
                  <a:lnTo>
                    <a:pt x="19050" y="38100"/>
                  </a:lnTo>
                  <a:cubicBezTo>
                    <a:pt x="8509" y="38100"/>
                    <a:pt x="0" y="29591"/>
                    <a:pt x="0" y="19050"/>
                  </a:cubicBezTo>
                  <a:close/>
                </a:path>
              </a:pathLst>
            </a:custGeom>
            <a:solidFill>
              <a:srgbClr val="F8F8F8"/>
            </a:solidFill>
          </p:spPr>
        </p:sp>
      </p:grpSp>
      <p:grpSp>
        <p:nvGrpSpPr>
          <p:cNvPr id="39" name="Group 39"/>
          <p:cNvGrpSpPr/>
          <p:nvPr/>
        </p:nvGrpSpPr>
        <p:grpSpPr>
          <a:xfrm>
            <a:off x="8922619" y="5655022"/>
            <a:ext cx="442764" cy="442764"/>
            <a:chOff x="0" y="0"/>
            <a:chExt cx="590352" cy="590352"/>
          </a:xfrm>
        </p:grpSpPr>
        <p:sp>
          <p:nvSpPr>
            <p:cNvPr id="40" name="Freeform 40"/>
            <p:cNvSpPr/>
            <p:nvPr/>
          </p:nvSpPr>
          <p:spPr>
            <a:xfrm>
              <a:off x="6350" y="6350"/>
              <a:ext cx="577596" cy="577596"/>
            </a:xfrm>
            <a:custGeom>
              <a:avLst/>
              <a:gdLst/>
              <a:ahLst/>
              <a:cxnLst/>
              <a:rect l="l" t="t" r="r" b="b"/>
              <a:pathLst>
                <a:path w="577596" h="577596">
                  <a:moveTo>
                    <a:pt x="0" y="107823"/>
                  </a:moveTo>
                  <a:cubicBezTo>
                    <a:pt x="0" y="48260"/>
                    <a:pt x="48260" y="0"/>
                    <a:pt x="107823" y="0"/>
                  </a:cubicBezTo>
                  <a:lnTo>
                    <a:pt x="469773" y="0"/>
                  </a:lnTo>
                  <a:cubicBezTo>
                    <a:pt x="529336" y="0"/>
                    <a:pt x="577596" y="48260"/>
                    <a:pt x="577596" y="107823"/>
                  </a:cubicBezTo>
                  <a:lnTo>
                    <a:pt x="577596" y="469773"/>
                  </a:lnTo>
                  <a:cubicBezTo>
                    <a:pt x="577596" y="529336"/>
                    <a:pt x="529336" y="577596"/>
                    <a:pt x="469773" y="577596"/>
                  </a:cubicBezTo>
                  <a:lnTo>
                    <a:pt x="107823" y="577596"/>
                  </a:lnTo>
                  <a:cubicBezTo>
                    <a:pt x="48260" y="577596"/>
                    <a:pt x="0" y="529336"/>
                    <a:pt x="0" y="469773"/>
                  </a:cubicBezTo>
                  <a:close/>
                </a:path>
              </a:pathLst>
            </a:custGeom>
            <a:solidFill>
              <a:srgbClr val="F8F8F8"/>
            </a:solidFill>
          </p:spPr>
        </p:sp>
        <p:sp>
          <p:nvSpPr>
            <p:cNvPr id="41" name="Freeform 41"/>
            <p:cNvSpPr/>
            <p:nvPr/>
          </p:nvSpPr>
          <p:spPr>
            <a:xfrm>
              <a:off x="0" y="0"/>
              <a:ext cx="590296" cy="590296"/>
            </a:xfrm>
            <a:custGeom>
              <a:avLst/>
              <a:gdLst/>
              <a:ahLst/>
              <a:cxnLst/>
              <a:rect l="l" t="t" r="r" b="b"/>
              <a:pathLst>
                <a:path w="590296" h="590296">
                  <a:moveTo>
                    <a:pt x="0" y="114173"/>
                  </a:moveTo>
                  <a:cubicBezTo>
                    <a:pt x="0" y="51181"/>
                    <a:pt x="51181" y="0"/>
                    <a:pt x="114173" y="0"/>
                  </a:cubicBezTo>
                  <a:lnTo>
                    <a:pt x="476123" y="0"/>
                  </a:lnTo>
                  <a:lnTo>
                    <a:pt x="476123" y="6350"/>
                  </a:lnTo>
                  <a:lnTo>
                    <a:pt x="476123" y="0"/>
                  </a:lnTo>
                  <a:lnTo>
                    <a:pt x="476123" y="6350"/>
                  </a:lnTo>
                  <a:lnTo>
                    <a:pt x="476123" y="0"/>
                  </a:lnTo>
                  <a:cubicBezTo>
                    <a:pt x="539242" y="0"/>
                    <a:pt x="590296" y="51181"/>
                    <a:pt x="590296" y="114173"/>
                  </a:cubicBezTo>
                  <a:lnTo>
                    <a:pt x="583946" y="114173"/>
                  </a:lnTo>
                  <a:lnTo>
                    <a:pt x="590296" y="114173"/>
                  </a:lnTo>
                  <a:lnTo>
                    <a:pt x="590296" y="476123"/>
                  </a:lnTo>
                  <a:lnTo>
                    <a:pt x="583946" y="476123"/>
                  </a:lnTo>
                  <a:lnTo>
                    <a:pt x="590296" y="476123"/>
                  </a:lnTo>
                  <a:cubicBezTo>
                    <a:pt x="590296" y="539242"/>
                    <a:pt x="539115" y="590296"/>
                    <a:pt x="476123" y="590296"/>
                  </a:cubicBezTo>
                  <a:lnTo>
                    <a:pt x="476123" y="583946"/>
                  </a:lnTo>
                  <a:lnTo>
                    <a:pt x="476123" y="590296"/>
                  </a:lnTo>
                  <a:lnTo>
                    <a:pt x="114173" y="590296"/>
                  </a:lnTo>
                  <a:lnTo>
                    <a:pt x="114173" y="583946"/>
                  </a:lnTo>
                  <a:lnTo>
                    <a:pt x="114173" y="590296"/>
                  </a:lnTo>
                  <a:cubicBezTo>
                    <a:pt x="51181" y="590296"/>
                    <a:pt x="0" y="539242"/>
                    <a:pt x="0" y="476123"/>
                  </a:cubicBezTo>
                  <a:lnTo>
                    <a:pt x="0" y="114173"/>
                  </a:lnTo>
                  <a:lnTo>
                    <a:pt x="6350" y="114173"/>
                  </a:lnTo>
                  <a:lnTo>
                    <a:pt x="0" y="114173"/>
                  </a:lnTo>
                  <a:moveTo>
                    <a:pt x="12700" y="114173"/>
                  </a:moveTo>
                  <a:lnTo>
                    <a:pt x="12700" y="476123"/>
                  </a:lnTo>
                  <a:lnTo>
                    <a:pt x="6350" y="476123"/>
                  </a:lnTo>
                  <a:lnTo>
                    <a:pt x="12700" y="476123"/>
                  </a:lnTo>
                  <a:cubicBezTo>
                    <a:pt x="12700" y="532130"/>
                    <a:pt x="58166" y="577596"/>
                    <a:pt x="114173" y="577596"/>
                  </a:cubicBezTo>
                  <a:lnTo>
                    <a:pt x="476123" y="577596"/>
                  </a:lnTo>
                  <a:cubicBezTo>
                    <a:pt x="532130" y="577596"/>
                    <a:pt x="577596" y="532130"/>
                    <a:pt x="577596" y="476123"/>
                  </a:cubicBezTo>
                  <a:lnTo>
                    <a:pt x="577596" y="114173"/>
                  </a:lnTo>
                  <a:cubicBezTo>
                    <a:pt x="577596" y="58166"/>
                    <a:pt x="532257" y="12700"/>
                    <a:pt x="476123" y="12700"/>
                  </a:cubicBezTo>
                  <a:lnTo>
                    <a:pt x="114173" y="12700"/>
                  </a:lnTo>
                  <a:lnTo>
                    <a:pt x="114173" y="6350"/>
                  </a:lnTo>
                  <a:lnTo>
                    <a:pt x="114173" y="12700"/>
                  </a:lnTo>
                  <a:cubicBezTo>
                    <a:pt x="58166" y="12700"/>
                    <a:pt x="12700" y="58166"/>
                    <a:pt x="12700" y="114173"/>
                  </a:cubicBezTo>
                  <a:close/>
                </a:path>
              </a:pathLst>
            </a:custGeom>
            <a:solidFill>
              <a:srgbClr val="F8F8F8"/>
            </a:solidFill>
          </p:spPr>
        </p:sp>
      </p:grpSp>
      <p:sp>
        <p:nvSpPr>
          <p:cNvPr id="42" name="TextBox 42"/>
          <p:cNvSpPr txBox="1"/>
          <p:nvPr/>
        </p:nvSpPr>
        <p:spPr>
          <a:xfrm>
            <a:off x="8999487" y="5728931"/>
            <a:ext cx="288875" cy="294953"/>
          </a:xfrm>
          <a:prstGeom prst="rect">
            <a:avLst/>
          </a:prstGeom>
        </p:spPr>
        <p:txBody>
          <a:bodyPr lIns="0" tIns="0" rIns="0" bIns="0" rtlCol="0" anchor="t">
            <a:spAutoFit/>
          </a:bodyPr>
          <a:lstStyle/>
          <a:p>
            <a:pPr algn="ctr">
              <a:lnSpc>
                <a:spcPts val="2250"/>
              </a:lnSpc>
            </a:pPr>
            <a:r>
              <a:rPr lang="en-US" sz="2400" b="1" spc="-81" dirty="0">
                <a:solidFill>
                  <a:srgbClr val="01012C"/>
                </a:solidFill>
                <a:latin typeface="Times New Roman" panose="02020603050405020304" pitchFamily="18" charset="0"/>
                <a:ea typeface="Montserrat"/>
                <a:cs typeface="Times New Roman" panose="02020603050405020304" pitchFamily="18" charset="0"/>
                <a:sym typeface="Montserrat"/>
              </a:rPr>
              <a:t>5</a:t>
            </a:r>
            <a:endParaRPr lang="en-US" sz="3200" b="1" spc="-81" dirty="0">
              <a:solidFill>
                <a:srgbClr val="01012C"/>
              </a:solidFill>
              <a:latin typeface="Times New Roman" panose="02020603050405020304" pitchFamily="18" charset="0"/>
              <a:ea typeface="Montserrat"/>
              <a:cs typeface="Times New Roman" panose="02020603050405020304" pitchFamily="18" charset="0"/>
              <a:sym typeface="Montserrat"/>
            </a:endParaRPr>
          </a:p>
        </p:txBody>
      </p:sp>
      <p:sp>
        <p:nvSpPr>
          <p:cNvPr id="43" name="TextBox 43"/>
          <p:cNvSpPr txBox="1"/>
          <p:nvPr/>
        </p:nvSpPr>
        <p:spPr>
          <a:xfrm>
            <a:off x="3035350" y="5720895"/>
            <a:ext cx="5145732" cy="512961"/>
          </a:xfrm>
          <a:prstGeom prst="rect">
            <a:avLst/>
          </a:prstGeom>
        </p:spPr>
        <p:txBody>
          <a:bodyPr lIns="0" tIns="0" rIns="0" bIns="0" rtlCol="0" anchor="t">
            <a:spAutoFit/>
          </a:bodyPr>
          <a:lstStyle/>
          <a:p>
            <a:pPr algn="r">
              <a:lnSpc>
                <a:spcPts val="1968"/>
              </a:lnSpc>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 12: Final system delivery and documentation</a:t>
            </a:r>
          </a:p>
        </p:txBody>
      </p:sp>
      <p:sp>
        <p:nvSpPr>
          <p:cNvPr id="44" name="TextBox 44"/>
          <p:cNvSpPr txBox="1"/>
          <p:nvPr/>
        </p:nvSpPr>
        <p:spPr>
          <a:xfrm>
            <a:off x="674042" y="7545884"/>
            <a:ext cx="3851672" cy="457200"/>
          </a:xfrm>
          <a:prstGeom prst="rect">
            <a:avLst/>
          </a:prstGeom>
        </p:spPr>
        <p:txBody>
          <a:bodyPr lIns="0" tIns="0" rIns="0" bIns="0" rtlCol="0" anchor="t">
            <a:spAutoFit/>
          </a:bodyPr>
          <a:lstStyle/>
          <a:p>
            <a:pPr algn="l">
              <a:lnSpc>
                <a:spcPts val="3749"/>
              </a:lnSpc>
            </a:pPr>
            <a:r>
              <a:rPr lang="en-US" sz="3000" b="1" spc="-108">
                <a:solidFill>
                  <a:srgbClr val="01012C"/>
                </a:solidFill>
                <a:latin typeface="Times New Roman" panose="02020603050405020304" pitchFamily="18" charset="0"/>
                <a:ea typeface="Montserrat"/>
                <a:cs typeface="Times New Roman" panose="02020603050405020304" pitchFamily="18" charset="0"/>
                <a:sym typeface="Montserrat"/>
              </a:rPr>
              <a:t>Resource Allocation:</a:t>
            </a:r>
          </a:p>
        </p:txBody>
      </p:sp>
      <p:sp>
        <p:nvSpPr>
          <p:cNvPr id="45" name="TextBox 45"/>
          <p:cNvSpPr txBox="1"/>
          <p:nvPr/>
        </p:nvSpPr>
        <p:spPr>
          <a:xfrm>
            <a:off x="674043" y="8263622"/>
            <a:ext cx="16939915" cy="307777"/>
          </a:xfrm>
          <a:prstGeom prst="rect">
            <a:avLst/>
          </a:prstGeom>
        </p:spPr>
        <p:txBody>
          <a:bodyPr lIns="0" tIns="0" rIns="0" bIns="0" rtlCol="0" anchor="t">
            <a:spAutoFit/>
          </a:bodyPr>
          <a:lstStyle/>
          <a:p>
            <a:pPr marL="226219" lvl="1" indent="-113109" algn="l">
              <a:lnSpc>
                <a:spcPts val="2375"/>
              </a:lnSpc>
              <a:buFont typeface="Arial"/>
              <a:buChar char="•"/>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Weeks 1-3: Business analysts and stakeholders</a:t>
            </a:r>
          </a:p>
        </p:txBody>
      </p:sp>
      <p:sp>
        <p:nvSpPr>
          <p:cNvPr id="46" name="TextBox 46"/>
          <p:cNvSpPr txBox="1"/>
          <p:nvPr/>
        </p:nvSpPr>
        <p:spPr>
          <a:xfrm>
            <a:off x="674043" y="8638968"/>
            <a:ext cx="16939915" cy="307777"/>
          </a:xfrm>
          <a:prstGeom prst="rect">
            <a:avLst/>
          </a:prstGeom>
        </p:spPr>
        <p:txBody>
          <a:bodyPr lIns="0" tIns="0" rIns="0" bIns="0" rtlCol="0" anchor="t">
            <a:spAutoFit/>
          </a:bodyPr>
          <a:lstStyle/>
          <a:p>
            <a:pPr marL="226219" lvl="1" indent="-113109" algn="l">
              <a:lnSpc>
                <a:spcPts val="2375"/>
              </a:lnSpc>
              <a:buFont typeface="Arial"/>
              <a:buChar char="•"/>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Weeks 4-6: System architects and designers</a:t>
            </a:r>
          </a:p>
        </p:txBody>
      </p:sp>
      <p:sp>
        <p:nvSpPr>
          <p:cNvPr id="47" name="TextBox 47"/>
          <p:cNvSpPr txBox="1"/>
          <p:nvPr/>
        </p:nvSpPr>
        <p:spPr>
          <a:xfrm>
            <a:off x="674043" y="9014312"/>
            <a:ext cx="16939915" cy="307777"/>
          </a:xfrm>
          <a:prstGeom prst="rect">
            <a:avLst/>
          </a:prstGeom>
        </p:spPr>
        <p:txBody>
          <a:bodyPr lIns="0" tIns="0" rIns="0" bIns="0" rtlCol="0" anchor="t">
            <a:spAutoFit/>
          </a:bodyPr>
          <a:lstStyle/>
          <a:p>
            <a:pPr marL="226219" lvl="1" indent="-113109" algn="l">
              <a:lnSpc>
                <a:spcPts val="2375"/>
              </a:lnSpc>
              <a:buFont typeface="Arial"/>
              <a:buChar char="•"/>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Weeks 7-10: Development team (Frontend &amp; Backend)</a:t>
            </a:r>
          </a:p>
        </p:txBody>
      </p:sp>
      <p:sp>
        <p:nvSpPr>
          <p:cNvPr id="48" name="TextBox 48"/>
          <p:cNvSpPr txBox="1"/>
          <p:nvPr/>
        </p:nvSpPr>
        <p:spPr>
          <a:xfrm>
            <a:off x="674043" y="9389656"/>
            <a:ext cx="16939915" cy="307777"/>
          </a:xfrm>
          <a:prstGeom prst="rect">
            <a:avLst/>
          </a:prstGeom>
        </p:spPr>
        <p:txBody>
          <a:bodyPr lIns="0" tIns="0" rIns="0" bIns="0" rtlCol="0" anchor="t">
            <a:spAutoFit/>
          </a:bodyPr>
          <a:lstStyle/>
          <a:p>
            <a:pPr marL="226219" lvl="1" indent="-113109" algn="l">
              <a:lnSpc>
                <a:spcPts val="2375"/>
              </a:lnSpc>
              <a:buFont typeface="Arial"/>
              <a:buChar char="•"/>
            </a:pPr>
            <a:r>
              <a:rPr lang="en-US" sz="2000" b="1">
                <a:solidFill>
                  <a:srgbClr val="01012C"/>
                </a:solidFill>
                <a:latin typeface="Times New Roman" panose="02020603050405020304" pitchFamily="18" charset="0"/>
                <a:ea typeface="Montserrat"/>
                <a:cs typeface="Times New Roman" panose="02020603050405020304" pitchFamily="18" charset="0"/>
                <a:sym typeface="Montserrat"/>
              </a:rPr>
              <a:t>Weeks 11-12: QA team and end users</a:t>
            </a:r>
          </a:p>
        </p:txBody>
      </p:sp>
      <p:sp>
        <p:nvSpPr>
          <p:cNvPr id="57" name="Slide Number Placeholder 56">
            <a:extLst>
              <a:ext uri="{FF2B5EF4-FFF2-40B4-BE49-F238E27FC236}">
                <a16:creationId xmlns:a16="http://schemas.microsoft.com/office/drawing/2014/main" id="{E6720F58-D69A-398F-13BB-207C4E5196B7}"/>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txBody>
            <a:bodyPr/>
            <a:lstStyle/>
            <a:p>
              <a:endParaRPr lang="en-US" dirty="0"/>
            </a:p>
          </p:txBody>
        </p:sp>
      </p:grpSp>
      <p:sp>
        <p:nvSpPr>
          <p:cNvPr id="10" name="TextBox 10"/>
          <p:cNvSpPr txBox="1"/>
          <p:nvPr/>
        </p:nvSpPr>
        <p:spPr>
          <a:xfrm>
            <a:off x="992238" y="3251746"/>
            <a:ext cx="9445526" cy="2004993"/>
          </a:xfrm>
          <a:prstGeom prst="rect">
            <a:avLst/>
          </a:prstGeom>
        </p:spPr>
        <p:txBody>
          <a:bodyPr lIns="0" tIns="0" rIns="0" bIns="0" rtlCol="0" anchor="t">
            <a:spAutoFit/>
          </a:bodyPr>
          <a:lstStyle/>
          <a:p>
            <a:pPr algn="l">
              <a:lnSpc>
                <a:spcPts val="8000"/>
              </a:lnSpc>
            </a:pPr>
            <a:r>
              <a:rPr lang="en-US" sz="6135" b="1" spc="-503" dirty="0">
                <a:solidFill>
                  <a:srgbClr val="01012C"/>
                </a:solidFill>
                <a:latin typeface="Arial Nova Bold"/>
                <a:ea typeface="Arial Nova Bold"/>
                <a:cs typeface="Arial Nova Bold"/>
                <a:sym typeface="Arial Nova Bold"/>
              </a:rPr>
              <a:t>THE RMMM PLAN FOR RESTAURANT POS SYSTEMS</a:t>
            </a:r>
          </a:p>
        </p:txBody>
      </p:sp>
      <p:sp>
        <p:nvSpPr>
          <p:cNvPr id="11" name="TextBox 11"/>
          <p:cNvSpPr txBox="1"/>
          <p:nvPr/>
        </p:nvSpPr>
        <p:spPr>
          <a:xfrm>
            <a:off x="992238" y="5843885"/>
            <a:ext cx="9445526" cy="107315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A comprehensive risk management framework designed specifically for restaurant Point of Sale system development and operations.</a:t>
            </a:r>
          </a:p>
        </p:txBody>
      </p:sp>
      <p:sp>
        <p:nvSpPr>
          <p:cNvPr id="18" name="Slide Number Placeholder 17">
            <a:extLst>
              <a:ext uri="{FF2B5EF4-FFF2-40B4-BE49-F238E27FC236}">
                <a16:creationId xmlns:a16="http://schemas.microsoft.com/office/drawing/2014/main" id="{1085A600-748A-E162-96BE-0CCE36882C11}"/>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656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1656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1008802" y="2520702"/>
            <a:ext cx="14459798" cy="943079"/>
          </a:xfrm>
          <a:prstGeom prst="rect">
            <a:avLst/>
          </a:prstGeom>
        </p:spPr>
        <p:txBody>
          <a:bodyPr wrap="square" lIns="0" tIns="0" rIns="0" bIns="0" rtlCol="0" anchor="t">
            <a:spAutoFit/>
          </a:bodyPr>
          <a:lstStyle/>
          <a:p>
            <a:pPr algn="l">
              <a:lnSpc>
                <a:spcPts val="7948"/>
              </a:lnSpc>
            </a:pPr>
            <a:r>
              <a:rPr lang="en-US" sz="6096" b="1" spc="-499" dirty="0">
                <a:solidFill>
                  <a:srgbClr val="01012C"/>
                </a:solidFill>
                <a:latin typeface="Times New Roman" panose="02020603050405020304" pitchFamily="18" charset="0"/>
                <a:ea typeface="Arial Nova Bold"/>
                <a:cs typeface="Times New Roman" panose="02020603050405020304" pitchFamily="18" charset="0"/>
                <a:sym typeface="Arial Nova Bold"/>
              </a:rPr>
              <a:t>UNDERSTANDING RMMM FRAMEWORK</a:t>
            </a:r>
          </a:p>
        </p:txBody>
      </p:sp>
      <p:grpSp>
        <p:nvGrpSpPr>
          <p:cNvPr id="7" name="Group 7"/>
          <p:cNvGrpSpPr/>
          <p:nvPr/>
        </p:nvGrpSpPr>
        <p:grpSpPr>
          <a:xfrm>
            <a:off x="994515" y="4199781"/>
            <a:ext cx="5274022" cy="2458194"/>
            <a:chOff x="0" y="0"/>
            <a:chExt cx="7032030" cy="3277592"/>
          </a:xfrm>
        </p:grpSpPr>
        <p:sp>
          <p:nvSpPr>
            <p:cNvPr id="8" name="Freeform 8"/>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9" name="Freeform 9"/>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10" name="TextBox 10"/>
          <p:cNvSpPr txBox="1"/>
          <p:nvPr/>
        </p:nvSpPr>
        <p:spPr>
          <a:xfrm>
            <a:off x="1320895" y="4497586"/>
            <a:ext cx="4075807" cy="490134"/>
          </a:xfrm>
          <a:prstGeom prst="rect">
            <a:avLst/>
          </a:prstGeom>
        </p:spPr>
        <p:txBody>
          <a:bodyPr wrap="square" lIns="0" tIns="0" rIns="0" bIns="0" rtlCol="0" anchor="t">
            <a:spAutoFit/>
          </a:bodyPr>
          <a:lstStyle/>
          <a:p>
            <a:pPr algn="l">
              <a:lnSpc>
                <a:spcPts val="4125"/>
              </a:lnSpc>
            </a:pPr>
            <a:r>
              <a:rPr lang="en-US" sz="3187" spc="-114">
                <a:solidFill>
                  <a:srgbClr val="01012C"/>
                </a:solidFill>
                <a:latin typeface="Times New Roman" panose="02020603050405020304" pitchFamily="18" charset="0"/>
                <a:ea typeface="Montserrat"/>
                <a:cs typeface="Times New Roman" panose="02020603050405020304" pitchFamily="18" charset="0"/>
                <a:sym typeface="Montserrat"/>
              </a:rPr>
              <a:t>Risk Mitigation</a:t>
            </a:r>
          </a:p>
        </p:txBody>
      </p:sp>
      <p:sp>
        <p:nvSpPr>
          <p:cNvPr id="11" name="TextBox 11"/>
          <p:cNvSpPr txBox="1"/>
          <p:nvPr/>
        </p:nvSpPr>
        <p:spPr>
          <a:xfrm>
            <a:off x="1320895" y="5207050"/>
            <a:ext cx="4621262" cy="716543"/>
          </a:xfrm>
          <a:prstGeom prst="rect">
            <a:avLst/>
          </a:prstGeom>
        </p:spPr>
        <p:txBody>
          <a:bodyPr wrap="square" lIns="0" tIns="0" rIns="0" bIns="0" rtlCol="0" anchor="t">
            <a:spAutoFit/>
          </a:bodyPr>
          <a:lstStyle/>
          <a:p>
            <a:pPr algn="l">
              <a:lnSpc>
                <a:spcPts val="2875"/>
              </a:lnSpc>
            </a:pPr>
            <a:r>
              <a:rPr lang="en-US" sz="2187">
                <a:solidFill>
                  <a:srgbClr val="01012C"/>
                </a:solidFill>
                <a:latin typeface="Times New Roman" panose="02020603050405020304" pitchFamily="18" charset="0"/>
                <a:ea typeface="Montserrat"/>
                <a:cs typeface="Times New Roman" panose="02020603050405020304" pitchFamily="18" charset="0"/>
                <a:sym typeface="Montserrat"/>
              </a:rPr>
              <a:t>Proactive planning to prevent risks before they occur in your POS system</a:t>
            </a:r>
          </a:p>
        </p:txBody>
      </p:sp>
      <p:grpSp>
        <p:nvGrpSpPr>
          <p:cNvPr id="12" name="Group 12"/>
          <p:cNvGrpSpPr/>
          <p:nvPr/>
        </p:nvGrpSpPr>
        <p:grpSpPr>
          <a:xfrm>
            <a:off x="6523480" y="4199781"/>
            <a:ext cx="5274022" cy="2458194"/>
            <a:chOff x="0" y="0"/>
            <a:chExt cx="7032030" cy="3277592"/>
          </a:xfrm>
        </p:grpSpPr>
        <p:sp>
          <p:nvSpPr>
            <p:cNvPr id="13" name="Freeform 13"/>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14" name="Freeform 14"/>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15" name="TextBox 15"/>
          <p:cNvSpPr txBox="1"/>
          <p:nvPr/>
        </p:nvSpPr>
        <p:spPr>
          <a:xfrm>
            <a:off x="6849860" y="4497586"/>
            <a:ext cx="4075807" cy="490134"/>
          </a:xfrm>
          <a:prstGeom prst="rect">
            <a:avLst/>
          </a:prstGeom>
        </p:spPr>
        <p:txBody>
          <a:bodyPr wrap="square" lIns="0" tIns="0" rIns="0" bIns="0" rtlCol="0" anchor="t">
            <a:spAutoFit/>
          </a:bodyPr>
          <a:lstStyle/>
          <a:p>
            <a:pPr algn="l">
              <a:lnSpc>
                <a:spcPts val="4125"/>
              </a:lnSpc>
            </a:pPr>
            <a:r>
              <a:rPr lang="en-US" sz="3187" spc="-114">
                <a:solidFill>
                  <a:srgbClr val="01012C"/>
                </a:solidFill>
                <a:latin typeface="Times New Roman" panose="02020603050405020304" pitchFamily="18" charset="0"/>
                <a:ea typeface="Montserrat"/>
                <a:cs typeface="Times New Roman" panose="02020603050405020304" pitchFamily="18" charset="0"/>
                <a:sym typeface="Montserrat"/>
              </a:rPr>
              <a:t>Risk Monitoring</a:t>
            </a:r>
          </a:p>
        </p:txBody>
      </p:sp>
      <p:sp>
        <p:nvSpPr>
          <p:cNvPr id="16" name="TextBox 16"/>
          <p:cNvSpPr txBox="1"/>
          <p:nvPr/>
        </p:nvSpPr>
        <p:spPr>
          <a:xfrm>
            <a:off x="6849860" y="5207050"/>
            <a:ext cx="4621262" cy="716543"/>
          </a:xfrm>
          <a:prstGeom prst="rect">
            <a:avLst/>
          </a:prstGeom>
        </p:spPr>
        <p:txBody>
          <a:bodyPr wrap="square" lIns="0" tIns="0" rIns="0" bIns="0" rtlCol="0" anchor="t">
            <a:spAutoFit/>
          </a:bodyPr>
          <a:lstStyle/>
          <a:p>
            <a:pPr algn="l">
              <a:lnSpc>
                <a:spcPts val="2875"/>
              </a:lnSpc>
            </a:pPr>
            <a:r>
              <a:rPr lang="en-US" sz="2187">
                <a:solidFill>
                  <a:srgbClr val="01012C"/>
                </a:solidFill>
                <a:latin typeface="Times New Roman" panose="02020603050405020304" pitchFamily="18" charset="0"/>
                <a:ea typeface="Montserrat"/>
                <a:cs typeface="Times New Roman" panose="02020603050405020304" pitchFamily="18" charset="0"/>
                <a:sym typeface="Montserrat"/>
              </a:rPr>
              <a:t>Continuous assessment of system performance and emerging threats</a:t>
            </a:r>
          </a:p>
        </p:txBody>
      </p:sp>
      <p:grpSp>
        <p:nvGrpSpPr>
          <p:cNvPr id="17" name="Group 17"/>
          <p:cNvGrpSpPr/>
          <p:nvPr/>
        </p:nvGrpSpPr>
        <p:grpSpPr>
          <a:xfrm>
            <a:off x="12052444" y="4199781"/>
            <a:ext cx="5274022" cy="2458194"/>
            <a:chOff x="0" y="0"/>
            <a:chExt cx="7032030" cy="3277592"/>
          </a:xfrm>
        </p:grpSpPr>
        <p:sp>
          <p:nvSpPr>
            <p:cNvPr id="18" name="Freeform 18"/>
            <p:cNvSpPr/>
            <p:nvPr/>
          </p:nvSpPr>
          <p:spPr>
            <a:xfrm>
              <a:off x="19050" y="19050"/>
              <a:ext cx="6993890" cy="3239516"/>
            </a:xfrm>
            <a:custGeom>
              <a:avLst/>
              <a:gdLst/>
              <a:ahLst/>
              <a:cxnLst/>
              <a:rect l="l" t="t" r="r" b="b"/>
              <a:pathLst>
                <a:path w="6993890" h="3239516">
                  <a:moveTo>
                    <a:pt x="0" y="158750"/>
                  </a:moveTo>
                  <a:cubicBezTo>
                    <a:pt x="0" y="71120"/>
                    <a:pt x="71501" y="0"/>
                    <a:pt x="159766" y="0"/>
                  </a:cubicBezTo>
                  <a:lnTo>
                    <a:pt x="6834124" y="0"/>
                  </a:lnTo>
                  <a:cubicBezTo>
                    <a:pt x="6922389" y="0"/>
                    <a:pt x="6993890" y="71120"/>
                    <a:pt x="6993890" y="158750"/>
                  </a:cubicBezTo>
                  <a:lnTo>
                    <a:pt x="6993890" y="3080766"/>
                  </a:lnTo>
                  <a:cubicBezTo>
                    <a:pt x="6993890" y="3168396"/>
                    <a:pt x="6922389" y="3239516"/>
                    <a:pt x="6834124" y="3239516"/>
                  </a:cubicBezTo>
                  <a:lnTo>
                    <a:pt x="159766" y="3239516"/>
                  </a:lnTo>
                  <a:cubicBezTo>
                    <a:pt x="71501" y="3239516"/>
                    <a:pt x="0" y="3168396"/>
                    <a:pt x="0" y="3080766"/>
                  </a:cubicBezTo>
                  <a:close/>
                </a:path>
              </a:pathLst>
            </a:custGeom>
            <a:solidFill>
              <a:srgbClr val="F8F8F8"/>
            </a:solidFill>
          </p:spPr>
        </p:sp>
        <p:sp>
          <p:nvSpPr>
            <p:cNvPr id="19" name="Freeform 19"/>
            <p:cNvSpPr/>
            <p:nvPr/>
          </p:nvSpPr>
          <p:spPr>
            <a:xfrm>
              <a:off x="0" y="0"/>
              <a:ext cx="7031990" cy="3277616"/>
            </a:xfrm>
            <a:custGeom>
              <a:avLst/>
              <a:gdLst/>
              <a:ahLst/>
              <a:cxnLst/>
              <a:rect l="l" t="t" r="r" b="b"/>
              <a:pathLst>
                <a:path w="7031990" h="3277616">
                  <a:moveTo>
                    <a:pt x="0" y="177800"/>
                  </a:moveTo>
                  <a:cubicBezTo>
                    <a:pt x="0" y="79502"/>
                    <a:pt x="80137" y="0"/>
                    <a:pt x="178816" y="0"/>
                  </a:cubicBezTo>
                  <a:lnTo>
                    <a:pt x="6853174" y="0"/>
                  </a:lnTo>
                  <a:lnTo>
                    <a:pt x="6853174" y="19050"/>
                  </a:lnTo>
                  <a:lnTo>
                    <a:pt x="6853174" y="0"/>
                  </a:lnTo>
                  <a:cubicBezTo>
                    <a:pt x="6951853" y="0"/>
                    <a:pt x="7031990" y="79502"/>
                    <a:pt x="7031990" y="177800"/>
                  </a:cubicBezTo>
                  <a:lnTo>
                    <a:pt x="7012940" y="177800"/>
                  </a:lnTo>
                  <a:lnTo>
                    <a:pt x="7031990" y="177800"/>
                  </a:lnTo>
                  <a:lnTo>
                    <a:pt x="7031990" y="3099816"/>
                  </a:lnTo>
                  <a:lnTo>
                    <a:pt x="7012940" y="3099816"/>
                  </a:lnTo>
                  <a:lnTo>
                    <a:pt x="7031990" y="3099816"/>
                  </a:lnTo>
                  <a:cubicBezTo>
                    <a:pt x="7031990" y="3198114"/>
                    <a:pt x="6951853" y="3277616"/>
                    <a:pt x="6853174" y="3277616"/>
                  </a:cubicBezTo>
                  <a:lnTo>
                    <a:pt x="6853174" y="3258566"/>
                  </a:lnTo>
                  <a:lnTo>
                    <a:pt x="6853174" y="3277616"/>
                  </a:lnTo>
                  <a:lnTo>
                    <a:pt x="178816" y="3277616"/>
                  </a:lnTo>
                  <a:lnTo>
                    <a:pt x="178816" y="3258566"/>
                  </a:lnTo>
                  <a:lnTo>
                    <a:pt x="178816" y="3277616"/>
                  </a:lnTo>
                  <a:cubicBezTo>
                    <a:pt x="80137" y="3277616"/>
                    <a:pt x="0" y="3198114"/>
                    <a:pt x="0" y="3099816"/>
                  </a:cubicBezTo>
                  <a:lnTo>
                    <a:pt x="0" y="177800"/>
                  </a:lnTo>
                  <a:lnTo>
                    <a:pt x="19050" y="177800"/>
                  </a:lnTo>
                  <a:lnTo>
                    <a:pt x="0" y="177800"/>
                  </a:lnTo>
                  <a:moveTo>
                    <a:pt x="38100" y="177800"/>
                  </a:moveTo>
                  <a:lnTo>
                    <a:pt x="38100" y="3099816"/>
                  </a:lnTo>
                  <a:lnTo>
                    <a:pt x="19050" y="3099816"/>
                  </a:lnTo>
                  <a:lnTo>
                    <a:pt x="38100" y="3099816"/>
                  </a:lnTo>
                  <a:cubicBezTo>
                    <a:pt x="38100" y="3176905"/>
                    <a:pt x="100965" y="3239516"/>
                    <a:pt x="178816" y="3239516"/>
                  </a:cubicBezTo>
                  <a:lnTo>
                    <a:pt x="6853174" y="3239516"/>
                  </a:lnTo>
                  <a:cubicBezTo>
                    <a:pt x="6931025" y="3239516"/>
                    <a:pt x="6993890" y="3176905"/>
                    <a:pt x="6993890" y="3099816"/>
                  </a:cubicBezTo>
                  <a:lnTo>
                    <a:pt x="6993890" y="177800"/>
                  </a:lnTo>
                  <a:cubicBezTo>
                    <a:pt x="6993890" y="100711"/>
                    <a:pt x="6931025" y="38100"/>
                    <a:pt x="6853174" y="38100"/>
                  </a:cubicBezTo>
                  <a:lnTo>
                    <a:pt x="178816" y="38100"/>
                  </a:lnTo>
                  <a:lnTo>
                    <a:pt x="178816" y="19050"/>
                  </a:lnTo>
                  <a:lnTo>
                    <a:pt x="178816" y="38100"/>
                  </a:lnTo>
                  <a:cubicBezTo>
                    <a:pt x="100965" y="38100"/>
                    <a:pt x="38100" y="100711"/>
                    <a:pt x="38100" y="177800"/>
                  </a:cubicBezTo>
                  <a:close/>
                </a:path>
              </a:pathLst>
            </a:custGeom>
            <a:solidFill>
              <a:srgbClr val="F8F8F8"/>
            </a:solidFill>
          </p:spPr>
        </p:sp>
      </p:grpSp>
      <p:sp>
        <p:nvSpPr>
          <p:cNvPr id="20" name="TextBox 20"/>
          <p:cNvSpPr txBox="1"/>
          <p:nvPr/>
        </p:nvSpPr>
        <p:spPr>
          <a:xfrm>
            <a:off x="12378825" y="4497586"/>
            <a:ext cx="4075808" cy="490134"/>
          </a:xfrm>
          <a:prstGeom prst="rect">
            <a:avLst/>
          </a:prstGeom>
        </p:spPr>
        <p:txBody>
          <a:bodyPr wrap="square" lIns="0" tIns="0" rIns="0" bIns="0" rtlCol="0" anchor="t">
            <a:spAutoFit/>
          </a:bodyPr>
          <a:lstStyle/>
          <a:p>
            <a:pPr algn="l">
              <a:lnSpc>
                <a:spcPts val="4125"/>
              </a:lnSpc>
            </a:pPr>
            <a:r>
              <a:rPr lang="en-US" sz="3187" spc="-114">
                <a:solidFill>
                  <a:srgbClr val="01012C"/>
                </a:solidFill>
                <a:latin typeface="Times New Roman" panose="02020603050405020304" pitchFamily="18" charset="0"/>
                <a:ea typeface="Montserrat"/>
                <a:cs typeface="Times New Roman" panose="02020603050405020304" pitchFamily="18" charset="0"/>
                <a:sym typeface="Montserrat"/>
              </a:rPr>
              <a:t>Risk Management</a:t>
            </a:r>
          </a:p>
        </p:txBody>
      </p:sp>
      <p:sp>
        <p:nvSpPr>
          <p:cNvPr id="21" name="TextBox 21"/>
          <p:cNvSpPr txBox="1"/>
          <p:nvPr/>
        </p:nvSpPr>
        <p:spPr>
          <a:xfrm>
            <a:off x="12378825" y="5207050"/>
            <a:ext cx="4621263" cy="716543"/>
          </a:xfrm>
          <a:prstGeom prst="rect">
            <a:avLst/>
          </a:prstGeom>
        </p:spPr>
        <p:txBody>
          <a:bodyPr wrap="square" lIns="0" tIns="0" rIns="0" bIns="0" rtlCol="0" anchor="t">
            <a:spAutoFit/>
          </a:bodyPr>
          <a:lstStyle/>
          <a:p>
            <a:pPr algn="l">
              <a:lnSpc>
                <a:spcPts val="2875"/>
              </a:lnSpc>
            </a:pPr>
            <a:r>
              <a:rPr lang="en-US" sz="2187">
                <a:solidFill>
                  <a:srgbClr val="01012C"/>
                </a:solidFill>
                <a:latin typeface="Times New Roman" panose="02020603050405020304" pitchFamily="18" charset="0"/>
                <a:ea typeface="Montserrat"/>
                <a:cs typeface="Times New Roman" panose="02020603050405020304" pitchFamily="18" charset="0"/>
                <a:sym typeface="Montserrat"/>
              </a:rPr>
              <a:t>Immediate response actions when mitigation fails and risks materialize</a:t>
            </a:r>
          </a:p>
        </p:txBody>
      </p:sp>
      <p:sp>
        <p:nvSpPr>
          <p:cNvPr id="22" name="TextBox 22"/>
          <p:cNvSpPr txBox="1"/>
          <p:nvPr/>
        </p:nvSpPr>
        <p:spPr>
          <a:xfrm>
            <a:off x="1008802" y="6943576"/>
            <a:ext cx="16303526" cy="344646"/>
          </a:xfrm>
          <a:prstGeom prst="rect">
            <a:avLst/>
          </a:prstGeom>
        </p:spPr>
        <p:txBody>
          <a:bodyPr wrap="square" lIns="0" tIns="0" rIns="0" bIns="0" rtlCol="0" anchor="t">
            <a:spAutoFit/>
          </a:bodyPr>
          <a:lstStyle/>
          <a:p>
            <a:pPr algn="l">
              <a:lnSpc>
                <a:spcPts val="2875"/>
              </a:lnSpc>
            </a:pPr>
            <a:r>
              <a:rPr lang="en-US" sz="2187">
                <a:solidFill>
                  <a:srgbClr val="01012C"/>
                </a:solidFill>
                <a:latin typeface="Times New Roman" panose="02020603050405020304" pitchFamily="18" charset="0"/>
                <a:ea typeface="Montserrat"/>
                <a:cs typeface="Times New Roman" panose="02020603050405020304" pitchFamily="18" charset="0"/>
                <a:sym typeface="Montserrat"/>
              </a:rPr>
              <a:t>Each component works together to ensure your restaurant POS system remains resilient and operational during critical business hours.</a:t>
            </a:r>
          </a:p>
        </p:txBody>
      </p:sp>
      <p:sp>
        <p:nvSpPr>
          <p:cNvPr id="31" name="Slide Number Placeholder 30">
            <a:extLst>
              <a:ext uri="{FF2B5EF4-FFF2-40B4-BE49-F238E27FC236}">
                <a16:creationId xmlns:a16="http://schemas.microsoft.com/office/drawing/2014/main" id="{3B4F8793-0F73-7B6C-7C91-5A468555C7FA}"/>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30" name="Group 2"/>
          <p:cNvGrpSpPr/>
          <p:nvPr/>
        </p:nvGrpSpPr>
        <p:grpSpPr>
          <a:xfrm>
            <a:off x="0" y="0"/>
            <a:ext cx="18288000" cy="10287000"/>
            <a:chOff x="0" y="0"/>
            <a:chExt cx="24384000" cy="13716000"/>
          </a:xfrm>
        </p:grpSpPr>
        <p:sp>
          <p:nvSpPr>
            <p:cNvPr id="31"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32" name="Group 4"/>
          <p:cNvGrpSpPr/>
          <p:nvPr/>
        </p:nvGrpSpPr>
        <p:grpSpPr>
          <a:xfrm>
            <a:off x="0" y="0"/>
            <a:ext cx="18288000" cy="10287000"/>
            <a:chOff x="0" y="0"/>
            <a:chExt cx="24384000" cy="13716000"/>
          </a:xfrm>
        </p:grpSpPr>
        <p:sp>
          <p:nvSpPr>
            <p:cNvPr id="33"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34" name="TextBox 8"/>
          <p:cNvSpPr txBox="1"/>
          <p:nvPr/>
        </p:nvSpPr>
        <p:spPr>
          <a:xfrm>
            <a:off x="3728329" y="3576775"/>
            <a:ext cx="10378231" cy="843419"/>
          </a:xfrm>
          <a:prstGeom prst="rect">
            <a:avLst/>
          </a:prstGeom>
        </p:spPr>
        <p:txBody>
          <a:bodyPr lIns="0" tIns="0" rIns="0" bIns="0" rtlCol="0" anchor="t">
            <a:spAutoFit/>
          </a:bodyPr>
          <a:lstStyle/>
          <a:p>
            <a:pPr algn="l">
              <a:lnSpc>
                <a:spcPts val="6786"/>
              </a:lnSpc>
            </a:pPr>
            <a:r>
              <a:rPr lang="en-US" sz="5189" b="1" spc="-425" dirty="0">
                <a:solidFill>
                  <a:srgbClr val="01012C"/>
                </a:solidFill>
                <a:latin typeface="Arial Nova Bold"/>
                <a:ea typeface="Arial Nova Bold"/>
                <a:cs typeface="Arial Nova Bold"/>
                <a:sym typeface="Arial Nova Bold"/>
              </a:rPr>
              <a:t>RISK MITIGATION: PREVENTION FIRST</a:t>
            </a:r>
          </a:p>
        </p:txBody>
      </p:sp>
      <p:sp>
        <p:nvSpPr>
          <p:cNvPr id="35" name="TextBox 9"/>
          <p:cNvSpPr txBox="1"/>
          <p:nvPr/>
        </p:nvSpPr>
        <p:spPr>
          <a:xfrm>
            <a:off x="886866" y="5162847"/>
            <a:ext cx="253305" cy="322263"/>
          </a:xfrm>
          <a:prstGeom prst="rect">
            <a:avLst/>
          </a:prstGeom>
        </p:spPr>
        <p:txBody>
          <a:bodyPr lIns="0" tIns="0" rIns="0" bIns="0" rtlCol="0" anchor="t">
            <a:spAutoFit/>
          </a:bodyPr>
          <a:lstStyle/>
          <a:p>
            <a:pPr algn="l">
              <a:lnSpc>
                <a:spcPts val="2562"/>
              </a:lnSpc>
            </a:pPr>
            <a:r>
              <a:rPr lang="en-US" sz="1937" dirty="0">
                <a:solidFill>
                  <a:srgbClr val="01012C"/>
                </a:solidFill>
                <a:latin typeface="Montserrat"/>
                <a:ea typeface="Montserrat"/>
                <a:cs typeface="Montserrat"/>
                <a:sym typeface="Montserrat"/>
              </a:rPr>
              <a:t>01</a:t>
            </a:r>
          </a:p>
        </p:txBody>
      </p:sp>
      <p:grpSp>
        <p:nvGrpSpPr>
          <p:cNvPr id="36" name="Group 10"/>
          <p:cNvGrpSpPr/>
          <p:nvPr/>
        </p:nvGrpSpPr>
        <p:grpSpPr>
          <a:xfrm>
            <a:off x="886866" y="5606057"/>
            <a:ext cx="8130480" cy="28575"/>
            <a:chOff x="0" y="0"/>
            <a:chExt cx="10840640" cy="38100"/>
          </a:xfrm>
        </p:grpSpPr>
        <p:sp>
          <p:nvSpPr>
            <p:cNvPr id="37" name="Freeform 11"/>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38" name="TextBox 12"/>
          <p:cNvSpPr txBox="1"/>
          <p:nvPr/>
        </p:nvSpPr>
        <p:spPr>
          <a:xfrm>
            <a:off x="886866" y="5761285"/>
            <a:ext cx="4532560" cy="429518"/>
          </a:xfrm>
          <a:prstGeom prst="rect">
            <a:avLst/>
          </a:prstGeom>
        </p:spPr>
        <p:txBody>
          <a:bodyPr lIns="0" tIns="0" rIns="0" bIns="0" rtlCol="0" anchor="t">
            <a:spAutoFit/>
          </a:bodyPr>
          <a:lstStyle/>
          <a:p>
            <a:pPr algn="l">
              <a:lnSpc>
                <a:spcPts val="3457"/>
              </a:lnSpc>
            </a:pPr>
            <a:r>
              <a:rPr lang="en-US" sz="2636" spc="-94">
                <a:solidFill>
                  <a:srgbClr val="01012C"/>
                </a:solidFill>
                <a:latin typeface="Montserrat"/>
                <a:ea typeface="Montserrat"/>
                <a:cs typeface="Montserrat"/>
                <a:sym typeface="Montserrat"/>
              </a:rPr>
              <a:t>Automated Backup Systems</a:t>
            </a:r>
          </a:p>
        </p:txBody>
      </p:sp>
      <p:sp>
        <p:nvSpPr>
          <p:cNvPr id="39" name="TextBox 13"/>
          <p:cNvSpPr txBox="1"/>
          <p:nvPr/>
        </p:nvSpPr>
        <p:spPr>
          <a:xfrm>
            <a:off x="886866" y="6386810"/>
            <a:ext cx="8130480" cy="646113"/>
          </a:xfrm>
          <a:prstGeom prst="rect">
            <a:avLst/>
          </a:prstGeom>
        </p:spPr>
        <p:txBody>
          <a:bodyPr lIns="0" tIns="0" rIns="0" bIns="0" rtlCol="0" anchor="t">
            <a:spAutoFit/>
          </a:bodyPr>
          <a:lstStyle/>
          <a:p>
            <a:pPr algn="l">
              <a:lnSpc>
                <a:spcPts val="2562"/>
              </a:lnSpc>
            </a:pPr>
            <a:r>
              <a:rPr lang="en-US" sz="1937" dirty="0">
                <a:solidFill>
                  <a:srgbClr val="01012C"/>
                </a:solidFill>
                <a:latin typeface="Montserrat"/>
                <a:ea typeface="Montserrat"/>
                <a:cs typeface="Montserrat"/>
                <a:sym typeface="Montserrat"/>
              </a:rPr>
              <a:t>Implement robust backup protocols during day-end processes to protect transaction data and prevent revenue loss.</a:t>
            </a:r>
          </a:p>
        </p:txBody>
      </p:sp>
      <p:sp>
        <p:nvSpPr>
          <p:cNvPr id="40" name="TextBox 14"/>
          <p:cNvSpPr txBox="1"/>
          <p:nvPr/>
        </p:nvSpPr>
        <p:spPr>
          <a:xfrm>
            <a:off x="9270652" y="5172372"/>
            <a:ext cx="253305" cy="260701"/>
          </a:xfrm>
          <a:prstGeom prst="rect">
            <a:avLst/>
          </a:prstGeom>
        </p:spPr>
        <p:txBody>
          <a:bodyPr lIns="0" tIns="0" rIns="0" bIns="0" rtlCol="0" anchor="t">
            <a:spAutoFit/>
          </a:bodyPr>
          <a:lstStyle/>
          <a:p>
            <a:pPr algn="l">
              <a:lnSpc>
                <a:spcPts val="2128"/>
              </a:lnSpc>
            </a:pPr>
            <a:r>
              <a:rPr lang="en-US" sz="1609">
                <a:solidFill>
                  <a:srgbClr val="01012C"/>
                </a:solidFill>
                <a:latin typeface="Montserrat"/>
                <a:ea typeface="Montserrat"/>
                <a:cs typeface="Montserrat"/>
                <a:sym typeface="Montserrat"/>
              </a:rPr>
              <a:t>02</a:t>
            </a:r>
          </a:p>
        </p:txBody>
      </p:sp>
      <p:grpSp>
        <p:nvGrpSpPr>
          <p:cNvPr id="41" name="Group 15"/>
          <p:cNvGrpSpPr/>
          <p:nvPr/>
        </p:nvGrpSpPr>
        <p:grpSpPr>
          <a:xfrm>
            <a:off x="9270652" y="5606057"/>
            <a:ext cx="8130480" cy="28575"/>
            <a:chOff x="0" y="0"/>
            <a:chExt cx="10840640" cy="38100"/>
          </a:xfrm>
        </p:grpSpPr>
        <p:sp>
          <p:nvSpPr>
            <p:cNvPr id="42" name="Freeform 16"/>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43" name="TextBox 17"/>
          <p:cNvSpPr txBox="1"/>
          <p:nvPr/>
        </p:nvSpPr>
        <p:spPr>
          <a:xfrm>
            <a:off x="9270652" y="5761285"/>
            <a:ext cx="4486424" cy="438051"/>
          </a:xfrm>
          <a:prstGeom prst="rect">
            <a:avLst/>
          </a:prstGeom>
        </p:spPr>
        <p:txBody>
          <a:bodyPr lIns="0" tIns="0" rIns="0" bIns="0" rtlCol="0" anchor="t">
            <a:spAutoFit/>
          </a:bodyPr>
          <a:lstStyle/>
          <a:p>
            <a:pPr algn="l">
              <a:lnSpc>
                <a:spcPts val="3549"/>
              </a:lnSpc>
            </a:pPr>
            <a:r>
              <a:rPr lang="en-US" sz="2707" spc="-97">
                <a:solidFill>
                  <a:srgbClr val="01012C"/>
                </a:solidFill>
                <a:latin typeface="Montserrat"/>
                <a:ea typeface="Montserrat"/>
                <a:cs typeface="Montserrat"/>
                <a:sym typeface="Montserrat"/>
              </a:rPr>
              <a:t>Role-Based Access Controls</a:t>
            </a:r>
          </a:p>
        </p:txBody>
      </p:sp>
      <p:sp>
        <p:nvSpPr>
          <p:cNvPr id="44" name="TextBox 18"/>
          <p:cNvSpPr txBox="1"/>
          <p:nvPr/>
        </p:nvSpPr>
        <p:spPr>
          <a:xfrm>
            <a:off x="9270652" y="6386810"/>
            <a:ext cx="8130480" cy="646113"/>
          </a:xfrm>
          <a:prstGeom prst="rect">
            <a:avLst/>
          </a:prstGeom>
        </p:spPr>
        <p:txBody>
          <a:bodyPr lIns="0" tIns="0" rIns="0" bIns="0" rtlCol="0" anchor="t">
            <a:spAutoFit/>
          </a:bodyPr>
          <a:lstStyle/>
          <a:p>
            <a:pPr algn="l">
              <a:lnSpc>
                <a:spcPts val="2562"/>
              </a:lnSpc>
            </a:pPr>
            <a:r>
              <a:rPr lang="en-US" sz="1937">
                <a:solidFill>
                  <a:srgbClr val="01012C"/>
                </a:solidFill>
                <a:latin typeface="Montserrat"/>
                <a:ea typeface="Montserrat"/>
                <a:cs typeface="Montserrat"/>
                <a:sym typeface="Montserrat"/>
              </a:rPr>
              <a:t>Establish secure user management with granular permissions to protect sensitive customer and financial data.</a:t>
            </a:r>
          </a:p>
        </p:txBody>
      </p:sp>
      <p:sp>
        <p:nvSpPr>
          <p:cNvPr id="45" name="TextBox 19"/>
          <p:cNvSpPr txBox="1"/>
          <p:nvPr/>
        </p:nvSpPr>
        <p:spPr>
          <a:xfrm>
            <a:off x="886866" y="7498259"/>
            <a:ext cx="253305" cy="260701"/>
          </a:xfrm>
          <a:prstGeom prst="rect">
            <a:avLst/>
          </a:prstGeom>
        </p:spPr>
        <p:txBody>
          <a:bodyPr lIns="0" tIns="0" rIns="0" bIns="0" rtlCol="0" anchor="t">
            <a:spAutoFit/>
          </a:bodyPr>
          <a:lstStyle/>
          <a:p>
            <a:pPr algn="l">
              <a:lnSpc>
                <a:spcPts val="2128"/>
              </a:lnSpc>
            </a:pPr>
            <a:r>
              <a:rPr lang="en-US" sz="1609">
                <a:solidFill>
                  <a:srgbClr val="01012C"/>
                </a:solidFill>
                <a:latin typeface="Montserrat"/>
                <a:ea typeface="Montserrat"/>
                <a:cs typeface="Montserrat"/>
                <a:sym typeface="Montserrat"/>
              </a:rPr>
              <a:t>03</a:t>
            </a:r>
          </a:p>
        </p:txBody>
      </p:sp>
      <p:grpSp>
        <p:nvGrpSpPr>
          <p:cNvPr id="46" name="Group 20"/>
          <p:cNvGrpSpPr/>
          <p:nvPr/>
        </p:nvGrpSpPr>
        <p:grpSpPr>
          <a:xfrm>
            <a:off x="886866" y="7931944"/>
            <a:ext cx="8130480" cy="28575"/>
            <a:chOff x="0" y="0"/>
            <a:chExt cx="10840640" cy="38100"/>
          </a:xfrm>
        </p:grpSpPr>
        <p:sp>
          <p:nvSpPr>
            <p:cNvPr id="47" name="Freeform 21"/>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48" name="TextBox 22"/>
          <p:cNvSpPr txBox="1"/>
          <p:nvPr/>
        </p:nvSpPr>
        <p:spPr>
          <a:xfrm>
            <a:off x="886866" y="8087171"/>
            <a:ext cx="4268540" cy="438051"/>
          </a:xfrm>
          <a:prstGeom prst="rect">
            <a:avLst/>
          </a:prstGeom>
        </p:spPr>
        <p:txBody>
          <a:bodyPr lIns="0" tIns="0" rIns="0" bIns="0" rtlCol="0" anchor="t">
            <a:spAutoFit/>
          </a:bodyPr>
          <a:lstStyle/>
          <a:p>
            <a:pPr algn="l">
              <a:lnSpc>
                <a:spcPts val="3549"/>
              </a:lnSpc>
            </a:pPr>
            <a:r>
              <a:rPr lang="en-US" sz="2707" spc="-97">
                <a:solidFill>
                  <a:srgbClr val="01012C"/>
                </a:solidFill>
                <a:latin typeface="Montserrat"/>
                <a:ea typeface="Montserrat"/>
                <a:cs typeface="Montserrat"/>
                <a:sym typeface="Montserrat"/>
              </a:rPr>
              <a:t>Database Integrity Checks</a:t>
            </a:r>
          </a:p>
        </p:txBody>
      </p:sp>
      <p:sp>
        <p:nvSpPr>
          <p:cNvPr id="49" name="TextBox 23"/>
          <p:cNvSpPr txBox="1"/>
          <p:nvPr/>
        </p:nvSpPr>
        <p:spPr>
          <a:xfrm>
            <a:off x="886866" y="8712696"/>
            <a:ext cx="8130480" cy="646113"/>
          </a:xfrm>
          <a:prstGeom prst="rect">
            <a:avLst/>
          </a:prstGeom>
        </p:spPr>
        <p:txBody>
          <a:bodyPr lIns="0" tIns="0" rIns="0" bIns="0" rtlCol="0" anchor="t">
            <a:spAutoFit/>
          </a:bodyPr>
          <a:lstStyle/>
          <a:p>
            <a:pPr algn="l">
              <a:lnSpc>
                <a:spcPts val="2562"/>
              </a:lnSpc>
            </a:pPr>
            <a:r>
              <a:rPr lang="en-US" sz="1937">
                <a:solidFill>
                  <a:srgbClr val="01012C"/>
                </a:solidFill>
                <a:latin typeface="Montserrat"/>
                <a:ea typeface="Montserrat"/>
                <a:cs typeface="Montserrat"/>
                <a:sym typeface="Montserrat"/>
              </a:rPr>
              <a:t>Schedule regular validation processes to ensure order data remains accurate and consistent across all systems.</a:t>
            </a:r>
          </a:p>
        </p:txBody>
      </p:sp>
      <p:sp>
        <p:nvSpPr>
          <p:cNvPr id="50" name="TextBox 24"/>
          <p:cNvSpPr txBox="1"/>
          <p:nvPr/>
        </p:nvSpPr>
        <p:spPr>
          <a:xfrm>
            <a:off x="9270652" y="7498259"/>
            <a:ext cx="253305" cy="243329"/>
          </a:xfrm>
          <a:prstGeom prst="rect">
            <a:avLst/>
          </a:prstGeom>
        </p:spPr>
        <p:txBody>
          <a:bodyPr lIns="0" tIns="0" rIns="0" bIns="0" rtlCol="0" anchor="t">
            <a:spAutoFit/>
          </a:bodyPr>
          <a:lstStyle/>
          <a:p>
            <a:pPr algn="l">
              <a:lnSpc>
                <a:spcPts val="1985"/>
              </a:lnSpc>
            </a:pPr>
            <a:r>
              <a:rPr lang="en-US" sz="1501">
                <a:solidFill>
                  <a:srgbClr val="01012C"/>
                </a:solidFill>
                <a:latin typeface="Montserrat"/>
                <a:ea typeface="Montserrat"/>
                <a:cs typeface="Montserrat"/>
                <a:sym typeface="Montserrat"/>
              </a:rPr>
              <a:t>04</a:t>
            </a:r>
          </a:p>
        </p:txBody>
      </p:sp>
      <p:grpSp>
        <p:nvGrpSpPr>
          <p:cNvPr id="51" name="Group 25"/>
          <p:cNvGrpSpPr/>
          <p:nvPr/>
        </p:nvGrpSpPr>
        <p:grpSpPr>
          <a:xfrm>
            <a:off x="9270652" y="7931944"/>
            <a:ext cx="8130480" cy="28575"/>
            <a:chOff x="0" y="0"/>
            <a:chExt cx="10840640" cy="38100"/>
          </a:xfrm>
        </p:grpSpPr>
        <p:sp>
          <p:nvSpPr>
            <p:cNvPr id="52" name="Freeform 26"/>
            <p:cNvSpPr/>
            <p:nvPr/>
          </p:nvSpPr>
          <p:spPr>
            <a:xfrm>
              <a:off x="0" y="0"/>
              <a:ext cx="10840593" cy="38100"/>
            </a:xfrm>
            <a:custGeom>
              <a:avLst/>
              <a:gdLst/>
              <a:ahLst/>
              <a:cxnLst/>
              <a:rect l="l" t="t" r="r" b="b"/>
              <a:pathLst>
                <a:path w="10840593" h="38100">
                  <a:moveTo>
                    <a:pt x="0" y="0"/>
                  </a:moveTo>
                  <a:lnTo>
                    <a:pt x="10840593" y="0"/>
                  </a:lnTo>
                  <a:lnTo>
                    <a:pt x="10840593" y="38100"/>
                  </a:lnTo>
                  <a:lnTo>
                    <a:pt x="0" y="38100"/>
                  </a:lnTo>
                  <a:close/>
                </a:path>
              </a:pathLst>
            </a:custGeom>
            <a:solidFill>
              <a:srgbClr val="000000"/>
            </a:solidFill>
          </p:spPr>
        </p:sp>
      </p:grpSp>
      <p:sp>
        <p:nvSpPr>
          <p:cNvPr id="53" name="TextBox 27"/>
          <p:cNvSpPr txBox="1"/>
          <p:nvPr/>
        </p:nvSpPr>
        <p:spPr>
          <a:xfrm>
            <a:off x="9270652" y="8077646"/>
            <a:ext cx="4315271" cy="438547"/>
          </a:xfrm>
          <a:prstGeom prst="rect">
            <a:avLst/>
          </a:prstGeom>
        </p:spPr>
        <p:txBody>
          <a:bodyPr lIns="0" tIns="0" rIns="0" bIns="0" rtlCol="0" anchor="t">
            <a:spAutoFit/>
          </a:bodyPr>
          <a:lstStyle/>
          <a:p>
            <a:pPr algn="l">
              <a:lnSpc>
                <a:spcPts val="3503"/>
              </a:lnSpc>
            </a:pPr>
            <a:r>
              <a:rPr lang="en-US" sz="2671" spc="-96">
                <a:solidFill>
                  <a:srgbClr val="01012C"/>
                </a:solidFill>
                <a:latin typeface="Montserrat"/>
                <a:ea typeface="Montserrat"/>
                <a:cs typeface="Montserrat"/>
                <a:sym typeface="Montserrat"/>
              </a:rPr>
              <a:t>Payment Testing Protocols</a:t>
            </a:r>
          </a:p>
        </p:txBody>
      </p:sp>
      <p:sp>
        <p:nvSpPr>
          <p:cNvPr id="54" name="TextBox 28"/>
          <p:cNvSpPr txBox="1"/>
          <p:nvPr/>
        </p:nvSpPr>
        <p:spPr>
          <a:xfrm>
            <a:off x="9270652" y="8712696"/>
            <a:ext cx="8130480" cy="646113"/>
          </a:xfrm>
          <a:prstGeom prst="rect">
            <a:avLst/>
          </a:prstGeom>
        </p:spPr>
        <p:txBody>
          <a:bodyPr lIns="0" tIns="0" rIns="0" bIns="0" rtlCol="0" anchor="t">
            <a:spAutoFit/>
          </a:bodyPr>
          <a:lstStyle/>
          <a:p>
            <a:pPr algn="l">
              <a:lnSpc>
                <a:spcPts val="2562"/>
              </a:lnSpc>
            </a:pPr>
            <a:r>
              <a:rPr lang="en-US" sz="1937">
                <a:solidFill>
                  <a:srgbClr val="01012C"/>
                </a:solidFill>
                <a:latin typeface="Montserrat"/>
                <a:ea typeface="Montserrat"/>
                <a:cs typeface="Montserrat"/>
                <a:sym typeface="Montserrat"/>
              </a:rPr>
              <a:t>Establish comprehensive testing procedures for payment processing functionality before deployment.</a:t>
            </a:r>
          </a:p>
        </p:txBody>
      </p:sp>
      <p:sp>
        <p:nvSpPr>
          <p:cNvPr id="9" name="Slide Number Placeholder 8">
            <a:extLst>
              <a:ext uri="{FF2B5EF4-FFF2-40B4-BE49-F238E27FC236}">
                <a16:creationId xmlns:a16="http://schemas.microsoft.com/office/drawing/2014/main" id="{6DAC8B39-7231-CC71-A39E-6310AADDF1C7}"/>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992237" y="2049066"/>
            <a:ext cx="10480625" cy="889811"/>
          </a:xfrm>
          <a:prstGeom prst="rect">
            <a:avLst/>
          </a:prstGeom>
        </p:spPr>
        <p:txBody>
          <a:bodyPr lIns="0" tIns="0" rIns="0" bIns="0" rtlCol="0" anchor="t">
            <a:spAutoFit/>
          </a:bodyPr>
          <a:lstStyle/>
          <a:p>
            <a:pPr algn="l">
              <a:lnSpc>
                <a:spcPts val="7134"/>
              </a:lnSpc>
            </a:pPr>
            <a:r>
              <a:rPr lang="en-US" sz="5471" b="1" spc="-448">
                <a:solidFill>
                  <a:srgbClr val="01012C"/>
                </a:solidFill>
                <a:latin typeface="Arial Nova Bold"/>
                <a:ea typeface="Arial Nova Bold"/>
                <a:cs typeface="Arial Nova Bold"/>
                <a:sym typeface="Arial Nova Bold"/>
              </a:rPr>
              <a:t>INVENTORY TRACKING ACCURACY</a:t>
            </a:r>
          </a:p>
        </p:txBody>
      </p:sp>
      <p:sp>
        <p:nvSpPr>
          <p:cNvPr id="7" name="TextBox 7"/>
          <p:cNvSpPr txBox="1"/>
          <p:nvPr/>
        </p:nvSpPr>
        <p:spPr>
          <a:xfrm>
            <a:off x="992238" y="3836491"/>
            <a:ext cx="4941391" cy="604599"/>
          </a:xfrm>
          <a:prstGeom prst="rect">
            <a:avLst/>
          </a:prstGeom>
        </p:spPr>
        <p:txBody>
          <a:bodyPr lIns="0" tIns="0" rIns="0" bIns="0" rtlCol="0" anchor="t">
            <a:spAutoFit/>
          </a:bodyPr>
          <a:lstStyle/>
          <a:p>
            <a:pPr algn="l">
              <a:lnSpc>
                <a:spcPts val="4874"/>
              </a:lnSpc>
            </a:pPr>
            <a:r>
              <a:rPr lang="en-US" sz="3717" spc="-133">
                <a:solidFill>
                  <a:srgbClr val="01012C"/>
                </a:solidFill>
                <a:latin typeface="Montserrat"/>
                <a:ea typeface="Montserrat"/>
                <a:cs typeface="Montserrat"/>
                <a:sym typeface="Montserrat"/>
              </a:rPr>
              <a:t>Key Monitoring Points</a:t>
            </a:r>
          </a:p>
        </p:txBody>
      </p:sp>
      <p:sp>
        <p:nvSpPr>
          <p:cNvPr id="8" name="TextBox 8"/>
          <p:cNvSpPr txBox="1"/>
          <p:nvPr/>
        </p:nvSpPr>
        <p:spPr>
          <a:xfrm>
            <a:off x="992237" y="4774704"/>
            <a:ext cx="6106269" cy="349250"/>
          </a:xfrm>
          <a:prstGeom prst="rect">
            <a:avLst/>
          </a:prstGeom>
        </p:spPr>
        <p:txBody>
          <a:bodyPr lIns="0" tIns="0" rIns="0" bIns="0" rtlCol="0" anchor="t">
            <a:spAutoFit/>
          </a:bodyPr>
          <a:lstStyle/>
          <a:p>
            <a:pPr marL="329903" lvl="1" indent="-164951" algn="l">
              <a:lnSpc>
                <a:spcPts val="2875"/>
              </a:lnSpc>
              <a:buFont typeface="Arial"/>
              <a:buChar char="•"/>
            </a:pPr>
            <a:r>
              <a:rPr lang="en-US" sz="2187">
                <a:solidFill>
                  <a:srgbClr val="01012C"/>
                </a:solidFill>
                <a:latin typeface="Montserrat"/>
                <a:ea typeface="Montserrat"/>
                <a:cs typeface="Montserrat"/>
                <a:sym typeface="Montserrat"/>
              </a:rPr>
              <a:t>Real-time stock level updates</a:t>
            </a:r>
          </a:p>
        </p:txBody>
      </p:sp>
      <p:sp>
        <p:nvSpPr>
          <p:cNvPr id="9" name="TextBox 9"/>
          <p:cNvSpPr txBox="1"/>
          <p:nvPr/>
        </p:nvSpPr>
        <p:spPr>
          <a:xfrm>
            <a:off x="992237" y="5242322"/>
            <a:ext cx="6106269" cy="349250"/>
          </a:xfrm>
          <a:prstGeom prst="rect">
            <a:avLst/>
          </a:prstGeom>
        </p:spPr>
        <p:txBody>
          <a:bodyPr lIns="0" tIns="0" rIns="0" bIns="0" rtlCol="0" anchor="t">
            <a:spAutoFit/>
          </a:bodyPr>
          <a:lstStyle/>
          <a:p>
            <a:pPr marL="329903" lvl="1" indent="-164951" algn="l">
              <a:lnSpc>
                <a:spcPts val="2875"/>
              </a:lnSpc>
              <a:buFont typeface="Arial"/>
              <a:buChar char="•"/>
            </a:pPr>
            <a:r>
              <a:rPr lang="en-US" sz="2187">
                <a:solidFill>
                  <a:srgbClr val="01012C"/>
                </a:solidFill>
                <a:latin typeface="Montserrat"/>
                <a:ea typeface="Montserrat"/>
                <a:cs typeface="Montserrat"/>
                <a:sym typeface="Montserrat"/>
              </a:rPr>
              <a:t>Ingredient usage patterns</a:t>
            </a:r>
          </a:p>
        </p:txBody>
      </p:sp>
      <p:sp>
        <p:nvSpPr>
          <p:cNvPr id="10" name="TextBox 10"/>
          <p:cNvSpPr txBox="1"/>
          <p:nvPr/>
        </p:nvSpPr>
        <p:spPr>
          <a:xfrm>
            <a:off x="992237" y="5709940"/>
            <a:ext cx="6106269" cy="349250"/>
          </a:xfrm>
          <a:prstGeom prst="rect">
            <a:avLst/>
          </a:prstGeom>
        </p:spPr>
        <p:txBody>
          <a:bodyPr lIns="0" tIns="0" rIns="0" bIns="0" rtlCol="0" anchor="t">
            <a:spAutoFit/>
          </a:bodyPr>
          <a:lstStyle/>
          <a:p>
            <a:pPr marL="329903" lvl="1" indent="-164951" algn="l">
              <a:lnSpc>
                <a:spcPts val="2875"/>
              </a:lnSpc>
              <a:buFont typeface="Arial"/>
              <a:buChar char="•"/>
            </a:pPr>
            <a:r>
              <a:rPr lang="en-US" sz="2187">
                <a:solidFill>
                  <a:srgbClr val="01012C"/>
                </a:solidFill>
                <a:latin typeface="Montserrat"/>
                <a:ea typeface="Montserrat"/>
                <a:cs typeface="Montserrat"/>
                <a:sym typeface="Montserrat"/>
              </a:rPr>
              <a:t>Waste tracking and reporting</a:t>
            </a:r>
          </a:p>
        </p:txBody>
      </p:sp>
      <p:sp>
        <p:nvSpPr>
          <p:cNvPr id="11" name="TextBox 11"/>
          <p:cNvSpPr txBox="1"/>
          <p:nvPr/>
        </p:nvSpPr>
        <p:spPr>
          <a:xfrm>
            <a:off x="992237" y="6177558"/>
            <a:ext cx="6106269" cy="349250"/>
          </a:xfrm>
          <a:prstGeom prst="rect">
            <a:avLst/>
          </a:prstGeom>
        </p:spPr>
        <p:txBody>
          <a:bodyPr lIns="0" tIns="0" rIns="0" bIns="0" rtlCol="0" anchor="t">
            <a:spAutoFit/>
          </a:bodyPr>
          <a:lstStyle/>
          <a:p>
            <a:pPr marL="329903" lvl="1" indent="-164951" algn="l">
              <a:lnSpc>
                <a:spcPts val="2875"/>
              </a:lnSpc>
              <a:buFont typeface="Arial"/>
              <a:buChar char="•"/>
            </a:pPr>
            <a:r>
              <a:rPr lang="en-US" sz="2187">
                <a:solidFill>
                  <a:srgbClr val="01012C"/>
                </a:solidFill>
                <a:latin typeface="Montserrat"/>
                <a:ea typeface="Montserrat"/>
                <a:cs typeface="Montserrat"/>
                <a:sym typeface="Montserrat"/>
              </a:rPr>
              <a:t>Supplier integration status</a:t>
            </a:r>
          </a:p>
        </p:txBody>
      </p:sp>
      <p:sp>
        <p:nvSpPr>
          <p:cNvPr id="12" name="TextBox 12"/>
          <p:cNvSpPr txBox="1"/>
          <p:nvPr/>
        </p:nvSpPr>
        <p:spPr>
          <a:xfrm>
            <a:off x="992237" y="6801147"/>
            <a:ext cx="6106269" cy="107315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Continuous evaluation prevents stock discrepancies that could impact menu availability and customer satisfaction.</a:t>
            </a:r>
          </a:p>
        </p:txBody>
      </p:sp>
      <p:sp>
        <p:nvSpPr>
          <p:cNvPr id="13" name="TextBox 13"/>
          <p:cNvSpPr txBox="1"/>
          <p:nvPr/>
        </p:nvSpPr>
        <p:spPr>
          <a:xfrm>
            <a:off x="7799785" y="4165998"/>
            <a:ext cx="4575422" cy="801949"/>
          </a:xfrm>
          <a:prstGeom prst="rect">
            <a:avLst/>
          </a:prstGeom>
        </p:spPr>
        <p:txBody>
          <a:bodyPr lIns="0" tIns="0" rIns="0" bIns="0" rtlCol="0" anchor="t">
            <a:spAutoFit/>
          </a:bodyPr>
          <a:lstStyle/>
          <a:p>
            <a:pPr algn="ctr">
              <a:lnSpc>
                <a:spcPts val="6072"/>
              </a:lnSpc>
            </a:pPr>
            <a:r>
              <a:rPr lang="en-US" sz="6072" b="1" spc="-497">
                <a:solidFill>
                  <a:srgbClr val="01012C"/>
                </a:solidFill>
                <a:latin typeface="Arial Nova Bold"/>
                <a:ea typeface="Arial Nova Bold"/>
                <a:cs typeface="Arial Nova Bold"/>
                <a:sym typeface="Arial Nova Bold"/>
              </a:rPr>
              <a:t>99.7%</a:t>
            </a:r>
          </a:p>
        </p:txBody>
      </p:sp>
      <p:sp>
        <p:nvSpPr>
          <p:cNvPr id="14" name="TextBox 14"/>
          <p:cNvSpPr txBox="1"/>
          <p:nvPr/>
        </p:nvSpPr>
        <p:spPr>
          <a:xfrm>
            <a:off x="8049518" y="5312866"/>
            <a:ext cx="4075808" cy="514350"/>
          </a:xfrm>
          <a:prstGeom prst="rect">
            <a:avLst/>
          </a:prstGeom>
        </p:spPr>
        <p:txBody>
          <a:bodyPr lIns="0" tIns="0" rIns="0" bIns="0" rtlCol="0" anchor="t">
            <a:spAutoFit/>
          </a:bodyPr>
          <a:lstStyle/>
          <a:p>
            <a:pPr algn="ctr">
              <a:lnSpc>
                <a:spcPts val="4125"/>
              </a:lnSpc>
            </a:pPr>
            <a:r>
              <a:rPr lang="en-US" sz="3187" spc="-114">
                <a:solidFill>
                  <a:srgbClr val="01012C"/>
                </a:solidFill>
                <a:latin typeface="Montserrat"/>
                <a:ea typeface="Montserrat"/>
                <a:cs typeface="Montserrat"/>
                <a:sym typeface="Montserrat"/>
              </a:rPr>
              <a:t>Accuracy Target</a:t>
            </a:r>
          </a:p>
        </p:txBody>
      </p:sp>
      <p:sp>
        <p:nvSpPr>
          <p:cNvPr id="15" name="TextBox 15"/>
          <p:cNvSpPr txBox="1"/>
          <p:nvPr/>
        </p:nvSpPr>
        <p:spPr>
          <a:xfrm>
            <a:off x="7799785" y="6135738"/>
            <a:ext cx="4575422" cy="711200"/>
          </a:xfrm>
          <a:prstGeom prst="rect">
            <a:avLst/>
          </a:prstGeom>
        </p:spPr>
        <p:txBody>
          <a:bodyPr lIns="0" tIns="0" rIns="0" bIns="0" rtlCol="0" anchor="t">
            <a:spAutoFit/>
          </a:bodyPr>
          <a:lstStyle/>
          <a:p>
            <a:pPr algn="ctr">
              <a:lnSpc>
                <a:spcPts val="2875"/>
              </a:lnSpc>
            </a:pPr>
            <a:r>
              <a:rPr lang="en-US" sz="2187">
                <a:solidFill>
                  <a:srgbClr val="01012C"/>
                </a:solidFill>
                <a:latin typeface="Montserrat"/>
                <a:ea typeface="Montserrat"/>
                <a:cs typeface="Montserrat"/>
                <a:sym typeface="Montserrat"/>
              </a:rPr>
              <a:t>Inventory tracking precision goal</a:t>
            </a:r>
          </a:p>
        </p:txBody>
      </p:sp>
      <p:sp>
        <p:nvSpPr>
          <p:cNvPr id="16" name="TextBox 16"/>
          <p:cNvSpPr txBox="1"/>
          <p:nvPr/>
        </p:nvSpPr>
        <p:spPr>
          <a:xfrm>
            <a:off x="12729567" y="4165998"/>
            <a:ext cx="4575572" cy="801949"/>
          </a:xfrm>
          <a:prstGeom prst="rect">
            <a:avLst/>
          </a:prstGeom>
        </p:spPr>
        <p:txBody>
          <a:bodyPr lIns="0" tIns="0" rIns="0" bIns="0" rtlCol="0" anchor="t">
            <a:spAutoFit/>
          </a:bodyPr>
          <a:lstStyle/>
          <a:p>
            <a:pPr algn="ctr">
              <a:lnSpc>
                <a:spcPts val="6072"/>
              </a:lnSpc>
            </a:pPr>
            <a:r>
              <a:rPr lang="en-US" sz="6072" b="1" spc="-497">
                <a:solidFill>
                  <a:srgbClr val="01012C"/>
                </a:solidFill>
                <a:latin typeface="Arial Nova Bold"/>
                <a:ea typeface="Arial Nova Bold"/>
                <a:cs typeface="Arial Nova Bold"/>
                <a:sym typeface="Arial Nova Bold"/>
              </a:rPr>
              <a:t>15MIN</a:t>
            </a:r>
          </a:p>
        </p:txBody>
      </p:sp>
      <p:sp>
        <p:nvSpPr>
          <p:cNvPr id="17" name="TextBox 17"/>
          <p:cNvSpPr txBox="1"/>
          <p:nvPr/>
        </p:nvSpPr>
        <p:spPr>
          <a:xfrm>
            <a:off x="12979450" y="5312866"/>
            <a:ext cx="4075808" cy="514350"/>
          </a:xfrm>
          <a:prstGeom prst="rect">
            <a:avLst/>
          </a:prstGeom>
        </p:spPr>
        <p:txBody>
          <a:bodyPr lIns="0" tIns="0" rIns="0" bIns="0" rtlCol="0" anchor="t">
            <a:spAutoFit/>
          </a:bodyPr>
          <a:lstStyle/>
          <a:p>
            <a:pPr algn="ctr">
              <a:lnSpc>
                <a:spcPts val="4125"/>
              </a:lnSpc>
            </a:pPr>
            <a:r>
              <a:rPr lang="en-US" sz="3187" spc="-114">
                <a:solidFill>
                  <a:srgbClr val="01012C"/>
                </a:solidFill>
                <a:latin typeface="Montserrat"/>
                <a:ea typeface="Montserrat"/>
                <a:cs typeface="Montserrat"/>
                <a:sym typeface="Montserrat"/>
              </a:rPr>
              <a:t>Update Frequency</a:t>
            </a:r>
          </a:p>
        </p:txBody>
      </p:sp>
      <p:sp>
        <p:nvSpPr>
          <p:cNvPr id="18" name="TextBox 18"/>
          <p:cNvSpPr txBox="1"/>
          <p:nvPr/>
        </p:nvSpPr>
        <p:spPr>
          <a:xfrm>
            <a:off x="12729567" y="6135738"/>
            <a:ext cx="4575572" cy="349250"/>
          </a:xfrm>
          <a:prstGeom prst="rect">
            <a:avLst/>
          </a:prstGeom>
        </p:spPr>
        <p:txBody>
          <a:bodyPr lIns="0" tIns="0" rIns="0" bIns="0" rtlCol="0" anchor="t">
            <a:spAutoFit/>
          </a:bodyPr>
          <a:lstStyle/>
          <a:p>
            <a:pPr algn="ctr">
              <a:lnSpc>
                <a:spcPts val="2875"/>
              </a:lnSpc>
            </a:pPr>
            <a:r>
              <a:rPr lang="en-US" sz="2187">
                <a:solidFill>
                  <a:srgbClr val="01012C"/>
                </a:solidFill>
                <a:latin typeface="Montserrat"/>
                <a:ea typeface="Montserrat"/>
                <a:cs typeface="Montserrat"/>
                <a:sym typeface="Montserrat"/>
              </a:rPr>
              <a:t>Real-time sync intervals</a:t>
            </a:r>
          </a:p>
        </p:txBody>
      </p:sp>
      <p:sp>
        <p:nvSpPr>
          <p:cNvPr id="26" name="Slide Number Placeholder 25">
            <a:extLst>
              <a:ext uri="{FF2B5EF4-FFF2-40B4-BE49-F238E27FC236}">
                <a16:creationId xmlns:a16="http://schemas.microsoft.com/office/drawing/2014/main" id="{27157A1D-FC5C-C767-9367-C24769EAFD7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8" name="TextBox 8"/>
          <p:cNvSpPr txBox="1"/>
          <p:nvPr/>
        </p:nvSpPr>
        <p:spPr>
          <a:xfrm>
            <a:off x="7623125" y="862161"/>
            <a:ext cx="9899749" cy="1581150"/>
          </a:xfrm>
          <a:prstGeom prst="rect">
            <a:avLst/>
          </a:prstGeom>
        </p:spPr>
        <p:txBody>
          <a:bodyPr lIns="0" tIns="0" rIns="0" bIns="0" rtlCol="0" anchor="t">
            <a:spAutoFit/>
          </a:bodyPr>
          <a:lstStyle/>
          <a:p>
            <a:pPr algn="l">
              <a:lnSpc>
                <a:spcPts val="6374"/>
              </a:lnSpc>
            </a:pPr>
            <a:r>
              <a:rPr lang="en-US" sz="4937" spc="-177">
                <a:solidFill>
                  <a:srgbClr val="01012C"/>
                </a:solidFill>
                <a:latin typeface="Montserrat"/>
                <a:ea typeface="Montserrat"/>
                <a:cs typeface="Montserrat"/>
                <a:sym typeface="Montserrat"/>
              </a:rPr>
              <a:t>Risk Management: When Prevention Fails</a:t>
            </a:r>
          </a:p>
        </p:txBody>
      </p:sp>
      <p:sp>
        <p:nvSpPr>
          <p:cNvPr id="9" name="TextBox 9"/>
          <p:cNvSpPr txBox="1"/>
          <p:nvPr/>
        </p:nvSpPr>
        <p:spPr>
          <a:xfrm>
            <a:off x="7623125" y="2795290"/>
            <a:ext cx="9899749" cy="2225675"/>
          </a:xfrm>
          <a:prstGeom prst="rect">
            <a:avLst/>
          </a:prstGeom>
        </p:spPr>
        <p:txBody>
          <a:bodyPr lIns="0" tIns="0" rIns="0" bIns="0" rtlCol="0" anchor="t">
            <a:spAutoFit/>
          </a:bodyPr>
          <a:lstStyle/>
          <a:p>
            <a:pPr algn="l">
              <a:lnSpc>
                <a:spcPts val="8874"/>
              </a:lnSpc>
            </a:pPr>
            <a:r>
              <a:rPr lang="en-US" sz="6812" b="1" spc="-558">
                <a:solidFill>
                  <a:srgbClr val="01012C"/>
                </a:solidFill>
                <a:latin typeface="Arial Nova Bold"/>
                <a:ea typeface="Arial Nova Bold"/>
                <a:cs typeface="Arial Nova Bold"/>
                <a:sym typeface="Arial Nova Bold"/>
              </a:rPr>
              <a:t>EMERGENCY RESPONSE PROTOCOLS</a:t>
            </a:r>
          </a:p>
        </p:txBody>
      </p:sp>
      <p:sp>
        <p:nvSpPr>
          <p:cNvPr id="10" name="TextBox 10"/>
          <p:cNvSpPr txBox="1"/>
          <p:nvPr/>
        </p:nvSpPr>
        <p:spPr>
          <a:xfrm>
            <a:off x="7623125" y="5435352"/>
            <a:ext cx="9899749" cy="817563"/>
          </a:xfrm>
          <a:prstGeom prst="rect">
            <a:avLst/>
          </a:prstGeom>
        </p:spPr>
        <p:txBody>
          <a:bodyPr lIns="0" tIns="0" rIns="0" bIns="0" rtlCol="0" anchor="t">
            <a:spAutoFit/>
          </a:bodyPr>
          <a:lstStyle/>
          <a:p>
            <a:pPr algn="l">
              <a:lnSpc>
                <a:spcPts val="2187"/>
              </a:lnSpc>
            </a:pPr>
            <a:r>
              <a:rPr lang="en-US" sz="1687">
                <a:solidFill>
                  <a:srgbClr val="01012C"/>
                </a:solidFill>
                <a:latin typeface="Montserrat"/>
                <a:ea typeface="Montserrat"/>
                <a:cs typeface="Montserrat"/>
                <a:sym typeface="Montserrat"/>
              </a:rPr>
              <a:t>When mitigation strategies fail and risks become live problems, immediate action is critical. Your POS system needs predefined response procedures that can be executed quickly and effectively.</a:t>
            </a:r>
          </a:p>
        </p:txBody>
      </p:sp>
      <p:grpSp>
        <p:nvGrpSpPr>
          <p:cNvPr id="11" name="Group 11"/>
          <p:cNvGrpSpPr/>
          <p:nvPr/>
        </p:nvGrpSpPr>
        <p:grpSpPr>
          <a:xfrm>
            <a:off x="7613600" y="6533555"/>
            <a:ext cx="9918799" cy="2862709"/>
            <a:chOff x="0" y="0"/>
            <a:chExt cx="13225065" cy="3816945"/>
          </a:xfrm>
        </p:grpSpPr>
        <p:sp>
          <p:nvSpPr>
            <p:cNvPr id="12" name="Freeform 12"/>
            <p:cNvSpPr/>
            <p:nvPr/>
          </p:nvSpPr>
          <p:spPr>
            <a:xfrm>
              <a:off x="12700" y="12700"/>
              <a:ext cx="13199746" cy="3791585"/>
            </a:xfrm>
            <a:custGeom>
              <a:avLst/>
              <a:gdLst/>
              <a:ahLst/>
              <a:cxnLst/>
              <a:rect l="l" t="t" r="r" b="b"/>
              <a:pathLst>
                <a:path w="13199746" h="3791585">
                  <a:moveTo>
                    <a:pt x="0" y="122428"/>
                  </a:moveTo>
                  <a:cubicBezTo>
                    <a:pt x="0" y="54864"/>
                    <a:pt x="55118" y="0"/>
                    <a:pt x="123063" y="0"/>
                  </a:cubicBezTo>
                  <a:lnTo>
                    <a:pt x="13076682" y="0"/>
                  </a:lnTo>
                  <a:cubicBezTo>
                    <a:pt x="13144627" y="0"/>
                    <a:pt x="13199746" y="54864"/>
                    <a:pt x="13199746" y="122428"/>
                  </a:cubicBezTo>
                  <a:lnTo>
                    <a:pt x="13199746" y="3669157"/>
                  </a:lnTo>
                  <a:cubicBezTo>
                    <a:pt x="13199746" y="3736721"/>
                    <a:pt x="13144627" y="3791585"/>
                    <a:pt x="13076682" y="3791585"/>
                  </a:cubicBezTo>
                  <a:lnTo>
                    <a:pt x="123063" y="3791585"/>
                  </a:lnTo>
                  <a:cubicBezTo>
                    <a:pt x="55118" y="3791585"/>
                    <a:pt x="0" y="3736721"/>
                    <a:pt x="0" y="3669157"/>
                  </a:cubicBezTo>
                  <a:close/>
                </a:path>
              </a:pathLst>
            </a:custGeom>
            <a:solidFill>
              <a:srgbClr val="F8F8F8"/>
            </a:solidFill>
          </p:spPr>
        </p:sp>
        <p:sp>
          <p:nvSpPr>
            <p:cNvPr id="13" name="Freeform 13"/>
            <p:cNvSpPr/>
            <p:nvPr/>
          </p:nvSpPr>
          <p:spPr>
            <a:xfrm>
              <a:off x="0" y="0"/>
              <a:ext cx="13225146" cy="3816985"/>
            </a:xfrm>
            <a:custGeom>
              <a:avLst/>
              <a:gdLst/>
              <a:ahLst/>
              <a:cxnLst/>
              <a:rect l="l" t="t" r="r" b="b"/>
              <a:pathLst>
                <a:path w="13225146" h="3816985">
                  <a:moveTo>
                    <a:pt x="0" y="135128"/>
                  </a:moveTo>
                  <a:cubicBezTo>
                    <a:pt x="0" y="60452"/>
                    <a:pt x="60833" y="0"/>
                    <a:pt x="135763" y="0"/>
                  </a:cubicBezTo>
                  <a:lnTo>
                    <a:pt x="13089382" y="0"/>
                  </a:lnTo>
                  <a:lnTo>
                    <a:pt x="13089382" y="12700"/>
                  </a:lnTo>
                  <a:lnTo>
                    <a:pt x="13089382" y="0"/>
                  </a:lnTo>
                  <a:cubicBezTo>
                    <a:pt x="13164313" y="0"/>
                    <a:pt x="13225146" y="60452"/>
                    <a:pt x="13225146" y="135128"/>
                  </a:cubicBezTo>
                  <a:lnTo>
                    <a:pt x="13212446" y="135128"/>
                  </a:lnTo>
                  <a:lnTo>
                    <a:pt x="13225146" y="135128"/>
                  </a:lnTo>
                  <a:lnTo>
                    <a:pt x="13225146" y="3681857"/>
                  </a:lnTo>
                  <a:lnTo>
                    <a:pt x="13212446" y="3681857"/>
                  </a:lnTo>
                  <a:lnTo>
                    <a:pt x="13225146" y="3681857"/>
                  </a:lnTo>
                  <a:cubicBezTo>
                    <a:pt x="13225146" y="3756533"/>
                    <a:pt x="13164313" y="3816985"/>
                    <a:pt x="13089382" y="3816985"/>
                  </a:cubicBezTo>
                  <a:lnTo>
                    <a:pt x="13089382" y="3804285"/>
                  </a:lnTo>
                  <a:lnTo>
                    <a:pt x="13089382" y="3816985"/>
                  </a:lnTo>
                  <a:lnTo>
                    <a:pt x="135763" y="3816985"/>
                  </a:lnTo>
                  <a:lnTo>
                    <a:pt x="135763" y="3804285"/>
                  </a:lnTo>
                  <a:lnTo>
                    <a:pt x="135763" y="3816985"/>
                  </a:lnTo>
                  <a:cubicBezTo>
                    <a:pt x="60833" y="3816985"/>
                    <a:pt x="0" y="3756533"/>
                    <a:pt x="0" y="3681857"/>
                  </a:cubicBezTo>
                  <a:lnTo>
                    <a:pt x="0" y="135128"/>
                  </a:lnTo>
                  <a:lnTo>
                    <a:pt x="12700" y="135128"/>
                  </a:lnTo>
                  <a:lnTo>
                    <a:pt x="0" y="135128"/>
                  </a:lnTo>
                  <a:moveTo>
                    <a:pt x="25400" y="135128"/>
                  </a:moveTo>
                  <a:lnTo>
                    <a:pt x="25400" y="3681857"/>
                  </a:lnTo>
                  <a:lnTo>
                    <a:pt x="12700" y="3681857"/>
                  </a:lnTo>
                  <a:lnTo>
                    <a:pt x="25400" y="3681857"/>
                  </a:lnTo>
                  <a:cubicBezTo>
                    <a:pt x="25400" y="3742436"/>
                    <a:pt x="74676" y="3791585"/>
                    <a:pt x="135763" y="3791585"/>
                  </a:cubicBezTo>
                  <a:lnTo>
                    <a:pt x="13089382" y="3791585"/>
                  </a:lnTo>
                  <a:cubicBezTo>
                    <a:pt x="13150343" y="3791585"/>
                    <a:pt x="13199746" y="3742436"/>
                    <a:pt x="13199746" y="3681857"/>
                  </a:cubicBezTo>
                  <a:lnTo>
                    <a:pt x="13199746" y="135128"/>
                  </a:lnTo>
                  <a:cubicBezTo>
                    <a:pt x="13199746" y="74549"/>
                    <a:pt x="13150470" y="25400"/>
                    <a:pt x="13089382" y="25400"/>
                  </a:cubicBezTo>
                  <a:lnTo>
                    <a:pt x="135763" y="25400"/>
                  </a:lnTo>
                  <a:lnTo>
                    <a:pt x="135763" y="12700"/>
                  </a:lnTo>
                  <a:lnTo>
                    <a:pt x="135763" y="25400"/>
                  </a:lnTo>
                  <a:cubicBezTo>
                    <a:pt x="74676" y="25400"/>
                    <a:pt x="25400" y="74549"/>
                    <a:pt x="25400" y="135128"/>
                  </a:cubicBezTo>
                  <a:close/>
                </a:path>
              </a:pathLst>
            </a:custGeom>
            <a:solidFill>
              <a:srgbClr val="000000"/>
            </a:solidFill>
          </p:spPr>
        </p:sp>
      </p:grpSp>
      <p:grpSp>
        <p:nvGrpSpPr>
          <p:cNvPr id="14" name="Group 14"/>
          <p:cNvGrpSpPr/>
          <p:nvPr/>
        </p:nvGrpSpPr>
        <p:grpSpPr>
          <a:xfrm>
            <a:off x="7642175" y="6562130"/>
            <a:ext cx="4930825" cy="1544836"/>
            <a:chOff x="0" y="0"/>
            <a:chExt cx="6574433" cy="2059782"/>
          </a:xfrm>
        </p:grpSpPr>
        <p:sp>
          <p:nvSpPr>
            <p:cNvPr id="15" name="Freeform 15"/>
            <p:cNvSpPr/>
            <p:nvPr/>
          </p:nvSpPr>
          <p:spPr>
            <a:xfrm>
              <a:off x="0" y="0"/>
              <a:ext cx="6574409" cy="2059813"/>
            </a:xfrm>
            <a:custGeom>
              <a:avLst/>
              <a:gdLst/>
              <a:ahLst/>
              <a:cxnLst/>
              <a:rect l="l" t="t" r="r" b="b"/>
              <a:pathLst>
                <a:path w="6574409" h="2059813">
                  <a:moveTo>
                    <a:pt x="0" y="122428"/>
                  </a:moveTo>
                  <a:cubicBezTo>
                    <a:pt x="0" y="54864"/>
                    <a:pt x="54864" y="0"/>
                    <a:pt x="122428" y="0"/>
                  </a:cubicBezTo>
                  <a:lnTo>
                    <a:pt x="6451981" y="0"/>
                  </a:lnTo>
                  <a:cubicBezTo>
                    <a:pt x="6519545" y="0"/>
                    <a:pt x="6574409" y="54864"/>
                    <a:pt x="6574409" y="122428"/>
                  </a:cubicBezTo>
                  <a:lnTo>
                    <a:pt x="6574409" y="1937385"/>
                  </a:lnTo>
                  <a:cubicBezTo>
                    <a:pt x="6574409" y="2004949"/>
                    <a:pt x="6519545" y="2059813"/>
                    <a:pt x="6451981" y="2059813"/>
                  </a:cubicBezTo>
                  <a:lnTo>
                    <a:pt x="122428" y="2059813"/>
                  </a:lnTo>
                  <a:cubicBezTo>
                    <a:pt x="54864" y="2059813"/>
                    <a:pt x="0" y="2004949"/>
                    <a:pt x="0" y="1937385"/>
                  </a:cubicBezTo>
                  <a:close/>
                </a:path>
              </a:pathLst>
            </a:custGeom>
            <a:solidFill>
              <a:srgbClr val="F8F8F8"/>
            </a:solidFill>
          </p:spPr>
        </p:sp>
      </p:grpSp>
      <p:sp>
        <p:nvSpPr>
          <p:cNvPr id="16" name="TextBox 16"/>
          <p:cNvSpPr txBox="1"/>
          <p:nvPr/>
        </p:nvSpPr>
        <p:spPr>
          <a:xfrm>
            <a:off x="7860655" y="6761560"/>
            <a:ext cx="3387626" cy="333337"/>
          </a:xfrm>
          <a:prstGeom prst="rect">
            <a:avLst/>
          </a:prstGeom>
        </p:spPr>
        <p:txBody>
          <a:bodyPr lIns="0" tIns="0" rIns="0" bIns="0" rtlCol="0" anchor="t">
            <a:spAutoFit/>
          </a:bodyPr>
          <a:lstStyle/>
          <a:p>
            <a:pPr algn="l">
              <a:lnSpc>
                <a:spcPts val="2735"/>
              </a:lnSpc>
            </a:pPr>
            <a:r>
              <a:rPr lang="en-US" sz="2092">
                <a:solidFill>
                  <a:srgbClr val="01012C"/>
                </a:solidFill>
                <a:latin typeface="Montserrat"/>
                <a:ea typeface="Montserrat"/>
                <a:cs typeface="Montserrat"/>
                <a:sym typeface="Montserrat"/>
              </a:rPr>
              <a:t>System Failure Response</a:t>
            </a:r>
          </a:p>
        </p:txBody>
      </p:sp>
      <p:sp>
        <p:nvSpPr>
          <p:cNvPr id="17" name="TextBox 17"/>
          <p:cNvSpPr txBox="1"/>
          <p:nvPr/>
        </p:nvSpPr>
        <p:spPr>
          <a:xfrm>
            <a:off x="7860655" y="7310735"/>
            <a:ext cx="4493865" cy="541337"/>
          </a:xfrm>
          <a:prstGeom prst="rect">
            <a:avLst/>
          </a:prstGeom>
        </p:spPr>
        <p:txBody>
          <a:bodyPr lIns="0" tIns="0" rIns="0" bIns="0" rtlCol="0" anchor="t">
            <a:spAutoFit/>
          </a:bodyPr>
          <a:lstStyle/>
          <a:p>
            <a:pPr algn="l">
              <a:lnSpc>
                <a:spcPts val="2187"/>
              </a:lnSpc>
            </a:pPr>
            <a:r>
              <a:rPr lang="en-US" sz="1687">
                <a:solidFill>
                  <a:srgbClr val="01012C"/>
                </a:solidFill>
                <a:latin typeface="Montserrat"/>
                <a:ea typeface="Montserrat"/>
                <a:cs typeface="Montserrat"/>
                <a:sym typeface="Montserrat"/>
              </a:rPr>
              <a:t>Rollback mechanisms to restore order data and maintain transaction integrity</a:t>
            </a:r>
          </a:p>
        </p:txBody>
      </p:sp>
      <p:grpSp>
        <p:nvGrpSpPr>
          <p:cNvPr id="18" name="Group 18"/>
          <p:cNvGrpSpPr/>
          <p:nvPr/>
        </p:nvGrpSpPr>
        <p:grpSpPr>
          <a:xfrm>
            <a:off x="12573000" y="6562130"/>
            <a:ext cx="4930825" cy="1544836"/>
            <a:chOff x="0" y="0"/>
            <a:chExt cx="6574433" cy="2059782"/>
          </a:xfrm>
        </p:grpSpPr>
        <p:sp>
          <p:nvSpPr>
            <p:cNvPr id="19" name="Freeform 19"/>
            <p:cNvSpPr/>
            <p:nvPr/>
          </p:nvSpPr>
          <p:spPr>
            <a:xfrm>
              <a:off x="0" y="0"/>
              <a:ext cx="6574409" cy="2059813"/>
            </a:xfrm>
            <a:custGeom>
              <a:avLst/>
              <a:gdLst/>
              <a:ahLst/>
              <a:cxnLst/>
              <a:rect l="l" t="t" r="r" b="b"/>
              <a:pathLst>
                <a:path w="6574409" h="2059813">
                  <a:moveTo>
                    <a:pt x="0" y="0"/>
                  </a:moveTo>
                  <a:lnTo>
                    <a:pt x="6574409" y="0"/>
                  </a:lnTo>
                  <a:lnTo>
                    <a:pt x="6574409" y="2059813"/>
                  </a:lnTo>
                  <a:lnTo>
                    <a:pt x="0" y="2059813"/>
                  </a:lnTo>
                  <a:close/>
                </a:path>
              </a:pathLst>
            </a:custGeom>
            <a:solidFill>
              <a:srgbClr val="F8F8F8"/>
            </a:solidFill>
          </p:spPr>
        </p:sp>
      </p:grpSp>
      <p:grpSp>
        <p:nvGrpSpPr>
          <p:cNvPr id="20" name="Group 20"/>
          <p:cNvGrpSpPr/>
          <p:nvPr/>
        </p:nvGrpSpPr>
        <p:grpSpPr>
          <a:xfrm>
            <a:off x="12573000" y="6562130"/>
            <a:ext cx="28575" cy="1544836"/>
            <a:chOff x="0" y="0"/>
            <a:chExt cx="38100" cy="2059782"/>
          </a:xfrm>
        </p:grpSpPr>
        <p:sp>
          <p:nvSpPr>
            <p:cNvPr id="21" name="Freeform 21"/>
            <p:cNvSpPr/>
            <p:nvPr/>
          </p:nvSpPr>
          <p:spPr>
            <a:xfrm>
              <a:off x="0" y="0"/>
              <a:ext cx="38100" cy="2059813"/>
            </a:xfrm>
            <a:custGeom>
              <a:avLst/>
              <a:gdLst/>
              <a:ahLst/>
              <a:cxnLst/>
              <a:rect l="l" t="t" r="r" b="b"/>
              <a:pathLst>
                <a:path w="38100" h="2059813">
                  <a:moveTo>
                    <a:pt x="0" y="19050"/>
                  </a:moveTo>
                  <a:cubicBezTo>
                    <a:pt x="0" y="8509"/>
                    <a:pt x="8509" y="0"/>
                    <a:pt x="19050" y="0"/>
                  </a:cubicBezTo>
                  <a:cubicBezTo>
                    <a:pt x="29591" y="0"/>
                    <a:pt x="38100" y="8509"/>
                    <a:pt x="38100" y="19050"/>
                  </a:cubicBezTo>
                  <a:lnTo>
                    <a:pt x="38100" y="2040763"/>
                  </a:lnTo>
                  <a:cubicBezTo>
                    <a:pt x="38100" y="2051304"/>
                    <a:pt x="29591" y="2059813"/>
                    <a:pt x="19050" y="2059813"/>
                  </a:cubicBezTo>
                  <a:cubicBezTo>
                    <a:pt x="8509" y="2059813"/>
                    <a:pt x="0" y="2051304"/>
                    <a:pt x="0" y="2040763"/>
                  </a:cubicBezTo>
                  <a:close/>
                </a:path>
              </a:pathLst>
            </a:custGeom>
            <a:solidFill>
              <a:srgbClr val="000000"/>
            </a:solidFill>
          </p:spPr>
        </p:sp>
      </p:grpSp>
      <p:sp>
        <p:nvSpPr>
          <p:cNvPr id="22" name="TextBox 22"/>
          <p:cNvSpPr txBox="1"/>
          <p:nvPr/>
        </p:nvSpPr>
        <p:spPr>
          <a:xfrm>
            <a:off x="12791480" y="6752035"/>
            <a:ext cx="3657898" cy="351692"/>
          </a:xfrm>
          <a:prstGeom prst="rect">
            <a:avLst/>
          </a:prstGeom>
        </p:spPr>
        <p:txBody>
          <a:bodyPr lIns="0" tIns="0" rIns="0" bIns="0" rtlCol="0" anchor="t">
            <a:spAutoFit/>
          </a:bodyPr>
          <a:lstStyle/>
          <a:p>
            <a:pPr algn="l">
              <a:lnSpc>
                <a:spcPts val="2802"/>
              </a:lnSpc>
            </a:pPr>
            <a:r>
              <a:rPr lang="en-US" sz="2142">
                <a:solidFill>
                  <a:srgbClr val="01012C"/>
                </a:solidFill>
                <a:latin typeface="Montserrat"/>
                <a:ea typeface="Montserrat"/>
                <a:cs typeface="Montserrat"/>
                <a:sym typeface="Montserrat"/>
              </a:rPr>
              <a:t>Payment Gateway Backup</a:t>
            </a:r>
          </a:p>
        </p:txBody>
      </p:sp>
      <p:sp>
        <p:nvSpPr>
          <p:cNvPr id="23" name="TextBox 23"/>
          <p:cNvSpPr txBox="1"/>
          <p:nvPr/>
        </p:nvSpPr>
        <p:spPr>
          <a:xfrm>
            <a:off x="12791480" y="7310735"/>
            <a:ext cx="4493865" cy="541337"/>
          </a:xfrm>
          <a:prstGeom prst="rect">
            <a:avLst/>
          </a:prstGeom>
        </p:spPr>
        <p:txBody>
          <a:bodyPr lIns="0" tIns="0" rIns="0" bIns="0" rtlCol="0" anchor="t">
            <a:spAutoFit/>
          </a:bodyPr>
          <a:lstStyle/>
          <a:p>
            <a:pPr algn="l">
              <a:lnSpc>
                <a:spcPts val="2187"/>
              </a:lnSpc>
            </a:pPr>
            <a:r>
              <a:rPr lang="en-US" sz="1687">
                <a:solidFill>
                  <a:srgbClr val="01012C"/>
                </a:solidFill>
                <a:latin typeface="Montserrat"/>
                <a:ea typeface="Montserrat"/>
                <a:cs typeface="Montserrat"/>
                <a:sym typeface="Montserrat"/>
              </a:rPr>
              <a:t>Alternative processing methods when primary systems fail</a:t>
            </a:r>
          </a:p>
        </p:txBody>
      </p:sp>
      <p:grpSp>
        <p:nvGrpSpPr>
          <p:cNvPr id="24" name="Group 24"/>
          <p:cNvGrpSpPr/>
          <p:nvPr/>
        </p:nvGrpSpPr>
        <p:grpSpPr>
          <a:xfrm>
            <a:off x="7642175" y="8106966"/>
            <a:ext cx="9861649" cy="1260722"/>
            <a:chOff x="0" y="0"/>
            <a:chExt cx="13148865" cy="1680963"/>
          </a:xfrm>
        </p:grpSpPr>
        <p:sp>
          <p:nvSpPr>
            <p:cNvPr id="25" name="Freeform 25"/>
            <p:cNvSpPr/>
            <p:nvPr/>
          </p:nvSpPr>
          <p:spPr>
            <a:xfrm>
              <a:off x="0" y="0"/>
              <a:ext cx="13148818" cy="1680972"/>
            </a:xfrm>
            <a:custGeom>
              <a:avLst/>
              <a:gdLst/>
              <a:ahLst/>
              <a:cxnLst/>
              <a:rect l="l" t="t" r="r" b="b"/>
              <a:pathLst>
                <a:path w="13148818" h="1680972">
                  <a:moveTo>
                    <a:pt x="0" y="0"/>
                  </a:moveTo>
                  <a:lnTo>
                    <a:pt x="13148818" y="0"/>
                  </a:lnTo>
                  <a:lnTo>
                    <a:pt x="13148818" y="1680972"/>
                  </a:lnTo>
                  <a:lnTo>
                    <a:pt x="0" y="1680972"/>
                  </a:lnTo>
                  <a:close/>
                </a:path>
              </a:pathLst>
            </a:custGeom>
            <a:solidFill>
              <a:srgbClr val="F8F8F8"/>
            </a:solidFill>
          </p:spPr>
        </p:sp>
      </p:grpSp>
      <p:grpSp>
        <p:nvGrpSpPr>
          <p:cNvPr id="26" name="Group 26"/>
          <p:cNvGrpSpPr/>
          <p:nvPr/>
        </p:nvGrpSpPr>
        <p:grpSpPr>
          <a:xfrm>
            <a:off x="7642175" y="8106966"/>
            <a:ext cx="9861649" cy="28575"/>
            <a:chOff x="0" y="0"/>
            <a:chExt cx="13148865" cy="38100"/>
          </a:xfrm>
        </p:grpSpPr>
        <p:sp>
          <p:nvSpPr>
            <p:cNvPr id="27" name="Freeform 27"/>
            <p:cNvSpPr/>
            <p:nvPr/>
          </p:nvSpPr>
          <p:spPr>
            <a:xfrm>
              <a:off x="0" y="0"/>
              <a:ext cx="13148818" cy="38100"/>
            </a:xfrm>
            <a:custGeom>
              <a:avLst/>
              <a:gdLst/>
              <a:ahLst/>
              <a:cxnLst/>
              <a:rect l="l" t="t" r="r" b="b"/>
              <a:pathLst>
                <a:path w="13148818" h="38100">
                  <a:moveTo>
                    <a:pt x="0" y="19050"/>
                  </a:moveTo>
                  <a:cubicBezTo>
                    <a:pt x="0" y="8509"/>
                    <a:pt x="8509" y="0"/>
                    <a:pt x="19050" y="0"/>
                  </a:cubicBezTo>
                  <a:lnTo>
                    <a:pt x="13129768" y="0"/>
                  </a:lnTo>
                  <a:cubicBezTo>
                    <a:pt x="13140308" y="0"/>
                    <a:pt x="13148818" y="8509"/>
                    <a:pt x="13148818" y="19050"/>
                  </a:cubicBezTo>
                  <a:cubicBezTo>
                    <a:pt x="13148818" y="29591"/>
                    <a:pt x="13140308" y="38100"/>
                    <a:pt x="13129768" y="38100"/>
                  </a:cubicBezTo>
                  <a:lnTo>
                    <a:pt x="19050" y="38100"/>
                  </a:lnTo>
                  <a:cubicBezTo>
                    <a:pt x="8509" y="38100"/>
                    <a:pt x="0" y="29591"/>
                    <a:pt x="0" y="19050"/>
                  </a:cubicBezTo>
                  <a:close/>
                </a:path>
              </a:pathLst>
            </a:custGeom>
            <a:solidFill>
              <a:srgbClr val="000000"/>
            </a:solidFill>
          </p:spPr>
        </p:sp>
      </p:grpSp>
      <p:sp>
        <p:nvSpPr>
          <p:cNvPr id="28" name="TextBox 28"/>
          <p:cNvSpPr txBox="1"/>
          <p:nvPr/>
        </p:nvSpPr>
        <p:spPr>
          <a:xfrm>
            <a:off x="7860655" y="8296870"/>
            <a:ext cx="4095899" cy="360104"/>
          </a:xfrm>
          <a:prstGeom prst="rect">
            <a:avLst/>
          </a:prstGeom>
        </p:spPr>
        <p:txBody>
          <a:bodyPr lIns="0" tIns="0" rIns="0" bIns="0" rtlCol="0" anchor="t">
            <a:spAutoFit/>
          </a:bodyPr>
          <a:lstStyle/>
          <a:p>
            <a:pPr algn="l">
              <a:lnSpc>
                <a:spcPts val="2908"/>
              </a:lnSpc>
            </a:pPr>
            <a:r>
              <a:rPr lang="en-US" sz="2224">
                <a:solidFill>
                  <a:srgbClr val="01012C"/>
                </a:solidFill>
                <a:latin typeface="Montserrat"/>
                <a:ea typeface="Montserrat"/>
                <a:cs typeface="Montserrat"/>
                <a:sym typeface="Montserrat"/>
              </a:rPr>
              <a:t>Manual Override Procedures</a:t>
            </a:r>
          </a:p>
        </p:txBody>
      </p:sp>
      <p:sp>
        <p:nvSpPr>
          <p:cNvPr id="29" name="TextBox 29"/>
          <p:cNvSpPr txBox="1"/>
          <p:nvPr/>
        </p:nvSpPr>
        <p:spPr>
          <a:xfrm>
            <a:off x="7860655" y="8855571"/>
            <a:ext cx="9424690" cy="265113"/>
          </a:xfrm>
          <a:prstGeom prst="rect">
            <a:avLst/>
          </a:prstGeom>
        </p:spPr>
        <p:txBody>
          <a:bodyPr lIns="0" tIns="0" rIns="0" bIns="0" rtlCol="0" anchor="t">
            <a:spAutoFit/>
          </a:bodyPr>
          <a:lstStyle/>
          <a:p>
            <a:pPr algn="l">
              <a:lnSpc>
                <a:spcPts val="2187"/>
              </a:lnSpc>
            </a:pPr>
            <a:r>
              <a:rPr lang="en-US" sz="1687">
                <a:solidFill>
                  <a:srgbClr val="01012C"/>
                </a:solidFill>
                <a:latin typeface="Montserrat"/>
                <a:ea typeface="Montserrat"/>
                <a:cs typeface="Montserrat"/>
                <a:sym typeface="Montserrat"/>
              </a:rPr>
              <a:t>Emergency protocols for continued operations during downtime</a:t>
            </a:r>
          </a:p>
        </p:txBody>
      </p:sp>
      <p:sp>
        <p:nvSpPr>
          <p:cNvPr id="36" name="Slide Number Placeholder 35">
            <a:extLst>
              <a:ext uri="{FF2B5EF4-FFF2-40B4-BE49-F238E27FC236}">
                <a16:creationId xmlns:a16="http://schemas.microsoft.com/office/drawing/2014/main" id="{7B14C787-C543-813C-40A4-D6FBF3F44CFA}"/>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13654" y="33236"/>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7793088" y="1187203"/>
            <a:ext cx="9559826" cy="1970087"/>
          </a:xfrm>
          <a:prstGeom prst="rect">
            <a:avLst/>
          </a:prstGeom>
        </p:spPr>
        <p:txBody>
          <a:bodyPr lIns="0" tIns="0" rIns="0" bIns="0" rtlCol="0" anchor="t">
            <a:spAutoFit/>
          </a:bodyPr>
          <a:lstStyle/>
          <a:p>
            <a:pPr algn="l">
              <a:lnSpc>
                <a:spcPts val="7812"/>
              </a:lnSpc>
            </a:pPr>
            <a:r>
              <a:rPr lang="en-US" sz="6000" b="1" spc="-492">
                <a:solidFill>
                  <a:srgbClr val="01012C"/>
                </a:solidFill>
                <a:latin typeface="Arial Nova Bold"/>
                <a:ea typeface="Arial Nova Bold"/>
                <a:cs typeface="Arial Nova Bold"/>
                <a:sym typeface="Arial Nova Bold"/>
              </a:rPr>
              <a:t>EMERGENCY RESPONSE IMPLEMENTATION</a:t>
            </a:r>
          </a:p>
        </p:txBody>
      </p:sp>
      <p:grpSp>
        <p:nvGrpSpPr>
          <p:cNvPr id="9" name="Group 9"/>
          <p:cNvGrpSpPr/>
          <p:nvPr/>
        </p:nvGrpSpPr>
        <p:grpSpPr>
          <a:xfrm>
            <a:off x="8093571" y="3651945"/>
            <a:ext cx="38100" cy="5381179"/>
            <a:chOff x="0" y="0"/>
            <a:chExt cx="50800" cy="7174905"/>
          </a:xfrm>
        </p:grpSpPr>
        <p:sp>
          <p:nvSpPr>
            <p:cNvPr id="10" name="Freeform 10"/>
            <p:cNvSpPr/>
            <p:nvPr/>
          </p:nvSpPr>
          <p:spPr>
            <a:xfrm>
              <a:off x="0" y="0"/>
              <a:ext cx="50800" cy="7174865"/>
            </a:xfrm>
            <a:custGeom>
              <a:avLst/>
              <a:gdLst/>
              <a:ahLst/>
              <a:cxnLst/>
              <a:rect l="l" t="t" r="r" b="b"/>
              <a:pathLst>
                <a:path w="50800" h="7174865">
                  <a:moveTo>
                    <a:pt x="0" y="25400"/>
                  </a:moveTo>
                  <a:cubicBezTo>
                    <a:pt x="0" y="11430"/>
                    <a:pt x="11430" y="0"/>
                    <a:pt x="25400" y="0"/>
                  </a:cubicBezTo>
                  <a:cubicBezTo>
                    <a:pt x="39370" y="0"/>
                    <a:pt x="50800" y="11430"/>
                    <a:pt x="50800" y="25400"/>
                  </a:cubicBezTo>
                  <a:lnTo>
                    <a:pt x="50800" y="7149465"/>
                  </a:lnTo>
                  <a:cubicBezTo>
                    <a:pt x="50800" y="7163435"/>
                    <a:pt x="39370" y="7174865"/>
                    <a:pt x="25400" y="7174865"/>
                  </a:cubicBezTo>
                  <a:cubicBezTo>
                    <a:pt x="11430" y="7174865"/>
                    <a:pt x="0" y="7163435"/>
                    <a:pt x="0" y="7149465"/>
                  </a:cubicBezTo>
                  <a:close/>
                </a:path>
              </a:pathLst>
            </a:custGeom>
            <a:solidFill>
              <a:srgbClr val="F8F8F8"/>
            </a:solidFill>
          </p:spPr>
        </p:sp>
      </p:grpSp>
      <p:grpSp>
        <p:nvGrpSpPr>
          <p:cNvPr id="11" name="Group 11"/>
          <p:cNvGrpSpPr/>
          <p:nvPr/>
        </p:nvGrpSpPr>
        <p:grpSpPr>
          <a:xfrm>
            <a:off x="8356030" y="3933379"/>
            <a:ext cx="801589" cy="38100"/>
            <a:chOff x="0" y="0"/>
            <a:chExt cx="1068785" cy="50800"/>
          </a:xfrm>
        </p:grpSpPr>
        <p:sp>
          <p:nvSpPr>
            <p:cNvPr id="12" name="Freeform 12"/>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13" name="Group 13"/>
          <p:cNvGrpSpPr/>
          <p:nvPr/>
        </p:nvGrpSpPr>
        <p:grpSpPr>
          <a:xfrm>
            <a:off x="7778725" y="3637657"/>
            <a:ext cx="629691" cy="629691"/>
            <a:chOff x="0" y="0"/>
            <a:chExt cx="839588" cy="839588"/>
          </a:xfrm>
        </p:grpSpPr>
        <p:sp>
          <p:nvSpPr>
            <p:cNvPr id="14" name="Freeform 14"/>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15" name="Freeform 15"/>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16" name="TextBox 16"/>
          <p:cNvSpPr txBox="1"/>
          <p:nvPr/>
        </p:nvSpPr>
        <p:spPr>
          <a:xfrm>
            <a:off x="7863036" y="3729037"/>
            <a:ext cx="460921" cy="473075"/>
          </a:xfrm>
          <a:prstGeom prst="rect">
            <a:avLst/>
          </a:prstGeom>
        </p:spPr>
        <p:txBody>
          <a:bodyPr lIns="0" tIns="0" rIns="0" bIns="0" rtlCol="0" anchor="t">
            <a:spAutoFit/>
          </a:bodyPr>
          <a:lstStyle/>
          <a:p>
            <a:pPr algn="ctr">
              <a:lnSpc>
                <a:spcPts val="3624"/>
              </a:lnSpc>
            </a:pPr>
            <a:r>
              <a:rPr lang="en-US" sz="3624" spc="-130">
                <a:solidFill>
                  <a:srgbClr val="01012C"/>
                </a:solidFill>
                <a:latin typeface="Montserrat"/>
                <a:ea typeface="Montserrat"/>
                <a:cs typeface="Montserrat"/>
                <a:sym typeface="Montserrat"/>
              </a:rPr>
              <a:t>1</a:t>
            </a:r>
          </a:p>
        </p:txBody>
      </p:sp>
      <p:sp>
        <p:nvSpPr>
          <p:cNvPr id="17" name="TextBox 17"/>
          <p:cNvSpPr txBox="1"/>
          <p:nvPr/>
        </p:nvSpPr>
        <p:spPr>
          <a:xfrm>
            <a:off x="9429601" y="3706863"/>
            <a:ext cx="5353050" cy="461685"/>
          </a:xfrm>
          <a:prstGeom prst="rect">
            <a:avLst/>
          </a:prstGeom>
        </p:spPr>
        <p:txBody>
          <a:bodyPr lIns="0" tIns="0" rIns="0" bIns="0" rtlCol="0" anchor="t">
            <a:spAutoFit/>
          </a:bodyPr>
          <a:lstStyle/>
          <a:p>
            <a:pPr algn="l">
              <a:lnSpc>
                <a:spcPts val="3729"/>
              </a:lnSpc>
            </a:pPr>
            <a:r>
              <a:rPr lang="en-US" sz="2887" spc="-103">
                <a:solidFill>
                  <a:srgbClr val="01012C"/>
                </a:solidFill>
                <a:latin typeface="Montserrat"/>
                <a:ea typeface="Montserrat"/>
                <a:cs typeface="Montserrat"/>
                <a:sym typeface="Montserrat"/>
              </a:rPr>
              <a:t>Immediate Response (0-2 min)</a:t>
            </a:r>
          </a:p>
        </p:txBody>
      </p:sp>
      <p:sp>
        <p:nvSpPr>
          <p:cNvPr id="18" name="TextBox 18"/>
          <p:cNvSpPr txBox="1"/>
          <p:nvPr/>
        </p:nvSpPr>
        <p:spPr>
          <a:xfrm>
            <a:off x="9429601" y="4375994"/>
            <a:ext cx="7923311" cy="658812"/>
          </a:xfrm>
          <a:prstGeom prst="rect">
            <a:avLst/>
          </a:prstGeom>
        </p:spPr>
        <p:txBody>
          <a:bodyPr lIns="0" tIns="0" rIns="0" bIns="0" rtlCol="0" anchor="t">
            <a:spAutoFit/>
          </a:bodyPr>
          <a:lstStyle/>
          <a:p>
            <a:pPr algn="l">
              <a:lnSpc>
                <a:spcPts val="2687"/>
              </a:lnSpc>
            </a:pPr>
            <a:r>
              <a:rPr lang="en-US" sz="2062">
                <a:solidFill>
                  <a:srgbClr val="01012C"/>
                </a:solidFill>
                <a:latin typeface="Montserrat"/>
                <a:ea typeface="Montserrat"/>
                <a:cs typeface="Montserrat"/>
                <a:sym typeface="Montserrat"/>
              </a:rPr>
              <a:t>Activate backup payment processing, switch to manual order tracking, notify management of system status.</a:t>
            </a:r>
          </a:p>
        </p:txBody>
      </p:sp>
      <p:grpSp>
        <p:nvGrpSpPr>
          <p:cNvPr id="19" name="Group 19"/>
          <p:cNvGrpSpPr/>
          <p:nvPr/>
        </p:nvGrpSpPr>
        <p:grpSpPr>
          <a:xfrm>
            <a:off x="8356030" y="5905202"/>
            <a:ext cx="801589" cy="38100"/>
            <a:chOff x="0" y="0"/>
            <a:chExt cx="1068785" cy="50800"/>
          </a:xfrm>
        </p:grpSpPr>
        <p:sp>
          <p:nvSpPr>
            <p:cNvPr id="20" name="Freeform 20"/>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21" name="Group 21"/>
          <p:cNvGrpSpPr/>
          <p:nvPr/>
        </p:nvGrpSpPr>
        <p:grpSpPr>
          <a:xfrm>
            <a:off x="7778725" y="5609481"/>
            <a:ext cx="629691" cy="629691"/>
            <a:chOff x="0" y="0"/>
            <a:chExt cx="839588" cy="839588"/>
          </a:xfrm>
        </p:grpSpPr>
        <p:sp>
          <p:nvSpPr>
            <p:cNvPr id="22" name="Freeform 22"/>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23" name="Freeform 23"/>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24" name="TextBox 24"/>
          <p:cNvSpPr txBox="1"/>
          <p:nvPr/>
        </p:nvSpPr>
        <p:spPr>
          <a:xfrm>
            <a:off x="7863036" y="5700861"/>
            <a:ext cx="460921" cy="473075"/>
          </a:xfrm>
          <a:prstGeom prst="rect">
            <a:avLst/>
          </a:prstGeom>
        </p:spPr>
        <p:txBody>
          <a:bodyPr lIns="0" tIns="0" rIns="0" bIns="0" rtlCol="0" anchor="t">
            <a:spAutoFit/>
          </a:bodyPr>
          <a:lstStyle/>
          <a:p>
            <a:pPr algn="ctr">
              <a:lnSpc>
                <a:spcPts val="3624"/>
              </a:lnSpc>
            </a:pPr>
            <a:r>
              <a:rPr lang="en-US" sz="3624" spc="-130">
                <a:solidFill>
                  <a:srgbClr val="01012C"/>
                </a:solidFill>
                <a:latin typeface="Montserrat"/>
                <a:ea typeface="Montserrat"/>
                <a:cs typeface="Montserrat"/>
                <a:sym typeface="Montserrat"/>
              </a:rPr>
              <a:t>2</a:t>
            </a:r>
          </a:p>
        </p:txBody>
      </p:sp>
      <p:sp>
        <p:nvSpPr>
          <p:cNvPr id="25" name="TextBox 25"/>
          <p:cNvSpPr txBox="1"/>
          <p:nvPr/>
        </p:nvSpPr>
        <p:spPr>
          <a:xfrm>
            <a:off x="9429601" y="5688211"/>
            <a:ext cx="5083820" cy="461248"/>
          </a:xfrm>
          <a:prstGeom prst="rect">
            <a:avLst/>
          </a:prstGeom>
        </p:spPr>
        <p:txBody>
          <a:bodyPr lIns="0" tIns="0" rIns="0" bIns="0" rtlCol="0" anchor="t">
            <a:spAutoFit/>
          </a:bodyPr>
          <a:lstStyle/>
          <a:p>
            <a:pPr algn="l">
              <a:lnSpc>
                <a:spcPts val="3778"/>
              </a:lnSpc>
            </a:pPr>
            <a:r>
              <a:rPr lang="en-US" sz="2925" spc="-105">
                <a:solidFill>
                  <a:srgbClr val="01012C"/>
                </a:solidFill>
                <a:latin typeface="Montserrat"/>
                <a:ea typeface="Montserrat"/>
                <a:cs typeface="Montserrat"/>
                <a:sym typeface="Montserrat"/>
              </a:rPr>
              <a:t>Short-term Actions (2-15 min)</a:t>
            </a:r>
          </a:p>
        </p:txBody>
      </p:sp>
      <p:sp>
        <p:nvSpPr>
          <p:cNvPr id="26" name="TextBox 26"/>
          <p:cNvSpPr txBox="1"/>
          <p:nvPr/>
        </p:nvSpPr>
        <p:spPr>
          <a:xfrm>
            <a:off x="9429601" y="6347818"/>
            <a:ext cx="7923311" cy="658812"/>
          </a:xfrm>
          <a:prstGeom prst="rect">
            <a:avLst/>
          </a:prstGeom>
        </p:spPr>
        <p:txBody>
          <a:bodyPr lIns="0" tIns="0" rIns="0" bIns="0" rtlCol="0" anchor="t">
            <a:spAutoFit/>
          </a:bodyPr>
          <a:lstStyle/>
          <a:p>
            <a:pPr algn="l">
              <a:lnSpc>
                <a:spcPts val="2687"/>
              </a:lnSpc>
            </a:pPr>
            <a:r>
              <a:rPr lang="en-US" sz="2062">
                <a:solidFill>
                  <a:srgbClr val="01012C"/>
                </a:solidFill>
                <a:latin typeface="Montserrat"/>
                <a:ea typeface="Montserrat"/>
                <a:cs typeface="Montserrat"/>
                <a:sym typeface="Montserrat"/>
              </a:rPr>
              <a:t>Deploy alternative inventory tracking, implement paper-based backup procedures, contact technical support.</a:t>
            </a:r>
          </a:p>
        </p:txBody>
      </p:sp>
      <p:grpSp>
        <p:nvGrpSpPr>
          <p:cNvPr id="27" name="Group 27"/>
          <p:cNvGrpSpPr/>
          <p:nvPr/>
        </p:nvGrpSpPr>
        <p:grpSpPr>
          <a:xfrm>
            <a:off x="8356030" y="7877026"/>
            <a:ext cx="801589" cy="38100"/>
            <a:chOff x="0" y="0"/>
            <a:chExt cx="1068785" cy="50800"/>
          </a:xfrm>
        </p:grpSpPr>
        <p:sp>
          <p:nvSpPr>
            <p:cNvPr id="28" name="Freeform 28"/>
            <p:cNvSpPr/>
            <p:nvPr/>
          </p:nvSpPr>
          <p:spPr>
            <a:xfrm>
              <a:off x="0" y="0"/>
              <a:ext cx="1068832" cy="50800"/>
            </a:xfrm>
            <a:custGeom>
              <a:avLst/>
              <a:gdLst/>
              <a:ahLst/>
              <a:cxnLst/>
              <a:rect l="l" t="t" r="r" b="b"/>
              <a:pathLst>
                <a:path w="1068832" h="50800">
                  <a:moveTo>
                    <a:pt x="0" y="25400"/>
                  </a:moveTo>
                  <a:cubicBezTo>
                    <a:pt x="0" y="11430"/>
                    <a:pt x="11430" y="0"/>
                    <a:pt x="25400" y="0"/>
                  </a:cubicBezTo>
                  <a:lnTo>
                    <a:pt x="1043432" y="0"/>
                  </a:lnTo>
                  <a:cubicBezTo>
                    <a:pt x="1057402" y="0"/>
                    <a:pt x="1068832" y="11430"/>
                    <a:pt x="1068832" y="25400"/>
                  </a:cubicBezTo>
                  <a:cubicBezTo>
                    <a:pt x="1068832" y="39370"/>
                    <a:pt x="1057402" y="50800"/>
                    <a:pt x="1043432" y="50800"/>
                  </a:cubicBezTo>
                  <a:lnTo>
                    <a:pt x="25400" y="50800"/>
                  </a:lnTo>
                  <a:cubicBezTo>
                    <a:pt x="11430" y="50800"/>
                    <a:pt x="0" y="39370"/>
                    <a:pt x="0" y="25400"/>
                  </a:cubicBezTo>
                  <a:close/>
                </a:path>
              </a:pathLst>
            </a:custGeom>
            <a:solidFill>
              <a:srgbClr val="F8F8F8"/>
            </a:solidFill>
          </p:spPr>
        </p:sp>
      </p:grpSp>
      <p:grpSp>
        <p:nvGrpSpPr>
          <p:cNvPr id="29" name="Group 29"/>
          <p:cNvGrpSpPr/>
          <p:nvPr/>
        </p:nvGrpSpPr>
        <p:grpSpPr>
          <a:xfrm>
            <a:off x="7778725" y="7581305"/>
            <a:ext cx="629691" cy="629691"/>
            <a:chOff x="0" y="0"/>
            <a:chExt cx="839588" cy="839588"/>
          </a:xfrm>
        </p:grpSpPr>
        <p:sp>
          <p:nvSpPr>
            <p:cNvPr id="30" name="Freeform 30"/>
            <p:cNvSpPr/>
            <p:nvPr/>
          </p:nvSpPr>
          <p:spPr>
            <a:xfrm>
              <a:off x="19050" y="19050"/>
              <a:ext cx="801497" cy="801497"/>
            </a:xfrm>
            <a:custGeom>
              <a:avLst/>
              <a:gdLst/>
              <a:ahLst/>
              <a:cxnLst/>
              <a:rect l="l" t="t" r="r" b="b"/>
              <a:pathLst>
                <a:path w="801497" h="801497">
                  <a:moveTo>
                    <a:pt x="0" y="149606"/>
                  </a:moveTo>
                  <a:cubicBezTo>
                    <a:pt x="0" y="67056"/>
                    <a:pt x="67056" y="0"/>
                    <a:pt x="149606" y="0"/>
                  </a:cubicBezTo>
                  <a:lnTo>
                    <a:pt x="651891" y="0"/>
                  </a:lnTo>
                  <a:cubicBezTo>
                    <a:pt x="734568" y="0"/>
                    <a:pt x="801497" y="67056"/>
                    <a:pt x="801497" y="149606"/>
                  </a:cubicBezTo>
                  <a:lnTo>
                    <a:pt x="801497" y="651891"/>
                  </a:lnTo>
                  <a:cubicBezTo>
                    <a:pt x="801497" y="734568"/>
                    <a:pt x="734441" y="801497"/>
                    <a:pt x="651891" y="801497"/>
                  </a:cubicBezTo>
                  <a:lnTo>
                    <a:pt x="149606" y="801497"/>
                  </a:lnTo>
                  <a:cubicBezTo>
                    <a:pt x="67056" y="801497"/>
                    <a:pt x="0" y="734441"/>
                    <a:pt x="0" y="651891"/>
                  </a:cubicBezTo>
                  <a:close/>
                </a:path>
              </a:pathLst>
            </a:custGeom>
            <a:solidFill>
              <a:srgbClr val="F8F8F8"/>
            </a:solidFill>
          </p:spPr>
        </p:sp>
        <p:sp>
          <p:nvSpPr>
            <p:cNvPr id="31" name="Freeform 31"/>
            <p:cNvSpPr/>
            <p:nvPr/>
          </p:nvSpPr>
          <p:spPr>
            <a:xfrm>
              <a:off x="0" y="0"/>
              <a:ext cx="839597" cy="839597"/>
            </a:xfrm>
            <a:custGeom>
              <a:avLst/>
              <a:gdLst/>
              <a:ahLst/>
              <a:cxnLst/>
              <a:rect l="l" t="t" r="r" b="b"/>
              <a:pathLst>
                <a:path w="839597" h="839597">
                  <a:moveTo>
                    <a:pt x="0" y="168656"/>
                  </a:moveTo>
                  <a:cubicBezTo>
                    <a:pt x="0" y="75565"/>
                    <a:pt x="75565" y="0"/>
                    <a:pt x="168656" y="0"/>
                  </a:cubicBezTo>
                  <a:lnTo>
                    <a:pt x="670941" y="0"/>
                  </a:lnTo>
                  <a:lnTo>
                    <a:pt x="670941" y="19050"/>
                  </a:lnTo>
                  <a:lnTo>
                    <a:pt x="670941" y="0"/>
                  </a:lnTo>
                  <a:lnTo>
                    <a:pt x="670941" y="19050"/>
                  </a:lnTo>
                  <a:lnTo>
                    <a:pt x="670941" y="0"/>
                  </a:lnTo>
                  <a:cubicBezTo>
                    <a:pt x="764159" y="0"/>
                    <a:pt x="839597" y="75565"/>
                    <a:pt x="839597" y="168656"/>
                  </a:cubicBezTo>
                  <a:lnTo>
                    <a:pt x="839597" y="670941"/>
                  </a:lnTo>
                  <a:lnTo>
                    <a:pt x="820547" y="670941"/>
                  </a:lnTo>
                  <a:lnTo>
                    <a:pt x="839597" y="670941"/>
                  </a:lnTo>
                  <a:cubicBezTo>
                    <a:pt x="839597" y="764159"/>
                    <a:pt x="764032" y="839597"/>
                    <a:pt x="670941" y="839597"/>
                  </a:cubicBezTo>
                  <a:lnTo>
                    <a:pt x="670941" y="820547"/>
                  </a:lnTo>
                  <a:lnTo>
                    <a:pt x="670941" y="839597"/>
                  </a:lnTo>
                  <a:lnTo>
                    <a:pt x="168656" y="839597"/>
                  </a:lnTo>
                  <a:lnTo>
                    <a:pt x="168656" y="820547"/>
                  </a:lnTo>
                  <a:lnTo>
                    <a:pt x="168656" y="839597"/>
                  </a:lnTo>
                  <a:cubicBezTo>
                    <a:pt x="75565" y="839597"/>
                    <a:pt x="0" y="764032"/>
                    <a:pt x="0" y="670941"/>
                  </a:cubicBezTo>
                  <a:lnTo>
                    <a:pt x="0" y="168656"/>
                  </a:lnTo>
                  <a:lnTo>
                    <a:pt x="19050" y="168656"/>
                  </a:lnTo>
                  <a:lnTo>
                    <a:pt x="0" y="168656"/>
                  </a:lnTo>
                  <a:moveTo>
                    <a:pt x="38100" y="168656"/>
                  </a:moveTo>
                  <a:lnTo>
                    <a:pt x="38100" y="670941"/>
                  </a:lnTo>
                  <a:lnTo>
                    <a:pt x="19050" y="670941"/>
                  </a:lnTo>
                  <a:lnTo>
                    <a:pt x="38100" y="670941"/>
                  </a:lnTo>
                  <a:cubicBezTo>
                    <a:pt x="38100" y="743077"/>
                    <a:pt x="96520" y="801497"/>
                    <a:pt x="168656" y="801497"/>
                  </a:cubicBezTo>
                  <a:lnTo>
                    <a:pt x="670941" y="801497"/>
                  </a:lnTo>
                  <a:cubicBezTo>
                    <a:pt x="743077" y="801497"/>
                    <a:pt x="801497" y="743077"/>
                    <a:pt x="801497" y="670941"/>
                  </a:cubicBezTo>
                  <a:lnTo>
                    <a:pt x="801497" y="168656"/>
                  </a:lnTo>
                  <a:lnTo>
                    <a:pt x="820547" y="168656"/>
                  </a:lnTo>
                  <a:lnTo>
                    <a:pt x="801497" y="168656"/>
                  </a:lnTo>
                  <a:cubicBezTo>
                    <a:pt x="801497" y="96520"/>
                    <a:pt x="743077" y="38100"/>
                    <a:pt x="670941" y="38100"/>
                  </a:cubicBezTo>
                  <a:lnTo>
                    <a:pt x="168656" y="38100"/>
                  </a:lnTo>
                  <a:lnTo>
                    <a:pt x="168656" y="19050"/>
                  </a:lnTo>
                  <a:lnTo>
                    <a:pt x="168656" y="38100"/>
                  </a:lnTo>
                  <a:cubicBezTo>
                    <a:pt x="96520" y="38100"/>
                    <a:pt x="38100" y="96520"/>
                    <a:pt x="38100" y="168656"/>
                  </a:cubicBezTo>
                  <a:close/>
                </a:path>
              </a:pathLst>
            </a:custGeom>
            <a:solidFill>
              <a:srgbClr val="F8F8F8"/>
            </a:solidFill>
          </p:spPr>
        </p:sp>
      </p:grpSp>
      <p:sp>
        <p:nvSpPr>
          <p:cNvPr id="32" name="TextBox 32"/>
          <p:cNvSpPr txBox="1"/>
          <p:nvPr/>
        </p:nvSpPr>
        <p:spPr>
          <a:xfrm>
            <a:off x="7863036" y="7672685"/>
            <a:ext cx="460921" cy="473075"/>
          </a:xfrm>
          <a:prstGeom prst="rect">
            <a:avLst/>
          </a:prstGeom>
        </p:spPr>
        <p:txBody>
          <a:bodyPr lIns="0" tIns="0" rIns="0" bIns="0" rtlCol="0" anchor="t">
            <a:spAutoFit/>
          </a:bodyPr>
          <a:lstStyle/>
          <a:p>
            <a:pPr algn="ctr">
              <a:lnSpc>
                <a:spcPts val="3624"/>
              </a:lnSpc>
            </a:pPr>
            <a:r>
              <a:rPr lang="en-US" sz="3624" spc="-130">
                <a:solidFill>
                  <a:srgbClr val="01012C"/>
                </a:solidFill>
                <a:latin typeface="Montserrat"/>
                <a:ea typeface="Montserrat"/>
                <a:cs typeface="Montserrat"/>
                <a:sym typeface="Montserrat"/>
              </a:rPr>
              <a:t>3</a:t>
            </a:r>
          </a:p>
        </p:txBody>
      </p:sp>
      <p:sp>
        <p:nvSpPr>
          <p:cNvPr id="33" name="TextBox 33"/>
          <p:cNvSpPr txBox="1"/>
          <p:nvPr/>
        </p:nvSpPr>
        <p:spPr>
          <a:xfrm>
            <a:off x="9429601" y="7650510"/>
            <a:ext cx="4322564" cy="461685"/>
          </a:xfrm>
          <a:prstGeom prst="rect">
            <a:avLst/>
          </a:prstGeom>
        </p:spPr>
        <p:txBody>
          <a:bodyPr lIns="0" tIns="0" rIns="0" bIns="0" rtlCol="0" anchor="t">
            <a:spAutoFit/>
          </a:bodyPr>
          <a:lstStyle/>
          <a:p>
            <a:pPr algn="l">
              <a:lnSpc>
                <a:spcPts val="3729"/>
              </a:lnSpc>
            </a:pPr>
            <a:r>
              <a:rPr lang="en-US" sz="2887" spc="-103">
                <a:solidFill>
                  <a:srgbClr val="01012C"/>
                </a:solidFill>
                <a:latin typeface="Montserrat"/>
                <a:ea typeface="Montserrat"/>
                <a:cs typeface="Montserrat"/>
                <a:sym typeface="Montserrat"/>
              </a:rPr>
              <a:t>Recovery Phase (15+ min)</a:t>
            </a:r>
          </a:p>
        </p:txBody>
      </p:sp>
      <p:sp>
        <p:nvSpPr>
          <p:cNvPr id="34" name="TextBox 34"/>
          <p:cNvSpPr txBox="1"/>
          <p:nvPr/>
        </p:nvSpPr>
        <p:spPr>
          <a:xfrm>
            <a:off x="9429601" y="8319641"/>
            <a:ext cx="7923311" cy="658812"/>
          </a:xfrm>
          <a:prstGeom prst="rect">
            <a:avLst/>
          </a:prstGeom>
        </p:spPr>
        <p:txBody>
          <a:bodyPr lIns="0" tIns="0" rIns="0" bIns="0" rtlCol="0" anchor="t">
            <a:spAutoFit/>
          </a:bodyPr>
          <a:lstStyle/>
          <a:p>
            <a:pPr algn="l">
              <a:lnSpc>
                <a:spcPts val="2687"/>
              </a:lnSpc>
            </a:pPr>
            <a:r>
              <a:rPr lang="en-US" sz="2062">
                <a:solidFill>
                  <a:srgbClr val="01012C"/>
                </a:solidFill>
                <a:latin typeface="Montserrat"/>
                <a:ea typeface="Montserrat"/>
                <a:cs typeface="Montserrat"/>
                <a:sym typeface="Montserrat"/>
              </a:rPr>
              <a:t>Execute rollback mechanisms, validate data integrity, conduct post-incident analysis for future improvements.</a:t>
            </a:r>
          </a:p>
        </p:txBody>
      </p:sp>
      <p:sp>
        <p:nvSpPr>
          <p:cNvPr id="41" name="Slide Number Placeholder 40">
            <a:extLst>
              <a:ext uri="{FF2B5EF4-FFF2-40B4-BE49-F238E27FC236}">
                <a16:creationId xmlns:a16="http://schemas.microsoft.com/office/drawing/2014/main" id="{A82D8A48-D6C2-C6E8-85DE-2768F91FAF4F}"/>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992237" y="901453"/>
            <a:ext cx="10970865" cy="932875"/>
          </a:xfrm>
          <a:prstGeom prst="rect">
            <a:avLst/>
          </a:prstGeom>
        </p:spPr>
        <p:txBody>
          <a:bodyPr lIns="0" tIns="0" rIns="0" bIns="0" rtlCol="0" anchor="t">
            <a:spAutoFit/>
          </a:bodyPr>
          <a:lstStyle/>
          <a:p>
            <a:pPr algn="l">
              <a:lnSpc>
                <a:spcPts val="7585"/>
              </a:lnSpc>
            </a:pPr>
            <a:r>
              <a:rPr lang="en-US" sz="5817" b="1" spc="-477">
                <a:solidFill>
                  <a:srgbClr val="01012C"/>
                </a:solidFill>
                <a:latin typeface="Arial Nova Bold"/>
                <a:ea typeface="Arial Nova Bold"/>
                <a:cs typeface="Arial Nova Bold"/>
                <a:sym typeface="Arial Nova Bold"/>
              </a:rPr>
              <a:t>BUILDING RESILIENT POS SYSTEMS</a:t>
            </a:r>
          </a:p>
        </p:txBody>
      </p:sp>
      <p:sp>
        <p:nvSpPr>
          <p:cNvPr id="7" name="TextBox 7"/>
          <p:cNvSpPr txBox="1"/>
          <p:nvPr/>
        </p:nvSpPr>
        <p:spPr>
          <a:xfrm>
            <a:off x="1647974" y="4497586"/>
            <a:ext cx="4075807" cy="514350"/>
          </a:xfrm>
          <a:prstGeom prst="rect">
            <a:avLst/>
          </a:prstGeom>
        </p:spPr>
        <p:txBody>
          <a:bodyPr lIns="0" tIns="0" rIns="0" bIns="0" rtlCol="0" anchor="t">
            <a:spAutoFit/>
          </a:bodyPr>
          <a:lstStyle/>
          <a:p>
            <a:pPr algn="r">
              <a:lnSpc>
                <a:spcPts val="4125"/>
              </a:lnSpc>
            </a:pPr>
            <a:r>
              <a:rPr lang="en-US" sz="3187" spc="-114">
                <a:solidFill>
                  <a:srgbClr val="01012C"/>
                </a:solidFill>
                <a:latin typeface="Montserrat"/>
                <a:ea typeface="Montserrat"/>
                <a:cs typeface="Montserrat"/>
                <a:sym typeface="Montserrat"/>
              </a:rPr>
              <a:t>Proactive Mitigation</a:t>
            </a:r>
          </a:p>
        </p:txBody>
      </p:sp>
      <p:sp>
        <p:nvSpPr>
          <p:cNvPr id="8" name="TextBox 8"/>
          <p:cNvSpPr txBox="1"/>
          <p:nvPr/>
        </p:nvSpPr>
        <p:spPr>
          <a:xfrm>
            <a:off x="992237" y="5207050"/>
            <a:ext cx="4731544" cy="1073150"/>
          </a:xfrm>
          <a:prstGeom prst="rect">
            <a:avLst/>
          </a:prstGeom>
        </p:spPr>
        <p:txBody>
          <a:bodyPr lIns="0" tIns="0" rIns="0" bIns="0" rtlCol="0" anchor="t">
            <a:spAutoFit/>
          </a:bodyPr>
          <a:lstStyle/>
          <a:p>
            <a:pPr algn="r">
              <a:lnSpc>
                <a:spcPts val="2875"/>
              </a:lnSpc>
            </a:pPr>
            <a:r>
              <a:rPr lang="en-US" sz="2187">
                <a:solidFill>
                  <a:srgbClr val="01012C"/>
                </a:solidFill>
                <a:latin typeface="Montserrat"/>
                <a:ea typeface="Montserrat"/>
                <a:cs typeface="Montserrat"/>
                <a:sym typeface="Montserrat"/>
              </a:rPr>
              <a:t>Prevent issues before they impact operations through robust system design</a:t>
            </a:r>
          </a:p>
        </p:txBody>
      </p:sp>
      <p:grpSp>
        <p:nvGrpSpPr>
          <p:cNvPr id="9" name="Group 9"/>
          <p:cNvGrpSpPr/>
          <p:nvPr/>
        </p:nvGrpSpPr>
        <p:grpSpPr>
          <a:xfrm>
            <a:off x="6290816" y="2575769"/>
            <a:ext cx="5706219" cy="5706219"/>
            <a:chOff x="0" y="0"/>
            <a:chExt cx="7608292" cy="7608292"/>
          </a:xfrm>
        </p:grpSpPr>
        <p:sp>
          <p:nvSpPr>
            <p:cNvPr id="10" name="Freeform 10"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2"/>
              <a:stretch>
                <a:fillRect/>
              </a:stretch>
            </a:blipFill>
          </p:spPr>
        </p:sp>
      </p:grpSp>
      <p:grpSp>
        <p:nvGrpSpPr>
          <p:cNvPr id="11" name="Group 11"/>
          <p:cNvGrpSpPr/>
          <p:nvPr/>
        </p:nvGrpSpPr>
        <p:grpSpPr>
          <a:xfrm>
            <a:off x="6934646" y="5153025"/>
            <a:ext cx="424160" cy="551409"/>
            <a:chOff x="0" y="0"/>
            <a:chExt cx="565547" cy="735212"/>
          </a:xfrm>
        </p:grpSpPr>
        <p:sp>
          <p:nvSpPr>
            <p:cNvPr id="12" name="Freeform 12"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3"/>
              <a:stretch>
                <a:fillRect l="-431" r="-433" b="-1"/>
              </a:stretch>
            </a:blipFill>
          </p:spPr>
        </p:sp>
      </p:grpSp>
      <p:sp>
        <p:nvSpPr>
          <p:cNvPr id="13" name="TextBox 13"/>
          <p:cNvSpPr txBox="1"/>
          <p:nvPr/>
        </p:nvSpPr>
        <p:spPr>
          <a:xfrm>
            <a:off x="12422237" y="3148905"/>
            <a:ext cx="4330601" cy="496253"/>
          </a:xfrm>
          <a:prstGeom prst="rect">
            <a:avLst/>
          </a:prstGeom>
        </p:spPr>
        <p:txBody>
          <a:bodyPr lIns="0" tIns="0" rIns="0" bIns="0" rtlCol="0" anchor="t">
            <a:spAutoFit/>
          </a:bodyPr>
          <a:lstStyle/>
          <a:p>
            <a:pPr algn="l">
              <a:lnSpc>
                <a:spcPts val="4021"/>
              </a:lnSpc>
            </a:pPr>
            <a:r>
              <a:rPr lang="en-US" sz="3107" spc="-111">
                <a:solidFill>
                  <a:srgbClr val="01012C"/>
                </a:solidFill>
                <a:latin typeface="Montserrat"/>
                <a:ea typeface="Montserrat"/>
                <a:cs typeface="Montserrat"/>
                <a:sym typeface="Montserrat"/>
              </a:rPr>
              <a:t>Continuous Monitoring</a:t>
            </a:r>
          </a:p>
        </p:txBody>
      </p:sp>
      <p:sp>
        <p:nvSpPr>
          <p:cNvPr id="14" name="TextBox 14"/>
          <p:cNvSpPr txBox="1"/>
          <p:nvPr/>
        </p:nvSpPr>
        <p:spPr>
          <a:xfrm>
            <a:off x="12422237" y="3858369"/>
            <a:ext cx="4873526" cy="7112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Real-time oversight ensures early detection of potential problems</a:t>
            </a:r>
          </a:p>
        </p:txBody>
      </p:sp>
      <p:grpSp>
        <p:nvGrpSpPr>
          <p:cNvPr id="15" name="Group 15"/>
          <p:cNvGrpSpPr/>
          <p:nvPr/>
        </p:nvGrpSpPr>
        <p:grpSpPr>
          <a:xfrm>
            <a:off x="6290816" y="2575769"/>
            <a:ext cx="5706219" cy="5706219"/>
            <a:chOff x="0" y="0"/>
            <a:chExt cx="7608292" cy="7608292"/>
          </a:xfrm>
        </p:grpSpPr>
        <p:sp>
          <p:nvSpPr>
            <p:cNvPr id="16" name="Freeform 16"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4"/>
              <a:stretch>
                <a:fillRect/>
              </a:stretch>
            </a:blipFill>
          </p:spPr>
        </p:sp>
      </p:grpSp>
      <p:grpSp>
        <p:nvGrpSpPr>
          <p:cNvPr id="17" name="Group 17"/>
          <p:cNvGrpSpPr/>
          <p:nvPr/>
        </p:nvGrpSpPr>
        <p:grpSpPr>
          <a:xfrm>
            <a:off x="9930407" y="3423494"/>
            <a:ext cx="424160" cy="551409"/>
            <a:chOff x="0" y="0"/>
            <a:chExt cx="565547" cy="735212"/>
          </a:xfrm>
        </p:grpSpPr>
        <p:sp>
          <p:nvSpPr>
            <p:cNvPr id="18" name="Freeform 18"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5"/>
              <a:stretch>
                <a:fillRect l="-431" r="-433" b="-1"/>
              </a:stretch>
            </a:blipFill>
          </p:spPr>
        </p:sp>
      </p:grpSp>
      <p:sp>
        <p:nvSpPr>
          <p:cNvPr id="19" name="TextBox 19"/>
          <p:cNvSpPr txBox="1"/>
          <p:nvPr/>
        </p:nvSpPr>
        <p:spPr>
          <a:xfrm>
            <a:off x="12422237" y="6214616"/>
            <a:ext cx="4075808" cy="514350"/>
          </a:xfrm>
          <a:prstGeom prst="rect">
            <a:avLst/>
          </a:prstGeom>
        </p:spPr>
        <p:txBody>
          <a:bodyPr lIns="0" tIns="0" rIns="0" bIns="0" rtlCol="0" anchor="t">
            <a:spAutoFit/>
          </a:bodyPr>
          <a:lstStyle/>
          <a:p>
            <a:pPr algn="l">
              <a:lnSpc>
                <a:spcPts val="4125"/>
              </a:lnSpc>
            </a:pPr>
            <a:r>
              <a:rPr lang="en-US" sz="3187" spc="-114">
                <a:solidFill>
                  <a:srgbClr val="01012C"/>
                </a:solidFill>
                <a:latin typeface="Montserrat"/>
                <a:ea typeface="Montserrat"/>
                <a:cs typeface="Montserrat"/>
                <a:sym typeface="Montserrat"/>
              </a:rPr>
              <a:t>Rapid Response</a:t>
            </a:r>
          </a:p>
        </p:txBody>
      </p:sp>
      <p:sp>
        <p:nvSpPr>
          <p:cNvPr id="20" name="TextBox 20"/>
          <p:cNvSpPr txBox="1"/>
          <p:nvPr/>
        </p:nvSpPr>
        <p:spPr>
          <a:xfrm>
            <a:off x="12422237" y="6924080"/>
            <a:ext cx="4873526" cy="7112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Quick action protocols minimize downtime and protect revenue</a:t>
            </a:r>
          </a:p>
        </p:txBody>
      </p:sp>
      <p:grpSp>
        <p:nvGrpSpPr>
          <p:cNvPr id="21" name="Group 21"/>
          <p:cNvGrpSpPr/>
          <p:nvPr/>
        </p:nvGrpSpPr>
        <p:grpSpPr>
          <a:xfrm>
            <a:off x="6290816" y="2575769"/>
            <a:ext cx="5706219" cy="5706219"/>
            <a:chOff x="0" y="0"/>
            <a:chExt cx="7608292" cy="7608292"/>
          </a:xfrm>
        </p:grpSpPr>
        <p:sp>
          <p:nvSpPr>
            <p:cNvPr id="22" name="Freeform 22"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6"/>
              <a:stretch>
                <a:fillRect/>
              </a:stretch>
            </a:blipFill>
          </p:spPr>
        </p:sp>
      </p:grpSp>
      <p:grpSp>
        <p:nvGrpSpPr>
          <p:cNvPr id="23" name="Group 23"/>
          <p:cNvGrpSpPr/>
          <p:nvPr/>
        </p:nvGrpSpPr>
        <p:grpSpPr>
          <a:xfrm>
            <a:off x="9930407" y="6882556"/>
            <a:ext cx="424160" cy="551409"/>
            <a:chOff x="0" y="0"/>
            <a:chExt cx="565547" cy="735212"/>
          </a:xfrm>
        </p:grpSpPr>
        <p:sp>
          <p:nvSpPr>
            <p:cNvPr id="24" name="Freeform 24" descr="preencoded.png"/>
            <p:cNvSpPr/>
            <p:nvPr/>
          </p:nvSpPr>
          <p:spPr>
            <a:xfrm>
              <a:off x="0" y="0"/>
              <a:ext cx="565531" cy="735203"/>
            </a:xfrm>
            <a:custGeom>
              <a:avLst/>
              <a:gdLst/>
              <a:ahLst/>
              <a:cxnLst/>
              <a:rect l="l" t="t" r="r" b="b"/>
              <a:pathLst>
                <a:path w="565531" h="735203">
                  <a:moveTo>
                    <a:pt x="0" y="0"/>
                  </a:moveTo>
                  <a:lnTo>
                    <a:pt x="565531" y="0"/>
                  </a:lnTo>
                  <a:lnTo>
                    <a:pt x="565531" y="735203"/>
                  </a:lnTo>
                  <a:lnTo>
                    <a:pt x="0" y="735203"/>
                  </a:lnTo>
                  <a:lnTo>
                    <a:pt x="0" y="0"/>
                  </a:lnTo>
                  <a:close/>
                </a:path>
              </a:pathLst>
            </a:custGeom>
            <a:blipFill>
              <a:blip r:embed="rId7"/>
              <a:stretch>
                <a:fillRect l="-431" r="-433" b="-1"/>
              </a:stretch>
            </a:blipFill>
          </p:spPr>
        </p:sp>
      </p:grpSp>
      <p:sp>
        <p:nvSpPr>
          <p:cNvPr id="25" name="TextBox 25"/>
          <p:cNvSpPr txBox="1"/>
          <p:nvPr/>
        </p:nvSpPr>
        <p:spPr>
          <a:xfrm>
            <a:off x="992237" y="8581876"/>
            <a:ext cx="16303526" cy="7112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The RMMM framework provides a comprehensive approach to risk management that keeps your restaurant POS system operational when it matters most.</a:t>
            </a:r>
          </a:p>
        </p:txBody>
      </p:sp>
      <p:sp>
        <p:nvSpPr>
          <p:cNvPr id="34" name="Slide Number Placeholder 33">
            <a:extLst>
              <a:ext uri="{FF2B5EF4-FFF2-40B4-BE49-F238E27FC236}">
                <a16:creationId xmlns:a16="http://schemas.microsoft.com/office/drawing/2014/main" id="{095A93AB-1E3B-49AC-935A-499A81A507AF}"/>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485814" y="2204896"/>
            <a:ext cx="9316373" cy="4963287"/>
          </a:xfrm>
          <a:prstGeom prst="rect">
            <a:avLst/>
          </a:prstGeom>
        </p:spPr>
        <p:txBody>
          <a:bodyPr lIns="0" tIns="0" rIns="0" bIns="0" rtlCol="0" anchor="t">
            <a:spAutoFit/>
          </a:bodyPr>
          <a:lstStyle/>
          <a:p>
            <a:pPr algn="ctr">
              <a:lnSpc>
                <a:spcPts val="19908"/>
              </a:lnSpc>
            </a:pPr>
            <a:r>
              <a:rPr lang="en-US" sz="14219" b="1" spc="-1166">
                <a:solidFill>
                  <a:srgbClr val="01012C"/>
                </a:solidFill>
                <a:latin typeface="Arial Nova Bold"/>
                <a:ea typeface="Arial Nova Bold"/>
                <a:cs typeface="Arial Nova Bold"/>
                <a:sym typeface="Arial Nova Bold"/>
              </a:rPr>
              <a:t>ANALYSIS MODELLING</a:t>
            </a:r>
          </a:p>
        </p:txBody>
      </p:sp>
      <p:sp>
        <p:nvSpPr>
          <p:cNvPr id="12" name="Slide Number Placeholder 11">
            <a:extLst>
              <a:ext uri="{FF2B5EF4-FFF2-40B4-BE49-F238E27FC236}">
                <a16:creationId xmlns:a16="http://schemas.microsoft.com/office/drawing/2014/main" id="{9E9EDBAE-2940-6B3C-1D84-CF9DB1B5DD51}"/>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739044" y="2245932"/>
            <a:ext cx="10416144" cy="6275727"/>
          </a:xfrm>
          <a:custGeom>
            <a:avLst/>
            <a:gdLst/>
            <a:ahLst/>
            <a:cxnLst/>
            <a:rect l="l" t="t" r="r" b="b"/>
            <a:pathLst>
              <a:path w="10416144" h="6275727">
                <a:moveTo>
                  <a:pt x="0" y="0"/>
                </a:moveTo>
                <a:lnTo>
                  <a:pt x="10416143" y="0"/>
                </a:lnTo>
                <a:lnTo>
                  <a:pt x="10416143" y="6275727"/>
                </a:lnTo>
                <a:lnTo>
                  <a:pt x="0" y="6275727"/>
                </a:lnTo>
                <a:lnTo>
                  <a:pt x="0" y="0"/>
                </a:lnTo>
                <a:close/>
              </a:path>
            </a:pathLst>
          </a:custGeom>
          <a:blipFill>
            <a:blip r:embed="rId2"/>
            <a:stretch>
              <a:fillRect/>
            </a:stretch>
          </a:blipFill>
        </p:spPr>
      </p:sp>
      <p:sp>
        <p:nvSpPr>
          <p:cNvPr id="3" name="TextBox 3"/>
          <p:cNvSpPr txBox="1"/>
          <p:nvPr/>
        </p:nvSpPr>
        <p:spPr>
          <a:xfrm>
            <a:off x="1028700" y="1000125"/>
            <a:ext cx="7672277" cy="637987"/>
          </a:xfrm>
          <a:prstGeom prst="rect">
            <a:avLst/>
          </a:prstGeom>
        </p:spPr>
        <p:txBody>
          <a:bodyPr lIns="0" tIns="0" rIns="0" bIns="0" rtlCol="0" anchor="t">
            <a:spAutoFit/>
          </a:bodyPr>
          <a:lstStyle/>
          <a:p>
            <a:pPr algn="ctr">
              <a:lnSpc>
                <a:spcPts val="5176"/>
              </a:lnSpc>
              <a:spcBef>
                <a:spcPct val="0"/>
              </a:spcBef>
            </a:pPr>
            <a:r>
              <a:rPr lang="en-US" sz="3999" b="1" spc="-143" dirty="0">
                <a:solidFill>
                  <a:srgbClr val="01012C"/>
                </a:solidFill>
                <a:latin typeface="Montserrat"/>
                <a:ea typeface="Montserrat"/>
                <a:cs typeface="Montserrat"/>
                <a:sym typeface="Montserrat"/>
              </a:rPr>
              <a:t>Activity Diagram for admin</a:t>
            </a:r>
          </a:p>
        </p:txBody>
      </p:sp>
      <p:sp>
        <p:nvSpPr>
          <p:cNvPr id="4" name="TextBox 4"/>
          <p:cNvSpPr txBox="1"/>
          <p:nvPr/>
        </p:nvSpPr>
        <p:spPr>
          <a:xfrm>
            <a:off x="5110977" y="8837021"/>
            <a:ext cx="7672277" cy="309468"/>
          </a:xfrm>
          <a:prstGeom prst="rect">
            <a:avLst/>
          </a:prstGeom>
        </p:spPr>
        <p:txBody>
          <a:bodyPr lIns="0" tIns="0" rIns="0" bIns="0" rtlCol="0" anchor="t">
            <a:spAutoFit/>
          </a:bodyPr>
          <a:lstStyle/>
          <a:p>
            <a:pPr algn="ctr">
              <a:lnSpc>
                <a:spcPts val="2588"/>
              </a:lnSpc>
              <a:spcBef>
                <a:spcPct val="0"/>
              </a:spcBef>
            </a:pPr>
            <a:r>
              <a:rPr lang="en-US" sz="2000" u="sng">
                <a:solidFill>
                  <a:srgbClr val="01012C"/>
                </a:solidFill>
                <a:latin typeface="Montserrat"/>
                <a:ea typeface="Montserrat"/>
                <a:cs typeface="Montserrat"/>
                <a:sym typeface="Montserrat"/>
              </a:rPr>
              <a:t>Fig : Activity Diagram for admin</a:t>
            </a:r>
          </a:p>
        </p:txBody>
      </p:sp>
      <p:sp>
        <p:nvSpPr>
          <p:cNvPr id="13" name="Slide Number Placeholder 12">
            <a:extLst>
              <a:ext uri="{FF2B5EF4-FFF2-40B4-BE49-F238E27FC236}">
                <a16:creationId xmlns:a16="http://schemas.microsoft.com/office/drawing/2014/main" id="{EEF0EFCC-D3EB-2016-FC67-5C3BFCB0F09F}"/>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775911" y="3860800"/>
            <a:ext cx="8736178" cy="2415223"/>
          </a:xfrm>
          <a:prstGeom prst="rect">
            <a:avLst/>
          </a:prstGeom>
        </p:spPr>
        <p:txBody>
          <a:bodyPr lIns="0" tIns="0" rIns="0" bIns="0" rtlCol="0" anchor="t">
            <a:spAutoFit/>
          </a:bodyPr>
          <a:lstStyle/>
          <a:p>
            <a:pPr algn="just">
              <a:lnSpc>
                <a:spcPts val="9677"/>
              </a:lnSpc>
            </a:pPr>
            <a:r>
              <a:rPr lang="en-US" sz="6912" b="1" spc="-566">
                <a:solidFill>
                  <a:srgbClr val="01012C"/>
                </a:solidFill>
                <a:latin typeface="Arial Nova Bold"/>
                <a:ea typeface="Arial Nova Bold"/>
                <a:cs typeface="Arial Nova Bold"/>
                <a:sym typeface="Arial Nova Bold"/>
              </a:rPr>
              <a:t> SWIM LANE DIAGRAMS</a:t>
            </a:r>
          </a:p>
          <a:p>
            <a:pPr algn="ctr">
              <a:lnSpc>
                <a:spcPts val="9677"/>
              </a:lnSpc>
            </a:pPr>
            <a:endParaRPr lang="en-US" sz="6912" b="1" spc="-566">
              <a:solidFill>
                <a:srgbClr val="01012C"/>
              </a:solidFill>
              <a:latin typeface="Arial Nova Bold"/>
              <a:ea typeface="Arial Nova Bold"/>
              <a:cs typeface="Arial Nova Bold"/>
              <a:sym typeface="Arial Nova Bold"/>
            </a:endParaRPr>
          </a:p>
        </p:txBody>
      </p:sp>
      <p:sp>
        <p:nvSpPr>
          <p:cNvPr id="12" name="Slide Number Placeholder 11">
            <a:extLst>
              <a:ext uri="{FF2B5EF4-FFF2-40B4-BE49-F238E27FC236}">
                <a16:creationId xmlns:a16="http://schemas.microsoft.com/office/drawing/2014/main" id="{78F264D4-316A-511B-36EE-046A986ADB10}"/>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925187" y="1232907"/>
            <a:ext cx="5709465" cy="7821185"/>
          </a:xfrm>
          <a:custGeom>
            <a:avLst/>
            <a:gdLst/>
            <a:ahLst/>
            <a:cxnLst/>
            <a:rect l="l" t="t" r="r" b="b"/>
            <a:pathLst>
              <a:path w="5709465" h="7821185">
                <a:moveTo>
                  <a:pt x="0" y="0"/>
                </a:moveTo>
                <a:lnTo>
                  <a:pt x="5709465" y="0"/>
                </a:lnTo>
                <a:lnTo>
                  <a:pt x="5709465" y="7821186"/>
                </a:lnTo>
                <a:lnTo>
                  <a:pt x="0" y="7821186"/>
                </a:lnTo>
                <a:lnTo>
                  <a:pt x="0" y="0"/>
                </a:lnTo>
                <a:close/>
              </a:path>
            </a:pathLst>
          </a:custGeom>
          <a:blipFill>
            <a:blip r:embed="rId2"/>
            <a:stretch>
              <a:fillRect/>
            </a:stretch>
          </a:blipFill>
        </p:spPr>
      </p:sp>
      <p:sp>
        <p:nvSpPr>
          <p:cNvPr id="3" name="TextBox 3"/>
          <p:cNvSpPr txBox="1"/>
          <p:nvPr/>
        </p:nvSpPr>
        <p:spPr>
          <a:xfrm>
            <a:off x="0" y="659117"/>
            <a:ext cx="8206300" cy="656770"/>
          </a:xfrm>
          <a:prstGeom prst="rect">
            <a:avLst/>
          </a:prstGeom>
        </p:spPr>
        <p:txBody>
          <a:bodyPr lIns="0" tIns="0" rIns="0" bIns="0" rtlCol="0" anchor="t">
            <a:spAutoFit/>
          </a:bodyPr>
          <a:lstStyle/>
          <a:p>
            <a:pPr algn="ctr">
              <a:lnSpc>
                <a:spcPts val="2628"/>
              </a:lnSpc>
              <a:spcBef>
                <a:spcPct val="0"/>
              </a:spcBef>
            </a:pPr>
            <a:r>
              <a:rPr lang="en-US" sz="2000" b="1" spc="-72">
                <a:solidFill>
                  <a:srgbClr val="01012C"/>
                </a:solidFill>
                <a:latin typeface="Montserrat Bold"/>
                <a:ea typeface="Montserrat Bold"/>
                <a:cs typeface="Montserrat Bold"/>
                <a:sym typeface="Montserrat Bold"/>
              </a:rPr>
              <a:t>Swim-lane Diagram for Authentication &amp; Login Process</a:t>
            </a:r>
          </a:p>
          <a:p>
            <a:pPr algn="ctr">
              <a:lnSpc>
                <a:spcPts val="2628"/>
              </a:lnSpc>
              <a:spcBef>
                <a:spcPct val="0"/>
              </a:spcBef>
            </a:pPr>
            <a:endParaRPr lang="en-US" sz="2000" b="1" spc="-72">
              <a:solidFill>
                <a:srgbClr val="01012C"/>
              </a:solidFill>
              <a:latin typeface="Montserrat Bold"/>
              <a:ea typeface="Montserrat Bold"/>
              <a:cs typeface="Montserrat Bold"/>
              <a:sym typeface="Montserrat Bold"/>
            </a:endParaRPr>
          </a:p>
        </p:txBody>
      </p:sp>
      <p:sp>
        <p:nvSpPr>
          <p:cNvPr id="4" name="TextBox 4"/>
          <p:cNvSpPr txBox="1"/>
          <p:nvPr/>
        </p:nvSpPr>
        <p:spPr>
          <a:xfrm>
            <a:off x="698632" y="9239250"/>
            <a:ext cx="7927628" cy="331650"/>
          </a:xfrm>
          <a:prstGeom prst="rect">
            <a:avLst/>
          </a:prstGeom>
        </p:spPr>
        <p:txBody>
          <a:bodyPr lIns="0" tIns="0" rIns="0" bIns="0" rtlCol="0" anchor="t">
            <a:spAutoFit/>
          </a:bodyPr>
          <a:lstStyle/>
          <a:p>
            <a:pPr algn="ctr">
              <a:lnSpc>
                <a:spcPts val="2743"/>
              </a:lnSpc>
              <a:spcBef>
                <a:spcPct val="0"/>
              </a:spcBef>
            </a:pPr>
            <a:r>
              <a:rPr lang="en-US" sz="2087" u="sng">
                <a:solidFill>
                  <a:srgbClr val="01012C"/>
                </a:solidFill>
                <a:latin typeface="Montserrat"/>
                <a:ea typeface="Montserrat"/>
                <a:cs typeface="Montserrat"/>
                <a:sym typeface="Montserrat"/>
              </a:rPr>
              <a:t>Fig : Swim-lane Diagram for Authentication &amp; Login Process</a:t>
            </a:r>
          </a:p>
        </p:txBody>
      </p:sp>
      <p:sp>
        <p:nvSpPr>
          <p:cNvPr id="5" name="Freeform 5"/>
          <p:cNvSpPr/>
          <p:nvPr/>
        </p:nvSpPr>
        <p:spPr>
          <a:xfrm>
            <a:off x="11571144" y="1232907"/>
            <a:ext cx="4790484" cy="7951011"/>
          </a:xfrm>
          <a:custGeom>
            <a:avLst/>
            <a:gdLst/>
            <a:ahLst/>
            <a:cxnLst/>
            <a:rect l="l" t="t" r="r" b="b"/>
            <a:pathLst>
              <a:path w="4790484" h="7951011">
                <a:moveTo>
                  <a:pt x="0" y="0"/>
                </a:moveTo>
                <a:lnTo>
                  <a:pt x="4790484" y="0"/>
                </a:lnTo>
                <a:lnTo>
                  <a:pt x="4790484" y="7951011"/>
                </a:lnTo>
                <a:lnTo>
                  <a:pt x="0" y="7951011"/>
                </a:lnTo>
                <a:lnTo>
                  <a:pt x="0" y="0"/>
                </a:lnTo>
                <a:close/>
              </a:path>
            </a:pathLst>
          </a:custGeom>
          <a:blipFill>
            <a:blip r:embed="rId3"/>
            <a:stretch>
              <a:fillRect/>
            </a:stretch>
          </a:blipFill>
        </p:spPr>
      </p:sp>
      <p:sp>
        <p:nvSpPr>
          <p:cNvPr id="6" name="TextBox 6"/>
          <p:cNvSpPr txBox="1"/>
          <p:nvPr/>
        </p:nvSpPr>
        <p:spPr>
          <a:xfrm>
            <a:off x="9450583" y="705305"/>
            <a:ext cx="9031607" cy="323395"/>
          </a:xfrm>
          <a:prstGeom prst="rect">
            <a:avLst/>
          </a:prstGeom>
        </p:spPr>
        <p:txBody>
          <a:bodyPr lIns="0" tIns="0" rIns="0" bIns="0" rtlCol="0" anchor="t">
            <a:spAutoFit/>
          </a:bodyPr>
          <a:lstStyle/>
          <a:p>
            <a:pPr algn="ctr">
              <a:lnSpc>
                <a:spcPts val="2628"/>
              </a:lnSpc>
              <a:spcBef>
                <a:spcPct val="0"/>
              </a:spcBef>
            </a:pPr>
            <a:r>
              <a:rPr lang="en-US" sz="2000" b="1" spc="-72">
                <a:solidFill>
                  <a:srgbClr val="01012C"/>
                </a:solidFill>
                <a:latin typeface="Montserrat Bold"/>
                <a:ea typeface="Montserrat Bold"/>
                <a:cs typeface="Montserrat Bold"/>
                <a:sym typeface="Montserrat Bold"/>
              </a:rPr>
              <a:t>Swim-lane Diagram for Menu Management</a:t>
            </a:r>
          </a:p>
        </p:txBody>
      </p:sp>
      <p:sp>
        <p:nvSpPr>
          <p:cNvPr id="7" name="TextBox 7"/>
          <p:cNvSpPr txBox="1"/>
          <p:nvPr/>
        </p:nvSpPr>
        <p:spPr>
          <a:xfrm>
            <a:off x="10915043" y="9239250"/>
            <a:ext cx="6424761" cy="331650"/>
          </a:xfrm>
          <a:prstGeom prst="rect">
            <a:avLst/>
          </a:prstGeom>
        </p:spPr>
        <p:txBody>
          <a:bodyPr lIns="0" tIns="0" rIns="0" bIns="0" rtlCol="0" anchor="t">
            <a:spAutoFit/>
          </a:bodyPr>
          <a:lstStyle/>
          <a:p>
            <a:pPr algn="ctr">
              <a:lnSpc>
                <a:spcPts val="2743"/>
              </a:lnSpc>
              <a:spcBef>
                <a:spcPct val="0"/>
              </a:spcBef>
            </a:pPr>
            <a:r>
              <a:rPr lang="en-US" sz="2087" u="sng">
                <a:solidFill>
                  <a:srgbClr val="01012C"/>
                </a:solidFill>
                <a:latin typeface="Montserrat"/>
                <a:ea typeface="Montserrat"/>
                <a:cs typeface="Montserrat"/>
                <a:sym typeface="Montserrat"/>
              </a:rPr>
              <a:t>Fig : Swim-lane Diagram for Menu Management</a:t>
            </a:r>
          </a:p>
        </p:txBody>
      </p:sp>
      <p:sp>
        <p:nvSpPr>
          <p:cNvPr id="16" name="Slide Number Placeholder 15">
            <a:extLst>
              <a:ext uri="{FF2B5EF4-FFF2-40B4-BE49-F238E27FC236}">
                <a16:creationId xmlns:a16="http://schemas.microsoft.com/office/drawing/2014/main" id="{DB2383B2-C65A-42D4-2D51-10FD85331134}"/>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114286" y="826041"/>
            <a:ext cx="5282721" cy="8254252"/>
          </a:xfrm>
          <a:custGeom>
            <a:avLst/>
            <a:gdLst/>
            <a:ahLst/>
            <a:cxnLst/>
            <a:rect l="l" t="t" r="r" b="b"/>
            <a:pathLst>
              <a:path w="5282721" h="8254252">
                <a:moveTo>
                  <a:pt x="0" y="0"/>
                </a:moveTo>
                <a:lnTo>
                  <a:pt x="5282721" y="0"/>
                </a:lnTo>
                <a:lnTo>
                  <a:pt x="5282721" y="8254251"/>
                </a:lnTo>
                <a:lnTo>
                  <a:pt x="0" y="8254251"/>
                </a:lnTo>
                <a:lnTo>
                  <a:pt x="0" y="0"/>
                </a:lnTo>
                <a:close/>
              </a:path>
            </a:pathLst>
          </a:custGeom>
          <a:blipFill>
            <a:blip r:embed="rId2"/>
            <a:stretch>
              <a:fillRect/>
            </a:stretch>
          </a:blipFill>
        </p:spPr>
      </p:sp>
      <p:sp>
        <p:nvSpPr>
          <p:cNvPr id="3" name="TextBox 3"/>
          <p:cNvSpPr txBox="1"/>
          <p:nvPr/>
        </p:nvSpPr>
        <p:spPr>
          <a:xfrm>
            <a:off x="275523" y="362405"/>
            <a:ext cx="6960247" cy="666295"/>
          </a:xfrm>
          <a:prstGeom prst="rect">
            <a:avLst/>
          </a:prstGeom>
        </p:spPr>
        <p:txBody>
          <a:bodyPr lIns="0" tIns="0" rIns="0" bIns="0" rtlCol="0" anchor="t">
            <a:spAutoFit/>
          </a:bodyPr>
          <a:lstStyle/>
          <a:p>
            <a:pPr algn="ctr">
              <a:lnSpc>
                <a:spcPts val="2628"/>
              </a:lnSpc>
              <a:spcBef>
                <a:spcPct val="0"/>
              </a:spcBef>
            </a:pPr>
            <a:r>
              <a:rPr lang="en-US" sz="2000" b="1" spc="-164">
                <a:solidFill>
                  <a:srgbClr val="01012C"/>
                </a:solidFill>
                <a:latin typeface="Arial Nova Bold"/>
                <a:ea typeface="Arial Nova Bold"/>
                <a:cs typeface="Arial Nova Bold"/>
                <a:sym typeface="Arial Nova Bold"/>
              </a:rPr>
              <a:t>SWIM-LANE DIAGRAM FOR ORDER PROCESSING</a:t>
            </a:r>
          </a:p>
          <a:p>
            <a:pPr algn="ctr">
              <a:lnSpc>
                <a:spcPts val="2628"/>
              </a:lnSpc>
              <a:spcBef>
                <a:spcPct val="0"/>
              </a:spcBef>
            </a:pPr>
            <a:endParaRPr lang="en-US" sz="2000" b="1" spc="-164">
              <a:solidFill>
                <a:srgbClr val="01012C"/>
              </a:solidFill>
              <a:latin typeface="Arial Nova Bold"/>
              <a:ea typeface="Arial Nova Bold"/>
              <a:cs typeface="Arial Nova Bold"/>
              <a:sym typeface="Arial Nova Bold"/>
            </a:endParaRPr>
          </a:p>
        </p:txBody>
      </p:sp>
      <p:sp>
        <p:nvSpPr>
          <p:cNvPr id="4" name="TextBox 4"/>
          <p:cNvSpPr txBox="1"/>
          <p:nvPr/>
        </p:nvSpPr>
        <p:spPr>
          <a:xfrm>
            <a:off x="1005377" y="9239250"/>
            <a:ext cx="5500539" cy="349249"/>
          </a:xfrm>
          <a:prstGeom prst="rect">
            <a:avLst/>
          </a:prstGeom>
        </p:spPr>
        <p:txBody>
          <a:bodyPr lIns="0" tIns="0" rIns="0" bIns="0" rtlCol="0" anchor="t">
            <a:spAutoFit/>
          </a:bodyPr>
          <a:lstStyle/>
          <a:p>
            <a:pPr algn="ctr">
              <a:lnSpc>
                <a:spcPts val="2875"/>
              </a:lnSpc>
              <a:spcBef>
                <a:spcPct val="0"/>
              </a:spcBef>
            </a:pPr>
            <a:r>
              <a:rPr lang="en-US" sz="2187" u="sng" spc="-78">
                <a:solidFill>
                  <a:srgbClr val="01012C"/>
                </a:solidFill>
                <a:latin typeface="Montserrat"/>
                <a:ea typeface="Montserrat"/>
                <a:cs typeface="Montserrat"/>
                <a:sym typeface="Montserrat"/>
              </a:rPr>
              <a:t>Fig : Swim-lane Diagram Order Processing</a:t>
            </a:r>
          </a:p>
        </p:txBody>
      </p:sp>
      <p:sp>
        <p:nvSpPr>
          <p:cNvPr id="5" name="Freeform 5"/>
          <p:cNvSpPr/>
          <p:nvPr/>
        </p:nvSpPr>
        <p:spPr>
          <a:xfrm>
            <a:off x="10636951" y="789468"/>
            <a:ext cx="5164074" cy="8229600"/>
          </a:xfrm>
          <a:custGeom>
            <a:avLst/>
            <a:gdLst/>
            <a:ahLst/>
            <a:cxnLst/>
            <a:rect l="l" t="t" r="r" b="b"/>
            <a:pathLst>
              <a:path w="5164074" h="8229600">
                <a:moveTo>
                  <a:pt x="0" y="0"/>
                </a:moveTo>
                <a:lnTo>
                  <a:pt x="5164074" y="0"/>
                </a:lnTo>
                <a:lnTo>
                  <a:pt x="5164074" y="8229600"/>
                </a:lnTo>
                <a:lnTo>
                  <a:pt x="0" y="8229600"/>
                </a:lnTo>
                <a:lnTo>
                  <a:pt x="0" y="0"/>
                </a:lnTo>
                <a:close/>
              </a:path>
            </a:pathLst>
          </a:custGeom>
          <a:blipFill>
            <a:blip r:embed="rId3"/>
            <a:stretch>
              <a:fillRect/>
            </a:stretch>
          </a:blipFill>
        </p:spPr>
      </p:sp>
      <p:sp>
        <p:nvSpPr>
          <p:cNvPr id="6" name="TextBox 6"/>
          <p:cNvSpPr txBox="1"/>
          <p:nvPr/>
        </p:nvSpPr>
        <p:spPr>
          <a:xfrm>
            <a:off x="9878308" y="325832"/>
            <a:ext cx="7380992" cy="666295"/>
          </a:xfrm>
          <a:prstGeom prst="rect">
            <a:avLst/>
          </a:prstGeom>
        </p:spPr>
        <p:txBody>
          <a:bodyPr lIns="0" tIns="0" rIns="0" bIns="0" rtlCol="0" anchor="t">
            <a:spAutoFit/>
          </a:bodyPr>
          <a:lstStyle/>
          <a:p>
            <a:pPr algn="ctr">
              <a:lnSpc>
                <a:spcPts val="2628"/>
              </a:lnSpc>
              <a:spcBef>
                <a:spcPct val="0"/>
              </a:spcBef>
            </a:pPr>
            <a:r>
              <a:rPr lang="en-US" sz="2000" b="1" spc="-164">
                <a:solidFill>
                  <a:srgbClr val="01012C"/>
                </a:solidFill>
                <a:latin typeface="Arial Nova Bold"/>
                <a:ea typeface="Arial Nova Bold"/>
                <a:cs typeface="Arial Nova Bold"/>
                <a:sym typeface="Arial Nova Bold"/>
              </a:rPr>
              <a:t>SWIM-LANE DIAGRAM FOR INVENTORY MANAGEMENT </a:t>
            </a:r>
          </a:p>
          <a:p>
            <a:pPr algn="ctr">
              <a:lnSpc>
                <a:spcPts val="2628"/>
              </a:lnSpc>
              <a:spcBef>
                <a:spcPct val="0"/>
              </a:spcBef>
            </a:pPr>
            <a:endParaRPr lang="en-US" sz="2000" b="1" spc="-164">
              <a:solidFill>
                <a:srgbClr val="01012C"/>
              </a:solidFill>
              <a:latin typeface="Arial Nova Bold"/>
              <a:ea typeface="Arial Nova Bold"/>
              <a:cs typeface="Arial Nova Bold"/>
              <a:sym typeface="Arial Nova Bold"/>
            </a:endParaRPr>
          </a:p>
        </p:txBody>
      </p:sp>
      <p:sp>
        <p:nvSpPr>
          <p:cNvPr id="7" name="TextBox 7"/>
          <p:cNvSpPr txBox="1"/>
          <p:nvPr/>
        </p:nvSpPr>
        <p:spPr>
          <a:xfrm>
            <a:off x="10112494" y="9220276"/>
            <a:ext cx="6912620" cy="331650"/>
          </a:xfrm>
          <a:prstGeom prst="rect">
            <a:avLst/>
          </a:prstGeom>
        </p:spPr>
        <p:txBody>
          <a:bodyPr lIns="0" tIns="0" rIns="0" bIns="0" rtlCol="0" anchor="t">
            <a:spAutoFit/>
          </a:bodyPr>
          <a:lstStyle/>
          <a:p>
            <a:pPr algn="ctr">
              <a:lnSpc>
                <a:spcPts val="2743"/>
              </a:lnSpc>
              <a:spcBef>
                <a:spcPct val="0"/>
              </a:spcBef>
            </a:pPr>
            <a:r>
              <a:rPr lang="en-US" sz="2087" u="sng">
                <a:solidFill>
                  <a:srgbClr val="01012C"/>
                </a:solidFill>
                <a:latin typeface="Montserrat"/>
                <a:ea typeface="Montserrat"/>
                <a:cs typeface="Montserrat"/>
                <a:sym typeface="Montserrat"/>
              </a:rPr>
              <a:t>Fig : Swim-lane Diagram for Inventory Management</a:t>
            </a:r>
          </a:p>
        </p:txBody>
      </p:sp>
      <p:sp>
        <p:nvSpPr>
          <p:cNvPr id="16" name="Slide Number Placeholder 15">
            <a:extLst>
              <a:ext uri="{FF2B5EF4-FFF2-40B4-BE49-F238E27FC236}">
                <a16:creationId xmlns:a16="http://schemas.microsoft.com/office/drawing/2014/main" id="{3FCE2A3C-D20C-6F7D-C46D-26634051F631}"/>
              </a:ext>
            </a:extLst>
          </p:cNvPr>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77589" y="1495728"/>
            <a:ext cx="3869798" cy="6356958"/>
          </a:xfrm>
          <a:custGeom>
            <a:avLst/>
            <a:gdLst/>
            <a:ahLst/>
            <a:cxnLst/>
            <a:rect l="l" t="t" r="r" b="b"/>
            <a:pathLst>
              <a:path w="3869798" h="6356958">
                <a:moveTo>
                  <a:pt x="0" y="0"/>
                </a:moveTo>
                <a:lnTo>
                  <a:pt x="3869799" y="0"/>
                </a:lnTo>
                <a:lnTo>
                  <a:pt x="3869799" y="6356958"/>
                </a:lnTo>
                <a:lnTo>
                  <a:pt x="0" y="6356958"/>
                </a:lnTo>
                <a:lnTo>
                  <a:pt x="0" y="0"/>
                </a:lnTo>
                <a:close/>
              </a:path>
            </a:pathLst>
          </a:custGeom>
          <a:blipFill>
            <a:blip r:embed="rId2"/>
            <a:stretch>
              <a:fillRect/>
            </a:stretch>
          </a:blipFill>
        </p:spPr>
      </p:sp>
      <p:sp>
        <p:nvSpPr>
          <p:cNvPr id="3" name="TextBox 3"/>
          <p:cNvSpPr txBox="1"/>
          <p:nvPr/>
        </p:nvSpPr>
        <p:spPr>
          <a:xfrm>
            <a:off x="356900" y="607191"/>
            <a:ext cx="7380992" cy="656770"/>
          </a:xfrm>
          <a:prstGeom prst="rect">
            <a:avLst/>
          </a:prstGeom>
        </p:spPr>
        <p:txBody>
          <a:bodyPr lIns="0" tIns="0" rIns="0" bIns="0" rtlCol="0" anchor="t">
            <a:spAutoFit/>
          </a:bodyPr>
          <a:lstStyle/>
          <a:p>
            <a:pPr algn="ctr">
              <a:lnSpc>
                <a:spcPts val="2628"/>
              </a:lnSpc>
              <a:spcBef>
                <a:spcPct val="0"/>
              </a:spcBef>
            </a:pPr>
            <a:r>
              <a:rPr lang="en-US" sz="2000" spc="-72">
                <a:solidFill>
                  <a:srgbClr val="01012C"/>
                </a:solidFill>
                <a:latin typeface="Montserrat"/>
                <a:ea typeface="Montserrat"/>
                <a:cs typeface="Montserrat"/>
                <a:sym typeface="Montserrat"/>
              </a:rPr>
              <a:t>Swim-lane Diagram for Report &amp; Analytics </a:t>
            </a:r>
          </a:p>
          <a:p>
            <a:pPr algn="ctr">
              <a:lnSpc>
                <a:spcPts val="2628"/>
              </a:lnSpc>
              <a:spcBef>
                <a:spcPct val="0"/>
              </a:spcBef>
            </a:pPr>
            <a:endParaRPr lang="en-US" sz="2000" spc="-72">
              <a:solidFill>
                <a:srgbClr val="01012C"/>
              </a:solidFill>
              <a:latin typeface="Montserrat"/>
              <a:ea typeface="Montserrat"/>
              <a:cs typeface="Montserrat"/>
              <a:sym typeface="Montserrat"/>
            </a:endParaRPr>
          </a:p>
        </p:txBody>
      </p:sp>
      <p:sp>
        <p:nvSpPr>
          <p:cNvPr id="4" name="TextBox 4"/>
          <p:cNvSpPr txBox="1"/>
          <p:nvPr/>
        </p:nvSpPr>
        <p:spPr>
          <a:xfrm>
            <a:off x="1054458" y="8451393"/>
            <a:ext cx="5014168" cy="270781"/>
          </a:xfrm>
          <a:prstGeom prst="rect">
            <a:avLst/>
          </a:prstGeom>
        </p:spPr>
        <p:txBody>
          <a:bodyPr lIns="0" tIns="0" rIns="0" bIns="0" rtlCol="0" anchor="t">
            <a:spAutoFit/>
          </a:bodyPr>
          <a:lstStyle/>
          <a:p>
            <a:pPr algn="ctr">
              <a:lnSpc>
                <a:spcPts val="2217"/>
              </a:lnSpc>
              <a:spcBef>
                <a:spcPct val="0"/>
              </a:spcBef>
            </a:pPr>
            <a:r>
              <a:rPr lang="en-US" sz="1687" u="sng">
                <a:solidFill>
                  <a:srgbClr val="01012C"/>
                </a:solidFill>
                <a:latin typeface="Montserrat"/>
                <a:ea typeface="Montserrat"/>
                <a:cs typeface="Montserrat"/>
                <a:sym typeface="Montserrat"/>
              </a:rPr>
              <a:t>Fig : Swim-lane Diagram for Report &amp; Analytics</a:t>
            </a:r>
          </a:p>
        </p:txBody>
      </p:sp>
      <p:sp>
        <p:nvSpPr>
          <p:cNvPr id="5" name="Freeform 5"/>
          <p:cNvSpPr/>
          <p:nvPr/>
        </p:nvSpPr>
        <p:spPr>
          <a:xfrm>
            <a:off x="10116439" y="1364435"/>
            <a:ext cx="3750605" cy="6356958"/>
          </a:xfrm>
          <a:custGeom>
            <a:avLst/>
            <a:gdLst/>
            <a:ahLst/>
            <a:cxnLst/>
            <a:rect l="l" t="t" r="r" b="b"/>
            <a:pathLst>
              <a:path w="3750605" h="6356958">
                <a:moveTo>
                  <a:pt x="0" y="0"/>
                </a:moveTo>
                <a:lnTo>
                  <a:pt x="3750605" y="0"/>
                </a:lnTo>
                <a:lnTo>
                  <a:pt x="3750605" y="6356958"/>
                </a:lnTo>
                <a:lnTo>
                  <a:pt x="0" y="6356958"/>
                </a:lnTo>
                <a:lnTo>
                  <a:pt x="0" y="0"/>
                </a:lnTo>
                <a:close/>
              </a:path>
            </a:pathLst>
          </a:custGeom>
          <a:blipFill>
            <a:blip r:embed="rId3"/>
            <a:stretch>
              <a:fillRect/>
            </a:stretch>
          </a:blipFill>
        </p:spPr>
      </p:sp>
      <p:sp>
        <p:nvSpPr>
          <p:cNvPr id="6" name="TextBox 6"/>
          <p:cNvSpPr txBox="1"/>
          <p:nvPr/>
        </p:nvSpPr>
        <p:spPr>
          <a:xfrm>
            <a:off x="8787100" y="707665"/>
            <a:ext cx="7380992" cy="656770"/>
          </a:xfrm>
          <a:prstGeom prst="rect">
            <a:avLst/>
          </a:prstGeom>
        </p:spPr>
        <p:txBody>
          <a:bodyPr lIns="0" tIns="0" rIns="0" bIns="0" rtlCol="0" anchor="t">
            <a:spAutoFit/>
          </a:bodyPr>
          <a:lstStyle/>
          <a:p>
            <a:pPr algn="ctr">
              <a:lnSpc>
                <a:spcPts val="2628"/>
              </a:lnSpc>
              <a:spcBef>
                <a:spcPct val="0"/>
              </a:spcBef>
            </a:pPr>
            <a:r>
              <a:rPr lang="en-US" sz="2000" spc="-72">
                <a:solidFill>
                  <a:srgbClr val="01012C"/>
                </a:solidFill>
                <a:latin typeface="Montserrat"/>
                <a:ea typeface="Montserrat"/>
                <a:cs typeface="Montserrat"/>
                <a:sym typeface="Montserrat"/>
              </a:rPr>
              <a:t>Swim-lane Diagram for Billing Module </a:t>
            </a:r>
          </a:p>
          <a:p>
            <a:pPr algn="ctr">
              <a:lnSpc>
                <a:spcPts val="2628"/>
              </a:lnSpc>
              <a:spcBef>
                <a:spcPct val="0"/>
              </a:spcBef>
            </a:pPr>
            <a:endParaRPr lang="en-US" sz="2000" spc="-72">
              <a:solidFill>
                <a:srgbClr val="01012C"/>
              </a:solidFill>
              <a:latin typeface="Montserrat"/>
              <a:ea typeface="Montserrat"/>
              <a:cs typeface="Montserrat"/>
              <a:sym typeface="Montserrat"/>
            </a:endParaRPr>
          </a:p>
        </p:txBody>
      </p:sp>
      <p:sp>
        <p:nvSpPr>
          <p:cNvPr id="7" name="TextBox 7"/>
          <p:cNvSpPr txBox="1"/>
          <p:nvPr/>
        </p:nvSpPr>
        <p:spPr>
          <a:xfrm>
            <a:off x="9661688" y="8551867"/>
            <a:ext cx="4660106" cy="270781"/>
          </a:xfrm>
          <a:prstGeom prst="rect">
            <a:avLst/>
          </a:prstGeom>
        </p:spPr>
        <p:txBody>
          <a:bodyPr lIns="0" tIns="0" rIns="0" bIns="0" rtlCol="0" anchor="t">
            <a:spAutoFit/>
          </a:bodyPr>
          <a:lstStyle/>
          <a:p>
            <a:pPr algn="ctr">
              <a:lnSpc>
                <a:spcPts val="2217"/>
              </a:lnSpc>
              <a:spcBef>
                <a:spcPct val="0"/>
              </a:spcBef>
            </a:pPr>
            <a:r>
              <a:rPr lang="en-US" sz="1687" u="sng">
                <a:solidFill>
                  <a:srgbClr val="01012C"/>
                </a:solidFill>
                <a:latin typeface="Montserrat"/>
                <a:ea typeface="Montserrat"/>
                <a:cs typeface="Montserrat"/>
                <a:sym typeface="Montserrat"/>
              </a:rPr>
              <a:t>Fig : Swim-lane Diagram for Billling Module</a:t>
            </a:r>
          </a:p>
        </p:txBody>
      </p:sp>
      <p:sp>
        <p:nvSpPr>
          <p:cNvPr id="16" name="Slide Number Placeholder 15">
            <a:extLst>
              <a:ext uri="{FF2B5EF4-FFF2-40B4-BE49-F238E27FC236}">
                <a16:creationId xmlns:a16="http://schemas.microsoft.com/office/drawing/2014/main" id="{A9BBFE21-B631-EEEC-016E-8B17D0442ADA}"/>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6900118" y="4869180"/>
            <a:ext cx="4487763" cy="854075"/>
          </a:xfrm>
          <a:prstGeom prst="rect">
            <a:avLst/>
          </a:prstGeom>
        </p:spPr>
        <p:txBody>
          <a:bodyPr lIns="0" tIns="0" rIns="0" bIns="0" rtlCol="0" anchor="t">
            <a:spAutoFit/>
          </a:bodyPr>
          <a:lstStyle/>
          <a:p>
            <a:pPr algn="ctr">
              <a:lnSpc>
                <a:spcPts val="7000"/>
              </a:lnSpc>
              <a:spcBef>
                <a:spcPct val="0"/>
              </a:spcBef>
            </a:pPr>
            <a:r>
              <a:rPr lang="en-US" sz="5000" b="1" spc="-180">
                <a:solidFill>
                  <a:srgbClr val="01012C"/>
                </a:solidFill>
                <a:latin typeface="Montserrat Bold"/>
                <a:ea typeface="Montserrat Bold"/>
                <a:cs typeface="Montserrat Bold"/>
                <a:sym typeface="Montserrat Bold"/>
              </a:rPr>
              <a:t>Class Diagram</a:t>
            </a:r>
          </a:p>
        </p:txBody>
      </p:sp>
      <p:sp>
        <p:nvSpPr>
          <p:cNvPr id="11" name="Slide Number Placeholder 10">
            <a:extLst>
              <a:ext uri="{FF2B5EF4-FFF2-40B4-BE49-F238E27FC236}">
                <a16:creationId xmlns:a16="http://schemas.microsoft.com/office/drawing/2014/main" id="{EA0D58C5-2555-A247-1BCD-ECE83E6D973F}"/>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4238386" y="1158527"/>
            <a:ext cx="9811229" cy="7419742"/>
          </a:xfrm>
          <a:custGeom>
            <a:avLst/>
            <a:gdLst/>
            <a:ahLst/>
            <a:cxnLst/>
            <a:rect l="l" t="t" r="r" b="b"/>
            <a:pathLst>
              <a:path w="9811229" h="7419742">
                <a:moveTo>
                  <a:pt x="0" y="0"/>
                </a:moveTo>
                <a:lnTo>
                  <a:pt x="9811228" y="0"/>
                </a:lnTo>
                <a:lnTo>
                  <a:pt x="9811228" y="7419741"/>
                </a:lnTo>
                <a:lnTo>
                  <a:pt x="0" y="7419741"/>
                </a:lnTo>
                <a:lnTo>
                  <a:pt x="0" y="0"/>
                </a:lnTo>
                <a:close/>
              </a:path>
            </a:pathLst>
          </a:custGeom>
          <a:blipFill>
            <a:blip r:embed="rId2"/>
            <a:stretch>
              <a:fillRect/>
            </a:stretch>
          </a:blipFill>
        </p:spPr>
      </p:sp>
      <p:sp>
        <p:nvSpPr>
          <p:cNvPr id="3" name="TextBox 3"/>
          <p:cNvSpPr txBox="1"/>
          <p:nvPr/>
        </p:nvSpPr>
        <p:spPr>
          <a:xfrm>
            <a:off x="4579649" y="632460"/>
            <a:ext cx="7575182" cy="396240"/>
          </a:xfrm>
          <a:prstGeom prst="rect">
            <a:avLst/>
          </a:prstGeom>
        </p:spPr>
        <p:txBody>
          <a:bodyPr lIns="0" tIns="0" rIns="0" bIns="0" rtlCol="0" anchor="t">
            <a:spAutoFit/>
          </a:bodyPr>
          <a:lstStyle/>
          <a:p>
            <a:pPr algn="ctr">
              <a:lnSpc>
                <a:spcPts val="3359"/>
              </a:lnSpc>
              <a:spcBef>
                <a:spcPct val="0"/>
              </a:spcBef>
            </a:pPr>
            <a:r>
              <a:rPr lang="en-US" sz="2400" b="1" spc="-86">
                <a:solidFill>
                  <a:srgbClr val="01012C"/>
                </a:solidFill>
                <a:latin typeface="Montserrat Bold"/>
                <a:ea typeface="Montserrat Bold"/>
                <a:cs typeface="Montserrat Bold"/>
                <a:sym typeface="Montserrat Bold"/>
              </a:rPr>
              <a:t>Class Diagram for Restaurant POS System </a:t>
            </a:r>
          </a:p>
        </p:txBody>
      </p:sp>
      <p:sp>
        <p:nvSpPr>
          <p:cNvPr id="4" name="TextBox 4"/>
          <p:cNvSpPr txBox="1"/>
          <p:nvPr/>
        </p:nvSpPr>
        <p:spPr>
          <a:xfrm>
            <a:off x="5356409" y="8787918"/>
            <a:ext cx="7575182" cy="339725"/>
          </a:xfrm>
          <a:prstGeom prst="rect">
            <a:avLst/>
          </a:prstGeom>
        </p:spPr>
        <p:txBody>
          <a:bodyPr lIns="0" tIns="0" rIns="0" bIns="0" rtlCol="0" anchor="t">
            <a:spAutoFit/>
          </a:bodyPr>
          <a:lstStyle/>
          <a:p>
            <a:pPr algn="ctr">
              <a:lnSpc>
                <a:spcPts val="2800"/>
              </a:lnSpc>
              <a:spcBef>
                <a:spcPct val="0"/>
              </a:spcBef>
            </a:pPr>
            <a:r>
              <a:rPr lang="en-US" sz="2000" u="sng">
                <a:solidFill>
                  <a:srgbClr val="01012C"/>
                </a:solidFill>
                <a:latin typeface="Montserrat"/>
                <a:ea typeface="Montserrat"/>
                <a:cs typeface="Montserrat"/>
                <a:sym typeface="Montserrat"/>
              </a:rPr>
              <a:t>Fig : Class Diagram for Restaurant POS System </a:t>
            </a:r>
          </a:p>
        </p:txBody>
      </p:sp>
      <p:sp>
        <p:nvSpPr>
          <p:cNvPr id="13" name="Slide Number Placeholder 12">
            <a:extLst>
              <a:ext uri="{FF2B5EF4-FFF2-40B4-BE49-F238E27FC236}">
                <a16:creationId xmlns:a16="http://schemas.microsoft.com/office/drawing/2014/main" id="{4F4E3D99-EC3B-BAAD-46DC-A6E23FB5C151}"/>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045535" y="2515359"/>
            <a:ext cx="8196931" cy="5256282"/>
          </a:xfrm>
          <a:custGeom>
            <a:avLst/>
            <a:gdLst/>
            <a:ahLst/>
            <a:cxnLst/>
            <a:rect l="l" t="t" r="r" b="b"/>
            <a:pathLst>
              <a:path w="8196931" h="5256282">
                <a:moveTo>
                  <a:pt x="0" y="0"/>
                </a:moveTo>
                <a:lnTo>
                  <a:pt x="8196930" y="0"/>
                </a:lnTo>
                <a:lnTo>
                  <a:pt x="8196930" y="5256282"/>
                </a:lnTo>
                <a:lnTo>
                  <a:pt x="0" y="5256282"/>
                </a:lnTo>
                <a:lnTo>
                  <a:pt x="0" y="0"/>
                </a:lnTo>
                <a:close/>
              </a:path>
            </a:pathLst>
          </a:custGeom>
          <a:blipFill>
            <a:blip r:embed="rId2"/>
            <a:stretch>
              <a:fillRect/>
            </a:stretch>
          </a:blipFill>
        </p:spPr>
      </p:sp>
      <p:sp>
        <p:nvSpPr>
          <p:cNvPr id="3" name="TextBox 3"/>
          <p:cNvSpPr txBox="1"/>
          <p:nvPr/>
        </p:nvSpPr>
        <p:spPr>
          <a:xfrm>
            <a:off x="7389912" y="1281885"/>
            <a:ext cx="3508177" cy="646791"/>
          </a:xfrm>
          <a:prstGeom prst="rect">
            <a:avLst/>
          </a:prstGeom>
        </p:spPr>
        <p:txBody>
          <a:bodyPr lIns="0" tIns="0" rIns="0" bIns="0" rtlCol="0" anchor="t">
            <a:spAutoFit/>
          </a:bodyPr>
          <a:lstStyle/>
          <a:p>
            <a:pPr algn="ctr">
              <a:lnSpc>
                <a:spcPts val="5257"/>
              </a:lnSpc>
              <a:spcBef>
                <a:spcPct val="0"/>
              </a:spcBef>
            </a:pPr>
            <a:r>
              <a:rPr lang="en-US" sz="3999" b="1" spc="-143">
                <a:solidFill>
                  <a:srgbClr val="01012C"/>
                </a:solidFill>
                <a:latin typeface="Montserrat Bold"/>
                <a:ea typeface="Montserrat Bold"/>
                <a:cs typeface="Montserrat Bold"/>
                <a:sym typeface="Montserrat Bold"/>
              </a:rPr>
              <a:t>ERD Diagram </a:t>
            </a:r>
          </a:p>
        </p:txBody>
      </p:sp>
      <p:sp>
        <p:nvSpPr>
          <p:cNvPr id="4" name="TextBox 4"/>
          <p:cNvSpPr txBox="1"/>
          <p:nvPr/>
        </p:nvSpPr>
        <p:spPr>
          <a:xfrm>
            <a:off x="5356409" y="7582729"/>
            <a:ext cx="7575182" cy="339725"/>
          </a:xfrm>
          <a:prstGeom prst="rect">
            <a:avLst/>
          </a:prstGeom>
        </p:spPr>
        <p:txBody>
          <a:bodyPr lIns="0" tIns="0" rIns="0" bIns="0" rtlCol="0" anchor="t">
            <a:spAutoFit/>
          </a:bodyPr>
          <a:lstStyle/>
          <a:p>
            <a:pPr algn="ctr">
              <a:lnSpc>
                <a:spcPts val="2800"/>
              </a:lnSpc>
              <a:spcBef>
                <a:spcPct val="0"/>
              </a:spcBef>
            </a:pPr>
            <a:r>
              <a:rPr lang="en-US" sz="2000" u="sng">
                <a:solidFill>
                  <a:srgbClr val="01012C"/>
                </a:solidFill>
                <a:latin typeface="Montserrat"/>
                <a:ea typeface="Montserrat"/>
                <a:cs typeface="Montserrat"/>
                <a:sym typeface="Montserrat"/>
              </a:rPr>
              <a:t>Fig : ERD for Restaurant POS System </a:t>
            </a:r>
          </a:p>
        </p:txBody>
      </p:sp>
      <p:sp>
        <p:nvSpPr>
          <p:cNvPr id="13" name="Slide Number Placeholder 12">
            <a:extLst>
              <a:ext uri="{FF2B5EF4-FFF2-40B4-BE49-F238E27FC236}">
                <a16:creationId xmlns:a16="http://schemas.microsoft.com/office/drawing/2014/main" id="{2A3369C2-9B73-33F2-828F-2F1606877621}"/>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115808" y="2167673"/>
            <a:ext cx="8056384" cy="5951654"/>
          </a:xfrm>
          <a:custGeom>
            <a:avLst/>
            <a:gdLst/>
            <a:ahLst/>
            <a:cxnLst/>
            <a:rect l="l" t="t" r="r" b="b"/>
            <a:pathLst>
              <a:path w="8056384" h="5951654">
                <a:moveTo>
                  <a:pt x="0" y="0"/>
                </a:moveTo>
                <a:lnTo>
                  <a:pt x="8056384" y="0"/>
                </a:lnTo>
                <a:lnTo>
                  <a:pt x="8056384" y="5951654"/>
                </a:lnTo>
                <a:lnTo>
                  <a:pt x="0" y="5951654"/>
                </a:lnTo>
                <a:lnTo>
                  <a:pt x="0" y="0"/>
                </a:lnTo>
                <a:close/>
              </a:path>
            </a:pathLst>
          </a:custGeom>
          <a:blipFill>
            <a:blip r:embed="rId2"/>
            <a:stretch>
              <a:fillRect/>
            </a:stretch>
          </a:blipFill>
        </p:spPr>
      </p:sp>
      <p:sp>
        <p:nvSpPr>
          <p:cNvPr id="3" name="TextBox 3"/>
          <p:cNvSpPr txBox="1"/>
          <p:nvPr/>
        </p:nvSpPr>
        <p:spPr>
          <a:xfrm>
            <a:off x="6953250" y="990600"/>
            <a:ext cx="4381500" cy="646791"/>
          </a:xfrm>
          <a:prstGeom prst="rect">
            <a:avLst/>
          </a:prstGeom>
        </p:spPr>
        <p:txBody>
          <a:bodyPr lIns="0" tIns="0" rIns="0" bIns="0" rtlCol="0" anchor="t">
            <a:spAutoFit/>
          </a:bodyPr>
          <a:lstStyle/>
          <a:p>
            <a:pPr algn="ctr">
              <a:lnSpc>
                <a:spcPts val="5257"/>
              </a:lnSpc>
              <a:spcBef>
                <a:spcPct val="0"/>
              </a:spcBef>
            </a:pPr>
            <a:r>
              <a:rPr lang="en-US" sz="3999" b="1" spc="-143">
                <a:solidFill>
                  <a:srgbClr val="01012C"/>
                </a:solidFill>
                <a:latin typeface="Montserrat Bold"/>
                <a:ea typeface="Montserrat Bold"/>
                <a:cs typeface="Montserrat Bold"/>
                <a:sym typeface="Montserrat Bold"/>
              </a:rPr>
              <a:t>Database Design </a:t>
            </a:r>
          </a:p>
        </p:txBody>
      </p:sp>
      <p:sp>
        <p:nvSpPr>
          <p:cNvPr id="4" name="TextBox 4"/>
          <p:cNvSpPr txBox="1"/>
          <p:nvPr/>
        </p:nvSpPr>
        <p:spPr>
          <a:xfrm>
            <a:off x="6457727" y="8467698"/>
            <a:ext cx="5372546"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 : Database for Restaurant POS System </a:t>
            </a:r>
          </a:p>
        </p:txBody>
      </p:sp>
      <p:sp>
        <p:nvSpPr>
          <p:cNvPr id="13" name="Slide Number Placeholder 12">
            <a:extLst>
              <a:ext uri="{FF2B5EF4-FFF2-40B4-BE49-F238E27FC236}">
                <a16:creationId xmlns:a16="http://schemas.microsoft.com/office/drawing/2014/main" id="{BDA045B1-7F5D-0F41-C5B3-10E69C28238E}"/>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1936603"/>
            <a:ext cx="11301259" cy="5410478"/>
          </a:xfrm>
          <a:custGeom>
            <a:avLst/>
            <a:gdLst/>
            <a:ahLst/>
            <a:cxnLst/>
            <a:rect l="l" t="t" r="r" b="b"/>
            <a:pathLst>
              <a:path w="11301259" h="5410478">
                <a:moveTo>
                  <a:pt x="0" y="0"/>
                </a:moveTo>
                <a:lnTo>
                  <a:pt x="11301258" y="0"/>
                </a:lnTo>
                <a:lnTo>
                  <a:pt x="11301258" y="5410478"/>
                </a:lnTo>
                <a:lnTo>
                  <a:pt x="0" y="5410478"/>
                </a:lnTo>
                <a:lnTo>
                  <a:pt x="0" y="0"/>
                </a:lnTo>
                <a:close/>
              </a:path>
            </a:pathLst>
          </a:custGeom>
          <a:blipFill>
            <a:blip r:embed="rId2"/>
            <a:stretch>
              <a:fillRect/>
            </a:stretch>
          </a:blipFill>
        </p:spPr>
      </p:sp>
      <p:sp>
        <p:nvSpPr>
          <p:cNvPr id="3" name="TextBox 3"/>
          <p:cNvSpPr txBox="1"/>
          <p:nvPr/>
        </p:nvSpPr>
        <p:spPr>
          <a:xfrm>
            <a:off x="617320" y="1000125"/>
            <a:ext cx="3621881" cy="480331"/>
          </a:xfrm>
          <a:prstGeom prst="rect">
            <a:avLst/>
          </a:prstGeom>
        </p:spPr>
        <p:txBody>
          <a:bodyPr lIns="0" tIns="0" rIns="0" bIns="0" rtlCol="0" anchor="t">
            <a:spAutoFit/>
          </a:bodyPr>
          <a:lstStyle/>
          <a:p>
            <a:pPr algn="ctr">
              <a:lnSpc>
                <a:spcPts val="3942"/>
              </a:lnSpc>
              <a:spcBef>
                <a:spcPct val="0"/>
              </a:spcBef>
            </a:pPr>
            <a:r>
              <a:rPr lang="en-US" sz="3000" b="1" spc="-108">
                <a:solidFill>
                  <a:srgbClr val="01012C"/>
                </a:solidFill>
                <a:latin typeface="Montserrat Bold"/>
                <a:ea typeface="Montserrat Bold"/>
                <a:cs typeface="Montserrat Bold"/>
                <a:sym typeface="Montserrat Bold"/>
              </a:rPr>
              <a:t>Data Flow Diagram</a:t>
            </a:r>
          </a:p>
        </p:txBody>
      </p:sp>
      <p:sp>
        <p:nvSpPr>
          <p:cNvPr id="4" name="TextBox 4"/>
          <p:cNvSpPr txBox="1"/>
          <p:nvPr/>
        </p:nvSpPr>
        <p:spPr>
          <a:xfrm>
            <a:off x="4420567" y="7885128"/>
            <a:ext cx="9446865"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 Fig : Illustrates the context-level DFD 0 and shows the actors and process. </a:t>
            </a:r>
          </a:p>
        </p:txBody>
      </p:sp>
      <p:sp>
        <p:nvSpPr>
          <p:cNvPr id="13" name="Slide Number Placeholder 12">
            <a:extLst>
              <a:ext uri="{FF2B5EF4-FFF2-40B4-BE49-F238E27FC236}">
                <a16:creationId xmlns:a16="http://schemas.microsoft.com/office/drawing/2014/main" id="{B9ED4D5B-7350-9961-745A-CCB2078AF162}"/>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4817393" y="1393915"/>
            <a:ext cx="8653215" cy="6652159"/>
          </a:xfrm>
          <a:custGeom>
            <a:avLst/>
            <a:gdLst/>
            <a:ahLst/>
            <a:cxnLst/>
            <a:rect l="l" t="t" r="r" b="b"/>
            <a:pathLst>
              <a:path w="8653215" h="6652159">
                <a:moveTo>
                  <a:pt x="0" y="0"/>
                </a:moveTo>
                <a:lnTo>
                  <a:pt x="8653214" y="0"/>
                </a:lnTo>
                <a:lnTo>
                  <a:pt x="8653214" y="6652158"/>
                </a:lnTo>
                <a:lnTo>
                  <a:pt x="0" y="6652158"/>
                </a:lnTo>
                <a:lnTo>
                  <a:pt x="0" y="0"/>
                </a:lnTo>
                <a:close/>
              </a:path>
            </a:pathLst>
          </a:custGeom>
          <a:blipFill>
            <a:blip r:embed="rId2"/>
            <a:stretch>
              <a:fillRect/>
            </a:stretch>
          </a:blipFill>
        </p:spPr>
      </p:sp>
      <p:sp>
        <p:nvSpPr>
          <p:cNvPr id="3" name="TextBox 3"/>
          <p:cNvSpPr txBox="1"/>
          <p:nvPr/>
        </p:nvSpPr>
        <p:spPr>
          <a:xfrm>
            <a:off x="1027956" y="1009650"/>
            <a:ext cx="2045196" cy="384265"/>
          </a:xfrm>
          <a:prstGeom prst="rect">
            <a:avLst/>
          </a:prstGeom>
        </p:spPr>
        <p:txBody>
          <a:bodyPr lIns="0" tIns="0" rIns="0" bIns="0" rtlCol="0" anchor="t">
            <a:spAutoFit/>
          </a:bodyPr>
          <a:lstStyle/>
          <a:p>
            <a:pPr algn="ctr">
              <a:lnSpc>
                <a:spcPts val="3154"/>
              </a:lnSpc>
              <a:spcBef>
                <a:spcPct val="0"/>
              </a:spcBef>
            </a:pPr>
            <a:r>
              <a:rPr lang="en-US" sz="2399" b="1" spc="-86">
                <a:solidFill>
                  <a:srgbClr val="01012C"/>
                </a:solidFill>
                <a:latin typeface="Montserrat Bold"/>
                <a:ea typeface="Montserrat Bold"/>
                <a:cs typeface="Montserrat Bold"/>
                <a:sym typeface="Montserrat Bold"/>
              </a:rPr>
              <a:t>Level 1 (DFD) :</a:t>
            </a:r>
          </a:p>
        </p:txBody>
      </p:sp>
      <p:sp>
        <p:nvSpPr>
          <p:cNvPr id="4" name="TextBox 4"/>
          <p:cNvSpPr txBox="1"/>
          <p:nvPr/>
        </p:nvSpPr>
        <p:spPr>
          <a:xfrm>
            <a:off x="7234758" y="8407412"/>
            <a:ext cx="3818483"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 : Level 1 DFD Admin Panel.</a:t>
            </a:r>
          </a:p>
        </p:txBody>
      </p:sp>
      <p:sp>
        <p:nvSpPr>
          <p:cNvPr id="13" name="Slide Number Placeholder 12">
            <a:extLst>
              <a:ext uri="{FF2B5EF4-FFF2-40B4-BE49-F238E27FC236}">
                <a16:creationId xmlns:a16="http://schemas.microsoft.com/office/drawing/2014/main" id="{49E56FAF-3C03-2523-5C42-038829256AA9}"/>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8700" y="1847195"/>
            <a:ext cx="7011715" cy="6099009"/>
          </a:xfrm>
          <a:custGeom>
            <a:avLst/>
            <a:gdLst/>
            <a:ahLst/>
            <a:cxnLst/>
            <a:rect l="l" t="t" r="r" b="b"/>
            <a:pathLst>
              <a:path w="7011715" h="6099009">
                <a:moveTo>
                  <a:pt x="0" y="0"/>
                </a:moveTo>
                <a:lnTo>
                  <a:pt x="7011715" y="0"/>
                </a:lnTo>
                <a:lnTo>
                  <a:pt x="7011715" y="6099009"/>
                </a:lnTo>
                <a:lnTo>
                  <a:pt x="0" y="6099009"/>
                </a:lnTo>
                <a:lnTo>
                  <a:pt x="0" y="0"/>
                </a:lnTo>
                <a:close/>
              </a:path>
            </a:pathLst>
          </a:custGeom>
          <a:blipFill>
            <a:blip r:embed="rId2"/>
            <a:stretch>
              <a:fillRect b="-4905"/>
            </a:stretch>
          </a:blipFill>
        </p:spPr>
      </p:sp>
      <p:sp>
        <p:nvSpPr>
          <p:cNvPr id="3" name="Freeform 3"/>
          <p:cNvSpPr/>
          <p:nvPr/>
        </p:nvSpPr>
        <p:spPr>
          <a:xfrm>
            <a:off x="10591174" y="2061206"/>
            <a:ext cx="6668126" cy="5039869"/>
          </a:xfrm>
          <a:custGeom>
            <a:avLst/>
            <a:gdLst/>
            <a:ahLst/>
            <a:cxnLst/>
            <a:rect l="l" t="t" r="r" b="b"/>
            <a:pathLst>
              <a:path w="6668126" h="5039869">
                <a:moveTo>
                  <a:pt x="0" y="0"/>
                </a:moveTo>
                <a:lnTo>
                  <a:pt x="6668126" y="0"/>
                </a:lnTo>
                <a:lnTo>
                  <a:pt x="6668126" y="5039869"/>
                </a:lnTo>
                <a:lnTo>
                  <a:pt x="0" y="5039869"/>
                </a:lnTo>
                <a:lnTo>
                  <a:pt x="0" y="0"/>
                </a:lnTo>
                <a:close/>
              </a:path>
            </a:pathLst>
          </a:custGeom>
          <a:blipFill>
            <a:blip r:embed="rId3"/>
            <a:stretch>
              <a:fillRect t="-4192"/>
            </a:stretch>
          </a:blipFill>
        </p:spPr>
      </p:sp>
      <p:sp>
        <p:nvSpPr>
          <p:cNvPr id="4" name="TextBox 4"/>
          <p:cNvSpPr txBox="1"/>
          <p:nvPr/>
        </p:nvSpPr>
        <p:spPr>
          <a:xfrm>
            <a:off x="1880788" y="1188006"/>
            <a:ext cx="3151584" cy="392338"/>
          </a:xfrm>
          <a:prstGeom prst="rect">
            <a:avLst/>
          </a:prstGeom>
        </p:spPr>
        <p:txBody>
          <a:bodyPr lIns="0" tIns="0" rIns="0" bIns="0" rtlCol="0" anchor="t">
            <a:spAutoFit/>
          </a:bodyPr>
          <a:lstStyle/>
          <a:p>
            <a:pPr algn="ctr">
              <a:lnSpc>
                <a:spcPts val="3285"/>
              </a:lnSpc>
              <a:spcBef>
                <a:spcPct val="0"/>
              </a:spcBef>
            </a:pPr>
            <a:r>
              <a:rPr lang="en-US" sz="2500" spc="-90">
                <a:solidFill>
                  <a:srgbClr val="01012C"/>
                </a:solidFill>
                <a:latin typeface="Montserrat"/>
                <a:ea typeface="Montserrat"/>
                <a:cs typeface="Montserrat"/>
                <a:sym typeface="Montserrat"/>
              </a:rPr>
              <a:t>Level 2 DFD Process 1</a:t>
            </a:r>
          </a:p>
        </p:txBody>
      </p:sp>
      <p:sp>
        <p:nvSpPr>
          <p:cNvPr id="5" name="TextBox 5"/>
          <p:cNvSpPr txBox="1"/>
          <p:nvPr/>
        </p:nvSpPr>
        <p:spPr>
          <a:xfrm>
            <a:off x="1468824" y="8194005"/>
            <a:ext cx="5548908"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Figure: Level 2 DFD Process 1 Menu Module.</a:t>
            </a:r>
          </a:p>
        </p:txBody>
      </p:sp>
      <p:sp>
        <p:nvSpPr>
          <p:cNvPr id="6" name="TextBox 6"/>
          <p:cNvSpPr txBox="1"/>
          <p:nvPr/>
        </p:nvSpPr>
        <p:spPr>
          <a:xfrm>
            <a:off x="10965479" y="1188006"/>
            <a:ext cx="3217218" cy="392338"/>
          </a:xfrm>
          <a:prstGeom prst="rect">
            <a:avLst/>
          </a:prstGeom>
        </p:spPr>
        <p:txBody>
          <a:bodyPr lIns="0" tIns="0" rIns="0" bIns="0" rtlCol="0" anchor="t">
            <a:spAutoFit/>
          </a:bodyPr>
          <a:lstStyle/>
          <a:p>
            <a:pPr algn="ctr">
              <a:lnSpc>
                <a:spcPts val="3285"/>
              </a:lnSpc>
              <a:spcBef>
                <a:spcPct val="0"/>
              </a:spcBef>
            </a:pPr>
            <a:r>
              <a:rPr lang="en-US" sz="2500" spc="-90">
                <a:solidFill>
                  <a:srgbClr val="01012C"/>
                </a:solidFill>
                <a:latin typeface="Montserrat"/>
                <a:ea typeface="Montserrat"/>
                <a:cs typeface="Montserrat"/>
                <a:sym typeface="Montserrat"/>
              </a:rPr>
              <a:t>Level 2 DFD Process 2</a:t>
            </a:r>
          </a:p>
        </p:txBody>
      </p:sp>
      <p:sp>
        <p:nvSpPr>
          <p:cNvPr id="7" name="TextBox 7"/>
          <p:cNvSpPr txBox="1"/>
          <p:nvPr/>
        </p:nvSpPr>
        <p:spPr>
          <a:xfrm>
            <a:off x="10559989" y="8194005"/>
            <a:ext cx="5601593"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Figure: Level 2 DFD Process 2 Order Module.</a:t>
            </a:r>
          </a:p>
        </p:txBody>
      </p:sp>
      <p:sp>
        <p:nvSpPr>
          <p:cNvPr id="16" name="Slide Number Placeholder 15">
            <a:extLst>
              <a:ext uri="{FF2B5EF4-FFF2-40B4-BE49-F238E27FC236}">
                <a16:creationId xmlns:a16="http://schemas.microsoft.com/office/drawing/2014/main" id="{83CA7CE5-56FA-4C22-9D4E-AD1896C3B0CF}"/>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67031" y="2410587"/>
            <a:ext cx="8976969" cy="4399506"/>
          </a:xfrm>
          <a:custGeom>
            <a:avLst/>
            <a:gdLst/>
            <a:ahLst/>
            <a:cxnLst/>
            <a:rect l="l" t="t" r="r" b="b"/>
            <a:pathLst>
              <a:path w="8976969" h="4399506">
                <a:moveTo>
                  <a:pt x="0" y="0"/>
                </a:moveTo>
                <a:lnTo>
                  <a:pt x="8976969" y="0"/>
                </a:lnTo>
                <a:lnTo>
                  <a:pt x="8976969" y="4399506"/>
                </a:lnTo>
                <a:lnTo>
                  <a:pt x="0" y="4399506"/>
                </a:lnTo>
                <a:lnTo>
                  <a:pt x="0" y="0"/>
                </a:lnTo>
                <a:close/>
              </a:path>
            </a:pathLst>
          </a:custGeom>
          <a:blipFill>
            <a:blip r:embed="rId2"/>
            <a:stretch>
              <a:fillRect t="-7888"/>
            </a:stretch>
          </a:blipFill>
        </p:spPr>
      </p:sp>
      <p:sp>
        <p:nvSpPr>
          <p:cNvPr id="3" name="Freeform 3"/>
          <p:cNvSpPr/>
          <p:nvPr/>
        </p:nvSpPr>
        <p:spPr>
          <a:xfrm>
            <a:off x="9620658" y="2410587"/>
            <a:ext cx="8667342" cy="4062861"/>
          </a:xfrm>
          <a:custGeom>
            <a:avLst/>
            <a:gdLst/>
            <a:ahLst/>
            <a:cxnLst/>
            <a:rect l="l" t="t" r="r" b="b"/>
            <a:pathLst>
              <a:path w="8667342" h="4062861">
                <a:moveTo>
                  <a:pt x="0" y="0"/>
                </a:moveTo>
                <a:lnTo>
                  <a:pt x="8667342" y="0"/>
                </a:lnTo>
                <a:lnTo>
                  <a:pt x="8667342" y="4062861"/>
                </a:lnTo>
                <a:lnTo>
                  <a:pt x="0" y="4062861"/>
                </a:lnTo>
                <a:lnTo>
                  <a:pt x="0" y="0"/>
                </a:lnTo>
                <a:close/>
              </a:path>
            </a:pathLst>
          </a:custGeom>
          <a:blipFill>
            <a:blip r:embed="rId3"/>
            <a:stretch>
              <a:fillRect t="-10355" r="-1680"/>
            </a:stretch>
          </a:blipFill>
        </p:spPr>
      </p:sp>
      <p:sp>
        <p:nvSpPr>
          <p:cNvPr id="4" name="TextBox 4"/>
          <p:cNvSpPr txBox="1"/>
          <p:nvPr/>
        </p:nvSpPr>
        <p:spPr>
          <a:xfrm>
            <a:off x="1848566" y="1188006"/>
            <a:ext cx="3216027" cy="392338"/>
          </a:xfrm>
          <a:prstGeom prst="rect">
            <a:avLst/>
          </a:prstGeom>
        </p:spPr>
        <p:txBody>
          <a:bodyPr lIns="0" tIns="0" rIns="0" bIns="0" rtlCol="0" anchor="t">
            <a:spAutoFit/>
          </a:bodyPr>
          <a:lstStyle/>
          <a:p>
            <a:pPr algn="ctr">
              <a:lnSpc>
                <a:spcPts val="3285"/>
              </a:lnSpc>
              <a:spcBef>
                <a:spcPct val="0"/>
              </a:spcBef>
            </a:pPr>
            <a:r>
              <a:rPr lang="en-US" sz="2500" spc="-90">
                <a:solidFill>
                  <a:srgbClr val="01012C"/>
                </a:solidFill>
                <a:latin typeface="Montserrat"/>
                <a:ea typeface="Montserrat"/>
                <a:cs typeface="Montserrat"/>
                <a:sym typeface="Montserrat"/>
              </a:rPr>
              <a:t>Level 2 DFD Process 3</a:t>
            </a:r>
          </a:p>
        </p:txBody>
      </p:sp>
      <p:sp>
        <p:nvSpPr>
          <p:cNvPr id="5" name="TextBox 5"/>
          <p:cNvSpPr txBox="1"/>
          <p:nvPr/>
        </p:nvSpPr>
        <p:spPr>
          <a:xfrm>
            <a:off x="1406762" y="8194005"/>
            <a:ext cx="5673030"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Figure: Level 2 DFD Process 3 Billing Module.</a:t>
            </a:r>
          </a:p>
        </p:txBody>
      </p:sp>
      <p:sp>
        <p:nvSpPr>
          <p:cNvPr id="6" name="TextBox 6"/>
          <p:cNvSpPr txBox="1"/>
          <p:nvPr/>
        </p:nvSpPr>
        <p:spPr>
          <a:xfrm>
            <a:off x="12698381" y="1188006"/>
            <a:ext cx="3246834" cy="392338"/>
          </a:xfrm>
          <a:prstGeom prst="rect">
            <a:avLst/>
          </a:prstGeom>
        </p:spPr>
        <p:txBody>
          <a:bodyPr lIns="0" tIns="0" rIns="0" bIns="0" rtlCol="0" anchor="t">
            <a:spAutoFit/>
          </a:bodyPr>
          <a:lstStyle/>
          <a:p>
            <a:pPr algn="ctr">
              <a:lnSpc>
                <a:spcPts val="3285"/>
              </a:lnSpc>
              <a:spcBef>
                <a:spcPct val="0"/>
              </a:spcBef>
            </a:pPr>
            <a:r>
              <a:rPr lang="en-US" sz="2500" spc="-90">
                <a:solidFill>
                  <a:srgbClr val="01012C"/>
                </a:solidFill>
                <a:latin typeface="Montserrat"/>
                <a:ea typeface="Montserrat"/>
                <a:cs typeface="Montserrat"/>
                <a:sym typeface="Montserrat"/>
              </a:rPr>
              <a:t>Level 2 DFD Process 4</a:t>
            </a:r>
          </a:p>
        </p:txBody>
      </p:sp>
      <p:sp>
        <p:nvSpPr>
          <p:cNvPr id="7" name="TextBox 7"/>
          <p:cNvSpPr txBox="1"/>
          <p:nvPr/>
        </p:nvSpPr>
        <p:spPr>
          <a:xfrm>
            <a:off x="11625428" y="8194005"/>
            <a:ext cx="6092279"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Figure: Level 2 DFD Process 4 Inventory Module.</a:t>
            </a:r>
          </a:p>
        </p:txBody>
      </p:sp>
      <p:sp>
        <p:nvSpPr>
          <p:cNvPr id="16" name="Slide Number Placeholder 15">
            <a:extLst>
              <a:ext uri="{FF2B5EF4-FFF2-40B4-BE49-F238E27FC236}">
                <a16:creationId xmlns:a16="http://schemas.microsoft.com/office/drawing/2014/main" id="{3A1C5D0D-B7DF-8703-F16F-CCDD7EACCE02}"/>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2268742"/>
            <a:ext cx="11301259" cy="5749515"/>
          </a:xfrm>
          <a:custGeom>
            <a:avLst/>
            <a:gdLst/>
            <a:ahLst/>
            <a:cxnLst/>
            <a:rect l="l" t="t" r="r" b="b"/>
            <a:pathLst>
              <a:path w="11301259" h="5749515">
                <a:moveTo>
                  <a:pt x="0" y="0"/>
                </a:moveTo>
                <a:lnTo>
                  <a:pt x="11301258" y="0"/>
                </a:lnTo>
                <a:lnTo>
                  <a:pt x="11301258" y="5749516"/>
                </a:lnTo>
                <a:lnTo>
                  <a:pt x="0" y="5749516"/>
                </a:lnTo>
                <a:lnTo>
                  <a:pt x="0" y="0"/>
                </a:lnTo>
                <a:close/>
              </a:path>
            </a:pathLst>
          </a:custGeom>
          <a:blipFill>
            <a:blip r:embed="rId2"/>
            <a:stretch>
              <a:fillRect/>
            </a:stretch>
          </a:blipFill>
        </p:spPr>
      </p:sp>
      <p:sp>
        <p:nvSpPr>
          <p:cNvPr id="3" name="TextBox 3"/>
          <p:cNvSpPr txBox="1"/>
          <p:nvPr/>
        </p:nvSpPr>
        <p:spPr>
          <a:xfrm>
            <a:off x="7185919" y="1333648"/>
            <a:ext cx="3216622" cy="392338"/>
          </a:xfrm>
          <a:prstGeom prst="rect">
            <a:avLst/>
          </a:prstGeom>
        </p:spPr>
        <p:txBody>
          <a:bodyPr lIns="0" tIns="0" rIns="0" bIns="0" rtlCol="0" anchor="t">
            <a:spAutoFit/>
          </a:bodyPr>
          <a:lstStyle/>
          <a:p>
            <a:pPr algn="ctr">
              <a:lnSpc>
                <a:spcPts val="3285"/>
              </a:lnSpc>
              <a:spcBef>
                <a:spcPct val="0"/>
              </a:spcBef>
            </a:pPr>
            <a:r>
              <a:rPr lang="en-US" sz="2500" spc="-90">
                <a:solidFill>
                  <a:srgbClr val="01012C"/>
                </a:solidFill>
                <a:latin typeface="Montserrat"/>
                <a:ea typeface="Montserrat"/>
                <a:cs typeface="Montserrat"/>
                <a:sym typeface="Montserrat"/>
              </a:rPr>
              <a:t>Level 2 DFD Process 5</a:t>
            </a:r>
          </a:p>
        </p:txBody>
      </p:sp>
      <p:sp>
        <p:nvSpPr>
          <p:cNvPr id="4" name="TextBox 4"/>
          <p:cNvSpPr txBox="1"/>
          <p:nvPr/>
        </p:nvSpPr>
        <p:spPr>
          <a:xfrm>
            <a:off x="6187232" y="8339648"/>
            <a:ext cx="5913537" cy="323395"/>
          </a:xfrm>
          <a:prstGeom prst="rect">
            <a:avLst/>
          </a:prstGeom>
        </p:spPr>
        <p:txBody>
          <a:bodyPr lIns="0" tIns="0" rIns="0" bIns="0" rtlCol="0" anchor="t">
            <a:spAutoFit/>
          </a:bodyPr>
          <a:lstStyle/>
          <a:p>
            <a:pPr algn="ctr">
              <a:lnSpc>
                <a:spcPts val="2628"/>
              </a:lnSpc>
              <a:spcBef>
                <a:spcPct val="0"/>
              </a:spcBef>
            </a:pPr>
            <a:r>
              <a:rPr lang="en-US" sz="2000">
                <a:solidFill>
                  <a:srgbClr val="01012C"/>
                </a:solidFill>
                <a:latin typeface="Montserrat"/>
                <a:ea typeface="Montserrat"/>
                <a:cs typeface="Montserrat"/>
                <a:sym typeface="Montserrat"/>
              </a:rPr>
              <a:t>Figure: Level 2 DFD Process 5 Settings Module.</a:t>
            </a:r>
          </a:p>
        </p:txBody>
      </p:sp>
      <p:sp>
        <p:nvSpPr>
          <p:cNvPr id="13" name="Slide Number Placeholder 12">
            <a:extLst>
              <a:ext uri="{FF2B5EF4-FFF2-40B4-BE49-F238E27FC236}">
                <a16:creationId xmlns:a16="http://schemas.microsoft.com/office/drawing/2014/main" id="{30165CFE-9FC6-6232-81BE-5C9157B603F2}"/>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3493371" y="4465424"/>
            <a:ext cx="11301259" cy="1356151"/>
          </a:xfrm>
          <a:custGeom>
            <a:avLst/>
            <a:gdLst/>
            <a:ahLst/>
            <a:cxnLst/>
            <a:rect l="l" t="t" r="r" b="b"/>
            <a:pathLst>
              <a:path w="11301259" h="1356151">
                <a:moveTo>
                  <a:pt x="0" y="0"/>
                </a:moveTo>
                <a:lnTo>
                  <a:pt x="11301258" y="0"/>
                </a:lnTo>
                <a:lnTo>
                  <a:pt x="11301258" y="1356152"/>
                </a:lnTo>
                <a:lnTo>
                  <a:pt x="0" y="1356152"/>
                </a:lnTo>
                <a:lnTo>
                  <a:pt x="0" y="0"/>
                </a:lnTo>
                <a:close/>
              </a:path>
            </a:pathLst>
          </a:custGeom>
          <a:blipFill>
            <a:blip r:embed="rId2"/>
            <a:stretch>
              <a:fillRect/>
            </a:stretch>
          </a:blipFill>
        </p:spPr>
      </p:sp>
      <p:sp>
        <p:nvSpPr>
          <p:cNvPr id="11" name="Slide Number Placeholder 10">
            <a:extLst>
              <a:ext uri="{FF2B5EF4-FFF2-40B4-BE49-F238E27FC236}">
                <a16:creationId xmlns:a16="http://schemas.microsoft.com/office/drawing/2014/main" id="{F21B9464-E977-EFA5-02D3-32803D096441}"/>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6" name="TextBox 6"/>
          <p:cNvSpPr txBox="1"/>
          <p:nvPr/>
        </p:nvSpPr>
        <p:spPr>
          <a:xfrm>
            <a:off x="859631" y="903685"/>
            <a:ext cx="7061447" cy="887413"/>
          </a:xfrm>
          <a:prstGeom prst="rect">
            <a:avLst/>
          </a:prstGeom>
        </p:spPr>
        <p:txBody>
          <a:bodyPr lIns="0" tIns="0" rIns="0" bIns="0" rtlCol="0" anchor="t">
            <a:spAutoFit/>
          </a:bodyPr>
          <a:lstStyle/>
          <a:p>
            <a:pPr algn="l">
              <a:lnSpc>
                <a:spcPts val="7187"/>
              </a:lnSpc>
            </a:pPr>
            <a:r>
              <a:rPr lang="en-US" sz="5499" b="1" spc="-450">
                <a:solidFill>
                  <a:srgbClr val="01012C"/>
                </a:solidFill>
                <a:latin typeface="Arial Nova Bold"/>
                <a:ea typeface="Arial Nova Bold"/>
                <a:cs typeface="Arial Nova Bold"/>
                <a:sym typeface="Arial Nova Bold"/>
              </a:rPr>
              <a:t>LIMITATIONS</a:t>
            </a:r>
          </a:p>
        </p:txBody>
      </p:sp>
      <p:sp>
        <p:nvSpPr>
          <p:cNvPr id="7" name="TextBox 7"/>
          <p:cNvSpPr txBox="1"/>
          <p:nvPr/>
        </p:nvSpPr>
        <p:spPr>
          <a:xfrm>
            <a:off x="859631" y="2341364"/>
            <a:ext cx="16568738" cy="311150"/>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Despite its strong features, the current Restaurant POS System has some limitations:</a:t>
            </a:r>
          </a:p>
        </p:txBody>
      </p:sp>
      <p:grpSp>
        <p:nvGrpSpPr>
          <p:cNvPr id="8" name="Group 8"/>
          <p:cNvGrpSpPr/>
          <p:nvPr/>
        </p:nvGrpSpPr>
        <p:grpSpPr>
          <a:xfrm>
            <a:off x="845344" y="2951112"/>
            <a:ext cx="5387728" cy="3245792"/>
            <a:chOff x="0" y="0"/>
            <a:chExt cx="7183637" cy="4327723"/>
          </a:xfrm>
        </p:grpSpPr>
        <p:sp>
          <p:nvSpPr>
            <p:cNvPr id="9" name="Freeform 9"/>
            <p:cNvSpPr/>
            <p:nvPr/>
          </p:nvSpPr>
          <p:spPr>
            <a:xfrm>
              <a:off x="19050" y="19050"/>
              <a:ext cx="7145528" cy="4289679"/>
            </a:xfrm>
            <a:custGeom>
              <a:avLst/>
              <a:gdLst/>
              <a:ahLst/>
              <a:cxnLst/>
              <a:rect l="l" t="t" r="r" b="b"/>
              <a:pathLst>
                <a:path w="7145528" h="4289679">
                  <a:moveTo>
                    <a:pt x="0" y="182880"/>
                  </a:moveTo>
                  <a:cubicBezTo>
                    <a:pt x="0" y="81915"/>
                    <a:pt x="82169" y="0"/>
                    <a:pt x="183515" y="0"/>
                  </a:cubicBezTo>
                  <a:lnTo>
                    <a:pt x="6962013" y="0"/>
                  </a:lnTo>
                  <a:cubicBezTo>
                    <a:pt x="7063359" y="0"/>
                    <a:pt x="7145528" y="81915"/>
                    <a:pt x="7145528" y="182880"/>
                  </a:cubicBezTo>
                  <a:lnTo>
                    <a:pt x="7145528" y="4106799"/>
                  </a:lnTo>
                  <a:cubicBezTo>
                    <a:pt x="7145528" y="4207764"/>
                    <a:pt x="7063359" y="4289679"/>
                    <a:pt x="6962013" y="4289679"/>
                  </a:cubicBezTo>
                  <a:lnTo>
                    <a:pt x="183515" y="4289679"/>
                  </a:lnTo>
                  <a:cubicBezTo>
                    <a:pt x="82169" y="4289679"/>
                    <a:pt x="0" y="4207764"/>
                    <a:pt x="0" y="4106799"/>
                  </a:cubicBezTo>
                  <a:close/>
                </a:path>
              </a:pathLst>
            </a:custGeom>
            <a:solidFill>
              <a:srgbClr val="F8F8F8">
                <a:alpha val="90196"/>
              </a:srgbClr>
            </a:solidFill>
          </p:spPr>
        </p:sp>
        <p:sp>
          <p:nvSpPr>
            <p:cNvPr id="10" name="Freeform 10"/>
            <p:cNvSpPr/>
            <p:nvPr/>
          </p:nvSpPr>
          <p:spPr>
            <a:xfrm>
              <a:off x="0" y="0"/>
              <a:ext cx="7183628" cy="4327779"/>
            </a:xfrm>
            <a:custGeom>
              <a:avLst/>
              <a:gdLst/>
              <a:ahLst/>
              <a:cxnLst/>
              <a:rect l="l" t="t" r="r" b="b"/>
              <a:pathLst>
                <a:path w="7183628" h="4327779">
                  <a:moveTo>
                    <a:pt x="0" y="201930"/>
                  </a:moveTo>
                  <a:cubicBezTo>
                    <a:pt x="0" y="90297"/>
                    <a:pt x="90805" y="0"/>
                    <a:pt x="202565" y="0"/>
                  </a:cubicBezTo>
                  <a:lnTo>
                    <a:pt x="6981063" y="0"/>
                  </a:lnTo>
                  <a:lnTo>
                    <a:pt x="6981063" y="19050"/>
                  </a:lnTo>
                  <a:lnTo>
                    <a:pt x="6981063" y="0"/>
                  </a:lnTo>
                  <a:cubicBezTo>
                    <a:pt x="7092823" y="0"/>
                    <a:pt x="7183628" y="90297"/>
                    <a:pt x="7183628" y="201930"/>
                  </a:cubicBezTo>
                  <a:lnTo>
                    <a:pt x="7164578" y="201930"/>
                  </a:lnTo>
                  <a:lnTo>
                    <a:pt x="7183628" y="201930"/>
                  </a:lnTo>
                  <a:lnTo>
                    <a:pt x="7183628" y="4125849"/>
                  </a:lnTo>
                  <a:lnTo>
                    <a:pt x="7164578" y="4125849"/>
                  </a:lnTo>
                  <a:lnTo>
                    <a:pt x="7183628" y="4125849"/>
                  </a:lnTo>
                  <a:cubicBezTo>
                    <a:pt x="7183628" y="4237482"/>
                    <a:pt x="7092823" y="4327779"/>
                    <a:pt x="6981063" y="4327779"/>
                  </a:cubicBezTo>
                  <a:lnTo>
                    <a:pt x="6981063" y="4308729"/>
                  </a:lnTo>
                  <a:lnTo>
                    <a:pt x="6981063"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063" y="4289679"/>
                  </a:lnTo>
                  <a:cubicBezTo>
                    <a:pt x="7071995" y="4289679"/>
                    <a:pt x="7145528" y="4216273"/>
                    <a:pt x="7145528" y="4125849"/>
                  </a:cubicBezTo>
                  <a:lnTo>
                    <a:pt x="7145528" y="201930"/>
                  </a:lnTo>
                  <a:cubicBezTo>
                    <a:pt x="7145528" y="111506"/>
                    <a:pt x="7071995" y="38100"/>
                    <a:pt x="6981063"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11" name="Group 11"/>
          <p:cNvGrpSpPr/>
          <p:nvPr/>
        </p:nvGrpSpPr>
        <p:grpSpPr>
          <a:xfrm>
            <a:off x="831056" y="2965400"/>
            <a:ext cx="114300" cy="3217217"/>
            <a:chOff x="0" y="0"/>
            <a:chExt cx="152400" cy="4289623"/>
          </a:xfrm>
        </p:grpSpPr>
        <p:sp>
          <p:nvSpPr>
            <p:cNvPr id="12" name="Freeform 12"/>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13" name="TextBox 13"/>
          <p:cNvSpPr txBox="1"/>
          <p:nvPr/>
        </p:nvSpPr>
        <p:spPr>
          <a:xfrm>
            <a:off x="1219498" y="3210966"/>
            <a:ext cx="3530650" cy="425113"/>
          </a:xfrm>
          <a:prstGeom prst="rect">
            <a:avLst/>
          </a:prstGeom>
        </p:spPr>
        <p:txBody>
          <a:bodyPr lIns="0" tIns="0" rIns="0" bIns="0" rtlCol="0" anchor="t">
            <a:spAutoFit/>
          </a:bodyPr>
          <a:lstStyle/>
          <a:p>
            <a:pPr algn="l">
              <a:lnSpc>
                <a:spcPts val="3428"/>
              </a:lnSpc>
            </a:pPr>
            <a:r>
              <a:rPr lang="en-US" sz="2646" spc="-95">
                <a:solidFill>
                  <a:srgbClr val="01012C"/>
                </a:solidFill>
                <a:latin typeface="Montserrat"/>
                <a:ea typeface="Montserrat"/>
                <a:cs typeface="Montserrat"/>
                <a:sym typeface="Montserrat"/>
              </a:rPr>
              <a:t>Scalability Constraints:</a:t>
            </a:r>
          </a:p>
        </p:txBody>
      </p:sp>
      <p:sp>
        <p:nvSpPr>
          <p:cNvPr id="14" name="TextBox 14"/>
          <p:cNvSpPr txBox="1"/>
          <p:nvPr/>
        </p:nvSpPr>
        <p:spPr>
          <a:xfrm>
            <a:off x="1219498" y="3817144"/>
            <a:ext cx="4725144" cy="1568450"/>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The system works well for current transaction volumes but future growth in restaurant size or transaction volume may require additional optimization and scaling efforts</a:t>
            </a:r>
          </a:p>
        </p:txBody>
      </p:sp>
      <p:grpSp>
        <p:nvGrpSpPr>
          <p:cNvPr id="15" name="Group 15"/>
          <p:cNvGrpSpPr/>
          <p:nvPr/>
        </p:nvGrpSpPr>
        <p:grpSpPr>
          <a:xfrm>
            <a:off x="6450062" y="2951112"/>
            <a:ext cx="5387728" cy="3245792"/>
            <a:chOff x="0" y="0"/>
            <a:chExt cx="7183637" cy="4327723"/>
          </a:xfrm>
        </p:grpSpPr>
        <p:sp>
          <p:nvSpPr>
            <p:cNvPr id="16" name="Freeform 16"/>
            <p:cNvSpPr/>
            <p:nvPr/>
          </p:nvSpPr>
          <p:spPr>
            <a:xfrm>
              <a:off x="19050" y="19050"/>
              <a:ext cx="7145528" cy="4289679"/>
            </a:xfrm>
            <a:custGeom>
              <a:avLst/>
              <a:gdLst/>
              <a:ahLst/>
              <a:cxnLst/>
              <a:rect l="l" t="t" r="r" b="b"/>
              <a:pathLst>
                <a:path w="7145528" h="4289679">
                  <a:moveTo>
                    <a:pt x="0" y="182880"/>
                  </a:moveTo>
                  <a:cubicBezTo>
                    <a:pt x="0" y="81915"/>
                    <a:pt x="82169" y="0"/>
                    <a:pt x="183515" y="0"/>
                  </a:cubicBezTo>
                  <a:lnTo>
                    <a:pt x="6962013" y="0"/>
                  </a:lnTo>
                  <a:cubicBezTo>
                    <a:pt x="7063359" y="0"/>
                    <a:pt x="7145528" y="81915"/>
                    <a:pt x="7145528" y="182880"/>
                  </a:cubicBezTo>
                  <a:lnTo>
                    <a:pt x="7145528" y="4106799"/>
                  </a:lnTo>
                  <a:cubicBezTo>
                    <a:pt x="7145528" y="4207764"/>
                    <a:pt x="7063359" y="4289679"/>
                    <a:pt x="6962013" y="4289679"/>
                  </a:cubicBezTo>
                  <a:lnTo>
                    <a:pt x="183515" y="4289679"/>
                  </a:lnTo>
                  <a:cubicBezTo>
                    <a:pt x="82169" y="4289679"/>
                    <a:pt x="0" y="4207764"/>
                    <a:pt x="0" y="4106799"/>
                  </a:cubicBezTo>
                  <a:close/>
                </a:path>
              </a:pathLst>
            </a:custGeom>
            <a:solidFill>
              <a:srgbClr val="F8F8F8">
                <a:alpha val="90196"/>
              </a:srgbClr>
            </a:solidFill>
          </p:spPr>
        </p:sp>
        <p:sp>
          <p:nvSpPr>
            <p:cNvPr id="17" name="Freeform 17"/>
            <p:cNvSpPr/>
            <p:nvPr/>
          </p:nvSpPr>
          <p:spPr>
            <a:xfrm>
              <a:off x="0" y="0"/>
              <a:ext cx="7183628" cy="4327779"/>
            </a:xfrm>
            <a:custGeom>
              <a:avLst/>
              <a:gdLst/>
              <a:ahLst/>
              <a:cxnLst/>
              <a:rect l="l" t="t" r="r" b="b"/>
              <a:pathLst>
                <a:path w="7183628" h="4327779">
                  <a:moveTo>
                    <a:pt x="0" y="201930"/>
                  </a:moveTo>
                  <a:cubicBezTo>
                    <a:pt x="0" y="90297"/>
                    <a:pt x="90805" y="0"/>
                    <a:pt x="202565" y="0"/>
                  </a:cubicBezTo>
                  <a:lnTo>
                    <a:pt x="6981063" y="0"/>
                  </a:lnTo>
                  <a:lnTo>
                    <a:pt x="6981063" y="19050"/>
                  </a:lnTo>
                  <a:lnTo>
                    <a:pt x="6981063" y="0"/>
                  </a:lnTo>
                  <a:cubicBezTo>
                    <a:pt x="7092823" y="0"/>
                    <a:pt x="7183628" y="90297"/>
                    <a:pt x="7183628" y="201930"/>
                  </a:cubicBezTo>
                  <a:lnTo>
                    <a:pt x="7164578" y="201930"/>
                  </a:lnTo>
                  <a:lnTo>
                    <a:pt x="7183628" y="201930"/>
                  </a:lnTo>
                  <a:lnTo>
                    <a:pt x="7183628" y="4125849"/>
                  </a:lnTo>
                  <a:lnTo>
                    <a:pt x="7164578" y="4125849"/>
                  </a:lnTo>
                  <a:lnTo>
                    <a:pt x="7183628" y="4125849"/>
                  </a:lnTo>
                  <a:cubicBezTo>
                    <a:pt x="7183628" y="4237482"/>
                    <a:pt x="7092823" y="4327779"/>
                    <a:pt x="6981063" y="4327779"/>
                  </a:cubicBezTo>
                  <a:lnTo>
                    <a:pt x="6981063" y="4308729"/>
                  </a:lnTo>
                  <a:lnTo>
                    <a:pt x="6981063"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063" y="4289679"/>
                  </a:lnTo>
                  <a:cubicBezTo>
                    <a:pt x="7071995" y="4289679"/>
                    <a:pt x="7145528" y="4216273"/>
                    <a:pt x="7145528" y="4125849"/>
                  </a:cubicBezTo>
                  <a:lnTo>
                    <a:pt x="7145528" y="201930"/>
                  </a:lnTo>
                  <a:cubicBezTo>
                    <a:pt x="7145528" y="111506"/>
                    <a:pt x="7071995" y="38100"/>
                    <a:pt x="6981063"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18" name="Group 18"/>
          <p:cNvGrpSpPr/>
          <p:nvPr/>
        </p:nvGrpSpPr>
        <p:grpSpPr>
          <a:xfrm>
            <a:off x="6435775" y="2965400"/>
            <a:ext cx="114300" cy="3217217"/>
            <a:chOff x="0" y="0"/>
            <a:chExt cx="152400" cy="4289623"/>
          </a:xfrm>
        </p:grpSpPr>
        <p:sp>
          <p:nvSpPr>
            <p:cNvPr id="19" name="Freeform 19"/>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20" name="TextBox 20"/>
          <p:cNvSpPr txBox="1"/>
          <p:nvPr/>
        </p:nvSpPr>
        <p:spPr>
          <a:xfrm>
            <a:off x="6824216" y="3210966"/>
            <a:ext cx="4459337" cy="425113"/>
          </a:xfrm>
          <a:prstGeom prst="rect">
            <a:avLst/>
          </a:prstGeom>
        </p:spPr>
        <p:txBody>
          <a:bodyPr lIns="0" tIns="0" rIns="0" bIns="0" rtlCol="0" anchor="t">
            <a:spAutoFit/>
          </a:bodyPr>
          <a:lstStyle/>
          <a:p>
            <a:pPr algn="l">
              <a:lnSpc>
                <a:spcPts val="3428"/>
              </a:lnSpc>
            </a:pPr>
            <a:r>
              <a:rPr lang="en-US" sz="2646" spc="-95">
                <a:solidFill>
                  <a:srgbClr val="01012C"/>
                </a:solidFill>
                <a:latin typeface="Montserrat"/>
                <a:ea typeface="Montserrat"/>
                <a:cs typeface="Montserrat"/>
                <a:sym typeface="Montserrat"/>
              </a:rPr>
              <a:t>External System Integration:</a:t>
            </a:r>
          </a:p>
        </p:txBody>
      </p:sp>
      <p:sp>
        <p:nvSpPr>
          <p:cNvPr id="21" name="TextBox 21"/>
          <p:cNvSpPr txBox="1"/>
          <p:nvPr/>
        </p:nvSpPr>
        <p:spPr>
          <a:xfrm>
            <a:off x="6824216" y="3817144"/>
            <a:ext cx="4725144" cy="125412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Currently relies on manual processes or file-based integrations for tasks like supplier data updates or accounting software integration</a:t>
            </a:r>
          </a:p>
        </p:txBody>
      </p:sp>
      <p:sp>
        <p:nvSpPr>
          <p:cNvPr id="22" name="TextBox 22"/>
          <p:cNvSpPr txBox="1"/>
          <p:nvPr/>
        </p:nvSpPr>
        <p:spPr>
          <a:xfrm>
            <a:off x="6824216" y="5241429"/>
            <a:ext cx="4725144" cy="62547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Limited API-based integrations could streamline these processes</a:t>
            </a:r>
          </a:p>
        </p:txBody>
      </p:sp>
      <p:grpSp>
        <p:nvGrpSpPr>
          <p:cNvPr id="23" name="Group 23"/>
          <p:cNvGrpSpPr/>
          <p:nvPr/>
        </p:nvGrpSpPr>
        <p:grpSpPr>
          <a:xfrm>
            <a:off x="12054780" y="2951112"/>
            <a:ext cx="5387876" cy="3245792"/>
            <a:chOff x="0" y="0"/>
            <a:chExt cx="7183835" cy="4327723"/>
          </a:xfrm>
        </p:grpSpPr>
        <p:sp>
          <p:nvSpPr>
            <p:cNvPr id="24" name="Freeform 24"/>
            <p:cNvSpPr/>
            <p:nvPr/>
          </p:nvSpPr>
          <p:spPr>
            <a:xfrm>
              <a:off x="19050" y="19050"/>
              <a:ext cx="7145782" cy="4289679"/>
            </a:xfrm>
            <a:custGeom>
              <a:avLst/>
              <a:gdLst/>
              <a:ahLst/>
              <a:cxnLst/>
              <a:rect l="l" t="t" r="r" b="b"/>
              <a:pathLst>
                <a:path w="7145782" h="4289679">
                  <a:moveTo>
                    <a:pt x="0" y="182880"/>
                  </a:moveTo>
                  <a:cubicBezTo>
                    <a:pt x="0" y="81915"/>
                    <a:pt x="82169" y="0"/>
                    <a:pt x="183515" y="0"/>
                  </a:cubicBezTo>
                  <a:lnTo>
                    <a:pt x="6962267" y="0"/>
                  </a:lnTo>
                  <a:cubicBezTo>
                    <a:pt x="7063613" y="0"/>
                    <a:pt x="7145782" y="81915"/>
                    <a:pt x="7145782" y="182880"/>
                  </a:cubicBezTo>
                  <a:lnTo>
                    <a:pt x="7145782" y="4106799"/>
                  </a:lnTo>
                  <a:cubicBezTo>
                    <a:pt x="7145782" y="4207764"/>
                    <a:pt x="7063613" y="4289679"/>
                    <a:pt x="6962267" y="4289679"/>
                  </a:cubicBezTo>
                  <a:lnTo>
                    <a:pt x="183515" y="4289679"/>
                  </a:lnTo>
                  <a:cubicBezTo>
                    <a:pt x="82169" y="4289679"/>
                    <a:pt x="0" y="4207764"/>
                    <a:pt x="0" y="4106799"/>
                  </a:cubicBezTo>
                  <a:close/>
                </a:path>
              </a:pathLst>
            </a:custGeom>
            <a:solidFill>
              <a:srgbClr val="F8F8F8">
                <a:alpha val="90196"/>
              </a:srgbClr>
            </a:solidFill>
          </p:spPr>
        </p:sp>
        <p:sp>
          <p:nvSpPr>
            <p:cNvPr id="25" name="Freeform 25"/>
            <p:cNvSpPr/>
            <p:nvPr/>
          </p:nvSpPr>
          <p:spPr>
            <a:xfrm>
              <a:off x="0" y="0"/>
              <a:ext cx="7183882" cy="4327779"/>
            </a:xfrm>
            <a:custGeom>
              <a:avLst/>
              <a:gdLst/>
              <a:ahLst/>
              <a:cxnLst/>
              <a:rect l="l" t="t" r="r" b="b"/>
              <a:pathLst>
                <a:path w="7183882" h="4327779">
                  <a:moveTo>
                    <a:pt x="0" y="201930"/>
                  </a:moveTo>
                  <a:cubicBezTo>
                    <a:pt x="0" y="90297"/>
                    <a:pt x="90805" y="0"/>
                    <a:pt x="202565" y="0"/>
                  </a:cubicBezTo>
                  <a:lnTo>
                    <a:pt x="6981317" y="0"/>
                  </a:lnTo>
                  <a:lnTo>
                    <a:pt x="6981317" y="19050"/>
                  </a:lnTo>
                  <a:lnTo>
                    <a:pt x="6981317" y="0"/>
                  </a:lnTo>
                  <a:cubicBezTo>
                    <a:pt x="7093077" y="0"/>
                    <a:pt x="7183882" y="90297"/>
                    <a:pt x="7183882" y="201930"/>
                  </a:cubicBezTo>
                  <a:lnTo>
                    <a:pt x="7164832" y="201930"/>
                  </a:lnTo>
                  <a:lnTo>
                    <a:pt x="7183882" y="201930"/>
                  </a:lnTo>
                  <a:lnTo>
                    <a:pt x="7183882" y="4125849"/>
                  </a:lnTo>
                  <a:lnTo>
                    <a:pt x="7164832" y="4125849"/>
                  </a:lnTo>
                  <a:lnTo>
                    <a:pt x="7183882" y="4125849"/>
                  </a:lnTo>
                  <a:cubicBezTo>
                    <a:pt x="7183882" y="4237482"/>
                    <a:pt x="7093077" y="4327779"/>
                    <a:pt x="6981317" y="4327779"/>
                  </a:cubicBezTo>
                  <a:lnTo>
                    <a:pt x="6981317" y="4308729"/>
                  </a:lnTo>
                  <a:lnTo>
                    <a:pt x="6981317" y="4327779"/>
                  </a:lnTo>
                  <a:lnTo>
                    <a:pt x="202565" y="4327779"/>
                  </a:lnTo>
                  <a:lnTo>
                    <a:pt x="202565" y="4308729"/>
                  </a:lnTo>
                  <a:lnTo>
                    <a:pt x="202565" y="4327779"/>
                  </a:lnTo>
                  <a:cubicBezTo>
                    <a:pt x="90805" y="4327779"/>
                    <a:pt x="0" y="4237482"/>
                    <a:pt x="0" y="4125849"/>
                  </a:cubicBezTo>
                  <a:lnTo>
                    <a:pt x="0" y="201930"/>
                  </a:lnTo>
                  <a:lnTo>
                    <a:pt x="19050" y="201930"/>
                  </a:lnTo>
                  <a:lnTo>
                    <a:pt x="0" y="201930"/>
                  </a:lnTo>
                  <a:moveTo>
                    <a:pt x="38100" y="201930"/>
                  </a:moveTo>
                  <a:lnTo>
                    <a:pt x="38100" y="4125849"/>
                  </a:lnTo>
                  <a:lnTo>
                    <a:pt x="19050" y="4125849"/>
                  </a:lnTo>
                  <a:lnTo>
                    <a:pt x="38100" y="4125849"/>
                  </a:lnTo>
                  <a:cubicBezTo>
                    <a:pt x="38100" y="4216273"/>
                    <a:pt x="111633" y="4289679"/>
                    <a:pt x="202565" y="4289679"/>
                  </a:cubicBezTo>
                  <a:lnTo>
                    <a:pt x="6981317" y="4289679"/>
                  </a:lnTo>
                  <a:cubicBezTo>
                    <a:pt x="7072249" y="4289679"/>
                    <a:pt x="7145782" y="4216273"/>
                    <a:pt x="7145782" y="4125849"/>
                  </a:cubicBezTo>
                  <a:lnTo>
                    <a:pt x="7145782" y="201930"/>
                  </a:lnTo>
                  <a:cubicBezTo>
                    <a:pt x="7145782" y="111506"/>
                    <a:pt x="7072249" y="38100"/>
                    <a:pt x="6981317" y="38100"/>
                  </a:cubicBezTo>
                  <a:lnTo>
                    <a:pt x="202565" y="38100"/>
                  </a:lnTo>
                  <a:lnTo>
                    <a:pt x="202565" y="19050"/>
                  </a:lnTo>
                  <a:lnTo>
                    <a:pt x="202565" y="38100"/>
                  </a:lnTo>
                  <a:cubicBezTo>
                    <a:pt x="111633" y="38100"/>
                    <a:pt x="38100" y="111506"/>
                    <a:pt x="38100" y="201930"/>
                  </a:cubicBezTo>
                  <a:close/>
                </a:path>
              </a:pathLst>
            </a:custGeom>
            <a:solidFill>
              <a:srgbClr val="F8F8F8"/>
            </a:solidFill>
          </p:spPr>
        </p:sp>
      </p:grpSp>
      <p:grpSp>
        <p:nvGrpSpPr>
          <p:cNvPr id="26" name="Group 26"/>
          <p:cNvGrpSpPr/>
          <p:nvPr/>
        </p:nvGrpSpPr>
        <p:grpSpPr>
          <a:xfrm>
            <a:off x="12040492" y="2965400"/>
            <a:ext cx="114300" cy="3217217"/>
            <a:chOff x="0" y="0"/>
            <a:chExt cx="152400" cy="4289623"/>
          </a:xfrm>
        </p:grpSpPr>
        <p:sp>
          <p:nvSpPr>
            <p:cNvPr id="27" name="Freeform 27"/>
            <p:cNvSpPr/>
            <p:nvPr/>
          </p:nvSpPr>
          <p:spPr>
            <a:xfrm>
              <a:off x="0" y="0"/>
              <a:ext cx="152400" cy="4289679"/>
            </a:xfrm>
            <a:custGeom>
              <a:avLst/>
              <a:gdLst/>
              <a:ahLst/>
              <a:cxnLst/>
              <a:rect l="l" t="t" r="r" b="b"/>
              <a:pathLst>
                <a:path w="152400" h="4289679">
                  <a:moveTo>
                    <a:pt x="0" y="76200"/>
                  </a:moveTo>
                  <a:cubicBezTo>
                    <a:pt x="0" y="34163"/>
                    <a:pt x="34163" y="0"/>
                    <a:pt x="76200" y="0"/>
                  </a:cubicBezTo>
                  <a:cubicBezTo>
                    <a:pt x="118237" y="0"/>
                    <a:pt x="152400" y="34163"/>
                    <a:pt x="152400" y="76200"/>
                  </a:cubicBezTo>
                  <a:lnTo>
                    <a:pt x="152400" y="4213479"/>
                  </a:lnTo>
                  <a:cubicBezTo>
                    <a:pt x="152400" y="4255516"/>
                    <a:pt x="118237" y="4289679"/>
                    <a:pt x="76200" y="4289679"/>
                  </a:cubicBezTo>
                  <a:cubicBezTo>
                    <a:pt x="34163" y="4289679"/>
                    <a:pt x="0" y="4255516"/>
                    <a:pt x="0" y="4213479"/>
                  </a:cubicBezTo>
                  <a:close/>
                </a:path>
              </a:pathLst>
            </a:custGeom>
            <a:solidFill>
              <a:srgbClr val="000000"/>
            </a:solidFill>
          </p:spPr>
        </p:sp>
      </p:grpSp>
      <p:sp>
        <p:nvSpPr>
          <p:cNvPr id="28" name="TextBox 28"/>
          <p:cNvSpPr txBox="1"/>
          <p:nvPr/>
        </p:nvSpPr>
        <p:spPr>
          <a:xfrm>
            <a:off x="12428935" y="3210966"/>
            <a:ext cx="3530650" cy="442912"/>
          </a:xfrm>
          <a:prstGeom prst="rect">
            <a:avLst/>
          </a:prstGeom>
        </p:spPr>
        <p:txBody>
          <a:bodyPr lIns="0" tIns="0" rIns="0" bIns="0" rtlCol="0" anchor="t">
            <a:spAutoFit/>
          </a:bodyPr>
          <a:lstStyle/>
          <a:p>
            <a:pPr algn="l">
              <a:lnSpc>
                <a:spcPts val="3562"/>
              </a:lnSpc>
            </a:pPr>
            <a:r>
              <a:rPr lang="en-US" sz="2750" spc="-99">
                <a:solidFill>
                  <a:srgbClr val="01012C"/>
                </a:solidFill>
                <a:latin typeface="Montserrat"/>
                <a:ea typeface="Montserrat"/>
                <a:cs typeface="Montserrat"/>
                <a:sym typeface="Montserrat"/>
              </a:rPr>
              <a:t>Mobile Accessibility:</a:t>
            </a:r>
          </a:p>
        </p:txBody>
      </p:sp>
      <p:sp>
        <p:nvSpPr>
          <p:cNvPr id="29" name="TextBox 29"/>
          <p:cNvSpPr txBox="1"/>
          <p:nvPr/>
        </p:nvSpPr>
        <p:spPr>
          <a:xfrm>
            <a:off x="12428935" y="3817144"/>
            <a:ext cx="4725292" cy="939800"/>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System is primarily desktop-focused with limited mobile-responsive features</a:t>
            </a:r>
          </a:p>
        </p:txBody>
      </p:sp>
      <p:sp>
        <p:nvSpPr>
          <p:cNvPr id="30" name="TextBox 30"/>
          <p:cNvSpPr txBox="1"/>
          <p:nvPr/>
        </p:nvSpPr>
        <p:spPr>
          <a:xfrm>
            <a:off x="12428935" y="4922192"/>
            <a:ext cx="4725292" cy="62547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Staff cannot access full functionality from mobile devices during service</a:t>
            </a:r>
          </a:p>
        </p:txBody>
      </p:sp>
      <p:grpSp>
        <p:nvGrpSpPr>
          <p:cNvPr id="31" name="Group 31"/>
          <p:cNvGrpSpPr/>
          <p:nvPr/>
        </p:nvGrpSpPr>
        <p:grpSpPr>
          <a:xfrm>
            <a:off x="845344" y="6413898"/>
            <a:ext cx="5387728" cy="2926556"/>
            <a:chOff x="0" y="0"/>
            <a:chExt cx="7183637" cy="3902075"/>
          </a:xfrm>
        </p:grpSpPr>
        <p:sp>
          <p:nvSpPr>
            <p:cNvPr id="32" name="Freeform 32"/>
            <p:cNvSpPr/>
            <p:nvPr/>
          </p:nvSpPr>
          <p:spPr>
            <a:xfrm>
              <a:off x="19050" y="19050"/>
              <a:ext cx="7145655" cy="3863975"/>
            </a:xfrm>
            <a:custGeom>
              <a:avLst/>
              <a:gdLst/>
              <a:ahLst/>
              <a:cxnLst/>
              <a:rect l="l" t="t" r="r" b="b"/>
              <a:pathLst>
                <a:path w="7145655" h="3863975">
                  <a:moveTo>
                    <a:pt x="0" y="182880"/>
                  </a:moveTo>
                  <a:cubicBezTo>
                    <a:pt x="0" y="81915"/>
                    <a:pt x="82296" y="0"/>
                    <a:pt x="183769" y="0"/>
                  </a:cubicBezTo>
                  <a:lnTo>
                    <a:pt x="6961886" y="0"/>
                  </a:lnTo>
                  <a:cubicBezTo>
                    <a:pt x="7063359" y="0"/>
                    <a:pt x="7145655" y="81915"/>
                    <a:pt x="7145655" y="182880"/>
                  </a:cubicBezTo>
                  <a:lnTo>
                    <a:pt x="7145655" y="3681095"/>
                  </a:lnTo>
                  <a:cubicBezTo>
                    <a:pt x="7145655" y="3782060"/>
                    <a:pt x="7063359" y="3863975"/>
                    <a:pt x="6961886" y="3863975"/>
                  </a:cubicBezTo>
                  <a:lnTo>
                    <a:pt x="183769" y="3863975"/>
                  </a:lnTo>
                  <a:cubicBezTo>
                    <a:pt x="82296" y="3863975"/>
                    <a:pt x="0" y="3782060"/>
                    <a:pt x="0" y="3681095"/>
                  </a:cubicBezTo>
                  <a:close/>
                </a:path>
              </a:pathLst>
            </a:custGeom>
            <a:solidFill>
              <a:srgbClr val="F8F8F8">
                <a:alpha val="90196"/>
              </a:srgbClr>
            </a:solidFill>
          </p:spPr>
        </p:sp>
        <p:sp>
          <p:nvSpPr>
            <p:cNvPr id="33" name="Freeform 33"/>
            <p:cNvSpPr/>
            <p:nvPr/>
          </p:nvSpPr>
          <p:spPr>
            <a:xfrm>
              <a:off x="0" y="0"/>
              <a:ext cx="7183755" cy="3902075"/>
            </a:xfrm>
            <a:custGeom>
              <a:avLst/>
              <a:gdLst/>
              <a:ahLst/>
              <a:cxnLst/>
              <a:rect l="l" t="t" r="r" b="b"/>
              <a:pathLst>
                <a:path w="7183755" h="3902075">
                  <a:moveTo>
                    <a:pt x="0" y="201930"/>
                  </a:moveTo>
                  <a:cubicBezTo>
                    <a:pt x="0" y="90297"/>
                    <a:pt x="90805" y="0"/>
                    <a:pt x="202819" y="0"/>
                  </a:cubicBezTo>
                  <a:lnTo>
                    <a:pt x="6980936" y="0"/>
                  </a:lnTo>
                  <a:lnTo>
                    <a:pt x="6980936" y="19050"/>
                  </a:lnTo>
                  <a:lnTo>
                    <a:pt x="6980936" y="0"/>
                  </a:lnTo>
                  <a:cubicBezTo>
                    <a:pt x="7092823" y="0"/>
                    <a:pt x="7183755" y="90297"/>
                    <a:pt x="7183755" y="201930"/>
                  </a:cubicBezTo>
                  <a:lnTo>
                    <a:pt x="7164705" y="201930"/>
                  </a:lnTo>
                  <a:lnTo>
                    <a:pt x="7183755" y="201930"/>
                  </a:lnTo>
                  <a:lnTo>
                    <a:pt x="7183755" y="3700145"/>
                  </a:lnTo>
                  <a:lnTo>
                    <a:pt x="7164705" y="3700145"/>
                  </a:lnTo>
                  <a:lnTo>
                    <a:pt x="7183755" y="3700145"/>
                  </a:lnTo>
                  <a:cubicBezTo>
                    <a:pt x="7183755" y="3811778"/>
                    <a:pt x="7092950" y="3902075"/>
                    <a:pt x="6980936" y="3902075"/>
                  </a:cubicBezTo>
                  <a:lnTo>
                    <a:pt x="6980936" y="3883025"/>
                  </a:lnTo>
                  <a:lnTo>
                    <a:pt x="6980936" y="3902075"/>
                  </a:lnTo>
                  <a:lnTo>
                    <a:pt x="202819" y="3902075"/>
                  </a:lnTo>
                  <a:lnTo>
                    <a:pt x="202819" y="3883025"/>
                  </a:lnTo>
                  <a:lnTo>
                    <a:pt x="202819" y="3902075"/>
                  </a:lnTo>
                  <a:cubicBezTo>
                    <a:pt x="90805" y="3902075"/>
                    <a:pt x="0" y="3811778"/>
                    <a:pt x="0" y="3700145"/>
                  </a:cubicBezTo>
                  <a:lnTo>
                    <a:pt x="0" y="201930"/>
                  </a:lnTo>
                  <a:lnTo>
                    <a:pt x="19050" y="201930"/>
                  </a:lnTo>
                  <a:lnTo>
                    <a:pt x="0" y="201930"/>
                  </a:lnTo>
                  <a:moveTo>
                    <a:pt x="38100" y="201930"/>
                  </a:moveTo>
                  <a:lnTo>
                    <a:pt x="38100" y="3700145"/>
                  </a:lnTo>
                  <a:lnTo>
                    <a:pt x="19050" y="3700145"/>
                  </a:lnTo>
                  <a:lnTo>
                    <a:pt x="38100" y="3700145"/>
                  </a:lnTo>
                  <a:cubicBezTo>
                    <a:pt x="38100" y="3790569"/>
                    <a:pt x="111760" y="3863975"/>
                    <a:pt x="202819" y="3863975"/>
                  </a:cubicBezTo>
                  <a:lnTo>
                    <a:pt x="6980936" y="3863975"/>
                  </a:lnTo>
                  <a:cubicBezTo>
                    <a:pt x="7071995" y="3863975"/>
                    <a:pt x="7145655" y="3790569"/>
                    <a:pt x="7145655" y="3700145"/>
                  </a:cubicBezTo>
                  <a:lnTo>
                    <a:pt x="7145655" y="201930"/>
                  </a:lnTo>
                  <a:cubicBezTo>
                    <a:pt x="7145655" y="111506"/>
                    <a:pt x="7071995" y="38100"/>
                    <a:pt x="6980936" y="38100"/>
                  </a:cubicBezTo>
                  <a:lnTo>
                    <a:pt x="202819" y="38100"/>
                  </a:lnTo>
                  <a:lnTo>
                    <a:pt x="202819" y="19050"/>
                  </a:lnTo>
                  <a:lnTo>
                    <a:pt x="202819" y="38100"/>
                  </a:lnTo>
                  <a:cubicBezTo>
                    <a:pt x="111760" y="38100"/>
                    <a:pt x="38100" y="111506"/>
                    <a:pt x="38100" y="201930"/>
                  </a:cubicBezTo>
                  <a:close/>
                </a:path>
              </a:pathLst>
            </a:custGeom>
            <a:solidFill>
              <a:srgbClr val="F8F8F8"/>
            </a:solidFill>
          </p:spPr>
        </p:sp>
      </p:grpSp>
      <p:grpSp>
        <p:nvGrpSpPr>
          <p:cNvPr id="34" name="Group 34"/>
          <p:cNvGrpSpPr/>
          <p:nvPr/>
        </p:nvGrpSpPr>
        <p:grpSpPr>
          <a:xfrm>
            <a:off x="831056" y="6428185"/>
            <a:ext cx="114300" cy="2897981"/>
            <a:chOff x="0" y="0"/>
            <a:chExt cx="152400" cy="3863975"/>
          </a:xfrm>
        </p:grpSpPr>
        <p:sp>
          <p:nvSpPr>
            <p:cNvPr id="35" name="Freeform 35"/>
            <p:cNvSpPr/>
            <p:nvPr/>
          </p:nvSpPr>
          <p:spPr>
            <a:xfrm>
              <a:off x="0" y="0"/>
              <a:ext cx="152400" cy="3863975"/>
            </a:xfrm>
            <a:custGeom>
              <a:avLst/>
              <a:gdLst/>
              <a:ahLst/>
              <a:cxnLst/>
              <a:rect l="l" t="t" r="r" b="b"/>
              <a:pathLst>
                <a:path w="152400" h="3863975">
                  <a:moveTo>
                    <a:pt x="0" y="76200"/>
                  </a:moveTo>
                  <a:cubicBezTo>
                    <a:pt x="0" y="34163"/>
                    <a:pt x="34163" y="0"/>
                    <a:pt x="76200" y="0"/>
                  </a:cubicBezTo>
                  <a:cubicBezTo>
                    <a:pt x="118237" y="0"/>
                    <a:pt x="152400" y="34163"/>
                    <a:pt x="152400" y="76200"/>
                  </a:cubicBezTo>
                  <a:lnTo>
                    <a:pt x="152400" y="3787775"/>
                  </a:lnTo>
                  <a:cubicBezTo>
                    <a:pt x="152400" y="3829812"/>
                    <a:pt x="118237" y="3863975"/>
                    <a:pt x="76200" y="3863975"/>
                  </a:cubicBezTo>
                  <a:cubicBezTo>
                    <a:pt x="34163" y="3863975"/>
                    <a:pt x="0" y="3829812"/>
                    <a:pt x="0" y="3787775"/>
                  </a:cubicBezTo>
                  <a:close/>
                </a:path>
              </a:pathLst>
            </a:custGeom>
            <a:solidFill>
              <a:srgbClr val="000000"/>
            </a:solidFill>
          </p:spPr>
        </p:sp>
      </p:grpSp>
      <p:sp>
        <p:nvSpPr>
          <p:cNvPr id="36" name="TextBox 36"/>
          <p:cNvSpPr txBox="1"/>
          <p:nvPr/>
        </p:nvSpPr>
        <p:spPr>
          <a:xfrm>
            <a:off x="1219498" y="6673751"/>
            <a:ext cx="3530650" cy="442912"/>
          </a:xfrm>
          <a:prstGeom prst="rect">
            <a:avLst/>
          </a:prstGeom>
        </p:spPr>
        <p:txBody>
          <a:bodyPr lIns="0" tIns="0" rIns="0" bIns="0" rtlCol="0" anchor="t">
            <a:spAutoFit/>
          </a:bodyPr>
          <a:lstStyle/>
          <a:p>
            <a:pPr algn="l">
              <a:lnSpc>
                <a:spcPts val="3562"/>
              </a:lnSpc>
            </a:pPr>
            <a:r>
              <a:rPr lang="en-US" sz="2750" spc="-99">
                <a:solidFill>
                  <a:srgbClr val="01012C"/>
                </a:solidFill>
                <a:latin typeface="Montserrat"/>
                <a:ea typeface="Montserrat"/>
                <a:cs typeface="Montserrat"/>
                <a:sym typeface="Montserrat"/>
              </a:rPr>
              <a:t>Real-time Features:</a:t>
            </a:r>
          </a:p>
        </p:txBody>
      </p:sp>
      <p:sp>
        <p:nvSpPr>
          <p:cNvPr id="37" name="TextBox 37"/>
          <p:cNvSpPr txBox="1"/>
          <p:nvPr/>
        </p:nvSpPr>
        <p:spPr>
          <a:xfrm>
            <a:off x="1219498" y="7279927"/>
            <a:ext cx="4725144" cy="62547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Basic dashboard functionality without advanced live updates</a:t>
            </a:r>
          </a:p>
        </p:txBody>
      </p:sp>
      <p:sp>
        <p:nvSpPr>
          <p:cNvPr id="38" name="TextBox 38"/>
          <p:cNvSpPr txBox="1"/>
          <p:nvPr/>
        </p:nvSpPr>
        <p:spPr>
          <a:xfrm>
            <a:off x="1219498" y="8065740"/>
            <a:ext cx="4725144" cy="62547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Limited real-time notifications for critical restaurant operations</a:t>
            </a:r>
          </a:p>
        </p:txBody>
      </p:sp>
      <p:grpSp>
        <p:nvGrpSpPr>
          <p:cNvPr id="39" name="Group 39"/>
          <p:cNvGrpSpPr/>
          <p:nvPr/>
        </p:nvGrpSpPr>
        <p:grpSpPr>
          <a:xfrm>
            <a:off x="6450062" y="6413898"/>
            <a:ext cx="5387728" cy="2926556"/>
            <a:chOff x="0" y="0"/>
            <a:chExt cx="7183637" cy="3902075"/>
          </a:xfrm>
        </p:grpSpPr>
        <p:sp>
          <p:nvSpPr>
            <p:cNvPr id="40" name="Freeform 40"/>
            <p:cNvSpPr/>
            <p:nvPr/>
          </p:nvSpPr>
          <p:spPr>
            <a:xfrm>
              <a:off x="19050" y="19050"/>
              <a:ext cx="7145655" cy="3863975"/>
            </a:xfrm>
            <a:custGeom>
              <a:avLst/>
              <a:gdLst/>
              <a:ahLst/>
              <a:cxnLst/>
              <a:rect l="l" t="t" r="r" b="b"/>
              <a:pathLst>
                <a:path w="7145655" h="3863975">
                  <a:moveTo>
                    <a:pt x="0" y="182880"/>
                  </a:moveTo>
                  <a:cubicBezTo>
                    <a:pt x="0" y="81915"/>
                    <a:pt x="82296" y="0"/>
                    <a:pt x="183769" y="0"/>
                  </a:cubicBezTo>
                  <a:lnTo>
                    <a:pt x="6961886" y="0"/>
                  </a:lnTo>
                  <a:cubicBezTo>
                    <a:pt x="7063359" y="0"/>
                    <a:pt x="7145655" y="81915"/>
                    <a:pt x="7145655" y="182880"/>
                  </a:cubicBezTo>
                  <a:lnTo>
                    <a:pt x="7145655" y="3681095"/>
                  </a:lnTo>
                  <a:cubicBezTo>
                    <a:pt x="7145655" y="3782060"/>
                    <a:pt x="7063359" y="3863975"/>
                    <a:pt x="6961886" y="3863975"/>
                  </a:cubicBezTo>
                  <a:lnTo>
                    <a:pt x="183769" y="3863975"/>
                  </a:lnTo>
                  <a:cubicBezTo>
                    <a:pt x="82296" y="3863975"/>
                    <a:pt x="0" y="3782060"/>
                    <a:pt x="0" y="3681095"/>
                  </a:cubicBezTo>
                  <a:close/>
                </a:path>
              </a:pathLst>
            </a:custGeom>
            <a:solidFill>
              <a:srgbClr val="F8F8F8">
                <a:alpha val="90196"/>
              </a:srgbClr>
            </a:solidFill>
          </p:spPr>
        </p:sp>
        <p:sp>
          <p:nvSpPr>
            <p:cNvPr id="41" name="Freeform 41"/>
            <p:cNvSpPr/>
            <p:nvPr/>
          </p:nvSpPr>
          <p:spPr>
            <a:xfrm>
              <a:off x="0" y="0"/>
              <a:ext cx="7183755" cy="3902075"/>
            </a:xfrm>
            <a:custGeom>
              <a:avLst/>
              <a:gdLst/>
              <a:ahLst/>
              <a:cxnLst/>
              <a:rect l="l" t="t" r="r" b="b"/>
              <a:pathLst>
                <a:path w="7183755" h="3902075">
                  <a:moveTo>
                    <a:pt x="0" y="201930"/>
                  </a:moveTo>
                  <a:cubicBezTo>
                    <a:pt x="0" y="90297"/>
                    <a:pt x="90805" y="0"/>
                    <a:pt x="202819" y="0"/>
                  </a:cubicBezTo>
                  <a:lnTo>
                    <a:pt x="6980936" y="0"/>
                  </a:lnTo>
                  <a:lnTo>
                    <a:pt x="6980936" y="19050"/>
                  </a:lnTo>
                  <a:lnTo>
                    <a:pt x="6980936" y="0"/>
                  </a:lnTo>
                  <a:cubicBezTo>
                    <a:pt x="7092823" y="0"/>
                    <a:pt x="7183755" y="90297"/>
                    <a:pt x="7183755" y="201930"/>
                  </a:cubicBezTo>
                  <a:lnTo>
                    <a:pt x="7164705" y="201930"/>
                  </a:lnTo>
                  <a:lnTo>
                    <a:pt x="7183755" y="201930"/>
                  </a:lnTo>
                  <a:lnTo>
                    <a:pt x="7183755" y="3700145"/>
                  </a:lnTo>
                  <a:lnTo>
                    <a:pt x="7164705" y="3700145"/>
                  </a:lnTo>
                  <a:lnTo>
                    <a:pt x="7183755" y="3700145"/>
                  </a:lnTo>
                  <a:cubicBezTo>
                    <a:pt x="7183755" y="3811778"/>
                    <a:pt x="7092950" y="3902075"/>
                    <a:pt x="6980936" y="3902075"/>
                  </a:cubicBezTo>
                  <a:lnTo>
                    <a:pt x="6980936" y="3883025"/>
                  </a:lnTo>
                  <a:lnTo>
                    <a:pt x="6980936" y="3902075"/>
                  </a:lnTo>
                  <a:lnTo>
                    <a:pt x="202819" y="3902075"/>
                  </a:lnTo>
                  <a:lnTo>
                    <a:pt x="202819" y="3883025"/>
                  </a:lnTo>
                  <a:lnTo>
                    <a:pt x="202819" y="3902075"/>
                  </a:lnTo>
                  <a:cubicBezTo>
                    <a:pt x="90805" y="3902075"/>
                    <a:pt x="0" y="3811778"/>
                    <a:pt x="0" y="3700145"/>
                  </a:cubicBezTo>
                  <a:lnTo>
                    <a:pt x="0" y="201930"/>
                  </a:lnTo>
                  <a:lnTo>
                    <a:pt x="19050" y="201930"/>
                  </a:lnTo>
                  <a:lnTo>
                    <a:pt x="0" y="201930"/>
                  </a:lnTo>
                  <a:moveTo>
                    <a:pt x="38100" y="201930"/>
                  </a:moveTo>
                  <a:lnTo>
                    <a:pt x="38100" y="3700145"/>
                  </a:lnTo>
                  <a:lnTo>
                    <a:pt x="19050" y="3700145"/>
                  </a:lnTo>
                  <a:lnTo>
                    <a:pt x="38100" y="3700145"/>
                  </a:lnTo>
                  <a:cubicBezTo>
                    <a:pt x="38100" y="3790569"/>
                    <a:pt x="111760" y="3863975"/>
                    <a:pt x="202819" y="3863975"/>
                  </a:cubicBezTo>
                  <a:lnTo>
                    <a:pt x="6980936" y="3863975"/>
                  </a:lnTo>
                  <a:cubicBezTo>
                    <a:pt x="7071995" y="3863975"/>
                    <a:pt x="7145655" y="3790569"/>
                    <a:pt x="7145655" y="3700145"/>
                  </a:cubicBezTo>
                  <a:lnTo>
                    <a:pt x="7145655" y="201930"/>
                  </a:lnTo>
                  <a:cubicBezTo>
                    <a:pt x="7145655" y="111506"/>
                    <a:pt x="7071995" y="38100"/>
                    <a:pt x="6980936" y="38100"/>
                  </a:cubicBezTo>
                  <a:lnTo>
                    <a:pt x="202819" y="38100"/>
                  </a:lnTo>
                  <a:lnTo>
                    <a:pt x="202819" y="19050"/>
                  </a:lnTo>
                  <a:lnTo>
                    <a:pt x="202819" y="38100"/>
                  </a:lnTo>
                  <a:cubicBezTo>
                    <a:pt x="111760" y="38100"/>
                    <a:pt x="38100" y="111506"/>
                    <a:pt x="38100" y="201930"/>
                  </a:cubicBezTo>
                  <a:close/>
                </a:path>
              </a:pathLst>
            </a:custGeom>
            <a:solidFill>
              <a:srgbClr val="F8F8F8"/>
            </a:solidFill>
          </p:spPr>
        </p:sp>
      </p:grpSp>
      <p:grpSp>
        <p:nvGrpSpPr>
          <p:cNvPr id="42" name="Group 42"/>
          <p:cNvGrpSpPr/>
          <p:nvPr/>
        </p:nvGrpSpPr>
        <p:grpSpPr>
          <a:xfrm>
            <a:off x="6435775" y="6428185"/>
            <a:ext cx="114300" cy="2897981"/>
            <a:chOff x="0" y="0"/>
            <a:chExt cx="152400" cy="3863975"/>
          </a:xfrm>
        </p:grpSpPr>
        <p:sp>
          <p:nvSpPr>
            <p:cNvPr id="43" name="Freeform 43"/>
            <p:cNvSpPr/>
            <p:nvPr/>
          </p:nvSpPr>
          <p:spPr>
            <a:xfrm>
              <a:off x="0" y="0"/>
              <a:ext cx="152400" cy="3863975"/>
            </a:xfrm>
            <a:custGeom>
              <a:avLst/>
              <a:gdLst/>
              <a:ahLst/>
              <a:cxnLst/>
              <a:rect l="l" t="t" r="r" b="b"/>
              <a:pathLst>
                <a:path w="152400" h="3863975">
                  <a:moveTo>
                    <a:pt x="0" y="76200"/>
                  </a:moveTo>
                  <a:cubicBezTo>
                    <a:pt x="0" y="34163"/>
                    <a:pt x="34163" y="0"/>
                    <a:pt x="76200" y="0"/>
                  </a:cubicBezTo>
                  <a:cubicBezTo>
                    <a:pt x="118237" y="0"/>
                    <a:pt x="152400" y="34163"/>
                    <a:pt x="152400" y="76200"/>
                  </a:cubicBezTo>
                  <a:lnTo>
                    <a:pt x="152400" y="3787775"/>
                  </a:lnTo>
                  <a:cubicBezTo>
                    <a:pt x="152400" y="3829812"/>
                    <a:pt x="118237" y="3863975"/>
                    <a:pt x="76200" y="3863975"/>
                  </a:cubicBezTo>
                  <a:cubicBezTo>
                    <a:pt x="34163" y="3863975"/>
                    <a:pt x="0" y="3829812"/>
                    <a:pt x="0" y="3787775"/>
                  </a:cubicBezTo>
                  <a:close/>
                </a:path>
              </a:pathLst>
            </a:custGeom>
            <a:solidFill>
              <a:srgbClr val="000000"/>
            </a:solidFill>
          </p:spPr>
        </p:sp>
      </p:grpSp>
      <p:sp>
        <p:nvSpPr>
          <p:cNvPr id="44" name="TextBox 44"/>
          <p:cNvSpPr txBox="1"/>
          <p:nvPr/>
        </p:nvSpPr>
        <p:spPr>
          <a:xfrm>
            <a:off x="6824216" y="6673751"/>
            <a:ext cx="3530650" cy="442912"/>
          </a:xfrm>
          <a:prstGeom prst="rect">
            <a:avLst/>
          </a:prstGeom>
        </p:spPr>
        <p:txBody>
          <a:bodyPr lIns="0" tIns="0" rIns="0" bIns="0" rtlCol="0" anchor="t">
            <a:spAutoFit/>
          </a:bodyPr>
          <a:lstStyle/>
          <a:p>
            <a:pPr algn="l">
              <a:lnSpc>
                <a:spcPts val="3562"/>
              </a:lnSpc>
            </a:pPr>
            <a:r>
              <a:rPr lang="en-US" sz="2750" spc="-99">
                <a:solidFill>
                  <a:srgbClr val="01012C"/>
                </a:solidFill>
                <a:latin typeface="Montserrat"/>
                <a:ea typeface="Montserrat"/>
                <a:cs typeface="Montserrat"/>
                <a:sym typeface="Montserrat"/>
              </a:rPr>
              <a:t>Advanced Analytics:</a:t>
            </a:r>
          </a:p>
        </p:txBody>
      </p:sp>
      <p:sp>
        <p:nvSpPr>
          <p:cNvPr id="45" name="TextBox 45"/>
          <p:cNvSpPr txBox="1"/>
          <p:nvPr/>
        </p:nvSpPr>
        <p:spPr>
          <a:xfrm>
            <a:off x="6824216" y="7279927"/>
            <a:ext cx="4725144" cy="625475"/>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Current reporting focuses on basic sales and inventory data</a:t>
            </a:r>
          </a:p>
        </p:txBody>
      </p:sp>
      <p:sp>
        <p:nvSpPr>
          <p:cNvPr id="46" name="TextBox 46"/>
          <p:cNvSpPr txBox="1"/>
          <p:nvPr/>
        </p:nvSpPr>
        <p:spPr>
          <a:xfrm>
            <a:off x="6824216" y="8065740"/>
            <a:ext cx="4725144" cy="939800"/>
          </a:xfrm>
          <a:prstGeom prst="rect">
            <a:avLst/>
          </a:prstGeom>
        </p:spPr>
        <p:txBody>
          <a:bodyPr lIns="0" tIns="0" rIns="0" bIns="0" rtlCol="0" anchor="t">
            <a:spAutoFit/>
          </a:bodyPr>
          <a:lstStyle/>
          <a:p>
            <a:pPr algn="l">
              <a:lnSpc>
                <a:spcPts val="2500"/>
              </a:lnSpc>
            </a:pPr>
            <a:r>
              <a:rPr lang="en-US" sz="1875">
                <a:solidFill>
                  <a:srgbClr val="01012C"/>
                </a:solidFill>
                <a:latin typeface="Montserrat"/>
                <a:ea typeface="Montserrat"/>
                <a:cs typeface="Montserrat"/>
                <a:sym typeface="Montserrat"/>
              </a:rPr>
              <a:t>Lacks predictive analytics for demand forecasting and customer behavior analysis</a:t>
            </a:r>
          </a:p>
        </p:txBody>
      </p:sp>
      <p:sp>
        <p:nvSpPr>
          <p:cNvPr id="55" name="Slide Number Placeholder 54">
            <a:extLst>
              <a:ext uri="{FF2B5EF4-FFF2-40B4-BE49-F238E27FC236}">
                <a16:creationId xmlns:a16="http://schemas.microsoft.com/office/drawing/2014/main" id="{2FD35E97-36C1-8289-B816-E0D940BA7ABD}"/>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txBody>
            <a:bodyPr/>
            <a:lstStyle/>
            <a:p>
              <a:endParaRPr lang="en-US" dirty="0"/>
            </a:p>
          </p:txBody>
        </p:sp>
      </p:grpSp>
      <p:sp>
        <p:nvSpPr>
          <p:cNvPr id="6" name="Freeform 6"/>
          <p:cNvSpPr/>
          <p:nvPr/>
        </p:nvSpPr>
        <p:spPr>
          <a:xfrm>
            <a:off x="3972783" y="1952151"/>
            <a:ext cx="10342434" cy="6812216"/>
          </a:xfrm>
          <a:custGeom>
            <a:avLst/>
            <a:gdLst/>
            <a:ahLst/>
            <a:cxnLst/>
            <a:rect l="l" t="t" r="r" b="b"/>
            <a:pathLst>
              <a:path w="10342434" h="6812216">
                <a:moveTo>
                  <a:pt x="0" y="0"/>
                </a:moveTo>
                <a:lnTo>
                  <a:pt x="10342434" y="0"/>
                </a:lnTo>
                <a:lnTo>
                  <a:pt x="10342434" y="6812216"/>
                </a:lnTo>
                <a:lnTo>
                  <a:pt x="0" y="6812216"/>
                </a:lnTo>
                <a:lnTo>
                  <a:pt x="0" y="0"/>
                </a:lnTo>
                <a:close/>
              </a:path>
            </a:pathLst>
          </a:custGeom>
          <a:blipFill>
            <a:blip r:embed="rId2"/>
            <a:stretch>
              <a:fillRect/>
            </a:stretch>
          </a:blipFill>
        </p:spPr>
      </p:sp>
      <p:sp>
        <p:nvSpPr>
          <p:cNvPr id="7" name="TextBox 7"/>
          <p:cNvSpPr txBox="1"/>
          <p:nvPr/>
        </p:nvSpPr>
        <p:spPr>
          <a:xfrm>
            <a:off x="5341949" y="2881735"/>
            <a:ext cx="6521202" cy="825500"/>
          </a:xfrm>
          <a:prstGeom prst="rect">
            <a:avLst/>
          </a:prstGeom>
        </p:spPr>
        <p:txBody>
          <a:bodyPr lIns="0" tIns="0" rIns="0" bIns="0" rtlCol="0" anchor="t">
            <a:spAutoFit/>
          </a:bodyPr>
          <a:lstStyle/>
          <a:p>
            <a:pPr algn="l">
              <a:lnSpc>
                <a:spcPts val="6624"/>
              </a:lnSpc>
            </a:pPr>
            <a:r>
              <a:rPr lang="en-US" sz="5124" b="1" spc="-184">
                <a:solidFill>
                  <a:srgbClr val="01012C"/>
                </a:solidFill>
                <a:latin typeface="Montserrat Bold"/>
                <a:ea typeface="Montserrat Bold"/>
                <a:cs typeface="Montserrat Bold"/>
                <a:sym typeface="Montserrat Bold"/>
              </a:rPr>
              <a:t>Future Work</a:t>
            </a:r>
          </a:p>
        </p:txBody>
      </p:sp>
      <p:sp>
        <p:nvSpPr>
          <p:cNvPr id="8" name="TextBox 8"/>
          <p:cNvSpPr txBox="1"/>
          <p:nvPr/>
        </p:nvSpPr>
        <p:spPr>
          <a:xfrm>
            <a:off x="5341949" y="6277794"/>
            <a:ext cx="7535991" cy="107315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To exceed present limitations and improve the system, the following areas are suggested for future enhancement:</a:t>
            </a:r>
          </a:p>
        </p:txBody>
      </p:sp>
      <p:sp>
        <p:nvSpPr>
          <p:cNvPr id="17" name="Slide Number Placeholder 16">
            <a:extLst>
              <a:ext uri="{FF2B5EF4-FFF2-40B4-BE49-F238E27FC236}">
                <a16:creationId xmlns:a16="http://schemas.microsoft.com/office/drawing/2014/main" id="{9F666A7D-B288-2C0E-19C9-0189CF9258B6}"/>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grpSp>
        <p:nvGrpSpPr>
          <p:cNvPr id="6" name="Group 6"/>
          <p:cNvGrpSpPr/>
          <p:nvPr/>
        </p:nvGrpSpPr>
        <p:grpSpPr>
          <a:xfrm>
            <a:off x="977950" y="2076153"/>
            <a:ext cx="5274022" cy="6134695"/>
            <a:chOff x="0" y="0"/>
            <a:chExt cx="7032030" cy="8179593"/>
          </a:xfrm>
        </p:grpSpPr>
        <p:sp>
          <p:nvSpPr>
            <p:cNvPr id="7" name="Freeform 7"/>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8" name="Freeform 8"/>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9" name="Group 9"/>
          <p:cNvGrpSpPr/>
          <p:nvPr/>
        </p:nvGrpSpPr>
        <p:grpSpPr>
          <a:xfrm>
            <a:off x="1304330" y="2402532"/>
            <a:ext cx="850552" cy="850553"/>
            <a:chOff x="0" y="0"/>
            <a:chExt cx="1134070" cy="1134070"/>
          </a:xfrm>
        </p:grpSpPr>
        <p:sp>
          <p:nvSpPr>
            <p:cNvPr id="10" name="Freeform 1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11" name="Group 11"/>
          <p:cNvGrpSpPr/>
          <p:nvPr/>
        </p:nvGrpSpPr>
        <p:grpSpPr>
          <a:xfrm>
            <a:off x="1538288" y="2579042"/>
            <a:ext cx="382637" cy="497533"/>
            <a:chOff x="0" y="0"/>
            <a:chExt cx="510183" cy="663377"/>
          </a:xfrm>
        </p:grpSpPr>
        <p:sp>
          <p:nvSpPr>
            <p:cNvPr id="12" name="Freeform 12"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2"/>
              <a:stretch>
                <a:fillRect l="-10" r="-15" b="-8"/>
              </a:stretch>
            </a:blipFill>
          </p:spPr>
        </p:sp>
      </p:grpSp>
      <p:sp>
        <p:nvSpPr>
          <p:cNvPr id="13" name="TextBox 13"/>
          <p:cNvSpPr txBox="1"/>
          <p:nvPr/>
        </p:nvSpPr>
        <p:spPr>
          <a:xfrm>
            <a:off x="1304330" y="3508027"/>
            <a:ext cx="4621262" cy="982742"/>
          </a:xfrm>
          <a:prstGeom prst="rect">
            <a:avLst/>
          </a:prstGeom>
        </p:spPr>
        <p:txBody>
          <a:bodyPr lIns="0" tIns="0" rIns="0" bIns="0" rtlCol="0" anchor="t">
            <a:spAutoFit/>
          </a:bodyPr>
          <a:lstStyle/>
          <a:p>
            <a:pPr algn="l">
              <a:lnSpc>
                <a:spcPts val="3944"/>
              </a:lnSpc>
            </a:pPr>
            <a:r>
              <a:rPr lang="en-US" sz="3048" spc="-109">
                <a:solidFill>
                  <a:srgbClr val="01012C"/>
                </a:solidFill>
                <a:latin typeface="Montserrat"/>
                <a:ea typeface="Montserrat"/>
                <a:cs typeface="Montserrat"/>
                <a:sym typeface="Montserrat"/>
              </a:rPr>
              <a:t>Performance and Scalability Enhancement:</a:t>
            </a:r>
          </a:p>
        </p:txBody>
      </p:sp>
      <p:sp>
        <p:nvSpPr>
          <p:cNvPr id="14" name="TextBox 14"/>
          <p:cNvSpPr txBox="1"/>
          <p:nvPr/>
        </p:nvSpPr>
        <p:spPr>
          <a:xfrm>
            <a:off x="1304330" y="4747320"/>
            <a:ext cx="4621262" cy="14351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Migrating to cloud-based infrastructure or using optimized database solutions (e.g., cloud MySQL)</a:t>
            </a:r>
          </a:p>
        </p:txBody>
      </p:sp>
      <p:sp>
        <p:nvSpPr>
          <p:cNvPr id="15" name="TextBox 15"/>
          <p:cNvSpPr txBox="1"/>
          <p:nvPr/>
        </p:nvSpPr>
        <p:spPr>
          <a:xfrm>
            <a:off x="1304330" y="6391424"/>
            <a:ext cx="4621262" cy="14351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Implementing caching mechanisms such as Redis to improve performance for higher transaction volumes</a:t>
            </a:r>
          </a:p>
        </p:txBody>
      </p:sp>
      <p:grpSp>
        <p:nvGrpSpPr>
          <p:cNvPr id="16" name="Group 16"/>
          <p:cNvGrpSpPr/>
          <p:nvPr/>
        </p:nvGrpSpPr>
        <p:grpSpPr>
          <a:xfrm>
            <a:off x="6506915" y="2076153"/>
            <a:ext cx="5274022" cy="6134695"/>
            <a:chOff x="0" y="0"/>
            <a:chExt cx="7032030" cy="8179593"/>
          </a:xfrm>
        </p:grpSpPr>
        <p:sp>
          <p:nvSpPr>
            <p:cNvPr id="17" name="Freeform 17"/>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18" name="Freeform 18"/>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19" name="Group 19"/>
          <p:cNvGrpSpPr/>
          <p:nvPr/>
        </p:nvGrpSpPr>
        <p:grpSpPr>
          <a:xfrm>
            <a:off x="6833295" y="2402532"/>
            <a:ext cx="850552" cy="850553"/>
            <a:chOff x="0" y="0"/>
            <a:chExt cx="1134070" cy="1134070"/>
          </a:xfrm>
        </p:grpSpPr>
        <p:sp>
          <p:nvSpPr>
            <p:cNvPr id="20" name="Freeform 20"/>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21" name="Group 21"/>
          <p:cNvGrpSpPr/>
          <p:nvPr/>
        </p:nvGrpSpPr>
        <p:grpSpPr>
          <a:xfrm>
            <a:off x="7067252" y="2579042"/>
            <a:ext cx="382637" cy="497533"/>
            <a:chOff x="0" y="0"/>
            <a:chExt cx="510183" cy="663377"/>
          </a:xfrm>
        </p:grpSpPr>
        <p:sp>
          <p:nvSpPr>
            <p:cNvPr id="22" name="Freeform 22"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3"/>
              <a:stretch>
                <a:fillRect l="-10" r="-15" b="-8"/>
              </a:stretch>
            </a:blipFill>
          </p:spPr>
        </p:sp>
      </p:grpSp>
      <p:sp>
        <p:nvSpPr>
          <p:cNvPr id="23" name="TextBox 23"/>
          <p:cNvSpPr txBox="1"/>
          <p:nvPr/>
        </p:nvSpPr>
        <p:spPr>
          <a:xfrm>
            <a:off x="6833295" y="3508027"/>
            <a:ext cx="4075807" cy="514350"/>
          </a:xfrm>
          <a:prstGeom prst="rect">
            <a:avLst/>
          </a:prstGeom>
        </p:spPr>
        <p:txBody>
          <a:bodyPr lIns="0" tIns="0" rIns="0" bIns="0" rtlCol="0" anchor="t">
            <a:spAutoFit/>
          </a:bodyPr>
          <a:lstStyle/>
          <a:p>
            <a:pPr algn="l">
              <a:lnSpc>
                <a:spcPts val="4125"/>
              </a:lnSpc>
            </a:pPr>
            <a:r>
              <a:rPr lang="en-US" sz="3187" spc="-114">
                <a:solidFill>
                  <a:srgbClr val="01012C"/>
                </a:solidFill>
                <a:latin typeface="Montserrat"/>
                <a:ea typeface="Montserrat"/>
                <a:cs typeface="Montserrat"/>
                <a:sym typeface="Montserrat"/>
              </a:rPr>
              <a:t>Real-Time Features:</a:t>
            </a:r>
          </a:p>
        </p:txBody>
      </p:sp>
      <p:sp>
        <p:nvSpPr>
          <p:cNvPr id="24" name="TextBox 24"/>
          <p:cNvSpPr txBox="1"/>
          <p:nvPr/>
        </p:nvSpPr>
        <p:spPr>
          <a:xfrm>
            <a:off x="6833295" y="4217491"/>
            <a:ext cx="4621262" cy="21590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Developing a live dashboard using web technologies for real-time insights into sales, order statuses, inventory levels, and critical alerts for restaurant managers and staff</a:t>
            </a:r>
          </a:p>
        </p:txBody>
      </p:sp>
      <p:grpSp>
        <p:nvGrpSpPr>
          <p:cNvPr id="25" name="Group 25"/>
          <p:cNvGrpSpPr/>
          <p:nvPr/>
        </p:nvGrpSpPr>
        <p:grpSpPr>
          <a:xfrm>
            <a:off x="12035879" y="2076153"/>
            <a:ext cx="5274022" cy="6134695"/>
            <a:chOff x="0" y="0"/>
            <a:chExt cx="7032030" cy="8179593"/>
          </a:xfrm>
        </p:grpSpPr>
        <p:sp>
          <p:nvSpPr>
            <p:cNvPr id="26" name="Freeform 26"/>
            <p:cNvSpPr/>
            <p:nvPr/>
          </p:nvSpPr>
          <p:spPr>
            <a:xfrm>
              <a:off x="19050" y="19050"/>
              <a:ext cx="6993890" cy="8141462"/>
            </a:xfrm>
            <a:custGeom>
              <a:avLst/>
              <a:gdLst/>
              <a:ahLst/>
              <a:cxnLst/>
              <a:rect l="l" t="t" r="r" b="b"/>
              <a:pathLst>
                <a:path w="6993890" h="8141462">
                  <a:moveTo>
                    <a:pt x="0" y="158877"/>
                  </a:moveTo>
                  <a:cubicBezTo>
                    <a:pt x="0" y="71120"/>
                    <a:pt x="71120" y="0"/>
                    <a:pt x="158750" y="0"/>
                  </a:cubicBezTo>
                  <a:lnTo>
                    <a:pt x="6835140" y="0"/>
                  </a:lnTo>
                  <a:cubicBezTo>
                    <a:pt x="6922770" y="0"/>
                    <a:pt x="6993890" y="71120"/>
                    <a:pt x="6993890" y="158877"/>
                  </a:cubicBezTo>
                  <a:lnTo>
                    <a:pt x="6993890" y="7982585"/>
                  </a:lnTo>
                  <a:cubicBezTo>
                    <a:pt x="6993890" y="8070342"/>
                    <a:pt x="6922770" y="8141462"/>
                    <a:pt x="6835140" y="8141462"/>
                  </a:cubicBezTo>
                  <a:lnTo>
                    <a:pt x="158750" y="8141462"/>
                  </a:lnTo>
                  <a:cubicBezTo>
                    <a:pt x="71120" y="8141462"/>
                    <a:pt x="0" y="8070342"/>
                    <a:pt x="0" y="7982585"/>
                  </a:cubicBezTo>
                  <a:close/>
                </a:path>
              </a:pathLst>
            </a:custGeom>
            <a:solidFill>
              <a:srgbClr val="F8F8F8"/>
            </a:solidFill>
          </p:spPr>
        </p:sp>
        <p:sp>
          <p:nvSpPr>
            <p:cNvPr id="27" name="Freeform 27"/>
            <p:cNvSpPr/>
            <p:nvPr/>
          </p:nvSpPr>
          <p:spPr>
            <a:xfrm>
              <a:off x="0" y="0"/>
              <a:ext cx="7031990" cy="8179562"/>
            </a:xfrm>
            <a:custGeom>
              <a:avLst/>
              <a:gdLst/>
              <a:ahLst/>
              <a:cxnLst/>
              <a:rect l="l" t="t" r="r" b="b"/>
              <a:pathLst>
                <a:path w="7031990" h="8179562">
                  <a:moveTo>
                    <a:pt x="0" y="177927"/>
                  </a:moveTo>
                  <a:cubicBezTo>
                    <a:pt x="0" y="79629"/>
                    <a:pt x="79629" y="0"/>
                    <a:pt x="177800" y="0"/>
                  </a:cubicBezTo>
                  <a:lnTo>
                    <a:pt x="6854190" y="0"/>
                  </a:lnTo>
                  <a:lnTo>
                    <a:pt x="6854190" y="19050"/>
                  </a:lnTo>
                  <a:lnTo>
                    <a:pt x="6854190" y="0"/>
                  </a:lnTo>
                  <a:cubicBezTo>
                    <a:pt x="6952361" y="0"/>
                    <a:pt x="7031990" y="79629"/>
                    <a:pt x="7031990" y="177927"/>
                  </a:cubicBezTo>
                  <a:lnTo>
                    <a:pt x="7012940" y="177927"/>
                  </a:lnTo>
                  <a:lnTo>
                    <a:pt x="7031990" y="177927"/>
                  </a:lnTo>
                  <a:lnTo>
                    <a:pt x="7031990" y="8001635"/>
                  </a:lnTo>
                  <a:lnTo>
                    <a:pt x="7012940" y="8001635"/>
                  </a:lnTo>
                  <a:lnTo>
                    <a:pt x="7031990" y="8001635"/>
                  </a:lnTo>
                  <a:cubicBezTo>
                    <a:pt x="7031990" y="8099933"/>
                    <a:pt x="6952361" y="8179562"/>
                    <a:pt x="6854190" y="8179562"/>
                  </a:cubicBezTo>
                  <a:lnTo>
                    <a:pt x="6854190" y="8160512"/>
                  </a:lnTo>
                  <a:lnTo>
                    <a:pt x="6854190" y="8179562"/>
                  </a:lnTo>
                  <a:lnTo>
                    <a:pt x="177800" y="8179562"/>
                  </a:lnTo>
                  <a:lnTo>
                    <a:pt x="177800" y="8160512"/>
                  </a:lnTo>
                  <a:lnTo>
                    <a:pt x="177800" y="8179562"/>
                  </a:lnTo>
                  <a:cubicBezTo>
                    <a:pt x="79629" y="8179562"/>
                    <a:pt x="0" y="8099933"/>
                    <a:pt x="0" y="8001635"/>
                  </a:cubicBezTo>
                  <a:lnTo>
                    <a:pt x="0" y="177927"/>
                  </a:lnTo>
                  <a:lnTo>
                    <a:pt x="19050" y="177927"/>
                  </a:lnTo>
                  <a:lnTo>
                    <a:pt x="0" y="177927"/>
                  </a:lnTo>
                  <a:moveTo>
                    <a:pt x="38100" y="177927"/>
                  </a:moveTo>
                  <a:lnTo>
                    <a:pt x="38100" y="8001635"/>
                  </a:lnTo>
                  <a:lnTo>
                    <a:pt x="19050" y="8001635"/>
                  </a:lnTo>
                  <a:lnTo>
                    <a:pt x="38100" y="8001635"/>
                  </a:lnTo>
                  <a:cubicBezTo>
                    <a:pt x="38100" y="8078851"/>
                    <a:pt x="100711" y="8141462"/>
                    <a:pt x="177800" y="8141462"/>
                  </a:cubicBezTo>
                  <a:lnTo>
                    <a:pt x="6854190" y="8141462"/>
                  </a:lnTo>
                  <a:cubicBezTo>
                    <a:pt x="6931279" y="8141462"/>
                    <a:pt x="6993890" y="8078851"/>
                    <a:pt x="6993890" y="8001635"/>
                  </a:cubicBezTo>
                  <a:lnTo>
                    <a:pt x="6993890" y="177927"/>
                  </a:lnTo>
                  <a:cubicBezTo>
                    <a:pt x="6993890" y="100711"/>
                    <a:pt x="6931279" y="38100"/>
                    <a:pt x="6854190" y="38100"/>
                  </a:cubicBezTo>
                  <a:lnTo>
                    <a:pt x="177800" y="38100"/>
                  </a:lnTo>
                  <a:lnTo>
                    <a:pt x="177800" y="19050"/>
                  </a:lnTo>
                  <a:lnTo>
                    <a:pt x="177800" y="38100"/>
                  </a:lnTo>
                  <a:cubicBezTo>
                    <a:pt x="100711" y="38100"/>
                    <a:pt x="38100" y="100711"/>
                    <a:pt x="38100" y="177927"/>
                  </a:cubicBezTo>
                  <a:close/>
                </a:path>
              </a:pathLst>
            </a:custGeom>
            <a:solidFill>
              <a:srgbClr val="F8F8F8"/>
            </a:solidFill>
          </p:spPr>
        </p:sp>
      </p:grpSp>
      <p:grpSp>
        <p:nvGrpSpPr>
          <p:cNvPr id="28" name="Group 28"/>
          <p:cNvGrpSpPr/>
          <p:nvPr/>
        </p:nvGrpSpPr>
        <p:grpSpPr>
          <a:xfrm>
            <a:off x="12362260" y="2402532"/>
            <a:ext cx="850553" cy="850553"/>
            <a:chOff x="0" y="0"/>
            <a:chExt cx="1134070" cy="1134070"/>
          </a:xfrm>
        </p:grpSpPr>
        <p:sp>
          <p:nvSpPr>
            <p:cNvPr id="29" name="Freeform 2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8F8F8"/>
            </a:solidFill>
          </p:spPr>
        </p:sp>
      </p:grpSp>
      <p:grpSp>
        <p:nvGrpSpPr>
          <p:cNvPr id="30" name="Group 30"/>
          <p:cNvGrpSpPr/>
          <p:nvPr/>
        </p:nvGrpSpPr>
        <p:grpSpPr>
          <a:xfrm>
            <a:off x="12596217" y="2579042"/>
            <a:ext cx="382638" cy="497533"/>
            <a:chOff x="0" y="0"/>
            <a:chExt cx="510183" cy="663377"/>
          </a:xfrm>
        </p:grpSpPr>
        <p:sp>
          <p:nvSpPr>
            <p:cNvPr id="31" name="Freeform 31" descr="preencoded.png"/>
            <p:cNvSpPr/>
            <p:nvPr/>
          </p:nvSpPr>
          <p:spPr>
            <a:xfrm>
              <a:off x="0" y="0"/>
              <a:ext cx="510159" cy="663321"/>
            </a:xfrm>
            <a:custGeom>
              <a:avLst/>
              <a:gdLst/>
              <a:ahLst/>
              <a:cxnLst/>
              <a:rect l="l" t="t" r="r" b="b"/>
              <a:pathLst>
                <a:path w="510159" h="663321">
                  <a:moveTo>
                    <a:pt x="0" y="0"/>
                  </a:moveTo>
                  <a:lnTo>
                    <a:pt x="510159" y="0"/>
                  </a:lnTo>
                  <a:lnTo>
                    <a:pt x="510159" y="663321"/>
                  </a:lnTo>
                  <a:lnTo>
                    <a:pt x="0" y="663321"/>
                  </a:lnTo>
                  <a:lnTo>
                    <a:pt x="0" y="0"/>
                  </a:lnTo>
                  <a:close/>
                </a:path>
              </a:pathLst>
            </a:custGeom>
            <a:blipFill>
              <a:blip r:embed="rId4"/>
              <a:stretch>
                <a:fillRect l="-10" r="-15" b="-8"/>
              </a:stretch>
            </a:blipFill>
          </p:spPr>
        </p:sp>
      </p:grpSp>
      <p:sp>
        <p:nvSpPr>
          <p:cNvPr id="32" name="TextBox 32"/>
          <p:cNvSpPr txBox="1"/>
          <p:nvPr/>
        </p:nvSpPr>
        <p:spPr>
          <a:xfrm>
            <a:off x="12362260" y="3508027"/>
            <a:ext cx="4097239" cy="487204"/>
          </a:xfrm>
          <a:prstGeom prst="rect">
            <a:avLst/>
          </a:prstGeom>
        </p:spPr>
        <p:txBody>
          <a:bodyPr lIns="0" tIns="0" rIns="0" bIns="0" rtlCol="0" anchor="t">
            <a:spAutoFit/>
          </a:bodyPr>
          <a:lstStyle/>
          <a:p>
            <a:pPr algn="l">
              <a:lnSpc>
                <a:spcPts val="3970"/>
              </a:lnSpc>
            </a:pPr>
            <a:r>
              <a:rPr lang="en-US" sz="3067" spc="-110">
                <a:solidFill>
                  <a:srgbClr val="01012C"/>
                </a:solidFill>
                <a:latin typeface="Montserrat"/>
                <a:ea typeface="Montserrat"/>
                <a:cs typeface="Montserrat"/>
                <a:sym typeface="Montserrat"/>
              </a:rPr>
              <a:t>Advanced Integration:</a:t>
            </a:r>
          </a:p>
        </p:txBody>
      </p:sp>
      <p:sp>
        <p:nvSpPr>
          <p:cNvPr id="33" name="TextBox 33"/>
          <p:cNvSpPr txBox="1"/>
          <p:nvPr/>
        </p:nvSpPr>
        <p:spPr>
          <a:xfrm>
            <a:off x="12362260" y="4217491"/>
            <a:ext cx="4621263" cy="21590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Replacing file-based data transfers with secure RESTful APIs or direct integrations for payment gateways, inventory suppliers, and accounting systems</a:t>
            </a:r>
          </a:p>
        </p:txBody>
      </p:sp>
      <p:sp>
        <p:nvSpPr>
          <p:cNvPr id="34" name="TextBox 34"/>
          <p:cNvSpPr txBox="1"/>
          <p:nvPr/>
        </p:nvSpPr>
        <p:spPr>
          <a:xfrm>
            <a:off x="12362260" y="6598592"/>
            <a:ext cx="4621263" cy="711200"/>
          </a:xfrm>
          <a:prstGeom prst="rect">
            <a:avLst/>
          </a:prstGeom>
        </p:spPr>
        <p:txBody>
          <a:bodyPr lIns="0" tIns="0" rIns="0" bIns="0" rtlCol="0" anchor="t">
            <a:spAutoFit/>
          </a:bodyPr>
          <a:lstStyle/>
          <a:p>
            <a:pPr algn="l">
              <a:lnSpc>
                <a:spcPts val="2875"/>
              </a:lnSpc>
            </a:pPr>
            <a:r>
              <a:rPr lang="en-US" sz="2187">
                <a:solidFill>
                  <a:srgbClr val="01012C"/>
                </a:solidFill>
                <a:latin typeface="Montserrat"/>
                <a:ea typeface="Montserrat"/>
                <a:cs typeface="Montserrat"/>
                <a:sym typeface="Montserrat"/>
              </a:rPr>
              <a:t>Automating workflows to increase system reliability</a:t>
            </a:r>
          </a:p>
        </p:txBody>
      </p:sp>
      <p:sp>
        <p:nvSpPr>
          <p:cNvPr id="43" name="Slide Number Placeholder 42">
            <a:extLst>
              <a:ext uri="{FF2B5EF4-FFF2-40B4-BE49-F238E27FC236}">
                <a16:creationId xmlns:a16="http://schemas.microsoft.com/office/drawing/2014/main" id="{E626C250-F2F3-124D-1C66-3DC51527D052}"/>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992238" y="2762994"/>
            <a:ext cx="6521202" cy="825500"/>
          </a:xfrm>
          <a:prstGeom prst="rect">
            <a:avLst/>
          </a:prstGeom>
        </p:spPr>
        <p:txBody>
          <a:bodyPr lIns="0" tIns="0" rIns="0" bIns="0" rtlCol="0" anchor="t">
            <a:spAutoFit/>
          </a:bodyPr>
          <a:lstStyle/>
          <a:p>
            <a:pPr algn="l">
              <a:lnSpc>
                <a:spcPts val="6624"/>
              </a:lnSpc>
            </a:pPr>
            <a:r>
              <a:rPr lang="en-US" sz="5124" b="1" spc="-420">
                <a:solidFill>
                  <a:srgbClr val="01012C"/>
                </a:solidFill>
                <a:latin typeface="Arial Nova Bold"/>
                <a:ea typeface="Arial Nova Bold"/>
                <a:cs typeface="Arial Nova Bold"/>
                <a:sym typeface="Arial Nova Bold"/>
              </a:rPr>
              <a:t>CONCLUSION</a:t>
            </a:r>
          </a:p>
        </p:txBody>
      </p:sp>
      <p:sp>
        <p:nvSpPr>
          <p:cNvPr id="9" name="TextBox 9"/>
          <p:cNvSpPr txBox="1"/>
          <p:nvPr/>
        </p:nvSpPr>
        <p:spPr>
          <a:xfrm>
            <a:off x="992237" y="3913286"/>
            <a:ext cx="5060156" cy="478631"/>
          </a:xfrm>
          <a:prstGeom prst="rect">
            <a:avLst/>
          </a:prstGeom>
        </p:spPr>
        <p:txBody>
          <a:bodyPr lIns="0" tIns="0" rIns="0" bIns="0" rtlCol="0" anchor="t">
            <a:spAutoFit/>
          </a:bodyPr>
          <a:lstStyle/>
          <a:p>
            <a:pPr algn="l">
              <a:lnSpc>
                <a:spcPts val="3867"/>
              </a:lnSpc>
            </a:pPr>
            <a:r>
              <a:rPr lang="en-US" sz="2988" spc="-107">
                <a:solidFill>
                  <a:srgbClr val="01012C"/>
                </a:solidFill>
                <a:latin typeface="Montserrat"/>
                <a:ea typeface="Montserrat"/>
                <a:cs typeface="Montserrat"/>
                <a:sym typeface="Montserrat"/>
              </a:rPr>
              <a:t>Project Success and Impact:</a:t>
            </a:r>
          </a:p>
        </p:txBody>
      </p:sp>
      <p:sp>
        <p:nvSpPr>
          <p:cNvPr id="10" name="TextBox 10"/>
          <p:cNvSpPr txBox="1"/>
          <p:nvPr/>
        </p:nvSpPr>
        <p:spPr>
          <a:xfrm>
            <a:off x="992238" y="4877841"/>
            <a:ext cx="9445526" cy="2520950"/>
          </a:xfrm>
          <a:prstGeom prst="rect">
            <a:avLst/>
          </a:prstGeom>
        </p:spPr>
        <p:txBody>
          <a:bodyPr lIns="0" tIns="0" rIns="0" bIns="0" rtlCol="0" anchor="t">
            <a:spAutoFit/>
          </a:bodyPr>
          <a:lstStyle/>
          <a:p>
            <a:pPr algn="l">
              <a:lnSpc>
                <a:spcPts val="2875"/>
              </a:lnSpc>
            </a:pPr>
            <a:r>
              <a:rPr lang="en-US" sz="2187" dirty="0">
                <a:solidFill>
                  <a:srgbClr val="01012C"/>
                </a:solidFill>
                <a:latin typeface="Montserrat"/>
                <a:ea typeface="Montserrat"/>
                <a:cs typeface="Montserrat"/>
                <a:sym typeface="Montserrat"/>
              </a:rPr>
              <a:t>The development of the Restaurant Point of Sale System for CODETREE was a comprehensive and successful practicum that provided invaluable real-world experience in designing a business application. Built with React.js, Laravel, and MySQL, the system successfully automates day-to-day restaurant operations including order management, inventory tracking, payment processing, and reporting.</a:t>
            </a:r>
          </a:p>
        </p:txBody>
      </p:sp>
      <p:sp>
        <p:nvSpPr>
          <p:cNvPr id="17" name="Slide Number Placeholder 16">
            <a:extLst>
              <a:ext uri="{FF2B5EF4-FFF2-40B4-BE49-F238E27FC236}">
                <a16:creationId xmlns:a16="http://schemas.microsoft.com/office/drawing/2014/main" id="{549E86DD-F6DC-3F4C-0EDA-9F00CAC6F547}"/>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0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8F8F8">
                <a:alpha val="90196"/>
              </a:srgbClr>
            </a:solidFill>
          </p:spPr>
        </p:sp>
      </p:grpSp>
      <p:sp>
        <p:nvSpPr>
          <p:cNvPr id="8" name="TextBox 8"/>
          <p:cNvSpPr txBox="1"/>
          <p:nvPr/>
        </p:nvSpPr>
        <p:spPr>
          <a:xfrm>
            <a:off x="831503" y="635794"/>
            <a:ext cx="3639145" cy="402987"/>
          </a:xfrm>
          <a:prstGeom prst="rect">
            <a:avLst/>
          </a:prstGeom>
        </p:spPr>
        <p:txBody>
          <a:bodyPr lIns="0" tIns="0" rIns="0" bIns="0" rtlCol="0" anchor="t">
            <a:spAutoFit/>
          </a:bodyPr>
          <a:lstStyle/>
          <a:p>
            <a:pPr algn="l">
              <a:lnSpc>
                <a:spcPts val="3265"/>
              </a:lnSpc>
            </a:pPr>
            <a:r>
              <a:rPr lang="en-US" sz="2553" spc="-91">
                <a:solidFill>
                  <a:srgbClr val="01012C"/>
                </a:solidFill>
                <a:latin typeface="Montserrat"/>
                <a:ea typeface="Montserrat"/>
                <a:cs typeface="Montserrat"/>
                <a:sym typeface="Montserrat"/>
              </a:rPr>
              <a:t>Technical Achievement:</a:t>
            </a:r>
          </a:p>
        </p:txBody>
      </p:sp>
      <p:sp>
        <p:nvSpPr>
          <p:cNvPr id="9" name="TextBox 9"/>
          <p:cNvSpPr txBox="1"/>
          <p:nvPr/>
        </p:nvSpPr>
        <p:spPr>
          <a:xfrm>
            <a:off x="831502" y="1554807"/>
            <a:ext cx="16624995" cy="879475"/>
          </a:xfrm>
          <a:prstGeom prst="rect">
            <a:avLst/>
          </a:prstGeom>
        </p:spPr>
        <p:txBody>
          <a:bodyPr lIns="0" tIns="0" rIns="0" bIns="0" rtlCol="0" anchor="t">
            <a:spAutoFit/>
          </a:bodyPr>
          <a:lstStyle/>
          <a:p>
            <a:pPr algn="l">
              <a:lnSpc>
                <a:spcPts val="2375"/>
              </a:lnSpc>
            </a:pPr>
            <a:r>
              <a:rPr lang="en-US" sz="1812">
                <a:solidFill>
                  <a:srgbClr val="01012C"/>
                </a:solidFill>
                <a:latin typeface="Montserrat"/>
                <a:ea typeface="Montserrat"/>
                <a:cs typeface="Montserrat"/>
                <a:sym typeface="Montserrat"/>
              </a:rPr>
              <a:t>The project demonstrated effective integration of modern web technologies, creating a robust system that handles all aspects of restaurant operations with minimal manual intervention. The iterative development approach ensured high quality through continuous testing and stakeholder feedback.</a:t>
            </a:r>
          </a:p>
        </p:txBody>
      </p:sp>
      <p:sp>
        <p:nvSpPr>
          <p:cNvPr id="10" name="TextBox 10"/>
          <p:cNvSpPr txBox="1"/>
          <p:nvPr/>
        </p:nvSpPr>
        <p:spPr>
          <a:xfrm>
            <a:off x="831502" y="2827585"/>
            <a:ext cx="3415010" cy="430213"/>
          </a:xfrm>
          <a:prstGeom prst="rect">
            <a:avLst/>
          </a:prstGeom>
        </p:spPr>
        <p:txBody>
          <a:bodyPr lIns="0" tIns="0" rIns="0" bIns="0" rtlCol="0" anchor="t">
            <a:spAutoFit/>
          </a:bodyPr>
          <a:lstStyle/>
          <a:p>
            <a:pPr algn="l">
              <a:lnSpc>
                <a:spcPts val="3437"/>
              </a:lnSpc>
            </a:pPr>
            <a:r>
              <a:rPr lang="en-US" sz="2687" spc="-96">
                <a:solidFill>
                  <a:srgbClr val="01012C"/>
                </a:solidFill>
                <a:latin typeface="Montserrat"/>
                <a:ea typeface="Montserrat"/>
                <a:cs typeface="Montserrat"/>
                <a:sym typeface="Montserrat"/>
              </a:rPr>
              <a:t>Business Value:</a:t>
            </a:r>
          </a:p>
        </p:txBody>
      </p:sp>
      <p:sp>
        <p:nvSpPr>
          <p:cNvPr id="11" name="TextBox 11"/>
          <p:cNvSpPr txBox="1"/>
          <p:nvPr/>
        </p:nvSpPr>
        <p:spPr>
          <a:xfrm>
            <a:off x="831502" y="3637360"/>
            <a:ext cx="16624995" cy="879475"/>
          </a:xfrm>
          <a:prstGeom prst="rect">
            <a:avLst/>
          </a:prstGeom>
        </p:spPr>
        <p:txBody>
          <a:bodyPr lIns="0" tIns="0" rIns="0" bIns="0" rtlCol="0" anchor="t">
            <a:spAutoFit/>
          </a:bodyPr>
          <a:lstStyle/>
          <a:p>
            <a:pPr algn="l">
              <a:lnSpc>
                <a:spcPts val="2375"/>
              </a:lnSpc>
            </a:pPr>
            <a:r>
              <a:rPr lang="en-US" sz="1812">
                <a:solidFill>
                  <a:srgbClr val="01012C"/>
                </a:solidFill>
                <a:latin typeface="Montserrat"/>
                <a:ea typeface="Montserrat"/>
                <a:cs typeface="Montserrat"/>
                <a:sym typeface="Montserrat"/>
              </a:rPr>
              <a:t>The system significantly enhances operational efficiency, reduces manual errors, improves customer satisfaction, and provides restaurant owners with confidence to run their businesses smoothly. The automated reporting capabilities enable data-driven decision making for restaurant management.</a:t>
            </a:r>
          </a:p>
        </p:txBody>
      </p:sp>
      <p:sp>
        <p:nvSpPr>
          <p:cNvPr id="12" name="TextBox 12"/>
          <p:cNvSpPr txBox="1"/>
          <p:nvPr/>
        </p:nvSpPr>
        <p:spPr>
          <a:xfrm>
            <a:off x="831502" y="4910137"/>
            <a:ext cx="3415010" cy="430213"/>
          </a:xfrm>
          <a:prstGeom prst="rect">
            <a:avLst/>
          </a:prstGeom>
        </p:spPr>
        <p:txBody>
          <a:bodyPr lIns="0" tIns="0" rIns="0" bIns="0" rtlCol="0" anchor="t">
            <a:spAutoFit/>
          </a:bodyPr>
          <a:lstStyle/>
          <a:p>
            <a:pPr algn="l">
              <a:lnSpc>
                <a:spcPts val="3437"/>
              </a:lnSpc>
            </a:pPr>
            <a:r>
              <a:rPr lang="en-US" sz="2687" spc="-96">
                <a:solidFill>
                  <a:srgbClr val="01012C"/>
                </a:solidFill>
                <a:latin typeface="Montserrat"/>
                <a:ea typeface="Montserrat"/>
                <a:cs typeface="Montserrat"/>
                <a:sym typeface="Montserrat"/>
              </a:rPr>
              <a:t>Learning Outcomes:</a:t>
            </a:r>
          </a:p>
        </p:txBody>
      </p:sp>
      <p:sp>
        <p:nvSpPr>
          <p:cNvPr id="13" name="TextBox 13"/>
          <p:cNvSpPr txBox="1"/>
          <p:nvPr/>
        </p:nvSpPr>
        <p:spPr>
          <a:xfrm>
            <a:off x="831502" y="5719911"/>
            <a:ext cx="16624995" cy="879475"/>
          </a:xfrm>
          <a:prstGeom prst="rect">
            <a:avLst/>
          </a:prstGeom>
        </p:spPr>
        <p:txBody>
          <a:bodyPr lIns="0" tIns="0" rIns="0" bIns="0" rtlCol="0" anchor="t">
            <a:spAutoFit/>
          </a:bodyPr>
          <a:lstStyle/>
          <a:p>
            <a:pPr algn="l">
              <a:lnSpc>
                <a:spcPts val="2375"/>
              </a:lnSpc>
            </a:pPr>
            <a:r>
              <a:rPr lang="en-US" sz="1812">
                <a:solidFill>
                  <a:srgbClr val="01012C"/>
                </a:solidFill>
                <a:latin typeface="Montserrat"/>
                <a:ea typeface="Montserrat"/>
                <a:cs typeface="Montserrat"/>
                <a:sym typeface="Montserrat"/>
              </a:rPr>
              <a:t>This practicum provided comprehensive experience in full-stack development, database design and management, business logic implementation, security and compliance, and project management. The skills acquired include React.js and Laravel expertise, MySQL optimization, restaurant workflow automation, and professional software development practices.</a:t>
            </a:r>
          </a:p>
        </p:txBody>
      </p:sp>
      <p:sp>
        <p:nvSpPr>
          <p:cNvPr id="14" name="TextBox 14"/>
          <p:cNvSpPr txBox="1"/>
          <p:nvPr/>
        </p:nvSpPr>
        <p:spPr>
          <a:xfrm>
            <a:off x="831502" y="6992690"/>
            <a:ext cx="3415010" cy="430213"/>
          </a:xfrm>
          <a:prstGeom prst="rect">
            <a:avLst/>
          </a:prstGeom>
        </p:spPr>
        <p:txBody>
          <a:bodyPr lIns="0" tIns="0" rIns="0" bIns="0" rtlCol="0" anchor="t">
            <a:spAutoFit/>
          </a:bodyPr>
          <a:lstStyle/>
          <a:p>
            <a:pPr algn="l">
              <a:lnSpc>
                <a:spcPts val="3437"/>
              </a:lnSpc>
            </a:pPr>
            <a:r>
              <a:rPr lang="en-US" sz="2687" spc="-96">
                <a:solidFill>
                  <a:srgbClr val="01012C"/>
                </a:solidFill>
                <a:latin typeface="Montserrat"/>
                <a:ea typeface="Montserrat"/>
                <a:cs typeface="Montserrat"/>
                <a:sym typeface="Montserrat"/>
              </a:rPr>
              <a:t>Future Ready:</a:t>
            </a:r>
          </a:p>
        </p:txBody>
      </p:sp>
      <p:sp>
        <p:nvSpPr>
          <p:cNvPr id="15" name="TextBox 15"/>
          <p:cNvSpPr txBox="1"/>
          <p:nvPr/>
        </p:nvSpPr>
        <p:spPr>
          <a:xfrm>
            <a:off x="831502" y="7802464"/>
            <a:ext cx="16624995" cy="584200"/>
          </a:xfrm>
          <a:prstGeom prst="rect">
            <a:avLst/>
          </a:prstGeom>
        </p:spPr>
        <p:txBody>
          <a:bodyPr lIns="0" tIns="0" rIns="0" bIns="0" rtlCol="0" anchor="t">
            <a:spAutoFit/>
          </a:bodyPr>
          <a:lstStyle/>
          <a:p>
            <a:pPr algn="l">
              <a:lnSpc>
                <a:spcPts val="2375"/>
              </a:lnSpc>
            </a:pPr>
            <a:r>
              <a:rPr lang="en-US" sz="1812">
                <a:solidFill>
                  <a:srgbClr val="01012C"/>
                </a:solidFill>
                <a:latin typeface="Montserrat"/>
                <a:ea typeface="Montserrat"/>
                <a:cs typeface="Montserrat"/>
                <a:sym typeface="Montserrat"/>
              </a:rPr>
              <a:t>The current system provides a solid foundation for continued enhancement and evolution. With planned improvements in scalability, mobile accessibility, and advanced analytics, the system is positioned to grow with restaurant business needs and technological advancements.</a:t>
            </a:r>
          </a:p>
        </p:txBody>
      </p:sp>
      <p:sp>
        <p:nvSpPr>
          <p:cNvPr id="16" name="TextBox 16"/>
          <p:cNvSpPr txBox="1"/>
          <p:nvPr/>
        </p:nvSpPr>
        <p:spPr>
          <a:xfrm>
            <a:off x="831502" y="8995619"/>
            <a:ext cx="16624995" cy="584200"/>
          </a:xfrm>
          <a:prstGeom prst="rect">
            <a:avLst/>
          </a:prstGeom>
        </p:spPr>
        <p:txBody>
          <a:bodyPr lIns="0" tIns="0" rIns="0" bIns="0" rtlCol="0" anchor="t">
            <a:spAutoFit/>
          </a:bodyPr>
          <a:lstStyle/>
          <a:p>
            <a:pPr algn="l">
              <a:lnSpc>
                <a:spcPts val="2375"/>
              </a:lnSpc>
            </a:pPr>
            <a:r>
              <a:rPr lang="en-US" sz="1812">
                <a:solidFill>
                  <a:srgbClr val="01012C"/>
                </a:solidFill>
                <a:latin typeface="Montserrat"/>
                <a:ea typeface="Montserrat"/>
                <a:cs typeface="Montserrat"/>
                <a:sym typeface="Montserrat"/>
              </a:rPr>
              <a:t>The Restaurant POS System successfully meets its objectives of enhancing efficiency, transparency, and reliability in restaurant operations while providing a platform for future technological innovation in the food service industry.</a:t>
            </a:r>
          </a:p>
        </p:txBody>
      </p:sp>
      <p:sp>
        <p:nvSpPr>
          <p:cNvPr id="22" name="Slide Number Placeholder 21">
            <a:extLst>
              <a:ext uri="{FF2B5EF4-FFF2-40B4-BE49-F238E27FC236}">
                <a16:creationId xmlns:a16="http://schemas.microsoft.com/office/drawing/2014/main" id="{2053D9E2-B775-B93C-4EE4-BB3BDD33CC65}"/>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8219854" y="9078087"/>
            <a:ext cx="1848291" cy="0"/>
          </a:xfrm>
          <a:prstGeom prst="line">
            <a:avLst/>
          </a:prstGeom>
          <a:ln w="38100" cap="flat">
            <a:solidFill>
              <a:srgbClr val="000000"/>
            </a:solidFill>
            <a:prstDash val="solid"/>
            <a:headEnd type="none" w="sm" len="sm"/>
            <a:tailEnd type="arrow" w="med" len="sm"/>
          </a:ln>
        </p:spPr>
      </p:sp>
      <p:sp>
        <p:nvSpPr>
          <p:cNvPr id="3" name="Freeform 3"/>
          <p:cNvSpPr/>
          <p:nvPr/>
        </p:nvSpPr>
        <p:spPr>
          <a:xfrm>
            <a:off x="16846204" y="1028700"/>
            <a:ext cx="413096" cy="360426"/>
          </a:xfrm>
          <a:custGeom>
            <a:avLst/>
            <a:gdLst/>
            <a:ahLst/>
            <a:cxnLst/>
            <a:rect l="l" t="t" r="r" b="b"/>
            <a:pathLst>
              <a:path w="413096" h="360426">
                <a:moveTo>
                  <a:pt x="0" y="0"/>
                </a:moveTo>
                <a:lnTo>
                  <a:pt x="413096" y="0"/>
                </a:lnTo>
                <a:lnTo>
                  <a:pt x="413096" y="360426"/>
                </a:lnTo>
                <a:lnTo>
                  <a:pt x="0" y="3604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7331" y="1028700"/>
            <a:ext cx="396617" cy="360426"/>
          </a:xfrm>
          <a:custGeom>
            <a:avLst/>
            <a:gdLst/>
            <a:ahLst/>
            <a:cxnLst/>
            <a:rect l="l" t="t" r="r" b="b"/>
            <a:pathLst>
              <a:path w="396617" h="360426">
                <a:moveTo>
                  <a:pt x="0" y="0"/>
                </a:moveTo>
                <a:lnTo>
                  <a:pt x="396617" y="0"/>
                </a:lnTo>
                <a:lnTo>
                  <a:pt x="396617" y="360426"/>
                </a:lnTo>
                <a:lnTo>
                  <a:pt x="0" y="3604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654052" y="2974891"/>
            <a:ext cx="14979896" cy="4504411"/>
          </a:xfrm>
          <a:prstGeom prst="rect">
            <a:avLst/>
          </a:prstGeom>
        </p:spPr>
        <p:txBody>
          <a:bodyPr lIns="0" tIns="0" rIns="0" bIns="0" rtlCol="0" anchor="t">
            <a:spAutoFit/>
          </a:bodyPr>
          <a:lstStyle/>
          <a:p>
            <a:pPr marL="0" lvl="0" indent="0" algn="ctr">
              <a:lnSpc>
                <a:spcPts val="16785"/>
              </a:lnSpc>
            </a:pPr>
            <a:r>
              <a:rPr lang="en-US" sz="20982" b="1" spc="-1720">
                <a:solidFill>
                  <a:srgbClr val="01012C"/>
                </a:solidFill>
                <a:latin typeface="Arial Nova Bold"/>
                <a:ea typeface="Arial Nova Bold"/>
                <a:cs typeface="Arial Nova Bold"/>
                <a:sym typeface="Arial Nova Bold"/>
              </a:rPr>
              <a:t>THANK YOU SO MUCH!</a:t>
            </a:r>
          </a:p>
        </p:txBody>
      </p:sp>
      <p:grpSp>
        <p:nvGrpSpPr>
          <p:cNvPr id="7" name="Group 7"/>
          <p:cNvGrpSpPr/>
          <p:nvPr/>
        </p:nvGrpSpPr>
        <p:grpSpPr>
          <a:xfrm>
            <a:off x="4722264" y="7423851"/>
            <a:ext cx="8843472" cy="697883"/>
            <a:chOff x="0" y="0"/>
            <a:chExt cx="2609622" cy="205938"/>
          </a:xfrm>
        </p:grpSpPr>
        <p:sp>
          <p:nvSpPr>
            <p:cNvPr id="8" name="Freeform 8"/>
            <p:cNvSpPr/>
            <p:nvPr/>
          </p:nvSpPr>
          <p:spPr>
            <a:xfrm>
              <a:off x="0" y="0"/>
              <a:ext cx="2609622" cy="205938"/>
            </a:xfrm>
            <a:custGeom>
              <a:avLst/>
              <a:gdLst/>
              <a:ahLst/>
              <a:cxnLst/>
              <a:rect l="l" t="t" r="r" b="b"/>
              <a:pathLst>
                <a:path w="2609622" h="205938">
                  <a:moveTo>
                    <a:pt x="44647" y="0"/>
                  </a:moveTo>
                  <a:lnTo>
                    <a:pt x="2564975" y="0"/>
                  </a:lnTo>
                  <a:cubicBezTo>
                    <a:pt x="2589633" y="0"/>
                    <a:pt x="2609622" y="19989"/>
                    <a:pt x="2609622" y="44647"/>
                  </a:cubicBezTo>
                  <a:lnTo>
                    <a:pt x="2609622" y="161291"/>
                  </a:lnTo>
                  <a:cubicBezTo>
                    <a:pt x="2609622" y="185949"/>
                    <a:pt x="2589633" y="205938"/>
                    <a:pt x="2564975" y="205938"/>
                  </a:cubicBezTo>
                  <a:lnTo>
                    <a:pt x="44647" y="205938"/>
                  </a:lnTo>
                  <a:cubicBezTo>
                    <a:pt x="32806" y="205938"/>
                    <a:pt x="21450" y="201235"/>
                    <a:pt x="13077" y="192862"/>
                  </a:cubicBezTo>
                  <a:cubicBezTo>
                    <a:pt x="4704" y="184489"/>
                    <a:pt x="0" y="173132"/>
                    <a:pt x="0" y="161291"/>
                  </a:cubicBezTo>
                  <a:lnTo>
                    <a:pt x="0" y="44647"/>
                  </a:lnTo>
                  <a:cubicBezTo>
                    <a:pt x="0" y="19989"/>
                    <a:pt x="19989" y="0"/>
                    <a:pt x="44647" y="0"/>
                  </a:cubicBezTo>
                  <a:close/>
                </a:path>
              </a:pathLst>
            </a:custGeom>
            <a:solidFill>
              <a:srgbClr val="000000">
                <a:alpha val="0"/>
              </a:srgbClr>
            </a:solidFill>
            <a:ln w="19050" cap="rnd">
              <a:solidFill>
                <a:srgbClr val="01012C"/>
              </a:solidFill>
              <a:prstDash val="solid"/>
              <a:round/>
            </a:ln>
          </p:spPr>
        </p:sp>
        <p:sp>
          <p:nvSpPr>
            <p:cNvPr id="9" name="TextBox 9"/>
            <p:cNvSpPr txBox="1"/>
            <p:nvPr/>
          </p:nvSpPr>
          <p:spPr>
            <a:xfrm>
              <a:off x="0" y="85725"/>
              <a:ext cx="2609622" cy="120213"/>
            </a:xfrm>
            <a:prstGeom prst="rect">
              <a:avLst/>
            </a:prstGeom>
          </p:spPr>
          <p:txBody>
            <a:bodyPr lIns="50800" tIns="50800" rIns="50800" bIns="50800" rtlCol="0" anchor="ctr"/>
            <a:lstStyle/>
            <a:p>
              <a:pPr algn="ctr">
                <a:lnSpc>
                  <a:spcPts val="1638"/>
                </a:lnSpc>
              </a:pPr>
              <a:endParaRPr/>
            </a:p>
          </p:txBody>
        </p:sp>
      </p:grpSp>
      <p:sp>
        <p:nvSpPr>
          <p:cNvPr id="10" name="TextBox 10"/>
          <p:cNvSpPr txBox="1"/>
          <p:nvPr/>
        </p:nvSpPr>
        <p:spPr>
          <a:xfrm>
            <a:off x="5160056" y="7667339"/>
            <a:ext cx="7967889" cy="294285"/>
          </a:xfrm>
          <a:prstGeom prst="rect">
            <a:avLst/>
          </a:prstGeom>
        </p:spPr>
        <p:txBody>
          <a:bodyPr lIns="0" tIns="0" rIns="0" bIns="0" rtlCol="0" anchor="t">
            <a:spAutoFit/>
          </a:bodyPr>
          <a:lstStyle/>
          <a:p>
            <a:pPr algn="ctr">
              <a:lnSpc>
                <a:spcPts val="2169"/>
              </a:lnSpc>
            </a:pPr>
            <a:r>
              <a:rPr lang="en-US" sz="2614" dirty="0">
                <a:solidFill>
                  <a:srgbClr val="01012C"/>
                </a:solidFill>
                <a:latin typeface="Montserrat"/>
                <a:ea typeface="Montserrat"/>
                <a:cs typeface="Montserrat"/>
                <a:sym typeface="Montserrat"/>
              </a:rPr>
              <a:t>Presentation By: Sarder Rifat Rahman Bandhan</a:t>
            </a:r>
          </a:p>
        </p:txBody>
      </p:sp>
      <p:sp>
        <p:nvSpPr>
          <p:cNvPr id="11" name="TextBox 11"/>
          <p:cNvSpPr txBox="1"/>
          <p:nvPr/>
        </p:nvSpPr>
        <p:spPr>
          <a:xfrm>
            <a:off x="14441710" y="8812911"/>
            <a:ext cx="2817590" cy="265176"/>
          </a:xfrm>
          <a:prstGeom prst="rect">
            <a:avLst/>
          </a:prstGeom>
        </p:spPr>
        <p:txBody>
          <a:bodyPr lIns="0" tIns="0" rIns="0" bIns="0" rtlCol="0" anchor="t">
            <a:spAutoFit/>
          </a:bodyPr>
          <a:lstStyle/>
          <a:p>
            <a:pPr algn="r">
              <a:lnSpc>
                <a:spcPts val="1991"/>
              </a:lnSpc>
            </a:pPr>
            <a:r>
              <a:rPr lang="en-US" sz="2400">
                <a:solidFill>
                  <a:srgbClr val="01012C"/>
                </a:solidFill>
                <a:latin typeface="Montserrat"/>
                <a:ea typeface="Montserrat"/>
                <a:cs typeface="Montserrat"/>
                <a:sym typeface="Montserrat"/>
              </a:rPr>
              <a:t>October 04, 2025</a:t>
            </a:r>
          </a:p>
        </p:txBody>
      </p:sp>
      <p:sp>
        <p:nvSpPr>
          <p:cNvPr id="12" name="TextBox 10">
            <a:extLst>
              <a:ext uri="{FF2B5EF4-FFF2-40B4-BE49-F238E27FC236}">
                <a16:creationId xmlns:a16="http://schemas.microsoft.com/office/drawing/2014/main" id="{EEC521EC-1643-51AC-E668-3EA44878EB9E}"/>
              </a:ext>
            </a:extLst>
          </p:cNvPr>
          <p:cNvSpPr txBox="1"/>
          <p:nvPr/>
        </p:nvSpPr>
        <p:spPr>
          <a:xfrm>
            <a:off x="5029200" y="8271123"/>
            <a:ext cx="7967889" cy="294285"/>
          </a:xfrm>
          <a:prstGeom prst="rect">
            <a:avLst/>
          </a:prstGeom>
        </p:spPr>
        <p:txBody>
          <a:bodyPr lIns="0" tIns="0" rIns="0" bIns="0" rtlCol="0" anchor="t">
            <a:spAutoFit/>
          </a:bodyPr>
          <a:lstStyle/>
          <a:p>
            <a:pPr algn="ctr">
              <a:lnSpc>
                <a:spcPts val="2169"/>
              </a:lnSpc>
            </a:pPr>
            <a:r>
              <a:rPr lang="en-US" sz="2614" dirty="0">
                <a:solidFill>
                  <a:srgbClr val="01012C"/>
                </a:solidFill>
                <a:latin typeface="Montserrat"/>
                <a:ea typeface="Montserrat"/>
                <a:cs typeface="Montserrat"/>
                <a:sym typeface="Montserrat"/>
              </a:rPr>
              <a:t>ID : 21303158</a:t>
            </a:r>
          </a:p>
        </p:txBody>
      </p:sp>
      <p:sp>
        <p:nvSpPr>
          <p:cNvPr id="20" name="Slide Number Placeholder 19">
            <a:extLst>
              <a:ext uri="{FF2B5EF4-FFF2-40B4-BE49-F238E27FC236}">
                <a16:creationId xmlns:a16="http://schemas.microsoft.com/office/drawing/2014/main" id="{546CE541-AC25-26A4-4D37-60E76B48C1FA}"/>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3060</Words>
  <Application>Microsoft Office PowerPoint</Application>
  <PresentationFormat>Custom</PresentationFormat>
  <Paragraphs>555</Paragraphs>
  <Slides>53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Montserrat</vt:lpstr>
      <vt:lpstr>Times New Roman</vt:lpstr>
      <vt:lpstr>Montserrat Bold</vt:lpstr>
      <vt:lpstr>Wingdings</vt:lpstr>
      <vt:lpstr>Arial</vt:lpstr>
      <vt:lpstr>Calibri</vt:lpstr>
      <vt:lpstr>Arial Nova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Practicum Defense</dc:title>
  <cp:lastModifiedBy>rifat rahman bandhan</cp:lastModifiedBy>
  <cp:revision>8</cp:revision>
  <dcterms:created xsi:type="dcterms:W3CDTF">2006-08-16T00:00:00Z</dcterms:created>
  <dcterms:modified xsi:type="dcterms:W3CDTF">2025-10-03T18:55:40Z</dcterms:modified>
  <dc:identifier>DAG0huvdj70</dc:identifier>
</cp:coreProperties>
</file>