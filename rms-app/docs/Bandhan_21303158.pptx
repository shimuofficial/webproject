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5"/>
  </p:notesMasterIdLst>
  <p:handoutMasterIdLst>
    <p:handoutMasterId r:id="rId56"/>
  </p:handoutMasterIdLst>
  <p:sldIdLst>
    <p:sldId id="256" r:id="rId2"/>
    <p:sldId id="257" r:id="rId3"/>
    <p:sldId id="258" r:id="rId4"/>
    <p:sldId id="259" r:id="rId5"/>
    <p:sldId id="260" r:id="rId6"/>
    <p:sldId id="261" r:id="rId7"/>
    <p:sldId id="262" r:id="rId8"/>
    <p:sldId id="311" r:id="rId9"/>
    <p:sldId id="263" r:id="rId10"/>
    <p:sldId id="264" r:id="rId11"/>
    <p:sldId id="265" r:id="rId12"/>
    <p:sldId id="266" r:id="rId13"/>
    <p:sldId id="268" r:id="rId14"/>
    <p:sldId id="269" r:id="rId15"/>
    <p:sldId id="270" r:id="rId16"/>
    <p:sldId id="271" r:id="rId17"/>
    <p:sldId id="312" r:id="rId18"/>
    <p:sldId id="272" r:id="rId19"/>
    <p:sldId id="273" r:id="rId20"/>
    <p:sldId id="274" r:id="rId21"/>
    <p:sldId id="275" r:id="rId22"/>
    <p:sldId id="276" r:id="rId23"/>
    <p:sldId id="277" r:id="rId24"/>
    <p:sldId id="278" r:id="rId25"/>
    <p:sldId id="279" r:id="rId26"/>
    <p:sldId id="280" r:id="rId27"/>
    <p:sldId id="281"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5" r:id="rId49"/>
    <p:sldId id="306" r:id="rId50"/>
    <p:sldId id="307" r:id="rId51"/>
    <p:sldId id="308" r:id="rId52"/>
    <p:sldId id="309" r:id="rId53"/>
    <p:sldId id="310" r:id="rId54"/>
  </p:sldIdLst>
  <p:sldSz cx="18288000" cy="10287000"/>
  <p:notesSz cx="6858000" cy="9144000"/>
  <p:embeddedFontLst>
    <p:embeddedFont>
      <p:font typeface="Arial Nova Bold" panose="020B0604020202020204" charset="0"/>
      <p:regular r:id="rId57"/>
    </p:embeddedFont>
    <p:embeddedFont>
      <p:font typeface="Montserrat" panose="00000500000000000000" pitchFamily="2" charset="0"/>
      <p:regular r:id="rId58"/>
      <p:bold r:id="rId59"/>
      <p:italic r:id="rId60"/>
      <p:boldItalic r:id="rId61"/>
    </p:embeddedFont>
    <p:embeddedFont>
      <p:font typeface="Montserrat Bold" panose="00000800000000000000" charset="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font" Target="fonts/font1.fntdata"/><Relationship Id="rId58" Type="http://schemas.openxmlformats.org/officeDocument/2006/relationships/font" Target="fonts/font2.fntdata"/><Relationship Id="rId59" Type="http://schemas.openxmlformats.org/officeDocument/2006/relationships/font" Target="fonts/font3.fntdata"/><Relationship Id="rId60" Type="http://schemas.openxmlformats.org/officeDocument/2006/relationships/font" Target="fonts/font4.fntdata"/><Relationship Id="rId61" Type="http://schemas.openxmlformats.org/officeDocument/2006/relationships/font" Target="fonts/font5.fntdata"/><Relationship Id="rId62" Type="http://schemas.openxmlformats.org/officeDocument/2006/relationships/font" Target="fonts/font6.fntdata"/><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9A59F7-46A8-0FB1-0316-BE9DBF3C48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932B7AC-8AD6-DA01-8592-698AC67DF5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71A61E-F4C5-439E-862B-E15002FD94EC}" type="datetimeFigureOut">
              <a:rPr lang="en-US" smtClean="0"/>
              <a:t>10/4/2025</a:t>
            </a:fld>
            <a:endParaRPr lang="en-US"/>
          </a:p>
        </p:txBody>
      </p:sp>
      <p:sp>
        <p:nvSpPr>
          <p:cNvPr id="4" name="Footer Placeholder 3">
            <a:extLst>
              <a:ext uri="{FF2B5EF4-FFF2-40B4-BE49-F238E27FC236}">
                <a16:creationId xmlns:a16="http://schemas.microsoft.com/office/drawing/2014/main" id="{FF3A397B-CEE0-A6D9-B2B0-DA0EFF5532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a:extLst>
              <a:ext uri="{FF2B5EF4-FFF2-40B4-BE49-F238E27FC236}">
                <a16:creationId xmlns:a16="http://schemas.microsoft.com/office/drawing/2014/main" id="{F72C6E88-A823-8511-B7B3-136871A12B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E94675-92C6-47AF-A2B3-835E1E61262B}" type="slidenum">
              <a:rPr lang="en-US" smtClean="0"/>
              <a:t>‹#›</a:t>
            </a:fld>
            <a:endParaRPr lang="en-US"/>
          </a:p>
        </p:txBody>
      </p:sp>
    </p:spTree>
    <p:extLst>
      <p:ext uri="{BB962C8B-B14F-4D97-AF65-F5344CB8AC3E}">
        <p14:creationId xmlns:p14="http://schemas.microsoft.com/office/powerpoint/2010/main" val="248240827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E7EBF-9357-4930-BA09-DE0B11E0A30A}"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1FCB0-7523-4D7A-929D-87D615253F2C}" type="slidenum">
              <a:rPr lang="en-US" smtClean="0"/>
              <a:t>‹#›</a:t>
            </a:fld>
            <a:endParaRPr lang="en-US"/>
          </a:p>
        </p:txBody>
      </p:sp>
    </p:spTree>
    <p:extLst>
      <p:ext uri="{BB962C8B-B14F-4D97-AF65-F5344CB8AC3E}">
        <p14:creationId xmlns:p14="http://schemas.microsoft.com/office/powerpoint/2010/main" val="51467525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9607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F1BA72-EE23-4FF4-91BA-D6B543D5471B}" type="datetime1">
              <a:rPr lang="en-US" smtClean="0"/>
              <a:t>10/4/2025</a:t>
            </a:fld>
            <a:endParaRPr lang="en-US"/>
          </a:p>
        </p:txBody>
      </p:sp>
      <p:sp>
        <p:nvSpPr>
          <p:cNvPr id="5" name="Footer Placeholder 4"/>
          <p:cNvSpPr>
            <a:spLocks noGrp="1"/>
          </p:cNvSpPr>
          <p:nvPr>
            <p:ph type="ftr" sz="quarter" idx="11"/>
          </p:nvPr>
        </p:nvSpPr>
        <p:spPr>
          <a:xfrm>
            <a:off x="7239000" y="9895257"/>
            <a:ext cx="2895600" cy="365125"/>
          </a:xfrm>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5D3346-7563-4B59-AE26-F9131E449633}"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64BED-4FFC-40AE-A923-FDDAD087BC1D}"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9B2A54-3C2B-449A-8E78-6B879B4E3BBA}"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A5374D-0866-46AC-A77F-E167739A68F9}" type="datetime1">
              <a:rPr lang="en-US" smtClean="0"/>
              <a:t>10/4/2025</a:t>
            </a:fld>
            <a:endParaRPr lang="en-US"/>
          </a:p>
        </p:txBody>
      </p:sp>
      <p:sp>
        <p:nvSpPr>
          <p:cNvPr id="8" name="Footer Placeholder 7"/>
          <p:cNvSpPr>
            <a:spLocks noGrp="1"/>
          </p:cNvSpPr>
          <p:nvPr>
            <p:ph type="ftr" sz="quarter" idx="11"/>
          </p:nvPr>
        </p:nvSpPr>
        <p:spPr/>
        <p:txBody>
          <a:bodyPr/>
          <a:lstStyle/>
          <a:p>
            <a:r>
              <a:rPr lang="en-US"/>
              <a: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A4B2BD-A85C-4A03-80CC-57A1AF2AD00B}" type="datetime1">
              <a:rPr lang="en-US" smtClean="0"/>
              <a:t>10/4/2025</a:t>
            </a:fld>
            <a:endParaRPr lang="en-US"/>
          </a:p>
        </p:txBody>
      </p:sp>
      <p:sp>
        <p:nvSpPr>
          <p:cNvPr id="4" name="Footer Placeholder 3"/>
          <p:cNvSpPr>
            <a:spLocks noGrp="1"/>
          </p:cNvSpPr>
          <p:nvPr>
            <p:ph type="ftr" sz="quarter" idx="11"/>
          </p:nvPr>
        </p:nvSpPr>
        <p:spPr/>
        <p:txBody>
          <a:bodyPr/>
          <a:lstStyle/>
          <a:p>
            <a:r>
              <a:rPr lang="en-US"/>
              <a: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84CE2-43BB-41A3-9372-5D950AEDBF1E}" type="datetime1">
              <a:rPr lang="en-US" smtClean="0"/>
              <a:t>10/4/2025</a:t>
            </a:fld>
            <a:endParaRPr lang="en-US"/>
          </a:p>
        </p:txBody>
      </p:sp>
      <p:sp>
        <p:nvSpPr>
          <p:cNvPr id="3" name="Footer Placeholder 2"/>
          <p:cNvSpPr>
            <a:spLocks noGrp="1"/>
          </p:cNvSpPr>
          <p:nvPr>
            <p:ph type="ftr" sz="quarter" idx="11"/>
          </p:nvPr>
        </p:nvSpPr>
        <p:spPr>
          <a:xfrm>
            <a:off x="7848600" y="9867899"/>
            <a:ext cx="2895600" cy="365125"/>
          </a:xfrm>
        </p:spPr>
        <p:txBody>
          <a:bodyPr/>
          <a:lstStyle>
            <a:lvl1pPr>
              <a:defRPr sz="1600" b="1"/>
            </a:lvl1pPr>
          </a:lstStyle>
          <a:p>
            <a:r>
              <a:rPr lang="en-US" dirty="0"/>
              <a:t>1</a:t>
            </a:r>
          </a:p>
        </p:txBody>
      </p:sp>
      <p:sp>
        <p:nvSpPr>
          <p:cNvPr id="4" name="Slide Number Placeholder 3"/>
          <p:cNvSpPr>
            <a:spLocks noGrp="1"/>
          </p:cNvSpPr>
          <p:nvPr>
            <p:ph type="sldNum" sz="quarter" idx="12"/>
          </p:nvPr>
        </p:nvSpPr>
        <p:spPr>
          <a:xfrm>
            <a:off x="7010400" y="9867899"/>
            <a:ext cx="2133600" cy="365125"/>
          </a:xfrm>
        </p:spPr>
        <p:txBody>
          <a:bodyPr/>
          <a:lstStyle>
            <a:lvl1pPr>
              <a:defRPr sz="1600" b="1"/>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A19615-FBC5-4AD6-918B-082A713B92DF}"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19E15F-7ABF-4A5E-8DD5-EB94158B0895}"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DF8CF5-80B6-4655-94FD-42D93F3078D0}"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2828-415A-452A-A56A-9F3C21190353}"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32646C-4FA3-4F3C-AD87-82DEFE68FBD2}" type="datetime1">
              <a:rPr lang="en-US" smtClean="0"/>
              <a:t>10/4/2025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8219854" y="9895111"/>
            <a:ext cx="1848291" cy="0"/>
          </a:xfrm>
          <a:prstGeom prst="line">
            <a:avLst/>
          </a:prstGeom>
          <a:ln w="38100" cap="flat">
            <a:solidFill>
              <a:srgbClr val="000000"/>
            </a:solidFill>
            <a:prstDash val="solid"/>
            <a:headEnd type="none" w="sm" len="sm"/>
            <a:tailEnd type="arrow" w="med" len="sm"/>
          </a:ln>
        </p:spPr>
        <p:txBody>
          <a:bodyPr/>
          <a:p/>
        </p:txBody>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p/>
        </p:txBody>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p/>
        </p:txBody>
      </p:sp>
      <p:sp>
        <p:nvSpPr>
          <p:cNvPr id="5" name="TextBox 5"/>
          <p:cNvSpPr txBox="1"/>
          <p:nvPr/>
        </p:nvSpPr>
        <p:spPr>
          <a:xfrm>
            <a:off x="3803587" y="1926839"/>
            <a:ext cx="10680827" cy="1628775"/>
          </a:xfrm>
          <a:prstGeom prst="rect">
            <a:avLst/>
          </a:prstGeom>
        </p:spPr>
        <p:txBody>
          <a:bodyPr lIns="0" tIns="0" rIns="0" bIns="0" rtlCol="0" anchor="t">
            <a:spAutoFit/>
          </a:bodyPr>
          <a:lstStyle/>
          <a:p>
            <a:r>
              <a:t>PRACTICUM DEFENSE</a:t>
            </a:r>
          </a:p>
        </p:txBody>
      </p:sp>
      <p:grpSp>
        <p:nvGrpSpPr>
          <p:cNvPr id="6" name="Group 6"/>
          <p:cNvGrpSpPr/>
          <p:nvPr/>
        </p:nvGrpSpPr>
        <p:grpSpPr>
          <a:xfrm>
            <a:off x="4722264" y="7423851"/>
            <a:ext cx="8843472" cy="1100980"/>
            <a:chOff x="0" y="0"/>
            <a:chExt cx="2609622" cy="324888"/>
          </a:xfrm>
        </p:grpSpPr>
        <p:sp>
          <p:nvSpPr>
            <p:cNvPr id="7" name="Freeform 7"/>
            <p:cNvSpPr/>
            <p:nvPr/>
          </p:nvSpPr>
          <p:spPr>
            <a:xfrm>
              <a:off x="0" y="0"/>
              <a:ext cx="2609622" cy="324888"/>
            </a:xfrm>
            <a:custGeom>
              <a:avLst/>
              <a:gdLst/>
              <a:ahLst/>
              <a:cxnLst/>
              <a:rect l="l" t="t" r="r" b="b"/>
              <a:pathLst>
                <a:path w="2609622" h="324888">
                  <a:moveTo>
                    <a:pt x="44647" y="0"/>
                  </a:moveTo>
                  <a:lnTo>
                    <a:pt x="2564975" y="0"/>
                  </a:lnTo>
                  <a:cubicBezTo>
                    <a:pt x="2589633" y="0"/>
                    <a:pt x="2609622" y="19989"/>
                    <a:pt x="2609622" y="44647"/>
                  </a:cubicBezTo>
                  <a:lnTo>
                    <a:pt x="2609622" y="280241"/>
                  </a:lnTo>
                  <a:cubicBezTo>
                    <a:pt x="2609622" y="304899"/>
                    <a:pt x="2589633" y="324888"/>
                    <a:pt x="2564975" y="324888"/>
                  </a:cubicBezTo>
                  <a:lnTo>
                    <a:pt x="44647" y="324888"/>
                  </a:lnTo>
                  <a:cubicBezTo>
                    <a:pt x="19989" y="324888"/>
                    <a:pt x="0" y="304899"/>
                    <a:pt x="0" y="280241"/>
                  </a:cubicBezTo>
                  <a:lnTo>
                    <a:pt x="0" y="44647"/>
                  </a:lnTo>
                  <a:cubicBezTo>
                    <a:pt x="0" y="19989"/>
                    <a:pt x="19989" y="0"/>
                    <a:pt x="44647" y="0"/>
                  </a:cubicBezTo>
                  <a:close/>
                </a:path>
              </a:pathLst>
            </a:custGeom>
            <a:solidFill>
              <a:srgbClr val="000000">
                <a:alpha val="0"/>
              </a:srgbClr>
            </a:solidFill>
            <a:ln w="19050" cap="rnd">
              <a:solidFill>
                <a:srgbClr val="01012C"/>
              </a:solidFill>
              <a:prstDash val="solid"/>
              <a:round/>
            </a:ln>
          </p:spPr>
        </p:sp>
        <p:sp>
          <p:nvSpPr>
            <p:cNvPr id="8" name="TextBox 8"/>
            <p:cNvSpPr txBox="1"/>
            <p:nvPr/>
          </p:nvSpPr>
          <p:spPr>
            <a:xfrm>
              <a:off x="0" y="85725"/>
              <a:ext cx="2609622" cy="239163"/>
            </a:xfrm>
            <a:prstGeom prst="rect">
              <a:avLst/>
            </a:prstGeom>
          </p:spPr>
          <p:txBody>
            <a:bodyPr lIns="50800" tIns="50800" rIns="50800" bIns="50800" rtlCol="0" anchor="ctr"/>
            <a:lstStyle/>
            <a:p>
              <a:pPr algn="ctr">
                <a:lnSpc>
                  <a:spcPts val="1638"/>
                </a:lnSpc>
              </a:pPr>
              <a:endParaRPr/>
            </a:p>
          </p:txBody>
        </p:sp>
      </p:grpSp>
      <p:grpSp>
        <p:nvGrpSpPr>
          <p:cNvPr id="9" name="Group 9"/>
          <p:cNvGrpSpPr/>
          <p:nvPr/>
        </p:nvGrpSpPr>
        <p:grpSpPr>
          <a:xfrm>
            <a:off x="-44069" y="4350502"/>
            <a:ext cx="5689600" cy="1007533"/>
            <a:chOff x="0" y="0"/>
            <a:chExt cx="7586133" cy="1343377"/>
          </a:xfrm>
        </p:grpSpPr>
        <p:sp>
          <p:nvSpPr>
            <p:cNvPr id="10" name="Freeform 10"/>
            <p:cNvSpPr/>
            <p:nvPr/>
          </p:nvSpPr>
          <p:spPr>
            <a:xfrm>
              <a:off x="0" y="0"/>
              <a:ext cx="7586133" cy="1343377"/>
            </a:xfrm>
            <a:custGeom>
              <a:avLst/>
              <a:gdLst/>
              <a:ahLst/>
              <a:cxnLst/>
              <a:rect l="l" t="t" r="r" b="b"/>
              <a:pathLst>
                <a:path w="7586133" h="1343377">
                  <a:moveTo>
                    <a:pt x="0" y="0"/>
                  </a:moveTo>
                  <a:lnTo>
                    <a:pt x="7586133" y="0"/>
                  </a:lnTo>
                  <a:lnTo>
                    <a:pt x="7586133" y="1343377"/>
                  </a:lnTo>
                  <a:lnTo>
                    <a:pt x="0" y="1343377"/>
                  </a:lnTo>
                  <a:close/>
                </a:path>
              </a:pathLst>
            </a:custGeom>
            <a:solidFill>
              <a:srgbClr val="000000">
                <a:alpha val="0"/>
              </a:srgbClr>
            </a:solidFill>
          </p:spPr>
        </p:sp>
        <p:sp>
          <p:nvSpPr>
            <p:cNvPr id="11" name="TextBox 11"/>
            <p:cNvSpPr txBox="1"/>
            <p:nvPr/>
          </p:nvSpPr>
          <p:spPr>
            <a:xfrm>
              <a:off x="0" y="9525"/>
              <a:ext cx="7586133" cy="1333852"/>
            </a:xfrm>
            <a:prstGeom prst="rect">
              <a:avLst/>
            </a:prstGeom>
          </p:spPr>
          <p:txBody>
            <a:bodyPr lIns="0" tIns="0" rIns="0" bIns="0" rtlCol="0" anchor="ctr"/>
            <a:lstStyle/>
            <a:p>
              <a:pPr algn="ctr">
                <a:lnSpc>
                  <a:spcPts val="5272"/>
                </a:lnSpc>
              </a:pPr>
              <a:r>
                <a:rPr lang="en-US" sz="4393" u="sng" spc="-158">
                  <a:solidFill>
                    <a:srgbClr val="01012C"/>
                  </a:solidFill>
                  <a:latin typeface="Montserrat"/>
                  <a:ea typeface="Montserrat"/>
                  <a:cs typeface="Montserrat"/>
                  <a:sym typeface="Montserrat"/>
                </a:rPr>
                <a:t>Presentation On :</a:t>
              </a:r>
            </a:p>
          </p:txBody>
        </p:sp>
      </p:grpSp>
      <p:grpSp>
        <p:nvGrpSpPr>
          <p:cNvPr id="12" name="Group 12"/>
          <p:cNvGrpSpPr/>
          <p:nvPr/>
        </p:nvGrpSpPr>
        <p:grpSpPr>
          <a:xfrm>
            <a:off x="481021" y="5242091"/>
            <a:ext cx="8662979" cy="853067"/>
            <a:chOff x="0" y="0"/>
            <a:chExt cx="11550638" cy="1137423"/>
          </a:xfrm>
        </p:grpSpPr>
        <p:sp>
          <p:nvSpPr>
            <p:cNvPr id="13" name="Freeform 13"/>
            <p:cNvSpPr/>
            <p:nvPr/>
          </p:nvSpPr>
          <p:spPr>
            <a:xfrm>
              <a:off x="0" y="0"/>
              <a:ext cx="11550638" cy="1137423"/>
            </a:xfrm>
            <a:custGeom>
              <a:avLst/>
              <a:gdLst/>
              <a:ahLst/>
              <a:cxnLst/>
              <a:rect l="l" t="t" r="r" b="b"/>
              <a:pathLst>
                <a:path w="11550638" h="1137423">
                  <a:moveTo>
                    <a:pt x="0" y="0"/>
                  </a:moveTo>
                  <a:lnTo>
                    <a:pt x="11550638" y="0"/>
                  </a:lnTo>
                  <a:lnTo>
                    <a:pt x="11550638" y="1137423"/>
                  </a:lnTo>
                  <a:lnTo>
                    <a:pt x="0" y="1137423"/>
                  </a:lnTo>
                  <a:close/>
                </a:path>
              </a:pathLst>
            </a:custGeom>
            <a:solidFill>
              <a:srgbClr val="000000">
                <a:alpha val="0"/>
              </a:srgbClr>
            </a:solidFill>
          </p:spPr>
        </p:sp>
        <p:sp>
          <p:nvSpPr>
            <p:cNvPr id="14" name="TextBox 14"/>
            <p:cNvSpPr txBox="1"/>
            <p:nvPr/>
          </p:nvSpPr>
          <p:spPr>
            <a:xfrm>
              <a:off x="0" y="0"/>
              <a:ext cx="11550638" cy="1137423"/>
            </a:xfrm>
            <a:prstGeom prst="rect">
              <a:avLst/>
            </a:prstGeom>
          </p:spPr>
          <p:txBody>
            <a:bodyPr lIns="0" tIns="0" rIns="0" bIns="0" rtlCol="0" anchor="ctr"/>
            <a:lstStyle/>
            <a:p>
              <a:pPr algn="ctr">
                <a:lnSpc>
                  <a:spcPts val="5120"/>
                </a:lnSpc>
              </a:pPr>
              <a:r>
                <a:rPr lang="en-US" sz="4266" b="1" spc="-153">
                  <a:solidFill>
                    <a:srgbClr val="01012C"/>
                  </a:solidFill>
                  <a:latin typeface="Montserrat Bold"/>
                  <a:ea typeface="Montserrat Bold"/>
                  <a:cs typeface="Montserrat Bold"/>
                  <a:sym typeface="Montserrat Bold"/>
                </a:rPr>
                <a:t>Restaurant Point of Sale System</a:t>
              </a:r>
            </a:p>
          </p:txBody>
        </p:sp>
      </p:grpSp>
      <p:sp>
        <p:nvSpPr>
          <p:cNvPr id="15" name="Freeform 15"/>
          <p:cNvSpPr/>
          <p:nvPr/>
        </p:nvSpPr>
        <p:spPr>
          <a:xfrm>
            <a:off x="16348269" y="6095158"/>
            <a:ext cx="1343135" cy="1328692"/>
          </a:xfrm>
          <a:custGeom>
            <a:avLst/>
            <a:gdLst/>
            <a:ahLst/>
            <a:cxnLst/>
            <a:rect l="l" t="t" r="r" b="b"/>
            <a:pathLst>
              <a:path w="1343135" h="1328692">
                <a:moveTo>
                  <a:pt x="0" y="0"/>
                </a:moveTo>
                <a:lnTo>
                  <a:pt x="1343135" y="0"/>
                </a:lnTo>
                <a:lnTo>
                  <a:pt x="1343135" y="1328693"/>
                </a:lnTo>
                <a:lnTo>
                  <a:pt x="0" y="1328693"/>
                </a:lnTo>
                <a:lnTo>
                  <a:pt x="0" y="0"/>
                </a:lnTo>
                <a:close/>
              </a:path>
            </a:pathLst>
          </a:custGeom>
          <a:blipFill>
            <a:blip r:embed="rId6"/>
            <a:stretch>
              <a:fillRect/>
            </a:stretch>
          </a:blipFill>
        </p:spPr>
        <p:txBody>
          <a:bodyPr/>
          <a:p/>
        </p:txBody>
      </p:sp>
      <p:sp>
        <p:nvSpPr>
          <p:cNvPr id="16" name="Freeform 16"/>
          <p:cNvSpPr/>
          <p:nvPr/>
        </p:nvSpPr>
        <p:spPr>
          <a:xfrm>
            <a:off x="717633" y="487226"/>
            <a:ext cx="1443375" cy="1443375"/>
          </a:xfrm>
          <a:custGeom>
            <a:avLst/>
            <a:gdLst/>
            <a:ahLst/>
            <a:cxnLst/>
            <a:rect l="l" t="t" r="r" b="b"/>
            <a:pathLst>
              <a:path w="1443375" h="1443375">
                <a:moveTo>
                  <a:pt x="0" y="0"/>
                </a:moveTo>
                <a:lnTo>
                  <a:pt x="1443375" y="0"/>
                </a:lnTo>
                <a:lnTo>
                  <a:pt x="1443375" y="1443374"/>
                </a:lnTo>
                <a:lnTo>
                  <a:pt x="0" y="1443374"/>
                </a:lnTo>
                <a:lnTo>
                  <a:pt x="0" y="0"/>
                </a:lnTo>
                <a:close/>
              </a:path>
            </a:pathLst>
          </a:custGeom>
          <a:blipFill>
            <a:blip r:embed="rId7"/>
            <a:stretch>
              <a:fillRect/>
            </a:stretch>
          </a:blipFill>
        </p:spPr>
        <p:txBody>
          <a:bodyPr/>
          <a:p/>
        </p:txBody>
      </p:sp>
      <p:sp>
        <p:nvSpPr>
          <p:cNvPr id="17" name="TextBox 17"/>
          <p:cNvSpPr txBox="1"/>
          <p:nvPr/>
        </p:nvSpPr>
        <p:spPr>
          <a:xfrm>
            <a:off x="2161008" y="1123950"/>
            <a:ext cx="9932213" cy="265176"/>
          </a:xfrm>
          <a:prstGeom prst="rect">
            <a:avLst/>
          </a:prstGeom>
        </p:spPr>
        <p:txBody>
          <a:bodyPr lIns="0" tIns="0" rIns="0" bIns="0" rtlCol="0" anchor="t">
            <a:spAutoFit/>
          </a:bodyPr>
          <a:lstStyle/>
          <a:p>
            <a:r>
              <a:t>EmpowerBD</a:t>
            </a:r>
          </a:p>
        </p:txBody>
      </p:sp>
      <p:sp>
        <p:nvSpPr>
          <p:cNvPr id="18" name="TextBox 18"/>
          <p:cNvSpPr txBox="1"/>
          <p:nvPr/>
        </p:nvSpPr>
        <p:spPr>
          <a:xfrm>
            <a:off x="5645531" y="7519101"/>
            <a:ext cx="6996938" cy="889574"/>
          </a:xfrm>
          <a:prstGeom prst="rect">
            <a:avLst/>
          </a:prstGeom>
        </p:spPr>
        <p:txBody>
          <a:bodyPr lIns="0" tIns="0" rIns="0" bIns="0" rtlCol="0" anchor="t">
            <a:spAutoFit/>
          </a:bodyPr>
          <a:lstStyle/>
          <a:p>
            <a:r>
              <a:t>Presentation By :</a:t>
            </a:r>
          </a:p>
          <a:p>
            <a:r>
              <a:t>[Presenter Name]</a:t>
            </a:r>
          </a:p>
        </p:txBody>
      </p:sp>
      <p:sp>
        <p:nvSpPr>
          <p:cNvPr id="19" name="TextBox 19"/>
          <p:cNvSpPr txBox="1"/>
          <p:nvPr/>
        </p:nvSpPr>
        <p:spPr>
          <a:xfrm>
            <a:off x="14902745" y="9629935"/>
            <a:ext cx="2817590" cy="265176"/>
          </a:xfrm>
          <a:prstGeom prst="rect">
            <a:avLst/>
          </a:prstGeom>
        </p:spPr>
        <p:txBody>
          <a:bodyPr lIns="0" tIns="0" rIns="0" bIns="0" rtlCol="0" anchor="t">
            <a:spAutoFit/>
          </a:bodyPr>
          <a:lstStyle/>
          <a:p>
            <a:r>
              <a:t>May 15, 2026</a:t>
            </a:r>
          </a:p>
        </p:txBody>
      </p:sp>
      <p:sp>
        <p:nvSpPr>
          <p:cNvPr id="20" name="TextBox 20"/>
          <p:cNvSpPr txBox="1"/>
          <p:nvPr/>
        </p:nvSpPr>
        <p:spPr>
          <a:xfrm>
            <a:off x="14902745" y="4118039"/>
            <a:ext cx="3280753" cy="1804035"/>
          </a:xfrm>
          <a:prstGeom prst="rect">
            <a:avLst/>
          </a:prstGeom>
        </p:spPr>
        <p:txBody>
          <a:bodyPr lIns="0" tIns="0" rIns="0" bIns="0" rtlCol="0" anchor="t">
            <a:spAutoFit/>
          </a:bodyPr>
          <a:lstStyle/>
          <a:p>
            <a:r>
              <a:t>Assistant Professor</a:t>
            </a:r>
          </a:p>
        </p:txBody>
      </p:sp>
      <p:sp>
        <p:nvSpPr>
          <p:cNvPr id="21" name="TextBox 21"/>
          <p:cNvSpPr txBox="1"/>
          <p:nvPr/>
        </p:nvSpPr>
        <p:spPr>
          <a:xfrm>
            <a:off x="11621992" y="5504081"/>
            <a:ext cx="6561506" cy="277495"/>
          </a:xfrm>
          <a:prstGeom prst="rect">
            <a:avLst/>
          </a:prstGeom>
        </p:spPr>
        <p:txBody>
          <a:bodyPr lIns="0" tIns="0" rIns="0" bIns="0" rtlCol="0" anchor="t">
            <a:spAutoFit/>
          </a:bodyPr>
          <a:lstStyle/>
          <a:p>
            <a:r>
              <a:t>Department of Computer Science &amp; Engineering</a:t>
            </a:r>
          </a:p>
        </p:txBody>
      </p:sp>
      <p:sp>
        <p:nvSpPr>
          <p:cNvPr id="22" name="TextBox 22"/>
          <p:cNvSpPr txBox="1"/>
          <p:nvPr/>
        </p:nvSpPr>
        <p:spPr>
          <a:xfrm>
            <a:off x="15894497" y="4146614"/>
            <a:ext cx="2316510" cy="396240"/>
          </a:xfrm>
          <a:prstGeom prst="rect">
            <a:avLst/>
          </a:prstGeom>
        </p:spPr>
        <p:txBody>
          <a:bodyPr lIns="0" tIns="0" rIns="0" bIns="0" rtlCol="0" anchor="t">
            <a:spAutoFit/>
          </a:bodyPr>
          <a:lstStyle/>
          <a:p>
            <a:r>
              <a:t>Supervised By :</a:t>
            </a:r>
          </a:p>
        </p:txBody>
      </p:sp>
      <p:sp>
        <p:nvSpPr>
          <p:cNvPr id="23" name="TextBox 23"/>
          <p:cNvSpPr txBox="1"/>
          <p:nvPr/>
        </p:nvSpPr>
        <p:spPr>
          <a:xfrm>
            <a:off x="5645531" y="8953385"/>
            <a:ext cx="6996938" cy="318074"/>
          </a:xfrm>
          <a:prstGeom prst="rect">
            <a:avLst/>
          </a:prstGeom>
        </p:spPr>
        <p:txBody>
          <a:bodyPr lIns="0" tIns="0" rIns="0" bIns="0" rtlCol="0" anchor="t">
            <a:spAutoFit/>
          </a:bodyPr>
          <a:lstStyle/>
          <a:p>
            <a:r>
              <a:t>ID : 21303158</a:t>
            </a:r>
          </a:p>
        </p:txBody>
      </p:sp>
      <p:sp>
        <p:nvSpPr>
          <p:cNvPr id="34" name="Slide Number Placeholder 33">
            <a:extLst>
              <a:ext uri="{FF2B5EF4-FFF2-40B4-BE49-F238E27FC236}">
                <a16:creationId xmlns:a16="http://schemas.microsoft.com/office/drawing/2014/main" id="{E71EB885-8B31-E606-D1AA-05B11EEF5FE2}"/>
              </a:ext>
            </a:extLst>
          </p:cNvPr>
          <p:cNvSpPr>
            <a:spLocks noGrp="1"/>
          </p:cNvSpPr>
          <p:nvPr>
            <p:ph type="sldNum" sz="quarter" idx="12"/>
          </p:nvPr>
        </p:nvSpPr>
        <p:spPr/>
        <p:txBody>
          <a:bodyPr/>
          <a:lstStyle/>
          <a:p>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803586" y="1104900"/>
            <a:ext cx="10680827" cy="1127124"/>
          </a:xfrm>
          <a:prstGeom prst="rect">
            <a:avLst/>
          </a:prstGeom>
        </p:spPr>
        <p:txBody>
          <a:bodyPr lIns="0" tIns="0" rIns="0" bIns="0" rtlCol="0" anchor="t">
            <a:spAutoFit/>
          </a:bodyPr>
          <a:lstStyle/>
          <a:p>
            <a:r>
              <a:t>TOPICS</a:t>
            </a:r>
          </a:p>
        </p:txBody>
      </p:sp>
      <p:sp>
        <p:nvSpPr>
          <p:cNvPr id="3" name="TextBox 3"/>
          <p:cNvSpPr txBox="1"/>
          <p:nvPr/>
        </p:nvSpPr>
        <p:spPr>
          <a:xfrm>
            <a:off x="15026845" y="9729046"/>
            <a:ext cx="2817590" cy="227330"/>
          </a:xfrm>
          <a:prstGeom prst="rect">
            <a:avLst/>
          </a:prstGeom>
        </p:spPr>
        <p:txBody>
          <a:bodyPr lIns="0" tIns="0" rIns="0" bIns="0" rtlCol="0" anchor="t">
            <a:spAutoFit/>
          </a:bodyPr>
          <a:lstStyle/>
          <a:p>
            <a:r>
              <a:t>May 15, 2026</a:t>
            </a:r>
          </a:p>
        </p:txBody>
      </p:sp>
      <p:sp>
        <p:nvSpPr>
          <p:cNvPr id="4" name="TextBox 4"/>
          <p:cNvSpPr txBox="1"/>
          <p:nvPr/>
        </p:nvSpPr>
        <p:spPr>
          <a:xfrm>
            <a:off x="1600200" y="3116082"/>
            <a:ext cx="5358110" cy="6612964"/>
          </a:xfrm>
          <a:prstGeom prst="rect">
            <a:avLst/>
          </a:prstGeom>
        </p:spPr>
        <p:txBody>
          <a:bodyPr lIns="0" tIns="0" rIns="0" bIns="0" rtlCol="0" anchor="t">
            <a:spAutoFit/>
          </a:bodyPr>
          <a:lstStyle/>
          <a:p>
            <a:r>
              <a:t>Introduction</a:t>
            </a:r>
          </a:p>
          <a:p>
            <a:r>
              <a:t>Project Overview</a:t>
            </a:r>
          </a:p>
          <a:p>
            <a:r>
              <a:t>Process Model</a:t>
            </a:r>
          </a:p>
          <a:p>
            <a:r>
              <a:t>Requirement Engineering</a:t>
            </a:r>
          </a:p>
          <a:p>
            <a:r>
              <a:t>System Planning</a:t>
            </a:r>
          </a:p>
          <a:p>
            <a:r>
              <a:t>Risk Management</a:t>
            </a:r>
          </a:p>
          <a:p>
            <a:r>
              <a:t>Cost Estimation</a:t>
            </a:r>
          </a:p>
          <a:p>
            <a:r>
              <a:t>Designing / Analysis Modeling</a:t>
            </a:r>
          </a:p>
          <a:p>
            <a:r>
              <a:t>Demonstration</a:t>
            </a:r>
          </a:p>
          <a:p>
            <a:r>
              <a:t>Limitation</a:t>
            </a:r>
          </a:p>
          <a:p>
            <a:r>
              <a:t>Future Plan</a:t>
            </a:r>
          </a:p>
          <a:p>
            <a:r>
              <a:t>Conclusion</a:t>
            </a:r>
          </a:p>
        </p:txBody>
      </p:sp>
      <p:sp>
        <p:nvSpPr>
          <p:cNvPr id="15" name="Slide Number Placeholder 14">
            <a:extLst>
              <a:ext uri="{FF2B5EF4-FFF2-40B4-BE49-F238E27FC236}">
                <a16:creationId xmlns:a16="http://schemas.microsoft.com/office/drawing/2014/main" id="{A115C470-DFE1-B4EF-14B8-6407384ED3C0}"/>
              </a:ext>
            </a:extLst>
          </p:cNvPr>
          <p:cNvSpPr>
            <a:spLocks noGrp="1"/>
          </p:cNvSpPr>
          <p:nvPr>
            <p:ph type="sldNum" sz="quarter" idx="12"/>
          </p:nvPr>
        </p:nvSpPr>
        <p:spPr/>
        <p:txBody>
          <a:bodyPr/>
          <a:lstStyle/>
          <a:p>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5" name="Freeform 5"/>
          <p:cNvSpPr/>
          <p:nvPr/>
        </p:nvSpPr>
        <p:spPr>
          <a:xfrm>
            <a:off x="1235199" y="2045296"/>
            <a:ext cx="5713169" cy="1428292"/>
          </a:xfrm>
          <a:custGeom>
            <a:avLst/>
            <a:gdLst/>
            <a:ahLst/>
            <a:cxnLst/>
            <a:rect l="l" t="t" r="r" b="b"/>
            <a:pathLst>
              <a:path w="5713169" h="1428292">
                <a:moveTo>
                  <a:pt x="0" y="0"/>
                </a:moveTo>
                <a:lnTo>
                  <a:pt x="5713169" y="0"/>
                </a:lnTo>
                <a:lnTo>
                  <a:pt x="5713169" y="1428292"/>
                </a:lnTo>
                <a:lnTo>
                  <a:pt x="0" y="1428292"/>
                </a:lnTo>
                <a:lnTo>
                  <a:pt x="0" y="0"/>
                </a:lnTo>
                <a:close/>
              </a:path>
            </a:pathLst>
          </a:custGeom>
          <a:blipFill>
            <a:blip r:embed="rId2"/>
            <a:stretch>
              <a:fillRect/>
            </a:stretch>
          </a:blipFill>
        </p:spPr>
        <p:txBody>
          <a:bodyPr/>
          <a:p/>
        </p:txBody>
      </p:sp>
      <p:sp>
        <p:nvSpPr>
          <p:cNvPr id="6" name="TextBox 6"/>
          <p:cNvSpPr txBox="1"/>
          <p:nvPr/>
        </p:nvSpPr>
        <p:spPr>
          <a:xfrm>
            <a:off x="4895832" y="705168"/>
            <a:ext cx="8107961" cy="989964"/>
          </a:xfrm>
          <a:prstGeom prst="rect">
            <a:avLst/>
          </a:prstGeom>
        </p:spPr>
        <p:txBody>
          <a:bodyPr lIns="0" tIns="0" rIns="0" bIns="0" rtlCol="0" anchor="t">
            <a:spAutoFit/>
          </a:bodyPr>
          <a:lstStyle/>
          <a:p>
            <a:r>
              <a:t>ORGANIZATION</a:t>
            </a:r>
          </a:p>
        </p:txBody>
      </p:sp>
      <p:sp>
        <p:nvSpPr>
          <p:cNvPr id="7" name="TextBox 7"/>
          <p:cNvSpPr txBox="1"/>
          <p:nvPr/>
        </p:nvSpPr>
        <p:spPr>
          <a:xfrm>
            <a:off x="10109106" y="957123"/>
            <a:ext cx="7880443" cy="6066020"/>
          </a:xfrm>
          <a:prstGeom prst="rect">
            <a:avLst/>
          </a:prstGeom>
        </p:spPr>
        <p:txBody>
          <a:bodyPr lIns="0" tIns="0" rIns="0" bIns="0" rtlCol="0" anchor="t">
            <a:spAutoFit/>
          </a:bodyPr>
          <a:lstStyle/>
          <a:p>
            <a:r>
              <a:t>EmpowerBD</a:t>
            </a:r>
            <a:br/>
            <a:r>
              <a:t>Restaurant Management System Project</a:t>
            </a:r>
            <a:br/>
            <a:br/>
            <a:r>
              <a:t>A comprehensive web-based solution for automating restaurant operations, managing orders, inventory, kitchen workflows, and providing real-time reporting for business insights.</a:t>
            </a:r>
          </a:p>
        </p:txBody>
      </p:sp>
      <p:sp>
        <p:nvSpPr>
          <p:cNvPr id="8" name="TextBox 8"/>
          <p:cNvSpPr txBox="1"/>
          <p:nvPr/>
        </p:nvSpPr>
        <p:spPr>
          <a:xfrm>
            <a:off x="532919" y="3766603"/>
            <a:ext cx="7449692" cy="6457950"/>
          </a:xfrm>
          <a:prstGeom prst="rect">
            <a:avLst/>
          </a:prstGeom>
        </p:spPr>
        <p:txBody>
          <a:bodyPr lIns="0" tIns="0" rIns="0" bIns="0" rtlCol="0" anchor="t">
            <a:spAutoFit/>
          </a:bodyPr>
          <a:lstStyle/>
          <a:p>
            <a:r>
              <a:t>EmpowerBD</a:t>
            </a:r>
            <a:br/>
            <a:r>
              <a:t>Restaurant Management System Project</a:t>
            </a:r>
            <a:br/>
            <a:br/>
            <a:r>
              <a:t>A comprehensive web-based solution for automating restaurant operations, managing orders, inventory, kitchen workflows, and providing real-time reporting for business insights.</a:t>
            </a:r>
          </a:p>
        </p:txBody>
      </p:sp>
      <p:sp>
        <p:nvSpPr>
          <p:cNvPr id="9" name="TextBox 9"/>
          <p:cNvSpPr txBox="1"/>
          <p:nvPr/>
        </p:nvSpPr>
        <p:spPr>
          <a:xfrm>
            <a:off x="10109106" y="7580629"/>
            <a:ext cx="8025558" cy="2266950"/>
          </a:xfrm>
          <a:prstGeom prst="rect">
            <a:avLst/>
          </a:prstGeom>
        </p:spPr>
        <p:txBody>
          <a:bodyPr lIns="0" tIns="0" rIns="0" bIns="0" rtlCol="0" anchor="t">
            <a:spAutoFit/>
          </a:bodyPr>
          <a:lstStyle/>
          <a:p>
            <a:r>
              <a:t>EmpowerBD — Restaurant Management System</a:t>
            </a:r>
            <a:br/>
            <a:r>
              <a:t>Developed: May 2026</a:t>
            </a:r>
            <a:br/>
            <a:r>
              <a:t>Technology Stack: Laravel 11, PHP 8.2+, MySQL, Blade Templates</a:t>
            </a:r>
            <a:br/>
            <a:r>
              <a:t>Contact: contact@empowerbd.com</a:t>
            </a:r>
          </a:p>
        </p:txBody>
      </p:sp>
      <p:sp>
        <p:nvSpPr>
          <p:cNvPr id="17" name="Slide Number Placeholder 16">
            <a:extLst>
              <a:ext uri="{FF2B5EF4-FFF2-40B4-BE49-F238E27FC236}">
                <a16:creationId xmlns:a16="http://schemas.microsoft.com/office/drawing/2014/main" id="{89ECEA78-F949-A03B-6DDC-F5ED4E9DC400}"/>
              </a:ext>
            </a:extLst>
          </p:cNvPr>
          <p:cNvSpPr>
            <a:spLocks noGrp="1"/>
          </p:cNvSpPr>
          <p:nvPr>
            <p:ph type="sldNum" sz="quarter" idx="12"/>
          </p:nvPr>
        </p:nvSpPr>
        <p:spPr/>
        <p:txBody>
          <a:bodyPr/>
          <a:lstStyle/>
          <a:p>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6128606" y="9906000"/>
            <a:ext cx="1848291" cy="0"/>
          </a:xfrm>
          <a:prstGeom prst="line">
            <a:avLst/>
          </a:prstGeom>
          <a:ln w="38100" cap="flat">
            <a:solidFill>
              <a:srgbClr val="000000"/>
            </a:solidFill>
            <a:prstDash val="solid"/>
            <a:headEnd type="none" w="sm" len="sm"/>
            <a:tailEnd type="arrow" w="med" len="sm"/>
          </a:ln>
        </p:spPr>
        <p:txBody>
          <a:bodyPr/>
          <a:p/>
        </p:txBody>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p/>
        </p:txBody>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p/>
        </p:txBody>
      </p:sp>
      <p:sp>
        <p:nvSpPr>
          <p:cNvPr id="5" name="Freeform 5"/>
          <p:cNvSpPr/>
          <p:nvPr/>
        </p:nvSpPr>
        <p:spPr>
          <a:xfrm>
            <a:off x="12666350" y="5088271"/>
            <a:ext cx="3769290" cy="3809603"/>
          </a:xfrm>
          <a:custGeom>
            <a:avLst/>
            <a:gdLst/>
            <a:ahLst/>
            <a:cxnLst/>
            <a:rect l="l" t="t" r="r" b="b"/>
            <a:pathLst>
              <a:path w="3769290" h="3809603">
                <a:moveTo>
                  <a:pt x="0" y="0"/>
                </a:moveTo>
                <a:lnTo>
                  <a:pt x="3769289" y="0"/>
                </a:lnTo>
                <a:lnTo>
                  <a:pt x="3769289" y="3809603"/>
                </a:lnTo>
                <a:lnTo>
                  <a:pt x="0" y="3809603"/>
                </a:lnTo>
                <a:lnTo>
                  <a:pt x="0" y="0"/>
                </a:lnTo>
                <a:close/>
              </a:path>
            </a:pathLst>
          </a:custGeom>
          <a:blipFill>
            <a:blip r:embed="rId6">
              <a:alphaModFix amt="70000"/>
            </a:blip>
            <a:stretch>
              <a:fillRect/>
            </a:stretch>
          </a:blipFill>
        </p:spPr>
        <p:txBody>
          <a:bodyPr/>
          <a:p/>
        </p:txBody>
      </p:sp>
      <p:sp>
        <p:nvSpPr>
          <p:cNvPr id="6" name="TextBox 6"/>
          <p:cNvSpPr txBox="1"/>
          <p:nvPr/>
        </p:nvSpPr>
        <p:spPr>
          <a:xfrm>
            <a:off x="4362415" y="705168"/>
            <a:ext cx="11156604" cy="989964"/>
          </a:xfrm>
          <a:prstGeom prst="rect">
            <a:avLst/>
          </a:prstGeom>
        </p:spPr>
        <p:txBody>
          <a:bodyPr lIns="0" tIns="0" rIns="0" bIns="0" rtlCol="0" anchor="t">
            <a:spAutoFit/>
          </a:bodyPr>
          <a:lstStyle/>
          <a:p>
            <a:r>
              <a:t>PROJECT OVERVIEW</a:t>
            </a:r>
          </a:p>
        </p:txBody>
      </p:sp>
      <p:sp>
        <p:nvSpPr>
          <p:cNvPr id="8" name="TextBox 8"/>
          <p:cNvSpPr txBox="1"/>
          <p:nvPr/>
        </p:nvSpPr>
        <p:spPr>
          <a:xfrm>
            <a:off x="1028700" y="2267802"/>
            <a:ext cx="7064723" cy="6516207"/>
          </a:xfrm>
          <a:prstGeom prst="rect">
            <a:avLst/>
          </a:prstGeom>
        </p:spPr>
        <p:txBody>
          <a:bodyPr lIns="0" tIns="0" rIns="0" bIns="0" rtlCol="0" anchor="t">
            <a:spAutoFit/>
          </a:bodyPr>
          <a:lstStyle/>
          <a:p>
            <a:r>
              <a:t>"Restaurant Restaurant Management System for EmpowerBD" is responsible for managing all aspects of restaurant operations, including order management, inventory tracking, payment processing, and comprehensive reporting.</a:t>
            </a:r>
          </a:p>
          <a:p>
            <a:r>
              <a:t>This system helps restaurants automate their daily operations and eliminate manual errors that commonly occur in order taking, billing, and inventory management.</a:t>
            </a:r>
          </a:p>
          <a:p>
            <a:r>
              <a:t>The primary objective of the "Restaurant Restaurant Management System" project is to automate restaurant workflows, streamline operations, reduce processing time, and enhance overall service quality.</a:t>
            </a:r>
          </a:p>
        </p:txBody>
      </p:sp>
      <p:sp>
        <p:nvSpPr>
          <p:cNvPr id="9" name="TextBox 9"/>
          <p:cNvSpPr txBox="1"/>
          <p:nvPr/>
        </p:nvSpPr>
        <p:spPr>
          <a:xfrm>
            <a:off x="10439400" y="1850231"/>
            <a:ext cx="7268546" cy="2462213"/>
          </a:xfrm>
          <a:prstGeom prst="rect">
            <a:avLst/>
          </a:prstGeom>
        </p:spPr>
        <p:txBody>
          <a:bodyPr lIns="0" tIns="0" rIns="0" bIns="0" rtlCol="0" anchor="t">
            <a:spAutoFit/>
          </a:bodyPr>
          <a:lstStyle/>
          <a:p>
            <a:r>
              <a:t>Built with modern web technologies (React.js frontend, Laravel backend, MySQL database), the system ensures reliable performance, secure data handling, and scalable restaurant management solutions.</a:t>
            </a:r>
          </a:p>
        </p:txBody>
      </p:sp>
      <p:sp>
        <p:nvSpPr>
          <p:cNvPr id="17" name="Slide Number Placeholder 16">
            <a:extLst>
              <a:ext uri="{FF2B5EF4-FFF2-40B4-BE49-F238E27FC236}">
                <a16:creationId xmlns:a16="http://schemas.microsoft.com/office/drawing/2014/main" id="{6F5976C7-6F87-F427-0EAD-DD7CD7CD7A24}"/>
              </a:ext>
            </a:extLst>
          </p:cNvPr>
          <p:cNvSpPr>
            <a:spLocks noGrp="1"/>
          </p:cNvSpPr>
          <p:nvPr>
            <p:ph type="sldNum" sz="quarter" idx="12"/>
          </p:nvPr>
        </p:nvSpPr>
        <p:spPr/>
        <p:txBody>
          <a:bodyP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5411009" y="9953625"/>
            <a:ext cx="1848291" cy="0"/>
          </a:xfrm>
          <a:prstGeom prst="line">
            <a:avLst/>
          </a:prstGeom>
          <a:ln w="38100" cap="flat">
            <a:solidFill>
              <a:srgbClr val="000000"/>
            </a:solidFill>
            <a:prstDash val="solid"/>
            <a:headEnd type="none" w="sm" len="sm"/>
            <a:tailEnd type="arrow" w="med" len="sm"/>
          </a:ln>
        </p:spPr>
        <p:txBody>
          <a:bodyPr/>
          <a:p/>
        </p:txBody>
      </p:sp>
      <p:sp>
        <p:nvSpPr>
          <p:cNvPr id="3" name="Freeform 3"/>
          <p:cNvSpPr/>
          <p:nvPr/>
        </p:nvSpPr>
        <p:spPr>
          <a:xfrm>
            <a:off x="5684210" y="1683710"/>
            <a:ext cx="6919580" cy="6919580"/>
          </a:xfrm>
          <a:custGeom>
            <a:avLst/>
            <a:gdLst/>
            <a:ahLst/>
            <a:cxnLst/>
            <a:rect l="l" t="t" r="r" b="b"/>
            <a:pathLst>
              <a:path w="6919580" h="6919580">
                <a:moveTo>
                  <a:pt x="0" y="0"/>
                </a:moveTo>
                <a:lnTo>
                  <a:pt x="6919580" y="0"/>
                </a:lnTo>
                <a:lnTo>
                  <a:pt x="6919580" y="6919580"/>
                </a:lnTo>
                <a:lnTo>
                  <a:pt x="0" y="6919580"/>
                </a:lnTo>
                <a:lnTo>
                  <a:pt x="0" y="0"/>
                </a:lnTo>
                <a:close/>
              </a:path>
            </a:pathLst>
          </a:custGeom>
          <a:blipFill>
            <a:blip r:embed="rId2"/>
            <a:stretch>
              <a:fillRect/>
            </a:stretch>
          </a:blipFill>
        </p:spPr>
        <p:txBody>
          <a:bodyPr/>
          <a:p/>
        </p:txBody>
      </p:sp>
      <p:sp>
        <p:nvSpPr>
          <p:cNvPr id="4" name="TextBox 4"/>
          <p:cNvSpPr txBox="1"/>
          <p:nvPr/>
        </p:nvSpPr>
        <p:spPr>
          <a:xfrm>
            <a:off x="1028700" y="970344"/>
            <a:ext cx="7029171" cy="739505"/>
          </a:xfrm>
          <a:prstGeom prst="rect">
            <a:avLst/>
          </a:prstGeom>
        </p:spPr>
        <p:txBody>
          <a:bodyPr lIns="0" tIns="0" rIns="0" bIns="0" rtlCol="0" anchor="t">
            <a:spAutoFit/>
          </a:bodyPr>
          <a:lstStyle/>
          <a:p>
            <a:r>
              <a:t>PROCESS MODEL</a:t>
            </a:r>
          </a:p>
        </p:txBody>
      </p:sp>
      <p:sp>
        <p:nvSpPr>
          <p:cNvPr id="6" name="TextBox 6"/>
          <p:cNvSpPr txBox="1"/>
          <p:nvPr/>
        </p:nvSpPr>
        <p:spPr>
          <a:xfrm>
            <a:off x="7146402" y="8679490"/>
            <a:ext cx="3995196" cy="257423"/>
          </a:xfrm>
          <a:prstGeom prst="rect">
            <a:avLst/>
          </a:prstGeom>
        </p:spPr>
        <p:txBody>
          <a:bodyPr lIns="0" tIns="0" rIns="0" bIns="0" rtlCol="0" anchor="t">
            <a:spAutoFit/>
          </a:bodyPr>
          <a:lstStyle/>
          <a:p>
            <a:r>
              <a:t>Fig : Iterative Process Model</a:t>
            </a:r>
          </a:p>
        </p:txBody>
      </p:sp>
      <p:sp>
        <p:nvSpPr>
          <p:cNvPr id="14" name="Slide Number Placeholder 13">
            <a:extLst>
              <a:ext uri="{FF2B5EF4-FFF2-40B4-BE49-F238E27FC236}">
                <a16:creationId xmlns:a16="http://schemas.microsoft.com/office/drawing/2014/main" id="{B1C70E16-C685-DADC-0814-AECE873BBFC4}"/>
              </a:ext>
            </a:extLst>
          </p:cNvPr>
          <p:cNvSpPr>
            <a:spLocks noGrp="1"/>
          </p:cNvSpPr>
          <p:nvPr>
            <p:ph type="sldNum" sz="quarter" idx="12"/>
          </p:nvPr>
        </p:nvSpPr>
        <p:spPr/>
        <p:txBody>
          <a:bodyPr/>
          <a:lstStyle/>
          <a:p>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2133600" y="3953819"/>
            <a:ext cx="2745968" cy="2379360"/>
          </a:xfrm>
          <a:custGeom>
            <a:avLst/>
            <a:gdLst/>
            <a:ahLst/>
            <a:cxnLst/>
            <a:rect l="l" t="t" r="r" b="b"/>
            <a:pathLst>
              <a:path w="2745968" h="2379360">
                <a:moveTo>
                  <a:pt x="0" y="0"/>
                </a:moveTo>
                <a:lnTo>
                  <a:pt x="2745968" y="0"/>
                </a:lnTo>
                <a:lnTo>
                  <a:pt x="2745968" y="2379360"/>
                </a:lnTo>
                <a:lnTo>
                  <a:pt x="0" y="2379360"/>
                </a:lnTo>
                <a:lnTo>
                  <a:pt x="0" y="0"/>
                </a:lnTo>
                <a:close/>
              </a:path>
            </a:pathLst>
          </a:custGeom>
          <a:blipFill>
            <a:blip r:embed="rId2">
              <a:alphaModFix amt="70000"/>
            </a:blip>
            <a:stretch>
              <a:fillRect/>
            </a:stretch>
          </a:blipFill>
        </p:spPr>
        <p:txBody>
          <a:bodyPr/>
          <a:p/>
        </p:txBody>
      </p:sp>
      <p:sp>
        <p:nvSpPr>
          <p:cNvPr id="3" name="TextBox 3"/>
          <p:cNvSpPr txBox="1"/>
          <p:nvPr/>
        </p:nvSpPr>
        <p:spPr>
          <a:xfrm>
            <a:off x="1028700" y="970344"/>
            <a:ext cx="9188752" cy="753207"/>
          </a:xfrm>
          <a:prstGeom prst="rect">
            <a:avLst/>
          </a:prstGeom>
        </p:spPr>
        <p:txBody>
          <a:bodyPr lIns="0" tIns="0" rIns="0" bIns="0" rtlCol="0" anchor="t">
            <a:spAutoFit/>
          </a:bodyPr>
          <a:lstStyle/>
          <a:p>
            <a:r>
              <a:t>PROCESS MODEL CONT...</a:t>
            </a:r>
          </a:p>
        </p:txBody>
      </p:sp>
      <p:sp>
        <p:nvSpPr>
          <p:cNvPr id="5" name="TextBox 5"/>
          <p:cNvSpPr txBox="1"/>
          <p:nvPr/>
        </p:nvSpPr>
        <p:spPr>
          <a:xfrm>
            <a:off x="1709938" y="2637155"/>
            <a:ext cx="3913138" cy="403059"/>
          </a:xfrm>
          <a:prstGeom prst="rect">
            <a:avLst/>
          </a:prstGeom>
        </p:spPr>
        <p:txBody>
          <a:bodyPr lIns="0" tIns="0" rIns="0" bIns="0" rtlCol="0" anchor="t">
            <a:spAutoFit/>
          </a:bodyPr>
          <a:lstStyle/>
          <a:p>
            <a:r>
              <a:t>Why the Iterative Model?</a:t>
            </a:r>
          </a:p>
        </p:txBody>
      </p:sp>
      <p:sp>
        <p:nvSpPr>
          <p:cNvPr id="9" name="TextBox 8">
            <a:extLst>
              <a:ext uri="{FF2B5EF4-FFF2-40B4-BE49-F238E27FC236}">
                <a16:creationId xmlns:a16="http://schemas.microsoft.com/office/drawing/2014/main" id="{CB647BE4-E887-7050-C8F1-1CAF3A2DF9B7}"/>
              </a:ext>
            </a:extLst>
          </p:cNvPr>
          <p:cNvSpPr txBox="1"/>
          <p:nvPr/>
        </p:nvSpPr>
        <p:spPr>
          <a:xfrm>
            <a:off x="7391400" y="2360526"/>
            <a:ext cx="10896600" cy="5565947"/>
          </a:xfrm>
          <a:prstGeom prst="rect">
            <a:avLst/>
          </a:prstGeom>
          <a:noFill/>
        </p:spPr>
        <p:txBody>
          <a:bodyPr wrap="square">
            <a:spAutoFit/>
          </a:bodyPr>
          <a:lstStyle/>
          <a:p>
            <a:r>
              <a:t>Quick Response - Stakeholders can test each module independently.</a:t>
            </a:r>
          </a:p>
          <a:p>
            <a:r>
              <a:t>Lower Risk - Thorough testing before integration reduces development failures.</a:t>
            </a:r>
          </a:p>
          <a:p>
            <a:r>
              <a:t>Fast Delivery - Working modules generated quickly during development cycle.</a:t>
            </a:r>
          </a:p>
          <a:p>
            <a:r>
              <a:t>Flexible Changes - Modify individual modules without system-wide impact.</a:t>
            </a:r>
          </a:p>
          <a:p>
            <a:r>
              <a:t>Easy Error Fixes - Isolated testing identifies problems before integration.</a:t>
            </a:r>
          </a:p>
          <a:p>
            <a:r>
              <a:t>Early Working Features - Restaurant can use Restaurant Management System functions immediately.</a:t>
            </a:r>
          </a:p>
          <a:p>
            <a:r>
              <a:t>Staff Feedback - Real user input after each iteration improves usability.</a:t>
            </a:r>
          </a:p>
          <a:p>
            <a:r>
              <a:t>Validated Accuracy - Multiple testing cycles ensure critical Restaurant Management System requirements.</a:t>
            </a:r>
          </a:p>
          <a:p>
            <a:r>
              <a:t>Manageable Phases - Complex workflows broken into smaller development tasks.</a:t>
            </a:r>
          </a:p>
          <a:p>
            <a:r>
              <a:t>Gradual Deployment - Core features first, advanced features added later.</a:t>
            </a:r>
          </a:p>
        </p:txBody>
      </p:sp>
      <p:sp>
        <p:nvSpPr>
          <p:cNvPr id="14" name="Slide Number Placeholder 13">
            <a:extLst>
              <a:ext uri="{FF2B5EF4-FFF2-40B4-BE49-F238E27FC236}">
                <a16:creationId xmlns:a16="http://schemas.microsoft.com/office/drawing/2014/main" id="{10376461-1049-6652-5CF9-79A6A1FA9AA7}"/>
              </a:ext>
            </a:extLst>
          </p:cNvPr>
          <p:cNvSpPr>
            <a:spLocks noGrp="1"/>
          </p:cNvSpPr>
          <p:nvPr>
            <p:ph type="sldNum" sz="quarter" idx="12"/>
          </p:nvPr>
        </p:nvSpPr>
        <p:spPr/>
        <p:txBody>
          <a:bodyPr/>
          <a:lstStyle/>
          <a:p>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Freeform 3"/>
          <p:cNvSpPr/>
          <p:nvPr/>
        </p:nvSpPr>
        <p:spPr>
          <a:xfrm>
            <a:off x="16154400" y="643795"/>
            <a:ext cx="1560056" cy="2036410"/>
          </a:xfrm>
          <a:custGeom>
            <a:avLst/>
            <a:gdLst/>
            <a:ahLst/>
            <a:cxnLst/>
            <a:rect l="l" t="t" r="r" b="b"/>
            <a:pathLst>
              <a:path w="1560056" h="2036410">
                <a:moveTo>
                  <a:pt x="0" y="0"/>
                </a:moveTo>
                <a:lnTo>
                  <a:pt x="1560056" y="0"/>
                </a:lnTo>
                <a:lnTo>
                  <a:pt x="1560056" y="2036410"/>
                </a:lnTo>
                <a:lnTo>
                  <a:pt x="0" y="2036410"/>
                </a:lnTo>
                <a:lnTo>
                  <a:pt x="0" y="0"/>
                </a:lnTo>
                <a:close/>
              </a:path>
            </a:pathLst>
          </a:custGeom>
          <a:blipFill>
            <a:blip r:embed="rId2"/>
            <a:stretch>
              <a:fillRect/>
            </a:stretch>
          </a:blipFill>
        </p:spPr>
        <p:txBody>
          <a:bodyPr/>
          <a:p/>
        </p:txBody>
      </p:sp>
      <p:sp>
        <p:nvSpPr>
          <p:cNvPr id="4" name="TextBox 4"/>
          <p:cNvSpPr txBox="1"/>
          <p:nvPr/>
        </p:nvSpPr>
        <p:spPr>
          <a:xfrm>
            <a:off x="4549624" y="800100"/>
            <a:ext cx="9188752" cy="658000"/>
          </a:xfrm>
          <a:prstGeom prst="rect">
            <a:avLst/>
          </a:prstGeom>
        </p:spPr>
        <p:txBody>
          <a:bodyPr lIns="0" tIns="0" rIns="0" bIns="0" rtlCol="0" anchor="t">
            <a:spAutoFit/>
          </a:bodyPr>
          <a:lstStyle/>
          <a:p>
            <a:r>
              <a:t>REQUIREMENT ENGINEERING</a:t>
            </a:r>
          </a:p>
        </p:txBody>
      </p:sp>
      <p:sp>
        <p:nvSpPr>
          <p:cNvPr id="6" name="TextBox 6"/>
          <p:cNvSpPr txBox="1"/>
          <p:nvPr/>
        </p:nvSpPr>
        <p:spPr>
          <a:xfrm>
            <a:off x="0" y="2678548"/>
            <a:ext cx="4800600" cy="421847"/>
          </a:xfrm>
          <a:prstGeom prst="rect">
            <a:avLst/>
          </a:prstGeom>
        </p:spPr>
        <p:txBody>
          <a:bodyPr wrap="square" lIns="0" tIns="0" rIns="0" bIns="0" rtlCol="0" anchor="t">
            <a:spAutoFit/>
          </a:bodyPr>
          <a:lstStyle/>
          <a:p>
            <a:r>
              <a:t>User Requirements</a:t>
            </a:r>
          </a:p>
        </p:txBody>
      </p:sp>
      <p:sp>
        <p:nvSpPr>
          <p:cNvPr id="10" name="TextBox 9">
            <a:extLst>
              <a:ext uri="{FF2B5EF4-FFF2-40B4-BE49-F238E27FC236}">
                <a16:creationId xmlns:a16="http://schemas.microsoft.com/office/drawing/2014/main" id="{94AD847A-0F42-26ED-83E7-D52368E40E87}"/>
              </a:ext>
            </a:extLst>
          </p:cNvPr>
          <p:cNvSpPr txBox="1"/>
          <p:nvPr/>
        </p:nvSpPr>
        <p:spPr>
          <a:xfrm>
            <a:off x="2819400" y="3750831"/>
            <a:ext cx="5902187" cy="526811"/>
          </a:xfrm>
          <a:prstGeom prst="rect">
            <a:avLst/>
          </a:prstGeom>
          <a:noFill/>
        </p:spPr>
        <p:txBody>
          <a:bodyPr wrap="square">
            <a:spAutoFit/>
          </a:bodyPr>
          <a:lstStyle/>
          <a:p>
            <a:r>
              <a:t>System Requirement</a:t>
            </a:r>
          </a:p>
        </p:txBody>
      </p:sp>
      <p:sp>
        <p:nvSpPr>
          <p:cNvPr id="12" name="TextBox 11">
            <a:extLst>
              <a:ext uri="{FF2B5EF4-FFF2-40B4-BE49-F238E27FC236}">
                <a16:creationId xmlns:a16="http://schemas.microsoft.com/office/drawing/2014/main" id="{11F9A514-E5D3-4AEC-DB73-53AC76ADD23C}"/>
              </a:ext>
            </a:extLst>
          </p:cNvPr>
          <p:cNvSpPr txBox="1"/>
          <p:nvPr/>
        </p:nvSpPr>
        <p:spPr>
          <a:xfrm>
            <a:off x="5943600" y="4956239"/>
            <a:ext cx="6772676" cy="526811"/>
          </a:xfrm>
          <a:prstGeom prst="rect">
            <a:avLst/>
          </a:prstGeom>
          <a:noFill/>
        </p:spPr>
        <p:txBody>
          <a:bodyPr wrap="square">
            <a:spAutoFit/>
          </a:bodyPr>
          <a:lstStyle/>
          <a:p>
            <a:r>
              <a:t>Functional Requirement</a:t>
            </a:r>
          </a:p>
        </p:txBody>
      </p:sp>
      <p:sp>
        <p:nvSpPr>
          <p:cNvPr id="14" name="TextBox 13">
            <a:extLst>
              <a:ext uri="{FF2B5EF4-FFF2-40B4-BE49-F238E27FC236}">
                <a16:creationId xmlns:a16="http://schemas.microsoft.com/office/drawing/2014/main" id="{B5E08F77-D181-8357-7FB4-F9A154F4D9C2}"/>
              </a:ext>
            </a:extLst>
          </p:cNvPr>
          <p:cNvSpPr txBox="1"/>
          <p:nvPr/>
        </p:nvSpPr>
        <p:spPr>
          <a:xfrm>
            <a:off x="9144000" y="6461498"/>
            <a:ext cx="8006811" cy="526811"/>
          </a:xfrm>
          <a:prstGeom prst="rect">
            <a:avLst/>
          </a:prstGeom>
          <a:noFill/>
        </p:spPr>
        <p:txBody>
          <a:bodyPr wrap="square">
            <a:spAutoFit/>
          </a:bodyPr>
          <a:lstStyle/>
          <a:p>
            <a:r>
              <a:t>Non-Functional Requirement</a:t>
            </a:r>
          </a:p>
        </p:txBody>
      </p:sp>
      <p:sp>
        <p:nvSpPr>
          <p:cNvPr id="22" name="Slide Number Placeholder 21">
            <a:extLst>
              <a:ext uri="{FF2B5EF4-FFF2-40B4-BE49-F238E27FC236}">
                <a16:creationId xmlns:a16="http://schemas.microsoft.com/office/drawing/2014/main" id="{DFD566CE-419F-3E1C-6600-4DC0A967F695}"/>
              </a:ext>
            </a:extLst>
          </p:cNvPr>
          <p:cNvSpPr>
            <a:spLocks noGrp="1"/>
          </p:cNvSpPr>
          <p:nvPr>
            <p:ph type="sldNum" sz="quarter" idx="12"/>
          </p:nvPr>
        </p:nvSpPr>
        <p:spPr/>
        <p:txBody>
          <a:bodyPr/>
          <a:lstStyle/>
          <a:p>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9F7B36F2-7550-8A67-A572-5CA47DB8DD4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51EB9A2-43DC-4868-41B5-9EBDD4D47D26}"/>
              </a:ext>
            </a:extLst>
          </p:cNvPr>
          <p:cNvSpPr/>
          <p:nvPr/>
        </p:nvSpPr>
        <p:spPr>
          <a:xfrm>
            <a:off x="13487400" y="4598581"/>
            <a:ext cx="1560056" cy="2036410"/>
          </a:xfrm>
          <a:custGeom>
            <a:avLst/>
            <a:gdLst/>
            <a:ahLst/>
            <a:cxnLst/>
            <a:rect l="l" t="t" r="r" b="b"/>
            <a:pathLst>
              <a:path w="1560056" h="2036410">
                <a:moveTo>
                  <a:pt x="0" y="0"/>
                </a:moveTo>
                <a:lnTo>
                  <a:pt x="1560056" y="0"/>
                </a:lnTo>
                <a:lnTo>
                  <a:pt x="1560056" y="2036410"/>
                </a:lnTo>
                <a:lnTo>
                  <a:pt x="0" y="2036410"/>
                </a:lnTo>
                <a:lnTo>
                  <a:pt x="0" y="0"/>
                </a:lnTo>
                <a:close/>
              </a:path>
            </a:pathLst>
          </a:custGeom>
          <a:blipFill>
            <a:blip r:embed="rId2"/>
            <a:stretch>
              <a:fillRect/>
            </a:stretch>
          </a:blipFill>
        </p:spPr>
        <p:txBody>
          <a:bodyPr/>
          <a:p/>
        </p:txBody>
      </p:sp>
      <p:sp>
        <p:nvSpPr>
          <p:cNvPr id="4" name="TextBox 4">
            <a:extLst>
              <a:ext uri="{FF2B5EF4-FFF2-40B4-BE49-F238E27FC236}">
                <a16:creationId xmlns:a16="http://schemas.microsoft.com/office/drawing/2014/main" id="{1F0CA301-259E-6048-3CFC-D4CF7107E18F}"/>
              </a:ext>
            </a:extLst>
          </p:cNvPr>
          <p:cNvSpPr txBox="1"/>
          <p:nvPr/>
        </p:nvSpPr>
        <p:spPr>
          <a:xfrm>
            <a:off x="1028700" y="687862"/>
            <a:ext cx="9188752" cy="658000"/>
          </a:xfrm>
          <a:prstGeom prst="rect">
            <a:avLst/>
          </a:prstGeom>
        </p:spPr>
        <p:txBody>
          <a:bodyPr lIns="0" tIns="0" rIns="0" bIns="0" rtlCol="0" anchor="t">
            <a:spAutoFit/>
          </a:bodyPr>
          <a:lstStyle/>
          <a:p>
            <a:r>
              <a:t>REQUIREMENT ENGINEERING</a:t>
            </a:r>
          </a:p>
        </p:txBody>
      </p:sp>
      <p:sp>
        <p:nvSpPr>
          <p:cNvPr id="6" name="TextBox 6">
            <a:extLst>
              <a:ext uri="{FF2B5EF4-FFF2-40B4-BE49-F238E27FC236}">
                <a16:creationId xmlns:a16="http://schemas.microsoft.com/office/drawing/2014/main" id="{C78DC20F-294A-20D8-9D7F-8EC2D332294F}"/>
              </a:ext>
            </a:extLst>
          </p:cNvPr>
          <p:cNvSpPr txBox="1"/>
          <p:nvPr/>
        </p:nvSpPr>
        <p:spPr>
          <a:xfrm>
            <a:off x="1028700" y="1376154"/>
            <a:ext cx="4229100" cy="421847"/>
          </a:xfrm>
          <a:prstGeom prst="rect">
            <a:avLst/>
          </a:prstGeom>
        </p:spPr>
        <p:txBody>
          <a:bodyPr wrap="square" lIns="0" tIns="0" rIns="0" bIns="0" rtlCol="0" anchor="t">
            <a:spAutoFit/>
          </a:bodyPr>
          <a:lstStyle/>
          <a:p>
            <a:r>
              <a:t>User Requirements</a:t>
            </a:r>
          </a:p>
        </p:txBody>
      </p:sp>
      <p:sp>
        <p:nvSpPr>
          <p:cNvPr id="8" name="TextBox 7">
            <a:extLst>
              <a:ext uri="{FF2B5EF4-FFF2-40B4-BE49-F238E27FC236}">
                <a16:creationId xmlns:a16="http://schemas.microsoft.com/office/drawing/2014/main" id="{1A5D2144-F104-71DD-4AA5-FFBC74A8C7FD}"/>
              </a:ext>
            </a:extLst>
          </p:cNvPr>
          <p:cNvSpPr txBox="1"/>
          <p:nvPr/>
        </p:nvSpPr>
        <p:spPr>
          <a:xfrm>
            <a:off x="1132646" y="1731364"/>
            <a:ext cx="12049954" cy="7124514"/>
          </a:xfrm>
          <a:prstGeom prst="rect">
            <a:avLst/>
          </a:prstGeom>
          <a:noFill/>
        </p:spPr>
        <p:txBody>
          <a:bodyPr wrap="square">
            <a:spAutoFit/>
          </a:bodyPr>
          <a:lstStyle/>
          <a:p>
            <a:r>
              <a:t>(Admin Role Requirements):</a:t>
            </a:r>
          </a:p>
          <a:p>
            <a:r>
              <a:t>Secure Login - Access with protected credentials.</a:t>
            </a:r>
          </a:p>
          <a:p>
            <a:r>
              <a:t>Operations Management - Control orders, payments, and inventory.</a:t>
            </a:r>
          </a:p>
          <a:p>
            <a:r>
              <a:t>Menu Configuration - Set items, pricing, categories, and settings.</a:t>
            </a:r>
          </a:p>
          <a:p>
            <a:r>
              <a:t>Order Processing - Handle customer orders and payment transactions.</a:t>
            </a:r>
          </a:p>
          <a:p>
            <a:r>
              <a:t>Report Generation - Create daily, weekly, and monthly reports.</a:t>
            </a:r>
          </a:p>
          <a:p>
            <a:r>
              <a:t>Data Validation - Verify all restaurant data and system information.</a:t>
            </a:r>
          </a:p>
          <a:p>
            <a:r>
              <a:t>Inventory Control - Manage stock levels and supplier information.</a:t>
            </a:r>
          </a:p>
          <a:p>
            <a:r>
              <a:t>Activity Monitoring - Track restaurant activities and ensure accuracy.</a:t>
            </a:r>
          </a:p>
          <a:p>
            <a:r>
              <a:t>Full Authority - Add, modify, or remove system data and configurations.</a:t>
            </a:r>
          </a:p>
          <a:p>
            <a:r>
              <a:t>Customer Management - Handle customer data, order history, and feedback.</a:t>
            </a:r>
          </a:p>
        </p:txBody>
      </p:sp>
      <p:sp>
        <p:nvSpPr>
          <p:cNvPr id="13" name="Slide Number Placeholder 12">
            <a:extLst>
              <a:ext uri="{FF2B5EF4-FFF2-40B4-BE49-F238E27FC236}">
                <a16:creationId xmlns:a16="http://schemas.microsoft.com/office/drawing/2014/main" id="{5798D75F-2B7B-FB42-62FC-914D732125EA}"/>
              </a:ext>
            </a:extLst>
          </p:cNvPr>
          <p:cNvSpPr>
            <a:spLocks noGrp="1"/>
          </p:cNvSpPr>
          <p:nvPr>
            <p:ph type="sldNum" sz="quarter" idx="12"/>
          </p:nvPr>
        </p:nvSpPr>
        <p:spPr/>
        <p:txBody>
          <a:bodyPr/>
          <a:lstStyle/>
          <a:p>
            <a:r>
              <a:t>8</a:t>
            </a:r>
          </a:p>
        </p:txBody>
      </p:sp>
    </p:spTree>
    <p:extLst>
      <p:ext uri="{BB962C8B-B14F-4D97-AF65-F5344CB8AC3E}">
        <p14:creationId xmlns:p14="http://schemas.microsoft.com/office/powerpoint/2010/main" val="1956587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239461" y="3585349"/>
            <a:ext cx="4858296" cy="3328832"/>
          </a:xfrm>
          <a:custGeom>
            <a:avLst/>
            <a:gdLst/>
            <a:ahLst/>
            <a:cxnLst/>
            <a:rect l="l" t="t" r="r" b="b"/>
            <a:pathLst>
              <a:path w="4858296" h="3328832">
                <a:moveTo>
                  <a:pt x="0" y="0"/>
                </a:moveTo>
                <a:lnTo>
                  <a:pt x="4858296" y="0"/>
                </a:lnTo>
                <a:lnTo>
                  <a:pt x="4858296" y="3328833"/>
                </a:lnTo>
                <a:lnTo>
                  <a:pt x="0" y="3328833"/>
                </a:lnTo>
                <a:lnTo>
                  <a:pt x="0" y="0"/>
                </a:lnTo>
                <a:close/>
              </a:path>
            </a:pathLst>
          </a:custGeom>
          <a:blipFill>
            <a:blip r:embed="rId2"/>
            <a:stretch>
              <a:fillRect/>
            </a:stretch>
          </a:blipFill>
        </p:spPr>
        <p:txBody>
          <a:bodyPr/>
          <a:p/>
        </p:txBody>
      </p:sp>
      <p:sp>
        <p:nvSpPr>
          <p:cNvPr id="3" name="TextBox 3"/>
          <p:cNvSpPr txBox="1"/>
          <p:nvPr/>
        </p:nvSpPr>
        <p:spPr>
          <a:xfrm>
            <a:off x="1028700" y="932244"/>
            <a:ext cx="11017375" cy="620365"/>
          </a:xfrm>
          <a:prstGeom prst="rect">
            <a:avLst/>
          </a:prstGeom>
        </p:spPr>
        <p:txBody>
          <a:bodyPr lIns="0" tIns="0" rIns="0" bIns="0" rtlCol="0" anchor="t">
            <a:spAutoFit/>
          </a:bodyPr>
          <a:lstStyle/>
          <a:p>
            <a:r>
              <a:t>REQUIREMENT ENGINEERING CONT ...</a:t>
            </a:r>
          </a:p>
        </p:txBody>
      </p:sp>
      <p:sp>
        <p:nvSpPr>
          <p:cNvPr id="5" name="TextBox 5"/>
          <p:cNvSpPr txBox="1"/>
          <p:nvPr/>
        </p:nvSpPr>
        <p:spPr>
          <a:xfrm>
            <a:off x="1028700" y="1991787"/>
            <a:ext cx="9188752" cy="441325"/>
          </a:xfrm>
          <a:prstGeom prst="rect">
            <a:avLst/>
          </a:prstGeom>
        </p:spPr>
        <p:txBody>
          <a:bodyPr lIns="0" tIns="0" rIns="0" bIns="0" rtlCol="0" anchor="t">
            <a:spAutoFit/>
          </a:bodyPr>
          <a:lstStyle/>
          <a:p>
            <a:r>
              <a:t>System Requirement</a:t>
            </a:r>
          </a:p>
        </p:txBody>
      </p:sp>
      <p:sp>
        <p:nvSpPr>
          <p:cNvPr id="6" name="TextBox 6"/>
          <p:cNvSpPr txBox="1"/>
          <p:nvPr/>
        </p:nvSpPr>
        <p:spPr>
          <a:xfrm>
            <a:off x="1028700" y="2433112"/>
            <a:ext cx="11722895" cy="5082160"/>
          </a:xfrm>
          <a:prstGeom prst="rect">
            <a:avLst/>
          </a:prstGeom>
        </p:spPr>
        <p:txBody>
          <a:bodyPr lIns="0" tIns="0" rIns="0" bIns="0" rtlCol="0" anchor="t">
            <a:spAutoFit/>
          </a:bodyPr>
          <a:lstStyle/>
          <a:p>
            <a:r>
              <a:t>Admin Login Process:</a:t>
            </a:r>
          </a:p>
          <a:p>
            <a:r>
              <a:t>Enter Credentials - Admin inputs username and password, clicks submit.</a:t>
            </a:r>
          </a:p>
          <a:p>
            <a:r>
              <a:t>Successful Login - Correct credentials grant direct dashboard access with full system control.</a:t>
            </a:r>
          </a:p>
          <a:p>
            <a:r>
              <a:t>Failed Login - Incorrect credentials display "invalid user info" error message.</a:t>
            </a:r>
          </a:p>
        </p:txBody>
      </p:sp>
      <p:sp>
        <p:nvSpPr>
          <p:cNvPr id="14" name="Slide Number Placeholder 13">
            <a:extLst>
              <a:ext uri="{FF2B5EF4-FFF2-40B4-BE49-F238E27FC236}">
                <a16:creationId xmlns:a16="http://schemas.microsoft.com/office/drawing/2014/main" id="{906CAB5E-F944-BBA1-8551-6CC62929FCE3}"/>
              </a:ext>
            </a:extLst>
          </p:cNvPr>
          <p:cNvSpPr>
            <a:spLocks noGrp="1"/>
          </p:cNvSpPr>
          <p:nvPr>
            <p:ph type="sldNum" sz="quarter" idx="12"/>
          </p:nvPr>
        </p:nvSpPr>
        <p:spPr/>
        <p:txBody>
          <a:bodyPr/>
          <a:lstStyle/>
          <a:p>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txBody>
          <a:bodyPr/>
          <a:p/>
        </p:txBody>
      </p:sp>
      <p:sp>
        <p:nvSpPr>
          <p:cNvPr id="3" name="TextBox 3"/>
          <p:cNvSpPr txBox="1"/>
          <p:nvPr/>
        </p:nvSpPr>
        <p:spPr>
          <a:xfrm>
            <a:off x="1028700" y="2634979"/>
            <a:ext cx="11722895" cy="6027612"/>
          </a:xfrm>
          <a:prstGeom prst="rect">
            <a:avLst/>
          </a:prstGeom>
        </p:spPr>
        <p:txBody>
          <a:bodyPr lIns="0" tIns="0" rIns="0" bIns="0" rtlCol="0" anchor="t">
            <a:spAutoFit/>
          </a:bodyPr>
          <a:lstStyle/>
          <a:p>
            <a:r>
              <a:t>Centralized Operations - Admin manages all restaurant operations from single interface</a:t>
            </a:r>
          </a:p>
          <a:p>
            <a:r>
              <a:t>Customer Database - Stores customer information, contact details, order preferences, and payment history</a:t>
            </a:r>
          </a:p>
          <a:p>
            <a:r>
              <a:t>Menu Management - Complete database with item details, pricing, categories, availability, and ingredients (admin-controlled)</a:t>
            </a:r>
          </a:p>
          <a:p>
            <a:r>
              <a:t>Order Processing - Handles orders from placement to completion with status tracking, payments, and receipts</a:t>
            </a:r>
          </a:p>
          <a:p>
            <a:r>
              <a:t>Inventory Control - Real-time management with automatic alerts, supplier tracking, and stock monitoring (admin-only)</a:t>
            </a:r>
          </a:p>
          <a:p>
            <a:r>
              <a:t>Business Reports - Generates sales analytics, inventory reports, and performance metrics (admin-exclusive</a:t>
            </a:r>
          </a:p>
        </p:txBody>
      </p:sp>
      <p:sp>
        <p:nvSpPr>
          <p:cNvPr id="4" name="Freeform 4"/>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txBody>
          <a:bodyPr/>
          <a:p/>
        </p:txBody>
      </p:sp>
      <p:sp>
        <p:nvSpPr>
          <p:cNvPr id="5" name="TextBox 5"/>
          <p:cNvSpPr txBox="1"/>
          <p:nvPr/>
        </p:nvSpPr>
        <p:spPr>
          <a:xfrm>
            <a:off x="1028700" y="932244"/>
            <a:ext cx="11017375" cy="620365"/>
          </a:xfrm>
          <a:prstGeom prst="rect">
            <a:avLst/>
          </a:prstGeom>
        </p:spPr>
        <p:txBody>
          <a:bodyPr lIns="0" tIns="0" rIns="0" bIns="0" rtlCol="0" anchor="t">
            <a:spAutoFit/>
          </a:bodyPr>
          <a:lstStyle/>
          <a:p>
            <a:r>
              <a:t>REQUIREMENT ENGINEERING CONT ...</a:t>
            </a:r>
          </a:p>
        </p:txBody>
      </p:sp>
      <p:sp>
        <p:nvSpPr>
          <p:cNvPr id="7" name="TextBox 7"/>
          <p:cNvSpPr txBox="1"/>
          <p:nvPr/>
        </p:nvSpPr>
        <p:spPr>
          <a:xfrm>
            <a:off x="1028700" y="1991787"/>
            <a:ext cx="9188752" cy="441325"/>
          </a:xfrm>
          <a:prstGeom prst="rect">
            <a:avLst/>
          </a:prstGeom>
        </p:spPr>
        <p:txBody>
          <a:bodyPr lIns="0" tIns="0" rIns="0" bIns="0" rtlCol="0" anchor="t">
            <a:spAutoFit/>
          </a:bodyPr>
          <a:lstStyle/>
          <a:p>
            <a:r>
              <a:t>Functional Requirement</a:t>
            </a:r>
          </a:p>
        </p:txBody>
      </p:sp>
      <p:sp>
        <p:nvSpPr>
          <p:cNvPr id="15" name="Slide Number Placeholder 14">
            <a:extLst>
              <a:ext uri="{FF2B5EF4-FFF2-40B4-BE49-F238E27FC236}">
                <a16:creationId xmlns:a16="http://schemas.microsoft.com/office/drawing/2014/main" id="{49C4DDCD-FEA6-F580-352B-E7708CCDB02E}"/>
              </a:ext>
            </a:extLst>
          </p:cNvPr>
          <p:cNvSpPr>
            <a:spLocks noGrp="1"/>
          </p:cNvSpPr>
          <p:nvPr>
            <p:ph type="sldNum" sz="quarter" idx="12"/>
          </p:nvPr>
        </p:nvSpPr>
        <p:spPr/>
        <p:txBody>
          <a:bodyPr/>
          <a:lstStyle/>
          <a:p>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txBody>
          <a:bodyPr/>
          <a:p/>
        </p:txBody>
      </p:sp>
      <p:sp>
        <p:nvSpPr>
          <p:cNvPr id="4" name="Freeform 4"/>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txBody>
          <a:bodyPr/>
          <a:p/>
        </p:txBody>
      </p:sp>
      <p:sp>
        <p:nvSpPr>
          <p:cNvPr id="5" name="TextBox 5"/>
          <p:cNvSpPr txBox="1"/>
          <p:nvPr/>
        </p:nvSpPr>
        <p:spPr>
          <a:xfrm>
            <a:off x="1028700" y="266700"/>
            <a:ext cx="11017375" cy="620365"/>
          </a:xfrm>
          <a:prstGeom prst="rect">
            <a:avLst/>
          </a:prstGeom>
        </p:spPr>
        <p:txBody>
          <a:bodyPr lIns="0" tIns="0" rIns="0" bIns="0" rtlCol="0" anchor="t">
            <a:spAutoFit/>
          </a:bodyPr>
          <a:lstStyle/>
          <a:p>
            <a:r>
              <a:t>REQUIREMENT ENGINEERING CONT ...</a:t>
            </a:r>
          </a:p>
        </p:txBody>
      </p:sp>
      <p:sp>
        <p:nvSpPr>
          <p:cNvPr id="7" name="TextBox 7"/>
          <p:cNvSpPr txBox="1"/>
          <p:nvPr/>
        </p:nvSpPr>
        <p:spPr>
          <a:xfrm>
            <a:off x="1028700" y="1172240"/>
            <a:ext cx="9188752" cy="441325"/>
          </a:xfrm>
          <a:prstGeom prst="rect">
            <a:avLst/>
          </a:prstGeom>
        </p:spPr>
        <p:txBody>
          <a:bodyPr lIns="0" tIns="0" rIns="0" bIns="0" rtlCol="0" anchor="t">
            <a:spAutoFit/>
          </a:bodyPr>
          <a:lstStyle/>
          <a:p>
            <a:r>
              <a:t>Non-Functional Requirement</a:t>
            </a:r>
          </a:p>
        </p:txBody>
      </p:sp>
      <p:sp>
        <p:nvSpPr>
          <p:cNvPr id="9" name="TextBox 8">
            <a:extLst>
              <a:ext uri="{FF2B5EF4-FFF2-40B4-BE49-F238E27FC236}">
                <a16:creationId xmlns:a16="http://schemas.microsoft.com/office/drawing/2014/main" id="{804F0D8F-A310-7CF4-325A-A057B3F1861D}"/>
              </a:ext>
            </a:extLst>
          </p:cNvPr>
          <p:cNvSpPr txBox="1"/>
          <p:nvPr/>
        </p:nvSpPr>
        <p:spPr>
          <a:xfrm>
            <a:off x="1028700" y="1435373"/>
            <a:ext cx="7505700" cy="8335936"/>
          </a:xfrm>
          <a:prstGeom prst="rect">
            <a:avLst/>
          </a:prstGeom>
          <a:noFill/>
        </p:spPr>
        <p:txBody>
          <a:bodyPr wrap="square">
            <a:spAutoFit/>
          </a:bodyPr>
          <a:lstStyle/>
          <a:p>
            <a:r>
              <a:t>Performance Requirements:</a:t>
            </a:r>
          </a:p>
          <a:p>
            <a:r>
              <a:t>Responds within 5 seconds for all actions</a:t>
            </a:r>
          </a:p>
          <a:p>
            <a:r>
              <a:t>Handles up to 10,000 daily transactions</a:t>
            </a:r>
          </a:p>
          <a:p>
            <a:r>
              <a:t>Supports multiple admin sessions</a:t>
            </a:r>
          </a:p>
          <a:p>
            <a:r>
              <a:t>Fast data retrieval for analytics (&lt;3 seconds)</a:t>
            </a:r>
          </a:p>
          <a:p>
            <a:r>
              <a:t>Security Requirements:</a:t>
            </a:r>
          </a:p>
          <a:p>
            <a:r>
              <a:t>Data encryption for payments and sensitive info</a:t>
            </a:r>
          </a:p>
          <a:p>
            <a:r>
              <a:t>Role-based access with admin verification</a:t>
            </a:r>
          </a:p>
          <a:p>
            <a:r>
              <a:t>Audit logging of all actions and transactions</a:t>
            </a:r>
          </a:p>
          <a:p>
            <a:r>
              <a:t>Automatic secure daily backups</a:t>
            </a:r>
          </a:p>
          <a:p>
            <a:r>
              <a:t>Reliability Requirements:</a:t>
            </a:r>
          </a:p>
          <a:p>
            <a:r>
              <a:t>99.9% system uptime with failover</a:t>
            </a:r>
          </a:p>
          <a:p>
            <a:r>
              <a:t>Graceful error handling and recovery</a:t>
            </a:r>
          </a:p>
          <a:p>
            <a:r>
              <a:t>Ensures data integrity for orders, payments, inventory</a:t>
            </a:r>
          </a:p>
          <a:p>
            <a:r>
              <a:t>Fast backup and recovery</a:t>
            </a:r>
          </a:p>
        </p:txBody>
      </p:sp>
      <p:sp>
        <p:nvSpPr>
          <p:cNvPr id="17" name="Slide Number Placeholder 16">
            <a:extLst>
              <a:ext uri="{FF2B5EF4-FFF2-40B4-BE49-F238E27FC236}">
                <a16:creationId xmlns:a16="http://schemas.microsoft.com/office/drawing/2014/main" id="{F18CA361-2D2F-8524-6D6F-868D996040E2}"/>
              </a:ext>
            </a:extLst>
          </p:cNvPr>
          <p:cNvSpPr>
            <a:spLocks noGrp="1"/>
          </p:cNvSpPr>
          <p:nvPr>
            <p:ph type="sldNum" sz="quarter" idx="12"/>
          </p:nvPr>
        </p:nvSpPr>
        <p:spPr/>
        <p:txBody>
          <a:bodyPr/>
          <a:lstStyle/>
          <a:p>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txBody>
          <a:bodyPr/>
          <a:p/>
        </p:txBody>
      </p:sp>
      <p:sp>
        <p:nvSpPr>
          <p:cNvPr id="3" name="Freeform 3"/>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txBody>
          <a:bodyPr/>
          <a:p/>
        </p:txBody>
      </p:sp>
      <p:sp>
        <p:nvSpPr>
          <p:cNvPr id="4" name="TextBox 4"/>
          <p:cNvSpPr txBox="1"/>
          <p:nvPr/>
        </p:nvSpPr>
        <p:spPr>
          <a:xfrm>
            <a:off x="1028700" y="433183"/>
            <a:ext cx="11017375" cy="620365"/>
          </a:xfrm>
          <a:prstGeom prst="rect">
            <a:avLst/>
          </a:prstGeom>
        </p:spPr>
        <p:txBody>
          <a:bodyPr lIns="0" tIns="0" rIns="0" bIns="0" rtlCol="0" anchor="t">
            <a:spAutoFit/>
          </a:bodyPr>
          <a:lstStyle/>
          <a:p>
            <a:r>
              <a:t>REQUIREMENT ENGINEERING CONT ...</a:t>
            </a:r>
          </a:p>
        </p:txBody>
      </p:sp>
      <p:sp>
        <p:nvSpPr>
          <p:cNvPr id="6" name="TextBox 6"/>
          <p:cNvSpPr txBox="1"/>
          <p:nvPr/>
        </p:nvSpPr>
        <p:spPr>
          <a:xfrm>
            <a:off x="1028700" y="1191673"/>
            <a:ext cx="9188752" cy="441325"/>
          </a:xfrm>
          <a:prstGeom prst="rect">
            <a:avLst/>
          </a:prstGeom>
        </p:spPr>
        <p:txBody>
          <a:bodyPr lIns="0" tIns="0" rIns="0" bIns="0" rtlCol="0" anchor="t">
            <a:spAutoFit/>
          </a:bodyPr>
          <a:lstStyle/>
          <a:p>
            <a:r>
              <a:t>Non-Functional Requirement</a:t>
            </a:r>
          </a:p>
        </p:txBody>
      </p:sp>
      <p:sp>
        <p:nvSpPr>
          <p:cNvPr id="9" name="TextBox 8">
            <a:extLst>
              <a:ext uri="{FF2B5EF4-FFF2-40B4-BE49-F238E27FC236}">
                <a16:creationId xmlns:a16="http://schemas.microsoft.com/office/drawing/2014/main" id="{85F7A2EA-0F68-D7F0-81DA-7BAC993B5E96}"/>
              </a:ext>
            </a:extLst>
          </p:cNvPr>
          <p:cNvSpPr txBox="1"/>
          <p:nvPr/>
        </p:nvSpPr>
        <p:spPr>
          <a:xfrm>
            <a:off x="1028700" y="1561697"/>
            <a:ext cx="9144000" cy="8274958"/>
          </a:xfrm>
          <a:prstGeom prst="rect">
            <a:avLst/>
          </a:prstGeom>
          <a:noFill/>
        </p:spPr>
        <p:txBody>
          <a:bodyPr wrap="square">
            <a:spAutoFit/>
          </a:bodyPr>
          <a:lstStyle/>
          <a:p>
            <a:r>
              <a:t>Usability Requirements</a:t>
            </a:r>
          </a:p>
          <a:p>
            <a:r>
              <a:t>Intuitive, user-friendly interface</a:t>
            </a:r>
          </a:p>
          <a:p>
            <a:r>
              <a:t>Simple, minimal-training navigation</a:t>
            </a:r>
          </a:p>
          <a:p>
            <a:r>
              <a:t>Easy-access dashboards for key functions</a:t>
            </a:r>
          </a:p>
          <a:p>
            <a:r>
              <a:t>Clear confirmation and validation messages</a:t>
            </a:r>
          </a:p>
          <a:p>
            <a:r>
              <a:t>Scalability Requirements</a:t>
            </a:r>
          </a:p>
          <a:p>
            <a:r>
              <a:t>Supports 200% transaction/database growth</a:t>
            </a:r>
          </a:p>
          <a:p>
            <a:r>
              <a:t>Expandable storage for menus, customers, history</a:t>
            </a:r>
          </a:p>
          <a:p>
            <a:r>
              <a:t>Modular, easily expandable features</a:t>
            </a:r>
          </a:p>
          <a:p>
            <a:r>
              <a:t>Maintainability Requirements</a:t>
            </a:r>
          </a:p>
          <a:p>
            <a:r>
              <a:t>Clean, well-documented code (React.js, Laravel, MySQL)</a:t>
            </a:r>
          </a:p>
          <a:p>
            <a:r>
              <a:t>Easy updates and bug fixes</a:t>
            </a:r>
          </a:p>
          <a:p>
            <a:r>
              <a:t>Built-in monitoring tools</a:t>
            </a:r>
          </a:p>
          <a:p>
            <a:r>
              <a:t>Portability Requirements</a:t>
            </a:r>
          </a:p>
          <a:p>
            <a:r>
              <a:t>Works on desktop, tablet, mobile (web-based)</a:t>
            </a:r>
          </a:p>
          <a:p>
            <a:r>
              <a:t>Compatible with major browsers</a:t>
            </a:r>
          </a:p>
          <a:p>
            <a:r>
              <a:t>Runs on multiple operating systems</a:t>
            </a:r>
          </a:p>
        </p:txBody>
      </p:sp>
      <p:sp>
        <p:nvSpPr>
          <p:cNvPr id="17" name="Slide Number Placeholder 16">
            <a:extLst>
              <a:ext uri="{FF2B5EF4-FFF2-40B4-BE49-F238E27FC236}">
                <a16:creationId xmlns:a16="http://schemas.microsoft.com/office/drawing/2014/main" id="{460C011D-1439-9056-F82E-6A4719E5E333}"/>
              </a:ext>
            </a:extLst>
          </p:cNvPr>
          <p:cNvSpPr>
            <a:spLocks noGrp="1"/>
          </p:cNvSpPr>
          <p:nvPr>
            <p:ph type="sldNum" sz="quarter" idx="12"/>
          </p:nvPr>
        </p:nvSpPr>
        <p:spPr/>
        <p:txBody>
          <a:bodyPr/>
          <a:lstStyle/>
          <a:p>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7943744" y="1723551"/>
            <a:ext cx="9870652" cy="7982889"/>
          </a:xfrm>
          <a:custGeom>
            <a:avLst/>
            <a:gdLst/>
            <a:ahLst/>
            <a:cxnLst/>
            <a:rect l="l" t="t" r="r" b="b"/>
            <a:pathLst>
              <a:path w="9870652" h="7982889">
                <a:moveTo>
                  <a:pt x="0" y="0"/>
                </a:moveTo>
                <a:lnTo>
                  <a:pt x="9870652" y="0"/>
                </a:lnTo>
                <a:lnTo>
                  <a:pt x="9870652" y="7982889"/>
                </a:lnTo>
                <a:lnTo>
                  <a:pt x="0" y="7982889"/>
                </a:lnTo>
                <a:lnTo>
                  <a:pt x="0" y="0"/>
                </a:lnTo>
                <a:close/>
              </a:path>
            </a:pathLst>
          </a:custGeom>
          <a:blipFill>
            <a:blip r:embed="rId2"/>
            <a:stretch>
              <a:fillRect/>
            </a:stretch>
          </a:blipFill>
        </p:spPr>
        <p:txBody>
          <a:bodyPr/>
          <a:p/>
        </p:txBody>
      </p:sp>
      <p:sp>
        <p:nvSpPr>
          <p:cNvPr id="3" name="TextBox 3"/>
          <p:cNvSpPr txBox="1"/>
          <p:nvPr/>
        </p:nvSpPr>
        <p:spPr>
          <a:xfrm>
            <a:off x="1028700" y="970344"/>
            <a:ext cx="11017375" cy="753207"/>
          </a:xfrm>
          <a:prstGeom prst="rect">
            <a:avLst/>
          </a:prstGeom>
        </p:spPr>
        <p:txBody>
          <a:bodyPr lIns="0" tIns="0" rIns="0" bIns="0" rtlCol="0" anchor="t">
            <a:spAutoFit/>
          </a:bodyPr>
          <a:lstStyle/>
          <a:p>
            <a:r>
              <a:t>USE CASE DIAGRAM</a:t>
            </a:r>
          </a:p>
        </p:txBody>
      </p:sp>
      <p:sp>
        <p:nvSpPr>
          <p:cNvPr id="5" name="TextBox 5"/>
          <p:cNvSpPr txBox="1"/>
          <p:nvPr/>
        </p:nvSpPr>
        <p:spPr>
          <a:xfrm>
            <a:off x="3276601" y="5094313"/>
            <a:ext cx="2209800" cy="1271182"/>
          </a:xfrm>
          <a:prstGeom prst="rect">
            <a:avLst/>
          </a:prstGeom>
        </p:spPr>
        <p:txBody>
          <a:bodyPr wrap="square" lIns="0" tIns="0" rIns="0" bIns="0" rtlCol="0" anchor="t">
            <a:spAutoFit/>
          </a:bodyPr>
          <a:lstStyle/>
          <a:p>
            <a:r>
              <a:t>Actors: Admin</a:t>
            </a:r>
          </a:p>
        </p:txBody>
      </p:sp>
      <p:sp>
        <p:nvSpPr>
          <p:cNvPr id="13" name="Slide Number Placeholder 12">
            <a:extLst>
              <a:ext uri="{FF2B5EF4-FFF2-40B4-BE49-F238E27FC236}">
                <a16:creationId xmlns:a16="http://schemas.microsoft.com/office/drawing/2014/main" id="{4D1D8B11-1304-B7D9-90E9-055C688153D8}"/>
              </a:ext>
            </a:extLst>
          </p:cNvPr>
          <p:cNvSpPr>
            <a:spLocks noGrp="1"/>
          </p:cNvSpPr>
          <p:nvPr>
            <p:ph type="sldNum" sz="quarter" idx="12"/>
          </p:nvPr>
        </p:nvSpPr>
        <p:spPr/>
        <p:txBody>
          <a:bodyPr/>
          <a:lstStyle/>
          <a:p>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a:effectLst>
              <a:glow rad="63500">
                <a:schemeClr val="accent1">
                  <a:satMod val="175000"/>
                  <a:alpha val="40000"/>
                </a:schemeClr>
              </a:glow>
            </a:effectLst>
          </p:spPr>
          <p:txBody>
            <a:bodyPr/>
            <a:lstStyle/>
            <a:p>
              <a:endParaRPr lang="en-US" dirty="0"/>
            </a:p>
          </p:txBody>
        </p:sp>
      </p:grpSp>
      <p:sp>
        <p:nvSpPr>
          <p:cNvPr id="8" name="TextBox 8"/>
          <p:cNvSpPr txBox="1"/>
          <p:nvPr/>
        </p:nvSpPr>
        <p:spPr>
          <a:xfrm>
            <a:off x="7850237" y="3326309"/>
            <a:ext cx="9445526" cy="1757362"/>
          </a:xfrm>
          <a:prstGeom prst="rect">
            <a:avLst/>
          </a:prstGeom>
        </p:spPr>
        <p:txBody>
          <a:bodyPr lIns="0" tIns="0" rIns="0" bIns="0" rtlCol="0" anchor="t">
            <a:spAutoFit/>
          </a:bodyPr>
          <a:lstStyle/>
          <a:p>
            <a:r>
              <a:t>Function Point Estimation for Restaurant Management System</a:t>
            </a:r>
          </a:p>
        </p:txBody>
      </p:sp>
      <p:sp>
        <p:nvSpPr>
          <p:cNvPr id="9" name="TextBox 9"/>
          <p:cNvSpPr txBox="1"/>
          <p:nvPr/>
        </p:nvSpPr>
        <p:spPr>
          <a:xfrm>
            <a:off x="7850237" y="5475834"/>
            <a:ext cx="9445526" cy="1309687"/>
          </a:xfrm>
          <a:prstGeom prst="rect">
            <a:avLst/>
          </a:prstGeom>
        </p:spPr>
        <p:txBody>
          <a:bodyPr lIns="0" tIns="0" rIns="0" bIns="0" rtlCol="0" anchor="t">
            <a:spAutoFit/>
          </a:bodyPr>
          <a:lstStyle/>
          <a:p>
            <a:r>
              <a:t>A comprehensive analysis of software estimation techniques for restaurant management systems, including function point analysis, project scheduling, and cost estimation.</a:t>
            </a:r>
          </a:p>
        </p:txBody>
      </p:sp>
      <p:sp>
        <p:nvSpPr>
          <p:cNvPr id="18" name="Slide Number Placeholder 17">
            <a:extLst>
              <a:ext uri="{FF2B5EF4-FFF2-40B4-BE49-F238E27FC236}">
                <a16:creationId xmlns:a16="http://schemas.microsoft.com/office/drawing/2014/main" id="{F7D05263-D15C-958E-D4E3-326A3B68B95A}"/>
              </a:ext>
            </a:extLst>
          </p:cNvPr>
          <p:cNvSpPr>
            <a:spLocks noGrp="1"/>
          </p:cNvSpPr>
          <p:nvPr>
            <p:ph type="sldNum" sz="quarter" idx="12"/>
          </p:nvPr>
        </p:nvSpPr>
        <p:spPr/>
        <p:txBody>
          <a:bodyPr/>
          <a:lstStyle/>
          <a:p>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txBody>
            <a:bodyPr/>
            <a:lstStyle/>
            <a:p>
              <a:endParaRPr lang="en-US" b="1" dirty="0"/>
            </a:p>
          </p:txBody>
        </p:sp>
      </p:grpSp>
      <p:sp>
        <p:nvSpPr>
          <p:cNvPr id="6" name="TextBox 6"/>
          <p:cNvSpPr txBox="1"/>
          <p:nvPr/>
        </p:nvSpPr>
        <p:spPr>
          <a:xfrm>
            <a:off x="766911" y="583406"/>
            <a:ext cx="6895356" cy="572273"/>
          </a:xfrm>
          <a:prstGeom prst="rect">
            <a:avLst/>
          </a:prstGeom>
        </p:spPr>
        <p:txBody>
          <a:bodyPr lIns="0" tIns="0" rIns="0" bIns="0" rtlCol="0" anchor="t">
            <a:spAutoFit/>
          </a:bodyPr>
          <a:lstStyle/>
          <a:p>
            <a:r>
              <a:t>FUNCTION POINT ESTIMATION</a:t>
            </a:r>
          </a:p>
        </p:txBody>
      </p:sp>
      <p:sp>
        <p:nvSpPr>
          <p:cNvPr id="7" name="TextBox 7"/>
          <p:cNvSpPr txBox="1"/>
          <p:nvPr/>
        </p:nvSpPr>
        <p:spPr>
          <a:xfrm>
            <a:off x="766911" y="1658690"/>
            <a:ext cx="16754178" cy="1040926"/>
          </a:xfrm>
          <a:prstGeom prst="rect">
            <a:avLst/>
          </a:prstGeom>
        </p:spPr>
        <p:txBody>
          <a:bodyPr lIns="0" tIns="0" rIns="0" bIns="0" rtlCol="0" anchor="t">
            <a:spAutoFit/>
          </a:bodyPr>
          <a:lstStyle/>
          <a:p>
            <a:r>
              <a:t>Function Point Estimation (FPE) is a standard technique used to measure the size and complexity of a software application from the user's perspective. For the Restaurant Management System for Restaurants, FPE is used to evaluate the system's functional components, focusing on order processing, payment handling, inventory management, and reporting.</a:t>
            </a:r>
          </a:p>
        </p:txBody>
      </p:sp>
      <p:sp>
        <p:nvSpPr>
          <p:cNvPr id="8" name="TextBox 8"/>
          <p:cNvSpPr txBox="1"/>
          <p:nvPr/>
        </p:nvSpPr>
        <p:spPr>
          <a:xfrm>
            <a:off x="766911" y="3095922"/>
            <a:ext cx="6204348" cy="510480"/>
          </a:xfrm>
          <a:prstGeom prst="rect">
            <a:avLst/>
          </a:prstGeom>
        </p:spPr>
        <p:txBody>
          <a:bodyPr lIns="0" tIns="0" rIns="0" bIns="0" rtlCol="0" anchor="t">
            <a:spAutoFit/>
          </a:bodyPr>
          <a:lstStyle/>
          <a:p>
            <a:r>
              <a:t>Functionality, Input, Output</a:t>
            </a:r>
          </a:p>
        </p:txBody>
      </p:sp>
      <p:grpSp>
        <p:nvGrpSpPr>
          <p:cNvPr id="9" name="Group 9"/>
          <p:cNvGrpSpPr/>
          <p:nvPr/>
        </p:nvGrpSpPr>
        <p:grpSpPr>
          <a:xfrm>
            <a:off x="762149" y="3977134"/>
            <a:ext cx="16763702" cy="5719911"/>
            <a:chOff x="0" y="0"/>
            <a:chExt cx="22351603" cy="7626548"/>
          </a:xfrm>
        </p:grpSpPr>
        <p:sp>
          <p:nvSpPr>
            <p:cNvPr id="10" name="Freeform 10"/>
            <p:cNvSpPr/>
            <p:nvPr/>
          </p:nvSpPr>
          <p:spPr>
            <a:xfrm>
              <a:off x="0" y="0"/>
              <a:ext cx="22351493" cy="7626604"/>
            </a:xfrm>
            <a:custGeom>
              <a:avLst/>
              <a:gdLst/>
              <a:ahLst/>
              <a:cxnLst/>
              <a:rect l="l" t="t" r="r" b="b"/>
              <a:pathLst>
                <a:path w="22351493" h="7626604">
                  <a:moveTo>
                    <a:pt x="0" y="129032"/>
                  </a:moveTo>
                  <a:cubicBezTo>
                    <a:pt x="0" y="57785"/>
                    <a:pt x="57912" y="0"/>
                    <a:pt x="129159" y="0"/>
                  </a:cubicBezTo>
                  <a:lnTo>
                    <a:pt x="22222333" y="0"/>
                  </a:lnTo>
                  <a:lnTo>
                    <a:pt x="22222333" y="6350"/>
                  </a:lnTo>
                  <a:lnTo>
                    <a:pt x="22222333" y="0"/>
                  </a:lnTo>
                  <a:cubicBezTo>
                    <a:pt x="22293707" y="0"/>
                    <a:pt x="22351493" y="57785"/>
                    <a:pt x="22351493" y="129032"/>
                  </a:cubicBezTo>
                  <a:lnTo>
                    <a:pt x="22345143" y="129032"/>
                  </a:lnTo>
                  <a:lnTo>
                    <a:pt x="22351493" y="129032"/>
                  </a:lnTo>
                  <a:lnTo>
                    <a:pt x="22351493" y="7497445"/>
                  </a:lnTo>
                  <a:lnTo>
                    <a:pt x="22345143" y="7497445"/>
                  </a:lnTo>
                  <a:lnTo>
                    <a:pt x="22351493" y="7497445"/>
                  </a:lnTo>
                  <a:cubicBezTo>
                    <a:pt x="22351493" y="7568692"/>
                    <a:pt x="22293580" y="7626476"/>
                    <a:pt x="22222333" y="7626476"/>
                  </a:cubicBezTo>
                  <a:lnTo>
                    <a:pt x="22222333" y="7620126"/>
                  </a:lnTo>
                  <a:lnTo>
                    <a:pt x="22222333" y="7626476"/>
                  </a:lnTo>
                  <a:lnTo>
                    <a:pt x="129159" y="7626476"/>
                  </a:lnTo>
                  <a:lnTo>
                    <a:pt x="129159" y="7620126"/>
                  </a:lnTo>
                  <a:lnTo>
                    <a:pt x="129159" y="7626476"/>
                  </a:lnTo>
                  <a:cubicBezTo>
                    <a:pt x="57912" y="7626604"/>
                    <a:pt x="0" y="7568819"/>
                    <a:pt x="0" y="7497445"/>
                  </a:cubicBezTo>
                  <a:lnTo>
                    <a:pt x="0" y="129032"/>
                  </a:lnTo>
                  <a:lnTo>
                    <a:pt x="6350" y="129032"/>
                  </a:lnTo>
                  <a:lnTo>
                    <a:pt x="0" y="129032"/>
                  </a:lnTo>
                  <a:moveTo>
                    <a:pt x="12700" y="129032"/>
                  </a:moveTo>
                  <a:lnTo>
                    <a:pt x="12700" y="7497445"/>
                  </a:lnTo>
                  <a:lnTo>
                    <a:pt x="6350" y="7497445"/>
                  </a:lnTo>
                  <a:lnTo>
                    <a:pt x="12700" y="7497445"/>
                  </a:lnTo>
                  <a:cubicBezTo>
                    <a:pt x="12700" y="7561707"/>
                    <a:pt x="64897" y="7613776"/>
                    <a:pt x="129159" y="7613776"/>
                  </a:cubicBezTo>
                  <a:lnTo>
                    <a:pt x="22222333" y="7613776"/>
                  </a:lnTo>
                  <a:cubicBezTo>
                    <a:pt x="22286722" y="7613776"/>
                    <a:pt x="22338793" y="7561707"/>
                    <a:pt x="22338793" y="7497445"/>
                  </a:cubicBezTo>
                  <a:lnTo>
                    <a:pt x="22338793" y="129032"/>
                  </a:lnTo>
                  <a:cubicBezTo>
                    <a:pt x="22338793" y="64770"/>
                    <a:pt x="22286596" y="12700"/>
                    <a:pt x="22222333" y="12700"/>
                  </a:cubicBezTo>
                  <a:lnTo>
                    <a:pt x="129159" y="12700"/>
                  </a:lnTo>
                  <a:lnTo>
                    <a:pt x="129159" y="6350"/>
                  </a:lnTo>
                  <a:lnTo>
                    <a:pt x="129159" y="12700"/>
                  </a:lnTo>
                  <a:cubicBezTo>
                    <a:pt x="64897" y="12700"/>
                    <a:pt x="12700" y="64770"/>
                    <a:pt x="12700" y="129032"/>
                  </a:cubicBezTo>
                  <a:close/>
                </a:path>
              </a:pathLst>
            </a:custGeom>
            <a:solidFill>
              <a:srgbClr val="F8F8F8">
                <a:alpha val="392"/>
              </a:srgbClr>
            </a:solidFill>
          </p:spPr>
        </p:sp>
      </p:grpSp>
      <p:grpSp>
        <p:nvGrpSpPr>
          <p:cNvPr id="11" name="Group 11"/>
          <p:cNvGrpSpPr/>
          <p:nvPr/>
        </p:nvGrpSpPr>
        <p:grpSpPr>
          <a:xfrm>
            <a:off x="776436" y="3991421"/>
            <a:ext cx="16733341" cy="632371"/>
            <a:chOff x="0" y="0"/>
            <a:chExt cx="22311122" cy="843162"/>
          </a:xfrm>
        </p:grpSpPr>
        <p:sp>
          <p:nvSpPr>
            <p:cNvPr id="12" name="Freeform 1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13" name="TextBox 13"/>
          <p:cNvSpPr txBox="1"/>
          <p:nvPr/>
        </p:nvSpPr>
        <p:spPr>
          <a:xfrm>
            <a:off x="997297" y="4065686"/>
            <a:ext cx="5134272" cy="332655"/>
          </a:xfrm>
          <a:prstGeom prst="rect">
            <a:avLst/>
          </a:prstGeom>
        </p:spPr>
        <p:txBody>
          <a:bodyPr lIns="0" tIns="0" rIns="0" bIns="0" rtlCol="0" anchor="t">
            <a:spAutoFit/>
          </a:bodyPr>
          <a:lstStyle/>
          <a:p>
            <a:r>
              <a:t>Functionality</a:t>
            </a:r>
          </a:p>
        </p:txBody>
      </p:sp>
      <p:sp>
        <p:nvSpPr>
          <p:cNvPr id="14" name="TextBox 14"/>
          <p:cNvSpPr txBox="1"/>
          <p:nvPr/>
        </p:nvSpPr>
        <p:spPr>
          <a:xfrm>
            <a:off x="6579245" y="4065686"/>
            <a:ext cx="5129510" cy="332655"/>
          </a:xfrm>
          <a:prstGeom prst="rect">
            <a:avLst/>
          </a:prstGeom>
        </p:spPr>
        <p:txBody>
          <a:bodyPr lIns="0" tIns="0" rIns="0" bIns="0" rtlCol="0" anchor="t">
            <a:spAutoFit/>
          </a:bodyPr>
          <a:lstStyle/>
          <a:p>
            <a:r>
              <a:t>Input</a:t>
            </a:r>
          </a:p>
        </p:txBody>
      </p:sp>
      <p:sp>
        <p:nvSpPr>
          <p:cNvPr id="15" name="TextBox 15"/>
          <p:cNvSpPr txBox="1"/>
          <p:nvPr/>
        </p:nvSpPr>
        <p:spPr>
          <a:xfrm>
            <a:off x="12156430" y="4065686"/>
            <a:ext cx="5134273" cy="332655"/>
          </a:xfrm>
          <a:prstGeom prst="rect">
            <a:avLst/>
          </a:prstGeom>
        </p:spPr>
        <p:txBody>
          <a:bodyPr lIns="0" tIns="0" rIns="0" bIns="0" rtlCol="0" anchor="t">
            <a:spAutoFit/>
          </a:bodyPr>
          <a:lstStyle/>
          <a:p>
            <a:r>
              <a:t>Output</a:t>
            </a:r>
          </a:p>
        </p:txBody>
      </p:sp>
      <p:grpSp>
        <p:nvGrpSpPr>
          <p:cNvPr id="16" name="Group 16"/>
          <p:cNvGrpSpPr/>
          <p:nvPr/>
        </p:nvGrpSpPr>
        <p:grpSpPr>
          <a:xfrm>
            <a:off x="776436" y="4623792"/>
            <a:ext cx="16733341" cy="632371"/>
            <a:chOff x="0" y="0"/>
            <a:chExt cx="22311122" cy="843162"/>
          </a:xfrm>
        </p:grpSpPr>
        <p:sp>
          <p:nvSpPr>
            <p:cNvPr id="17" name="Freeform 1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18" name="TextBox 18"/>
          <p:cNvSpPr txBox="1"/>
          <p:nvPr/>
        </p:nvSpPr>
        <p:spPr>
          <a:xfrm>
            <a:off x="997297" y="4698057"/>
            <a:ext cx="5134272" cy="322781"/>
          </a:xfrm>
          <a:prstGeom prst="rect">
            <a:avLst/>
          </a:prstGeom>
        </p:spPr>
        <p:txBody>
          <a:bodyPr lIns="0" tIns="0" rIns="0" bIns="0" rtlCol="0" anchor="t">
            <a:spAutoFit/>
          </a:bodyPr>
          <a:lstStyle/>
          <a:p>
            <a:r>
              <a:t>1. User Management</a:t>
            </a:r>
          </a:p>
        </p:txBody>
      </p:sp>
      <p:sp>
        <p:nvSpPr>
          <p:cNvPr id="19" name="TextBox 19"/>
          <p:cNvSpPr txBox="1"/>
          <p:nvPr/>
        </p:nvSpPr>
        <p:spPr>
          <a:xfrm>
            <a:off x="6579245" y="4698057"/>
            <a:ext cx="5129510" cy="322781"/>
          </a:xfrm>
          <a:prstGeom prst="rect">
            <a:avLst/>
          </a:prstGeom>
        </p:spPr>
        <p:txBody>
          <a:bodyPr lIns="0" tIns="0" rIns="0" bIns="0" rtlCol="0" anchor="t">
            <a:spAutoFit/>
          </a:bodyPr>
          <a:lstStyle/>
          <a:p>
            <a:r>
              <a:t>User details, role assignments</a:t>
            </a:r>
          </a:p>
        </p:txBody>
      </p:sp>
      <p:sp>
        <p:nvSpPr>
          <p:cNvPr id="20" name="TextBox 20"/>
          <p:cNvSpPr txBox="1"/>
          <p:nvPr/>
        </p:nvSpPr>
        <p:spPr>
          <a:xfrm>
            <a:off x="12156430" y="4698057"/>
            <a:ext cx="5134273" cy="322781"/>
          </a:xfrm>
          <a:prstGeom prst="rect">
            <a:avLst/>
          </a:prstGeom>
        </p:spPr>
        <p:txBody>
          <a:bodyPr lIns="0" tIns="0" rIns="0" bIns="0" rtlCol="0" anchor="t">
            <a:spAutoFit/>
          </a:bodyPr>
          <a:lstStyle/>
          <a:p>
            <a:r>
              <a:t>Confirmation Message or Error Message</a:t>
            </a:r>
          </a:p>
        </p:txBody>
      </p:sp>
      <p:grpSp>
        <p:nvGrpSpPr>
          <p:cNvPr id="21" name="Group 21"/>
          <p:cNvGrpSpPr/>
          <p:nvPr/>
        </p:nvGrpSpPr>
        <p:grpSpPr>
          <a:xfrm>
            <a:off x="776436" y="5256162"/>
            <a:ext cx="16733341" cy="632371"/>
            <a:chOff x="0" y="0"/>
            <a:chExt cx="22311122" cy="843162"/>
          </a:xfrm>
        </p:grpSpPr>
        <p:sp>
          <p:nvSpPr>
            <p:cNvPr id="22" name="Freeform 2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23" name="TextBox 23"/>
          <p:cNvSpPr txBox="1"/>
          <p:nvPr/>
        </p:nvSpPr>
        <p:spPr>
          <a:xfrm>
            <a:off x="997297" y="5330429"/>
            <a:ext cx="5134272" cy="322781"/>
          </a:xfrm>
          <a:prstGeom prst="rect">
            <a:avLst/>
          </a:prstGeom>
        </p:spPr>
        <p:txBody>
          <a:bodyPr lIns="0" tIns="0" rIns="0" bIns="0" rtlCol="0" anchor="t">
            <a:spAutoFit/>
          </a:bodyPr>
          <a:lstStyle/>
          <a:p>
            <a:r>
              <a:t>2. Menu Management</a:t>
            </a:r>
          </a:p>
        </p:txBody>
      </p:sp>
      <p:sp>
        <p:nvSpPr>
          <p:cNvPr id="24" name="TextBox 24"/>
          <p:cNvSpPr txBox="1"/>
          <p:nvPr/>
        </p:nvSpPr>
        <p:spPr>
          <a:xfrm>
            <a:off x="6579245" y="5330429"/>
            <a:ext cx="5129510" cy="322781"/>
          </a:xfrm>
          <a:prstGeom prst="rect">
            <a:avLst/>
          </a:prstGeom>
        </p:spPr>
        <p:txBody>
          <a:bodyPr lIns="0" tIns="0" rIns="0" bIns="0" rtlCol="0" anchor="t">
            <a:spAutoFit/>
          </a:bodyPr>
          <a:lstStyle/>
          <a:p>
            <a:r>
              <a:t>Menu items, pricing, categories</a:t>
            </a:r>
          </a:p>
        </p:txBody>
      </p:sp>
      <p:sp>
        <p:nvSpPr>
          <p:cNvPr id="25" name="TextBox 25"/>
          <p:cNvSpPr txBox="1"/>
          <p:nvPr/>
        </p:nvSpPr>
        <p:spPr>
          <a:xfrm>
            <a:off x="12156430" y="5330429"/>
            <a:ext cx="5134273" cy="322781"/>
          </a:xfrm>
          <a:prstGeom prst="rect">
            <a:avLst/>
          </a:prstGeom>
        </p:spPr>
        <p:txBody>
          <a:bodyPr lIns="0" tIns="0" rIns="0" bIns="0" rtlCol="0" anchor="t">
            <a:spAutoFit/>
          </a:bodyPr>
          <a:lstStyle/>
          <a:p>
            <a:r>
              <a:t>Confirmation Message or Error Message</a:t>
            </a:r>
          </a:p>
        </p:txBody>
      </p:sp>
      <p:grpSp>
        <p:nvGrpSpPr>
          <p:cNvPr id="26" name="Group 26"/>
          <p:cNvGrpSpPr/>
          <p:nvPr/>
        </p:nvGrpSpPr>
        <p:grpSpPr>
          <a:xfrm>
            <a:off x="776436" y="5888534"/>
            <a:ext cx="16733341" cy="632371"/>
            <a:chOff x="0" y="0"/>
            <a:chExt cx="22311122" cy="843162"/>
          </a:xfrm>
        </p:grpSpPr>
        <p:sp>
          <p:nvSpPr>
            <p:cNvPr id="27" name="Freeform 2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28" name="TextBox 28"/>
          <p:cNvSpPr txBox="1"/>
          <p:nvPr/>
        </p:nvSpPr>
        <p:spPr>
          <a:xfrm>
            <a:off x="997297" y="5962799"/>
            <a:ext cx="5134272" cy="322781"/>
          </a:xfrm>
          <a:prstGeom prst="rect">
            <a:avLst/>
          </a:prstGeom>
        </p:spPr>
        <p:txBody>
          <a:bodyPr lIns="0" tIns="0" rIns="0" bIns="0" rtlCol="0" anchor="t">
            <a:spAutoFit/>
          </a:bodyPr>
          <a:lstStyle/>
          <a:p>
            <a:r>
              <a:t>3. Order Processing</a:t>
            </a:r>
          </a:p>
        </p:txBody>
      </p:sp>
      <p:sp>
        <p:nvSpPr>
          <p:cNvPr id="29" name="TextBox 29"/>
          <p:cNvSpPr txBox="1"/>
          <p:nvPr/>
        </p:nvSpPr>
        <p:spPr>
          <a:xfrm>
            <a:off x="6579245" y="5962799"/>
            <a:ext cx="5129510" cy="322781"/>
          </a:xfrm>
          <a:prstGeom prst="rect">
            <a:avLst/>
          </a:prstGeom>
        </p:spPr>
        <p:txBody>
          <a:bodyPr lIns="0" tIns="0" rIns="0" bIns="0" rtlCol="0" anchor="t">
            <a:spAutoFit/>
          </a:bodyPr>
          <a:lstStyle/>
          <a:p>
            <a:r>
              <a:t>Order details, customer preferences</a:t>
            </a:r>
          </a:p>
        </p:txBody>
      </p:sp>
      <p:sp>
        <p:nvSpPr>
          <p:cNvPr id="30" name="TextBox 30"/>
          <p:cNvSpPr txBox="1"/>
          <p:nvPr/>
        </p:nvSpPr>
        <p:spPr>
          <a:xfrm>
            <a:off x="12156430" y="5962799"/>
            <a:ext cx="5134273" cy="322781"/>
          </a:xfrm>
          <a:prstGeom prst="rect">
            <a:avLst/>
          </a:prstGeom>
        </p:spPr>
        <p:txBody>
          <a:bodyPr lIns="0" tIns="0" rIns="0" bIns="0" rtlCol="0" anchor="t">
            <a:spAutoFit/>
          </a:bodyPr>
          <a:lstStyle/>
          <a:p>
            <a:r>
              <a:t>Order confirmation, receipt</a:t>
            </a:r>
          </a:p>
        </p:txBody>
      </p:sp>
      <p:grpSp>
        <p:nvGrpSpPr>
          <p:cNvPr id="31" name="Group 31"/>
          <p:cNvGrpSpPr/>
          <p:nvPr/>
        </p:nvGrpSpPr>
        <p:grpSpPr>
          <a:xfrm>
            <a:off x="776436" y="6520904"/>
            <a:ext cx="16733341" cy="632371"/>
            <a:chOff x="0" y="0"/>
            <a:chExt cx="22311122" cy="843162"/>
          </a:xfrm>
        </p:grpSpPr>
        <p:sp>
          <p:nvSpPr>
            <p:cNvPr id="32" name="Freeform 3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33" name="TextBox 33"/>
          <p:cNvSpPr txBox="1"/>
          <p:nvPr/>
        </p:nvSpPr>
        <p:spPr>
          <a:xfrm>
            <a:off x="997297" y="6595170"/>
            <a:ext cx="5134272" cy="322781"/>
          </a:xfrm>
          <a:prstGeom prst="rect">
            <a:avLst/>
          </a:prstGeom>
        </p:spPr>
        <p:txBody>
          <a:bodyPr lIns="0" tIns="0" rIns="0" bIns="0" rtlCol="0" anchor="t">
            <a:spAutoFit/>
          </a:bodyPr>
          <a:lstStyle/>
          <a:p>
            <a:r>
              <a:t>4. Payment &amp; Receipts</a:t>
            </a:r>
          </a:p>
        </p:txBody>
      </p:sp>
      <p:sp>
        <p:nvSpPr>
          <p:cNvPr id="34" name="TextBox 34"/>
          <p:cNvSpPr txBox="1"/>
          <p:nvPr/>
        </p:nvSpPr>
        <p:spPr>
          <a:xfrm>
            <a:off x="6579245" y="6595170"/>
            <a:ext cx="5129510" cy="322781"/>
          </a:xfrm>
          <a:prstGeom prst="rect">
            <a:avLst/>
          </a:prstGeom>
        </p:spPr>
        <p:txBody>
          <a:bodyPr lIns="0" tIns="0" rIns="0" bIns="0" rtlCol="0" anchor="t">
            <a:spAutoFit/>
          </a:bodyPr>
          <a:lstStyle/>
          <a:p>
            <a:r>
              <a:t>Payment details (cash, card, etc.)</a:t>
            </a:r>
          </a:p>
        </p:txBody>
      </p:sp>
      <p:sp>
        <p:nvSpPr>
          <p:cNvPr id="35" name="TextBox 35"/>
          <p:cNvSpPr txBox="1"/>
          <p:nvPr/>
        </p:nvSpPr>
        <p:spPr>
          <a:xfrm>
            <a:off x="12156430" y="6595170"/>
            <a:ext cx="5134273" cy="322781"/>
          </a:xfrm>
          <a:prstGeom prst="rect">
            <a:avLst/>
          </a:prstGeom>
        </p:spPr>
        <p:txBody>
          <a:bodyPr lIns="0" tIns="0" rIns="0" bIns="0" rtlCol="0" anchor="t">
            <a:spAutoFit/>
          </a:bodyPr>
          <a:lstStyle/>
          <a:p>
            <a:r>
              <a:t>Payment confirmation, receipt</a:t>
            </a:r>
          </a:p>
        </p:txBody>
      </p:sp>
      <p:grpSp>
        <p:nvGrpSpPr>
          <p:cNvPr id="36" name="Group 36"/>
          <p:cNvGrpSpPr/>
          <p:nvPr/>
        </p:nvGrpSpPr>
        <p:grpSpPr>
          <a:xfrm>
            <a:off x="776436" y="7153275"/>
            <a:ext cx="16733341" cy="632371"/>
            <a:chOff x="0" y="0"/>
            <a:chExt cx="22311122" cy="843162"/>
          </a:xfrm>
        </p:grpSpPr>
        <p:sp>
          <p:nvSpPr>
            <p:cNvPr id="37" name="Freeform 3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38" name="TextBox 38"/>
          <p:cNvSpPr txBox="1"/>
          <p:nvPr/>
        </p:nvSpPr>
        <p:spPr>
          <a:xfrm>
            <a:off x="997297" y="7227540"/>
            <a:ext cx="5134272" cy="322781"/>
          </a:xfrm>
          <a:prstGeom prst="rect">
            <a:avLst/>
          </a:prstGeom>
        </p:spPr>
        <p:txBody>
          <a:bodyPr lIns="0" tIns="0" rIns="0" bIns="0" rtlCol="0" anchor="t">
            <a:spAutoFit/>
          </a:bodyPr>
          <a:lstStyle/>
          <a:p>
            <a:r>
              <a:t>5. Inventory Management</a:t>
            </a:r>
          </a:p>
        </p:txBody>
      </p:sp>
      <p:sp>
        <p:nvSpPr>
          <p:cNvPr id="39" name="TextBox 39"/>
          <p:cNvSpPr txBox="1"/>
          <p:nvPr/>
        </p:nvSpPr>
        <p:spPr>
          <a:xfrm>
            <a:off x="6579245" y="7227540"/>
            <a:ext cx="5129510" cy="322781"/>
          </a:xfrm>
          <a:prstGeom prst="rect">
            <a:avLst/>
          </a:prstGeom>
        </p:spPr>
        <p:txBody>
          <a:bodyPr lIns="0" tIns="0" rIns="0" bIns="0" rtlCol="0" anchor="t">
            <a:spAutoFit/>
          </a:bodyPr>
          <a:lstStyle/>
          <a:p>
            <a:r>
              <a:t>Stock levels, menu items, orders</a:t>
            </a:r>
          </a:p>
        </p:txBody>
      </p:sp>
      <p:sp>
        <p:nvSpPr>
          <p:cNvPr id="40" name="TextBox 40"/>
          <p:cNvSpPr txBox="1"/>
          <p:nvPr/>
        </p:nvSpPr>
        <p:spPr>
          <a:xfrm>
            <a:off x="12156430" y="7227540"/>
            <a:ext cx="5134273" cy="322781"/>
          </a:xfrm>
          <a:prstGeom prst="rect">
            <a:avLst/>
          </a:prstGeom>
        </p:spPr>
        <p:txBody>
          <a:bodyPr lIns="0" tIns="0" rIns="0" bIns="0" rtlCol="0" anchor="t">
            <a:spAutoFit/>
          </a:bodyPr>
          <a:lstStyle/>
          <a:p>
            <a:r>
              <a:t>Inventory updates, low stock alerts</a:t>
            </a:r>
          </a:p>
        </p:txBody>
      </p:sp>
      <p:grpSp>
        <p:nvGrpSpPr>
          <p:cNvPr id="41" name="Group 41"/>
          <p:cNvGrpSpPr/>
          <p:nvPr/>
        </p:nvGrpSpPr>
        <p:grpSpPr>
          <a:xfrm>
            <a:off x="776436" y="7785646"/>
            <a:ext cx="16733341" cy="632371"/>
            <a:chOff x="0" y="0"/>
            <a:chExt cx="22311122" cy="843162"/>
          </a:xfrm>
        </p:grpSpPr>
        <p:sp>
          <p:nvSpPr>
            <p:cNvPr id="42" name="Freeform 4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43" name="TextBox 43"/>
          <p:cNvSpPr txBox="1"/>
          <p:nvPr/>
        </p:nvSpPr>
        <p:spPr>
          <a:xfrm>
            <a:off x="997297" y="7859911"/>
            <a:ext cx="5134272" cy="322781"/>
          </a:xfrm>
          <a:prstGeom prst="rect">
            <a:avLst/>
          </a:prstGeom>
        </p:spPr>
        <p:txBody>
          <a:bodyPr lIns="0" tIns="0" rIns="0" bIns="0" rtlCol="0" anchor="t">
            <a:spAutoFit/>
          </a:bodyPr>
          <a:lstStyle/>
          <a:p>
            <a:r>
              <a:t>6. Sales Reporting</a:t>
            </a:r>
          </a:p>
        </p:txBody>
      </p:sp>
      <p:sp>
        <p:nvSpPr>
          <p:cNvPr id="44" name="TextBox 44"/>
          <p:cNvSpPr txBox="1"/>
          <p:nvPr/>
        </p:nvSpPr>
        <p:spPr>
          <a:xfrm>
            <a:off x="6579245" y="7859911"/>
            <a:ext cx="5129510" cy="322781"/>
          </a:xfrm>
          <a:prstGeom prst="rect">
            <a:avLst/>
          </a:prstGeom>
        </p:spPr>
        <p:txBody>
          <a:bodyPr lIns="0" tIns="0" rIns="0" bIns="0" rtlCol="0" anchor="t">
            <a:spAutoFit/>
          </a:bodyPr>
          <a:lstStyle/>
          <a:p>
            <a:r>
              <a:t>Date range, report type</a:t>
            </a:r>
          </a:p>
        </p:txBody>
      </p:sp>
      <p:sp>
        <p:nvSpPr>
          <p:cNvPr id="45" name="TextBox 45"/>
          <p:cNvSpPr txBox="1"/>
          <p:nvPr/>
        </p:nvSpPr>
        <p:spPr>
          <a:xfrm>
            <a:off x="12156430" y="7859911"/>
            <a:ext cx="5134273" cy="322781"/>
          </a:xfrm>
          <a:prstGeom prst="rect">
            <a:avLst/>
          </a:prstGeom>
        </p:spPr>
        <p:txBody>
          <a:bodyPr lIns="0" tIns="0" rIns="0" bIns="0" rtlCol="0" anchor="t">
            <a:spAutoFit/>
          </a:bodyPr>
          <a:lstStyle/>
          <a:p>
            <a:r>
              <a:t>Sales report (daily, weekly, monthly)</a:t>
            </a:r>
          </a:p>
        </p:txBody>
      </p:sp>
      <p:grpSp>
        <p:nvGrpSpPr>
          <p:cNvPr id="46" name="Group 46"/>
          <p:cNvGrpSpPr/>
          <p:nvPr/>
        </p:nvGrpSpPr>
        <p:grpSpPr>
          <a:xfrm>
            <a:off x="776436" y="8418016"/>
            <a:ext cx="16733341" cy="632371"/>
            <a:chOff x="0" y="0"/>
            <a:chExt cx="22311122" cy="843162"/>
          </a:xfrm>
        </p:grpSpPr>
        <p:sp>
          <p:nvSpPr>
            <p:cNvPr id="47" name="Freeform 4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48" name="TextBox 48"/>
          <p:cNvSpPr txBox="1"/>
          <p:nvPr/>
        </p:nvSpPr>
        <p:spPr>
          <a:xfrm>
            <a:off x="997297" y="8492281"/>
            <a:ext cx="5134272" cy="322781"/>
          </a:xfrm>
          <a:prstGeom prst="rect">
            <a:avLst/>
          </a:prstGeom>
        </p:spPr>
        <p:txBody>
          <a:bodyPr lIns="0" tIns="0" rIns="0" bIns="0" rtlCol="0" anchor="t">
            <a:spAutoFit/>
          </a:bodyPr>
          <a:lstStyle/>
          <a:p>
            <a:r>
              <a:t>7. End of Day Process</a:t>
            </a:r>
          </a:p>
        </p:txBody>
      </p:sp>
      <p:sp>
        <p:nvSpPr>
          <p:cNvPr id="49" name="TextBox 49"/>
          <p:cNvSpPr txBox="1"/>
          <p:nvPr/>
        </p:nvSpPr>
        <p:spPr>
          <a:xfrm>
            <a:off x="6579245" y="8492281"/>
            <a:ext cx="5129510" cy="322781"/>
          </a:xfrm>
          <a:prstGeom prst="rect">
            <a:avLst/>
          </a:prstGeom>
        </p:spPr>
        <p:txBody>
          <a:bodyPr lIns="0" tIns="0" rIns="0" bIns="0" rtlCol="0" anchor="t">
            <a:spAutoFit/>
          </a:bodyPr>
          <a:lstStyle/>
          <a:p>
            <a:r>
              <a:t>Day-end command</a:t>
            </a:r>
          </a:p>
        </p:txBody>
      </p:sp>
      <p:sp>
        <p:nvSpPr>
          <p:cNvPr id="50" name="TextBox 50"/>
          <p:cNvSpPr txBox="1"/>
          <p:nvPr/>
        </p:nvSpPr>
        <p:spPr>
          <a:xfrm>
            <a:off x="12156430" y="8492281"/>
            <a:ext cx="5134273" cy="322781"/>
          </a:xfrm>
          <a:prstGeom prst="rect">
            <a:avLst/>
          </a:prstGeom>
        </p:spPr>
        <p:txBody>
          <a:bodyPr lIns="0" tIns="0" rIns="0" bIns="0" rtlCol="0" anchor="t">
            <a:spAutoFit/>
          </a:bodyPr>
          <a:lstStyle/>
          <a:p>
            <a:r>
              <a:t>Database backup, sales export</a:t>
            </a:r>
          </a:p>
        </p:txBody>
      </p:sp>
      <p:grpSp>
        <p:nvGrpSpPr>
          <p:cNvPr id="51" name="Group 51"/>
          <p:cNvGrpSpPr/>
          <p:nvPr/>
        </p:nvGrpSpPr>
        <p:grpSpPr>
          <a:xfrm>
            <a:off x="776436" y="9050388"/>
            <a:ext cx="16733341" cy="632371"/>
            <a:chOff x="0" y="0"/>
            <a:chExt cx="22311122" cy="843162"/>
          </a:xfrm>
        </p:grpSpPr>
        <p:sp>
          <p:nvSpPr>
            <p:cNvPr id="52" name="Freeform 5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53" name="TextBox 53"/>
          <p:cNvSpPr txBox="1"/>
          <p:nvPr/>
        </p:nvSpPr>
        <p:spPr>
          <a:xfrm>
            <a:off x="997297" y="9124652"/>
            <a:ext cx="5134272" cy="322781"/>
          </a:xfrm>
          <a:prstGeom prst="rect">
            <a:avLst/>
          </a:prstGeom>
        </p:spPr>
        <p:txBody>
          <a:bodyPr lIns="0" tIns="0" rIns="0" bIns="0" rtlCol="0" anchor="t">
            <a:spAutoFit/>
          </a:bodyPr>
          <a:lstStyle/>
          <a:p>
            <a:r>
              <a:t>8. Customer Feedback</a:t>
            </a:r>
          </a:p>
        </p:txBody>
      </p:sp>
      <p:sp>
        <p:nvSpPr>
          <p:cNvPr id="54" name="TextBox 54"/>
          <p:cNvSpPr txBox="1"/>
          <p:nvPr/>
        </p:nvSpPr>
        <p:spPr>
          <a:xfrm>
            <a:off x="6579245" y="9124652"/>
            <a:ext cx="5129510" cy="322781"/>
          </a:xfrm>
          <a:prstGeom prst="rect">
            <a:avLst/>
          </a:prstGeom>
        </p:spPr>
        <p:txBody>
          <a:bodyPr lIns="0" tIns="0" rIns="0" bIns="0" rtlCol="0" anchor="t">
            <a:spAutoFit/>
          </a:bodyPr>
          <a:lstStyle/>
          <a:p>
            <a:r>
              <a:t>Customer feedback</a:t>
            </a:r>
          </a:p>
        </p:txBody>
      </p:sp>
      <p:sp>
        <p:nvSpPr>
          <p:cNvPr id="55" name="TextBox 55"/>
          <p:cNvSpPr txBox="1"/>
          <p:nvPr/>
        </p:nvSpPr>
        <p:spPr>
          <a:xfrm>
            <a:off x="12156430" y="9124652"/>
            <a:ext cx="5134273" cy="322781"/>
          </a:xfrm>
          <a:prstGeom prst="rect">
            <a:avLst/>
          </a:prstGeom>
        </p:spPr>
        <p:txBody>
          <a:bodyPr lIns="0" tIns="0" rIns="0" bIns="0" rtlCol="0" anchor="t">
            <a:spAutoFit/>
          </a:bodyPr>
          <a:lstStyle/>
          <a:p>
            <a:r>
              <a:t>Feedback confirmation, report</a:t>
            </a:r>
          </a:p>
        </p:txBody>
      </p:sp>
      <p:sp>
        <p:nvSpPr>
          <p:cNvPr id="64" name="Slide Number Placeholder 63">
            <a:extLst>
              <a:ext uri="{FF2B5EF4-FFF2-40B4-BE49-F238E27FC236}">
                <a16:creationId xmlns:a16="http://schemas.microsoft.com/office/drawing/2014/main" id="{2598322E-9EF2-030F-4D3B-350A988B8F67}"/>
              </a:ext>
            </a:extLst>
          </p:cNvPr>
          <p:cNvSpPr>
            <a:spLocks noGrp="1"/>
          </p:cNvSpPr>
          <p:nvPr>
            <p:ph type="sldNum" sz="quarter" idx="12"/>
          </p:nvPr>
        </p:nvSpPr>
        <p:spPr/>
        <p:txBody>
          <a:bodyPr/>
          <a:lstStyle/>
          <a:p>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496044" y="494407"/>
            <a:ext cx="3759696" cy="381386"/>
          </a:xfrm>
          <a:prstGeom prst="rect">
            <a:avLst/>
          </a:prstGeom>
        </p:spPr>
        <p:txBody>
          <a:bodyPr lIns="0" tIns="0" rIns="0" bIns="0" rtlCol="0" anchor="t">
            <a:spAutoFit/>
          </a:bodyPr>
          <a:lstStyle/>
          <a:p>
            <a:r>
              <a:t>IDENTIFY COMPLEXITY</a:t>
            </a:r>
          </a:p>
        </p:txBody>
      </p:sp>
      <p:sp>
        <p:nvSpPr>
          <p:cNvPr id="7" name="TextBox 7"/>
          <p:cNvSpPr txBox="1"/>
          <p:nvPr/>
        </p:nvSpPr>
        <p:spPr>
          <a:xfrm>
            <a:off x="496044" y="1149846"/>
            <a:ext cx="7454205" cy="296556"/>
          </a:xfrm>
          <a:prstGeom prst="rect">
            <a:avLst/>
          </a:prstGeom>
        </p:spPr>
        <p:txBody>
          <a:bodyPr lIns="0" tIns="0" rIns="0" bIns="0" rtlCol="0" anchor="t">
            <a:spAutoFit/>
          </a:bodyPr>
          <a:lstStyle/>
          <a:p>
            <a:r>
              <a:t>Identify Complexity of Transaction Functions (TF)</a:t>
            </a:r>
          </a:p>
        </p:txBody>
      </p:sp>
      <p:grpSp>
        <p:nvGrpSpPr>
          <p:cNvPr id="8" name="Group 8"/>
          <p:cNvGrpSpPr/>
          <p:nvPr/>
        </p:nvGrpSpPr>
        <p:grpSpPr>
          <a:xfrm>
            <a:off x="491281" y="1731020"/>
            <a:ext cx="17305436" cy="3771008"/>
            <a:chOff x="0" y="0"/>
            <a:chExt cx="23073915" cy="5028010"/>
          </a:xfrm>
        </p:grpSpPr>
        <p:sp>
          <p:nvSpPr>
            <p:cNvPr id="9" name="Freeform 9"/>
            <p:cNvSpPr/>
            <p:nvPr/>
          </p:nvSpPr>
          <p:spPr>
            <a:xfrm>
              <a:off x="0" y="0"/>
              <a:ext cx="23073868" cy="5027930"/>
            </a:xfrm>
            <a:custGeom>
              <a:avLst/>
              <a:gdLst/>
              <a:ahLst/>
              <a:cxnLst/>
              <a:rect l="l" t="t" r="r" b="b"/>
              <a:pathLst>
                <a:path w="23073868" h="5027930">
                  <a:moveTo>
                    <a:pt x="0" y="85725"/>
                  </a:moveTo>
                  <a:cubicBezTo>
                    <a:pt x="0" y="38354"/>
                    <a:pt x="38481" y="0"/>
                    <a:pt x="85852" y="0"/>
                  </a:cubicBezTo>
                  <a:lnTo>
                    <a:pt x="22988015" y="0"/>
                  </a:lnTo>
                  <a:lnTo>
                    <a:pt x="22988015" y="6350"/>
                  </a:lnTo>
                  <a:lnTo>
                    <a:pt x="22988015" y="0"/>
                  </a:lnTo>
                  <a:cubicBezTo>
                    <a:pt x="23035386" y="0"/>
                    <a:pt x="23073868" y="38354"/>
                    <a:pt x="23073868" y="85725"/>
                  </a:cubicBezTo>
                  <a:lnTo>
                    <a:pt x="23067518" y="85725"/>
                  </a:lnTo>
                  <a:lnTo>
                    <a:pt x="23073868" y="85725"/>
                  </a:lnTo>
                  <a:lnTo>
                    <a:pt x="23073868" y="4942205"/>
                  </a:lnTo>
                  <a:lnTo>
                    <a:pt x="23067518" y="4942205"/>
                  </a:lnTo>
                  <a:lnTo>
                    <a:pt x="23073868" y="4942205"/>
                  </a:lnTo>
                  <a:cubicBezTo>
                    <a:pt x="23073868" y="4989576"/>
                    <a:pt x="23035386" y="5027930"/>
                    <a:pt x="22988015" y="5027930"/>
                  </a:cubicBezTo>
                  <a:lnTo>
                    <a:pt x="22988015" y="5021580"/>
                  </a:lnTo>
                  <a:lnTo>
                    <a:pt x="22988015" y="5027930"/>
                  </a:lnTo>
                  <a:lnTo>
                    <a:pt x="85852" y="5027930"/>
                  </a:lnTo>
                  <a:lnTo>
                    <a:pt x="85852" y="5021580"/>
                  </a:lnTo>
                  <a:lnTo>
                    <a:pt x="85852" y="5027930"/>
                  </a:lnTo>
                  <a:cubicBezTo>
                    <a:pt x="38481" y="5027930"/>
                    <a:pt x="0" y="4989576"/>
                    <a:pt x="0" y="4942205"/>
                  </a:cubicBezTo>
                  <a:lnTo>
                    <a:pt x="0" y="85725"/>
                  </a:lnTo>
                  <a:lnTo>
                    <a:pt x="6350" y="85725"/>
                  </a:lnTo>
                  <a:lnTo>
                    <a:pt x="0" y="85725"/>
                  </a:lnTo>
                  <a:moveTo>
                    <a:pt x="12700" y="85725"/>
                  </a:moveTo>
                  <a:lnTo>
                    <a:pt x="12700" y="4942205"/>
                  </a:lnTo>
                  <a:lnTo>
                    <a:pt x="6350" y="4942205"/>
                  </a:lnTo>
                  <a:lnTo>
                    <a:pt x="12700" y="4942205"/>
                  </a:lnTo>
                  <a:cubicBezTo>
                    <a:pt x="12700" y="4982591"/>
                    <a:pt x="45466" y="5015230"/>
                    <a:pt x="85852" y="5015230"/>
                  </a:cubicBezTo>
                  <a:lnTo>
                    <a:pt x="22988015" y="5015230"/>
                  </a:lnTo>
                  <a:cubicBezTo>
                    <a:pt x="23028402" y="5015230"/>
                    <a:pt x="23061168" y="4982464"/>
                    <a:pt x="23061168" y="4942205"/>
                  </a:cubicBezTo>
                  <a:lnTo>
                    <a:pt x="23061168" y="85725"/>
                  </a:lnTo>
                  <a:cubicBezTo>
                    <a:pt x="23061168" y="45339"/>
                    <a:pt x="23028402" y="12700"/>
                    <a:pt x="22988015" y="12700"/>
                  </a:cubicBezTo>
                  <a:lnTo>
                    <a:pt x="85852" y="12700"/>
                  </a:lnTo>
                  <a:lnTo>
                    <a:pt x="85852" y="6350"/>
                  </a:lnTo>
                  <a:lnTo>
                    <a:pt x="85852" y="12700"/>
                  </a:lnTo>
                  <a:cubicBezTo>
                    <a:pt x="45466" y="12700"/>
                    <a:pt x="12700" y="45466"/>
                    <a:pt x="12700" y="85725"/>
                  </a:cubicBezTo>
                  <a:close/>
                </a:path>
              </a:pathLst>
            </a:custGeom>
            <a:solidFill>
              <a:srgbClr val="F8F8F8">
                <a:alpha val="392"/>
              </a:srgbClr>
            </a:solidFill>
          </p:spPr>
        </p:sp>
      </p:grpSp>
      <p:grpSp>
        <p:nvGrpSpPr>
          <p:cNvPr id="10" name="Group 10"/>
          <p:cNvGrpSpPr/>
          <p:nvPr/>
        </p:nvGrpSpPr>
        <p:grpSpPr>
          <a:xfrm>
            <a:off x="505569" y="1745307"/>
            <a:ext cx="17276861" cy="415826"/>
            <a:chOff x="0" y="0"/>
            <a:chExt cx="23035815" cy="554435"/>
          </a:xfrm>
        </p:grpSpPr>
        <p:sp>
          <p:nvSpPr>
            <p:cNvPr id="11" name="Freeform 11"/>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2" name="TextBox 12"/>
          <p:cNvSpPr txBox="1"/>
          <p:nvPr/>
        </p:nvSpPr>
        <p:spPr>
          <a:xfrm>
            <a:off x="647402" y="1792189"/>
            <a:ext cx="3167211" cy="209096"/>
          </a:xfrm>
          <a:prstGeom prst="rect">
            <a:avLst/>
          </a:prstGeom>
        </p:spPr>
        <p:txBody>
          <a:bodyPr lIns="0" tIns="0" rIns="0" bIns="0" rtlCol="0" anchor="t">
            <a:spAutoFit/>
          </a:bodyPr>
          <a:lstStyle/>
          <a:p>
            <a:r>
              <a:t>Functionality</a:t>
            </a:r>
          </a:p>
        </p:txBody>
      </p:sp>
      <p:sp>
        <p:nvSpPr>
          <p:cNvPr id="13" name="TextBox 13"/>
          <p:cNvSpPr txBox="1"/>
          <p:nvPr/>
        </p:nvSpPr>
        <p:spPr>
          <a:xfrm>
            <a:off x="4107507" y="1792189"/>
            <a:ext cx="3162449" cy="209096"/>
          </a:xfrm>
          <a:prstGeom prst="rect">
            <a:avLst/>
          </a:prstGeom>
        </p:spPr>
        <p:txBody>
          <a:bodyPr lIns="0" tIns="0" rIns="0" bIns="0" rtlCol="0" anchor="t">
            <a:spAutoFit/>
          </a:bodyPr>
          <a:lstStyle/>
          <a:p>
            <a:r>
              <a:t>Input</a:t>
            </a:r>
          </a:p>
        </p:txBody>
      </p:sp>
      <p:sp>
        <p:nvSpPr>
          <p:cNvPr id="14" name="TextBox 14"/>
          <p:cNvSpPr txBox="1"/>
          <p:nvPr/>
        </p:nvSpPr>
        <p:spPr>
          <a:xfrm>
            <a:off x="7562850" y="1792189"/>
            <a:ext cx="3162449" cy="209096"/>
          </a:xfrm>
          <a:prstGeom prst="rect">
            <a:avLst/>
          </a:prstGeom>
        </p:spPr>
        <p:txBody>
          <a:bodyPr lIns="0" tIns="0" rIns="0" bIns="0" rtlCol="0" anchor="t">
            <a:spAutoFit/>
          </a:bodyPr>
          <a:lstStyle/>
          <a:p>
            <a:r>
              <a:t>Output</a:t>
            </a:r>
          </a:p>
        </p:txBody>
      </p:sp>
      <p:sp>
        <p:nvSpPr>
          <p:cNvPr id="15" name="TextBox 15"/>
          <p:cNvSpPr txBox="1"/>
          <p:nvPr/>
        </p:nvSpPr>
        <p:spPr>
          <a:xfrm>
            <a:off x="11018192" y="1792189"/>
            <a:ext cx="3162449" cy="209096"/>
          </a:xfrm>
          <a:prstGeom prst="rect">
            <a:avLst/>
          </a:prstGeom>
        </p:spPr>
        <p:txBody>
          <a:bodyPr lIns="0" tIns="0" rIns="0" bIns="0" rtlCol="0" anchor="t">
            <a:spAutoFit/>
          </a:bodyPr>
          <a:lstStyle/>
          <a:p>
            <a:r>
              <a:t>Functionality</a:t>
            </a:r>
          </a:p>
        </p:txBody>
      </p:sp>
      <p:sp>
        <p:nvSpPr>
          <p:cNvPr id="16" name="TextBox 16"/>
          <p:cNvSpPr txBox="1"/>
          <p:nvPr/>
        </p:nvSpPr>
        <p:spPr>
          <a:xfrm>
            <a:off x="14473535" y="1792189"/>
            <a:ext cx="3167211" cy="209096"/>
          </a:xfrm>
          <a:prstGeom prst="rect">
            <a:avLst/>
          </a:prstGeom>
        </p:spPr>
        <p:txBody>
          <a:bodyPr lIns="0" tIns="0" rIns="0" bIns="0" rtlCol="0" anchor="t">
            <a:spAutoFit/>
          </a:bodyPr>
          <a:lstStyle/>
          <a:p>
            <a:r>
              <a:t>Input</a:t>
            </a:r>
          </a:p>
        </p:txBody>
      </p:sp>
      <p:grpSp>
        <p:nvGrpSpPr>
          <p:cNvPr id="17" name="Group 17"/>
          <p:cNvGrpSpPr/>
          <p:nvPr/>
        </p:nvGrpSpPr>
        <p:grpSpPr>
          <a:xfrm>
            <a:off x="505569" y="2161134"/>
            <a:ext cx="17276861" cy="415826"/>
            <a:chOff x="0" y="0"/>
            <a:chExt cx="23035815" cy="554435"/>
          </a:xfrm>
        </p:grpSpPr>
        <p:sp>
          <p:nvSpPr>
            <p:cNvPr id="18" name="Freeform 18"/>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9" name="TextBox 19"/>
          <p:cNvSpPr txBox="1"/>
          <p:nvPr/>
        </p:nvSpPr>
        <p:spPr>
          <a:xfrm>
            <a:off x="647402" y="2208014"/>
            <a:ext cx="3167211" cy="209096"/>
          </a:xfrm>
          <a:prstGeom prst="rect">
            <a:avLst/>
          </a:prstGeom>
        </p:spPr>
        <p:txBody>
          <a:bodyPr lIns="0" tIns="0" rIns="0" bIns="0" rtlCol="0" anchor="t">
            <a:spAutoFit/>
          </a:bodyPr>
          <a:lstStyle/>
          <a:p>
            <a:r>
              <a:t>1 User Management</a:t>
            </a:r>
          </a:p>
        </p:txBody>
      </p:sp>
      <p:sp>
        <p:nvSpPr>
          <p:cNvPr id="20" name="TextBox 20"/>
          <p:cNvSpPr txBox="1"/>
          <p:nvPr/>
        </p:nvSpPr>
        <p:spPr>
          <a:xfrm>
            <a:off x="4107507" y="2208014"/>
            <a:ext cx="3162449" cy="209096"/>
          </a:xfrm>
          <a:prstGeom prst="rect">
            <a:avLst/>
          </a:prstGeom>
        </p:spPr>
        <p:txBody>
          <a:bodyPr lIns="0" tIns="0" rIns="0" bIns="0" rtlCol="0" anchor="t">
            <a:spAutoFit/>
          </a:bodyPr>
          <a:lstStyle/>
          <a:p>
            <a:r>
              <a:t>User details, role assignments</a:t>
            </a:r>
          </a:p>
        </p:txBody>
      </p:sp>
      <p:sp>
        <p:nvSpPr>
          <p:cNvPr id="21" name="TextBox 21"/>
          <p:cNvSpPr txBox="1"/>
          <p:nvPr/>
        </p:nvSpPr>
        <p:spPr>
          <a:xfrm>
            <a:off x="7562850" y="2208014"/>
            <a:ext cx="3162449" cy="209096"/>
          </a:xfrm>
          <a:prstGeom prst="rect">
            <a:avLst/>
          </a:prstGeom>
        </p:spPr>
        <p:txBody>
          <a:bodyPr lIns="0" tIns="0" rIns="0" bIns="0" rtlCol="0" anchor="t">
            <a:spAutoFit/>
          </a:bodyPr>
          <a:lstStyle/>
          <a:p>
            <a:r>
              <a:t>Confirmation Message or Error Message</a:t>
            </a:r>
          </a:p>
        </p:txBody>
      </p:sp>
      <p:sp>
        <p:nvSpPr>
          <p:cNvPr id="22" name="TextBox 22"/>
          <p:cNvSpPr txBox="1"/>
          <p:nvPr/>
        </p:nvSpPr>
        <p:spPr>
          <a:xfrm>
            <a:off x="11018192" y="2208014"/>
            <a:ext cx="3162449" cy="209096"/>
          </a:xfrm>
          <a:prstGeom prst="rect">
            <a:avLst/>
          </a:prstGeom>
        </p:spPr>
        <p:txBody>
          <a:bodyPr lIns="0" tIns="0" rIns="0" bIns="0" rtlCol="0" anchor="t">
            <a:spAutoFit/>
          </a:bodyPr>
          <a:lstStyle/>
          <a:p>
            <a:r>
              <a:t>User Management</a:t>
            </a:r>
          </a:p>
        </p:txBody>
      </p:sp>
      <p:sp>
        <p:nvSpPr>
          <p:cNvPr id="23" name="TextBox 23"/>
          <p:cNvSpPr txBox="1"/>
          <p:nvPr/>
        </p:nvSpPr>
        <p:spPr>
          <a:xfrm>
            <a:off x="14473535" y="2208014"/>
            <a:ext cx="3167211" cy="209096"/>
          </a:xfrm>
          <a:prstGeom prst="rect">
            <a:avLst/>
          </a:prstGeom>
        </p:spPr>
        <p:txBody>
          <a:bodyPr lIns="0" tIns="0" rIns="0" bIns="0" rtlCol="0" anchor="t">
            <a:spAutoFit/>
          </a:bodyPr>
          <a:lstStyle/>
          <a:p>
            <a:r>
              <a:t>User details, role assignments</a:t>
            </a:r>
          </a:p>
        </p:txBody>
      </p:sp>
      <p:grpSp>
        <p:nvGrpSpPr>
          <p:cNvPr id="24" name="Group 24"/>
          <p:cNvGrpSpPr/>
          <p:nvPr/>
        </p:nvGrpSpPr>
        <p:grpSpPr>
          <a:xfrm>
            <a:off x="505569" y="2576959"/>
            <a:ext cx="17276861" cy="415826"/>
            <a:chOff x="0" y="0"/>
            <a:chExt cx="23035815" cy="554435"/>
          </a:xfrm>
        </p:grpSpPr>
        <p:sp>
          <p:nvSpPr>
            <p:cNvPr id="25" name="Freeform 25"/>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26" name="TextBox 26"/>
          <p:cNvSpPr txBox="1"/>
          <p:nvPr/>
        </p:nvSpPr>
        <p:spPr>
          <a:xfrm>
            <a:off x="647402" y="2623840"/>
            <a:ext cx="3167211" cy="209096"/>
          </a:xfrm>
          <a:prstGeom prst="rect">
            <a:avLst/>
          </a:prstGeom>
        </p:spPr>
        <p:txBody>
          <a:bodyPr lIns="0" tIns="0" rIns="0" bIns="0" rtlCol="0" anchor="t">
            <a:spAutoFit/>
          </a:bodyPr>
          <a:lstStyle/>
          <a:p>
            <a:r>
              <a:t>2 Menu Management</a:t>
            </a:r>
          </a:p>
        </p:txBody>
      </p:sp>
      <p:sp>
        <p:nvSpPr>
          <p:cNvPr id="27" name="TextBox 27"/>
          <p:cNvSpPr txBox="1"/>
          <p:nvPr/>
        </p:nvSpPr>
        <p:spPr>
          <a:xfrm>
            <a:off x="4107507" y="2623840"/>
            <a:ext cx="3162449" cy="209096"/>
          </a:xfrm>
          <a:prstGeom prst="rect">
            <a:avLst/>
          </a:prstGeom>
        </p:spPr>
        <p:txBody>
          <a:bodyPr lIns="0" tIns="0" rIns="0" bIns="0" rtlCol="0" anchor="t">
            <a:spAutoFit/>
          </a:bodyPr>
          <a:lstStyle/>
          <a:p>
            <a:r>
              <a:t>Menu items, pricing, categories</a:t>
            </a:r>
          </a:p>
        </p:txBody>
      </p:sp>
      <p:sp>
        <p:nvSpPr>
          <p:cNvPr id="28" name="TextBox 28"/>
          <p:cNvSpPr txBox="1"/>
          <p:nvPr/>
        </p:nvSpPr>
        <p:spPr>
          <a:xfrm>
            <a:off x="7562850" y="2623840"/>
            <a:ext cx="3162449" cy="209096"/>
          </a:xfrm>
          <a:prstGeom prst="rect">
            <a:avLst/>
          </a:prstGeom>
        </p:spPr>
        <p:txBody>
          <a:bodyPr lIns="0" tIns="0" rIns="0" bIns="0" rtlCol="0" anchor="t">
            <a:spAutoFit/>
          </a:bodyPr>
          <a:lstStyle/>
          <a:p>
            <a:r>
              <a:t>Confirmation Message or Error Message</a:t>
            </a:r>
          </a:p>
        </p:txBody>
      </p:sp>
      <p:sp>
        <p:nvSpPr>
          <p:cNvPr id="29" name="TextBox 29"/>
          <p:cNvSpPr txBox="1"/>
          <p:nvPr/>
        </p:nvSpPr>
        <p:spPr>
          <a:xfrm>
            <a:off x="11018192" y="2623840"/>
            <a:ext cx="3162449" cy="209096"/>
          </a:xfrm>
          <a:prstGeom prst="rect">
            <a:avLst/>
          </a:prstGeom>
        </p:spPr>
        <p:txBody>
          <a:bodyPr lIns="0" tIns="0" rIns="0" bIns="0" rtlCol="0" anchor="t">
            <a:spAutoFit/>
          </a:bodyPr>
          <a:lstStyle/>
          <a:p>
            <a:r>
              <a:t>Menu Management</a:t>
            </a:r>
          </a:p>
        </p:txBody>
      </p:sp>
      <p:sp>
        <p:nvSpPr>
          <p:cNvPr id="30" name="TextBox 30"/>
          <p:cNvSpPr txBox="1"/>
          <p:nvPr/>
        </p:nvSpPr>
        <p:spPr>
          <a:xfrm>
            <a:off x="14473535" y="2623840"/>
            <a:ext cx="3167211" cy="209096"/>
          </a:xfrm>
          <a:prstGeom prst="rect">
            <a:avLst/>
          </a:prstGeom>
        </p:spPr>
        <p:txBody>
          <a:bodyPr lIns="0" tIns="0" rIns="0" bIns="0" rtlCol="0" anchor="t">
            <a:spAutoFit/>
          </a:bodyPr>
          <a:lstStyle/>
          <a:p>
            <a:r>
              <a:t>Menu items, pricing, categories</a:t>
            </a:r>
          </a:p>
        </p:txBody>
      </p:sp>
      <p:grpSp>
        <p:nvGrpSpPr>
          <p:cNvPr id="31" name="Group 31"/>
          <p:cNvGrpSpPr/>
          <p:nvPr/>
        </p:nvGrpSpPr>
        <p:grpSpPr>
          <a:xfrm>
            <a:off x="505569" y="2992785"/>
            <a:ext cx="17276861" cy="415826"/>
            <a:chOff x="0" y="0"/>
            <a:chExt cx="23035815" cy="554435"/>
          </a:xfrm>
        </p:grpSpPr>
        <p:sp>
          <p:nvSpPr>
            <p:cNvPr id="32" name="Freeform 32"/>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33" name="TextBox 33"/>
          <p:cNvSpPr txBox="1"/>
          <p:nvPr/>
        </p:nvSpPr>
        <p:spPr>
          <a:xfrm>
            <a:off x="647402" y="3039665"/>
            <a:ext cx="3167211" cy="209096"/>
          </a:xfrm>
          <a:prstGeom prst="rect">
            <a:avLst/>
          </a:prstGeom>
        </p:spPr>
        <p:txBody>
          <a:bodyPr lIns="0" tIns="0" rIns="0" bIns="0" rtlCol="0" anchor="t">
            <a:spAutoFit/>
          </a:bodyPr>
          <a:lstStyle/>
          <a:p>
            <a:r>
              <a:t>3 Order Processing</a:t>
            </a:r>
          </a:p>
        </p:txBody>
      </p:sp>
      <p:sp>
        <p:nvSpPr>
          <p:cNvPr id="34" name="TextBox 34"/>
          <p:cNvSpPr txBox="1"/>
          <p:nvPr/>
        </p:nvSpPr>
        <p:spPr>
          <a:xfrm>
            <a:off x="4107507" y="3039665"/>
            <a:ext cx="3162449" cy="209096"/>
          </a:xfrm>
          <a:prstGeom prst="rect">
            <a:avLst/>
          </a:prstGeom>
        </p:spPr>
        <p:txBody>
          <a:bodyPr lIns="0" tIns="0" rIns="0" bIns="0" rtlCol="0" anchor="t">
            <a:spAutoFit/>
          </a:bodyPr>
          <a:lstStyle/>
          <a:p>
            <a:r>
              <a:t>Order details, customer preferences</a:t>
            </a:r>
          </a:p>
        </p:txBody>
      </p:sp>
      <p:sp>
        <p:nvSpPr>
          <p:cNvPr id="35" name="TextBox 35"/>
          <p:cNvSpPr txBox="1"/>
          <p:nvPr/>
        </p:nvSpPr>
        <p:spPr>
          <a:xfrm>
            <a:off x="7562850" y="3039665"/>
            <a:ext cx="3162449" cy="209096"/>
          </a:xfrm>
          <a:prstGeom prst="rect">
            <a:avLst/>
          </a:prstGeom>
        </p:spPr>
        <p:txBody>
          <a:bodyPr lIns="0" tIns="0" rIns="0" bIns="0" rtlCol="0" anchor="t">
            <a:spAutoFit/>
          </a:bodyPr>
          <a:lstStyle/>
          <a:p>
            <a:r>
              <a:t>Order confirmation, receipt</a:t>
            </a:r>
          </a:p>
        </p:txBody>
      </p:sp>
      <p:sp>
        <p:nvSpPr>
          <p:cNvPr id="36" name="TextBox 36"/>
          <p:cNvSpPr txBox="1"/>
          <p:nvPr/>
        </p:nvSpPr>
        <p:spPr>
          <a:xfrm>
            <a:off x="11018192" y="3039665"/>
            <a:ext cx="3162449" cy="209096"/>
          </a:xfrm>
          <a:prstGeom prst="rect">
            <a:avLst/>
          </a:prstGeom>
        </p:spPr>
        <p:txBody>
          <a:bodyPr lIns="0" tIns="0" rIns="0" bIns="0" rtlCol="0" anchor="t">
            <a:spAutoFit/>
          </a:bodyPr>
          <a:lstStyle/>
          <a:p>
            <a:r>
              <a:t>Order Processing</a:t>
            </a:r>
          </a:p>
        </p:txBody>
      </p:sp>
      <p:sp>
        <p:nvSpPr>
          <p:cNvPr id="37" name="TextBox 37"/>
          <p:cNvSpPr txBox="1"/>
          <p:nvPr/>
        </p:nvSpPr>
        <p:spPr>
          <a:xfrm>
            <a:off x="14473535" y="3039665"/>
            <a:ext cx="3167211" cy="209096"/>
          </a:xfrm>
          <a:prstGeom prst="rect">
            <a:avLst/>
          </a:prstGeom>
        </p:spPr>
        <p:txBody>
          <a:bodyPr lIns="0" tIns="0" rIns="0" bIns="0" rtlCol="0" anchor="t">
            <a:spAutoFit/>
          </a:bodyPr>
          <a:lstStyle/>
          <a:p>
            <a:r>
              <a:t>Order details, customer preferences</a:t>
            </a:r>
          </a:p>
        </p:txBody>
      </p:sp>
      <p:grpSp>
        <p:nvGrpSpPr>
          <p:cNvPr id="38" name="Group 38"/>
          <p:cNvGrpSpPr/>
          <p:nvPr/>
        </p:nvGrpSpPr>
        <p:grpSpPr>
          <a:xfrm>
            <a:off x="505569" y="3408610"/>
            <a:ext cx="17276861" cy="415826"/>
            <a:chOff x="0" y="0"/>
            <a:chExt cx="23035815" cy="554435"/>
          </a:xfrm>
        </p:grpSpPr>
        <p:sp>
          <p:nvSpPr>
            <p:cNvPr id="39" name="Freeform 39"/>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40" name="TextBox 40"/>
          <p:cNvSpPr txBox="1"/>
          <p:nvPr/>
        </p:nvSpPr>
        <p:spPr>
          <a:xfrm>
            <a:off x="647402" y="3455491"/>
            <a:ext cx="3167211" cy="209096"/>
          </a:xfrm>
          <a:prstGeom prst="rect">
            <a:avLst/>
          </a:prstGeom>
        </p:spPr>
        <p:txBody>
          <a:bodyPr lIns="0" tIns="0" rIns="0" bIns="0" rtlCol="0" anchor="t">
            <a:spAutoFit/>
          </a:bodyPr>
          <a:lstStyle/>
          <a:p>
            <a:r>
              <a:t>4 Payment &amp; Receipts</a:t>
            </a:r>
          </a:p>
        </p:txBody>
      </p:sp>
      <p:sp>
        <p:nvSpPr>
          <p:cNvPr id="41" name="TextBox 41"/>
          <p:cNvSpPr txBox="1"/>
          <p:nvPr/>
        </p:nvSpPr>
        <p:spPr>
          <a:xfrm>
            <a:off x="4107507" y="3455491"/>
            <a:ext cx="3162449" cy="209096"/>
          </a:xfrm>
          <a:prstGeom prst="rect">
            <a:avLst/>
          </a:prstGeom>
        </p:spPr>
        <p:txBody>
          <a:bodyPr lIns="0" tIns="0" rIns="0" bIns="0" rtlCol="0" anchor="t">
            <a:spAutoFit/>
          </a:bodyPr>
          <a:lstStyle/>
          <a:p>
            <a:r>
              <a:t>Payment details (cash, card, etc.)</a:t>
            </a:r>
          </a:p>
        </p:txBody>
      </p:sp>
      <p:sp>
        <p:nvSpPr>
          <p:cNvPr id="42" name="TextBox 42"/>
          <p:cNvSpPr txBox="1"/>
          <p:nvPr/>
        </p:nvSpPr>
        <p:spPr>
          <a:xfrm>
            <a:off x="7562850" y="3455491"/>
            <a:ext cx="3162449" cy="209096"/>
          </a:xfrm>
          <a:prstGeom prst="rect">
            <a:avLst/>
          </a:prstGeom>
        </p:spPr>
        <p:txBody>
          <a:bodyPr lIns="0" tIns="0" rIns="0" bIns="0" rtlCol="0" anchor="t">
            <a:spAutoFit/>
          </a:bodyPr>
          <a:lstStyle/>
          <a:p>
            <a:r>
              <a:t>Payment confirmation, receipt</a:t>
            </a:r>
          </a:p>
        </p:txBody>
      </p:sp>
      <p:sp>
        <p:nvSpPr>
          <p:cNvPr id="43" name="TextBox 43"/>
          <p:cNvSpPr txBox="1"/>
          <p:nvPr/>
        </p:nvSpPr>
        <p:spPr>
          <a:xfrm>
            <a:off x="11018192" y="3455491"/>
            <a:ext cx="3162449" cy="209096"/>
          </a:xfrm>
          <a:prstGeom prst="rect">
            <a:avLst/>
          </a:prstGeom>
        </p:spPr>
        <p:txBody>
          <a:bodyPr lIns="0" tIns="0" rIns="0" bIns="0" rtlCol="0" anchor="t">
            <a:spAutoFit/>
          </a:bodyPr>
          <a:lstStyle/>
          <a:p>
            <a:r>
              <a:t>Payment &amp; Receipts</a:t>
            </a:r>
          </a:p>
        </p:txBody>
      </p:sp>
      <p:sp>
        <p:nvSpPr>
          <p:cNvPr id="44" name="TextBox 44"/>
          <p:cNvSpPr txBox="1"/>
          <p:nvPr/>
        </p:nvSpPr>
        <p:spPr>
          <a:xfrm>
            <a:off x="14473535" y="3455491"/>
            <a:ext cx="3167211" cy="209096"/>
          </a:xfrm>
          <a:prstGeom prst="rect">
            <a:avLst/>
          </a:prstGeom>
        </p:spPr>
        <p:txBody>
          <a:bodyPr lIns="0" tIns="0" rIns="0" bIns="0" rtlCol="0" anchor="t">
            <a:spAutoFit/>
          </a:bodyPr>
          <a:lstStyle/>
          <a:p>
            <a:r>
              <a:t>Payment details (cash, card, etc.)</a:t>
            </a:r>
          </a:p>
        </p:txBody>
      </p:sp>
      <p:grpSp>
        <p:nvGrpSpPr>
          <p:cNvPr id="45" name="Group 45"/>
          <p:cNvGrpSpPr/>
          <p:nvPr/>
        </p:nvGrpSpPr>
        <p:grpSpPr>
          <a:xfrm>
            <a:off x="505569" y="3824436"/>
            <a:ext cx="17276861" cy="415826"/>
            <a:chOff x="0" y="0"/>
            <a:chExt cx="23035815" cy="554435"/>
          </a:xfrm>
        </p:grpSpPr>
        <p:sp>
          <p:nvSpPr>
            <p:cNvPr id="46" name="Freeform 46"/>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47" name="TextBox 47"/>
          <p:cNvSpPr txBox="1"/>
          <p:nvPr/>
        </p:nvSpPr>
        <p:spPr>
          <a:xfrm>
            <a:off x="647402" y="3871317"/>
            <a:ext cx="3167211" cy="209096"/>
          </a:xfrm>
          <a:prstGeom prst="rect">
            <a:avLst/>
          </a:prstGeom>
        </p:spPr>
        <p:txBody>
          <a:bodyPr lIns="0" tIns="0" rIns="0" bIns="0" rtlCol="0" anchor="t">
            <a:spAutoFit/>
          </a:bodyPr>
          <a:lstStyle/>
          <a:p>
            <a:r>
              <a:t>5 Inventory Management</a:t>
            </a:r>
          </a:p>
        </p:txBody>
      </p:sp>
      <p:sp>
        <p:nvSpPr>
          <p:cNvPr id="48" name="TextBox 48"/>
          <p:cNvSpPr txBox="1"/>
          <p:nvPr/>
        </p:nvSpPr>
        <p:spPr>
          <a:xfrm>
            <a:off x="4107507" y="3871317"/>
            <a:ext cx="3162449" cy="209096"/>
          </a:xfrm>
          <a:prstGeom prst="rect">
            <a:avLst/>
          </a:prstGeom>
        </p:spPr>
        <p:txBody>
          <a:bodyPr lIns="0" tIns="0" rIns="0" bIns="0" rtlCol="0" anchor="t">
            <a:spAutoFit/>
          </a:bodyPr>
          <a:lstStyle/>
          <a:p>
            <a:r>
              <a:t>Stock levels, menu items, orders</a:t>
            </a:r>
          </a:p>
        </p:txBody>
      </p:sp>
      <p:sp>
        <p:nvSpPr>
          <p:cNvPr id="49" name="TextBox 49"/>
          <p:cNvSpPr txBox="1"/>
          <p:nvPr/>
        </p:nvSpPr>
        <p:spPr>
          <a:xfrm>
            <a:off x="7562850" y="3871317"/>
            <a:ext cx="3162449" cy="209096"/>
          </a:xfrm>
          <a:prstGeom prst="rect">
            <a:avLst/>
          </a:prstGeom>
        </p:spPr>
        <p:txBody>
          <a:bodyPr lIns="0" tIns="0" rIns="0" bIns="0" rtlCol="0" anchor="t">
            <a:spAutoFit/>
          </a:bodyPr>
          <a:lstStyle/>
          <a:p>
            <a:r>
              <a:t>Inventory updates, low stock alerts</a:t>
            </a:r>
          </a:p>
        </p:txBody>
      </p:sp>
      <p:sp>
        <p:nvSpPr>
          <p:cNvPr id="50" name="TextBox 50"/>
          <p:cNvSpPr txBox="1"/>
          <p:nvPr/>
        </p:nvSpPr>
        <p:spPr>
          <a:xfrm>
            <a:off x="11018192" y="3871317"/>
            <a:ext cx="3162449" cy="209096"/>
          </a:xfrm>
          <a:prstGeom prst="rect">
            <a:avLst/>
          </a:prstGeom>
        </p:spPr>
        <p:txBody>
          <a:bodyPr lIns="0" tIns="0" rIns="0" bIns="0" rtlCol="0" anchor="t">
            <a:spAutoFit/>
          </a:bodyPr>
          <a:lstStyle/>
          <a:p>
            <a:r>
              <a:t>Inventory Management</a:t>
            </a:r>
          </a:p>
        </p:txBody>
      </p:sp>
      <p:sp>
        <p:nvSpPr>
          <p:cNvPr id="51" name="TextBox 51"/>
          <p:cNvSpPr txBox="1"/>
          <p:nvPr/>
        </p:nvSpPr>
        <p:spPr>
          <a:xfrm>
            <a:off x="14473535" y="3871317"/>
            <a:ext cx="3167211" cy="209096"/>
          </a:xfrm>
          <a:prstGeom prst="rect">
            <a:avLst/>
          </a:prstGeom>
        </p:spPr>
        <p:txBody>
          <a:bodyPr lIns="0" tIns="0" rIns="0" bIns="0" rtlCol="0" anchor="t">
            <a:spAutoFit/>
          </a:bodyPr>
          <a:lstStyle/>
          <a:p>
            <a:r>
              <a:t>Stock levels, menu items, orders</a:t>
            </a:r>
          </a:p>
        </p:txBody>
      </p:sp>
      <p:grpSp>
        <p:nvGrpSpPr>
          <p:cNvPr id="52" name="Group 52"/>
          <p:cNvGrpSpPr/>
          <p:nvPr/>
        </p:nvGrpSpPr>
        <p:grpSpPr>
          <a:xfrm>
            <a:off x="505569" y="4240262"/>
            <a:ext cx="17276861" cy="415826"/>
            <a:chOff x="0" y="0"/>
            <a:chExt cx="23035815" cy="554435"/>
          </a:xfrm>
        </p:grpSpPr>
        <p:sp>
          <p:nvSpPr>
            <p:cNvPr id="53" name="Freeform 53"/>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54" name="TextBox 54"/>
          <p:cNvSpPr txBox="1"/>
          <p:nvPr/>
        </p:nvSpPr>
        <p:spPr>
          <a:xfrm>
            <a:off x="647402" y="4287143"/>
            <a:ext cx="3167211" cy="209096"/>
          </a:xfrm>
          <a:prstGeom prst="rect">
            <a:avLst/>
          </a:prstGeom>
        </p:spPr>
        <p:txBody>
          <a:bodyPr lIns="0" tIns="0" rIns="0" bIns="0" rtlCol="0" anchor="t">
            <a:spAutoFit/>
          </a:bodyPr>
          <a:lstStyle/>
          <a:p>
            <a:r>
              <a:t>6 Sales Reporting</a:t>
            </a:r>
          </a:p>
        </p:txBody>
      </p:sp>
      <p:sp>
        <p:nvSpPr>
          <p:cNvPr id="55" name="TextBox 55"/>
          <p:cNvSpPr txBox="1"/>
          <p:nvPr/>
        </p:nvSpPr>
        <p:spPr>
          <a:xfrm>
            <a:off x="4107507" y="4287143"/>
            <a:ext cx="3162449" cy="209096"/>
          </a:xfrm>
          <a:prstGeom prst="rect">
            <a:avLst/>
          </a:prstGeom>
        </p:spPr>
        <p:txBody>
          <a:bodyPr lIns="0" tIns="0" rIns="0" bIns="0" rtlCol="0" anchor="t">
            <a:spAutoFit/>
          </a:bodyPr>
          <a:lstStyle/>
          <a:p>
            <a:r>
              <a:t>Date range, report type</a:t>
            </a:r>
          </a:p>
        </p:txBody>
      </p:sp>
      <p:sp>
        <p:nvSpPr>
          <p:cNvPr id="56" name="TextBox 56"/>
          <p:cNvSpPr txBox="1"/>
          <p:nvPr/>
        </p:nvSpPr>
        <p:spPr>
          <a:xfrm>
            <a:off x="7562850" y="4287143"/>
            <a:ext cx="3162449" cy="209096"/>
          </a:xfrm>
          <a:prstGeom prst="rect">
            <a:avLst/>
          </a:prstGeom>
        </p:spPr>
        <p:txBody>
          <a:bodyPr lIns="0" tIns="0" rIns="0" bIns="0" rtlCol="0" anchor="t">
            <a:spAutoFit/>
          </a:bodyPr>
          <a:lstStyle/>
          <a:p>
            <a:r>
              <a:t>Sales report (daily, weekly, monthly)</a:t>
            </a:r>
          </a:p>
        </p:txBody>
      </p:sp>
      <p:sp>
        <p:nvSpPr>
          <p:cNvPr id="57" name="TextBox 57"/>
          <p:cNvSpPr txBox="1"/>
          <p:nvPr/>
        </p:nvSpPr>
        <p:spPr>
          <a:xfrm>
            <a:off x="11018192" y="4287143"/>
            <a:ext cx="3162449" cy="209096"/>
          </a:xfrm>
          <a:prstGeom prst="rect">
            <a:avLst/>
          </a:prstGeom>
        </p:spPr>
        <p:txBody>
          <a:bodyPr lIns="0" tIns="0" rIns="0" bIns="0" rtlCol="0" anchor="t">
            <a:spAutoFit/>
          </a:bodyPr>
          <a:lstStyle/>
          <a:p>
            <a:r>
              <a:t>Sales Reporting</a:t>
            </a:r>
          </a:p>
        </p:txBody>
      </p:sp>
      <p:sp>
        <p:nvSpPr>
          <p:cNvPr id="58" name="TextBox 58"/>
          <p:cNvSpPr txBox="1"/>
          <p:nvPr/>
        </p:nvSpPr>
        <p:spPr>
          <a:xfrm>
            <a:off x="14473535" y="4287143"/>
            <a:ext cx="3167211" cy="209096"/>
          </a:xfrm>
          <a:prstGeom prst="rect">
            <a:avLst/>
          </a:prstGeom>
        </p:spPr>
        <p:txBody>
          <a:bodyPr lIns="0" tIns="0" rIns="0" bIns="0" rtlCol="0" anchor="t">
            <a:spAutoFit/>
          </a:bodyPr>
          <a:lstStyle/>
          <a:p>
            <a:r>
              <a:t>Date range, report type</a:t>
            </a:r>
          </a:p>
        </p:txBody>
      </p:sp>
      <p:grpSp>
        <p:nvGrpSpPr>
          <p:cNvPr id="59" name="Group 59"/>
          <p:cNvGrpSpPr/>
          <p:nvPr/>
        </p:nvGrpSpPr>
        <p:grpSpPr>
          <a:xfrm>
            <a:off x="505569" y="4656087"/>
            <a:ext cx="17276861" cy="415826"/>
            <a:chOff x="0" y="0"/>
            <a:chExt cx="23035815" cy="554435"/>
          </a:xfrm>
        </p:grpSpPr>
        <p:sp>
          <p:nvSpPr>
            <p:cNvPr id="60" name="Freeform 60"/>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61" name="TextBox 61"/>
          <p:cNvSpPr txBox="1"/>
          <p:nvPr/>
        </p:nvSpPr>
        <p:spPr>
          <a:xfrm>
            <a:off x="647402" y="4702969"/>
            <a:ext cx="3167211" cy="209096"/>
          </a:xfrm>
          <a:prstGeom prst="rect">
            <a:avLst/>
          </a:prstGeom>
        </p:spPr>
        <p:txBody>
          <a:bodyPr lIns="0" tIns="0" rIns="0" bIns="0" rtlCol="0" anchor="t">
            <a:spAutoFit/>
          </a:bodyPr>
          <a:lstStyle/>
          <a:p>
            <a:r>
              <a:t>7 End of Day Process</a:t>
            </a:r>
          </a:p>
        </p:txBody>
      </p:sp>
      <p:sp>
        <p:nvSpPr>
          <p:cNvPr id="62" name="TextBox 62"/>
          <p:cNvSpPr txBox="1"/>
          <p:nvPr/>
        </p:nvSpPr>
        <p:spPr>
          <a:xfrm>
            <a:off x="4107507" y="4702969"/>
            <a:ext cx="3162449" cy="209096"/>
          </a:xfrm>
          <a:prstGeom prst="rect">
            <a:avLst/>
          </a:prstGeom>
        </p:spPr>
        <p:txBody>
          <a:bodyPr lIns="0" tIns="0" rIns="0" bIns="0" rtlCol="0" anchor="t">
            <a:spAutoFit/>
          </a:bodyPr>
          <a:lstStyle/>
          <a:p>
            <a:r>
              <a:t>Day-end command</a:t>
            </a:r>
          </a:p>
        </p:txBody>
      </p:sp>
      <p:sp>
        <p:nvSpPr>
          <p:cNvPr id="63" name="TextBox 63"/>
          <p:cNvSpPr txBox="1"/>
          <p:nvPr/>
        </p:nvSpPr>
        <p:spPr>
          <a:xfrm>
            <a:off x="7562850" y="4702969"/>
            <a:ext cx="3162449" cy="209096"/>
          </a:xfrm>
          <a:prstGeom prst="rect">
            <a:avLst/>
          </a:prstGeom>
        </p:spPr>
        <p:txBody>
          <a:bodyPr lIns="0" tIns="0" rIns="0" bIns="0" rtlCol="0" anchor="t">
            <a:spAutoFit/>
          </a:bodyPr>
          <a:lstStyle/>
          <a:p>
            <a:r>
              <a:t>Database backup, sales export</a:t>
            </a:r>
          </a:p>
        </p:txBody>
      </p:sp>
      <p:sp>
        <p:nvSpPr>
          <p:cNvPr id="64" name="TextBox 64"/>
          <p:cNvSpPr txBox="1"/>
          <p:nvPr/>
        </p:nvSpPr>
        <p:spPr>
          <a:xfrm>
            <a:off x="11018192" y="4702969"/>
            <a:ext cx="3162449" cy="209096"/>
          </a:xfrm>
          <a:prstGeom prst="rect">
            <a:avLst/>
          </a:prstGeom>
        </p:spPr>
        <p:txBody>
          <a:bodyPr lIns="0" tIns="0" rIns="0" bIns="0" rtlCol="0" anchor="t">
            <a:spAutoFit/>
          </a:bodyPr>
          <a:lstStyle/>
          <a:p>
            <a:r>
              <a:t>End of Day Process</a:t>
            </a:r>
          </a:p>
        </p:txBody>
      </p:sp>
      <p:sp>
        <p:nvSpPr>
          <p:cNvPr id="65" name="TextBox 65"/>
          <p:cNvSpPr txBox="1"/>
          <p:nvPr/>
        </p:nvSpPr>
        <p:spPr>
          <a:xfrm>
            <a:off x="14473535" y="4702969"/>
            <a:ext cx="3167211" cy="209096"/>
          </a:xfrm>
          <a:prstGeom prst="rect">
            <a:avLst/>
          </a:prstGeom>
        </p:spPr>
        <p:txBody>
          <a:bodyPr lIns="0" tIns="0" rIns="0" bIns="0" rtlCol="0" anchor="t">
            <a:spAutoFit/>
          </a:bodyPr>
          <a:lstStyle/>
          <a:p>
            <a:r>
              <a:t>Day-end command</a:t>
            </a:r>
          </a:p>
        </p:txBody>
      </p:sp>
      <p:grpSp>
        <p:nvGrpSpPr>
          <p:cNvPr id="66" name="Group 66"/>
          <p:cNvGrpSpPr/>
          <p:nvPr/>
        </p:nvGrpSpPr>
        <p:grpSpPr>
          <a:xfrm>
            <a:off x="505569" y="5071914"/>
            <a:ext cx="17276861" cy="415826"/>
            <a:chOff x="0" y="0"/>
            <a:chExt cx="23035815" cy="554435"/>
          </a:xfrm>
        </p:grpSpPr>
        <p:sp>
          <p:nvSpPr>
            <p:cNvPr id="67" name="Freeform 67"/>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68" name="TextBox 68"/>
          <p:cNvSpPr txBox="1"/>
          <p:nvPr/>
        </p:nvSpPr>
        <p:spPr>
          <a:xfrm>
            <a:off x="647402" y="5118795"/>
            <a:ext cx="3167211" cy="209096"/>
          </a:xfrm>
          <a:prstGeom prst="rect">
            <a:avLst/>
          </a:prstGeom>
        </p:spPr>
        <p:txBody>
          <a:bodyPr lIns="0" tIns="0" rIns="0" bIns="0" rtlCol="0" anchor="t">
            <a:spAutoFit/>
          </a:bodyPr>
          <a:lstStyle/>
          <a:p>
            <a:r>
              <a:t>8 Customer Feedback</a:t>
            </a:r>
          </a:p>
        </p:txBody>
      </p:sp>
      <p:sp>
        <p:nvSpPr>
          <p:cNvPr id="69" name="TextBox 69"/>
          <p:cNvSpPr txBox="1"/>
          <p:nvPr/>
        </p:nvSpPr>
        <p:spPr>
          <a:xfrm>
            <a:off x="4107507" y="5118795"/>
            <a:ext cx="3162449" cy="209096"/>
          </a:xfrm>
          <a:prstGeom prst="rect">
            <a:avLst/>
          </a:prstGeom>
        </p:spPr>
        <p:txBody>
          <a:bodyPr lIns="0" tIns="0" rIns="0" bIns="0" rtlCol="0" anchor="t">
            <a:spAutoFit/>
          </a:bodyPr>
          <a:lstStyle/>
          <a:p>
            <a:r>
              <a:t>Customer feedback</a:t>
            </a:r>
          </a:p>
        </p:txBody>
      </p:sp>
      <p:sp>
        <p:nvSpPr>
          <p:cNvPr id="70" name="TextBox 70"/>
          <p:cNvSpPr txBox="1"/>
          <p:nvPr/>
        </p:nvSpPr>
        <p:spPr>
          <a:xfrm>
            <a:off x="7562850" y="5118795"/>
            <a:ext cx="3162449" cy="209096"/>
          </a:xfrm>
          <a:prstGeom prst="rect">
            <a:avLst/>
          </a:prstGeom>
        </p:spPr>
        <p:txBody>
          <a:bodyPr lIns="0" tIns="0" rIns="0" bIns="0" rtlCol="0" anchor="t">
            <a:spAutoFit/>
          </a:bodyPr>
          <a:lstStyle/>
          <a:p>
            <a:r>
              <a:t>Feedback confirmation, report</a:t>
            </a:r>
          </a:p>
        </p:txBody>
      </p:sp>
      <p:sp>
        <p:nvSpPr>
          <p:cNvPr id="71" name="TextBox 71"/>
          <p:cNvSpPr txBox="1"/>
          <p:nvPr/>
        </p:nvSpPr>
        <p:spPr>
          <a:xfrm>
            <a:off x="11018192" y="5118795"/>
            <a:ext cx="3162449" cy="209096"/>
          </a:xfrm>
          <a:prstGeom prst="rect">
            <a:avLst/>
          </a:prstGeom>
        </p:spPr>
        <p:txBody>
          <a:bodyPr lIns="0" tIns="0" rIns="0" bIns="0" rtlCol="0" anchor="t">
            <a:spAutoFit/>
          </a:bodyPr>
          <a:lstStyle/>
          <a:p>
            <a:r>
              <a:t>Customer Feedback</a:t>
            </a:r>
          </a:p>
        </p:txBody>
      </p:sp>
      <p:sp>
        <p:nvSpPr>
          <p:cNvPr id="72" name="TextBox 72"/>
          <p:cNvSpPr txBox="1"/>
          <p:nvPr/>
        </p:nvSpPr>
        <p:spPr>
          <a:xfrm>
            <a:off x="14473535" y="5118795"/>
            <a:ext cx="3167211" cy="209096"/>
          </a:xfrm>
          <a:prstGeom prst="rect">
            <a:avLst/>
          </a:prstGeom>
        </p:spPr>
        <p:txBody>
          <a:bodyPr lIns="0" tIns="0" rIns="0" bIns="0" rtlCol="0" anchor="t">
            <a:spAutoFit/>
          </a:bodyPr>
          <a:lstStyle/>
          <a:p>
            <a:r>
              <a:t>Customer feedback</a:t>
            </a:r>
          </a:p>
        </p:txBody>
      </p:sp>
      <p:sp>
        <p:nvSpPr>
          <p:cNvPr id="133" name="Slide Number Placeholder 132">
            <a:extLst>
              <a:ext uri="{FF2B5EF4-FFF2-40B4-BE49-F238E27FC236}">
                <a16:creationId xmlns:a16="http://schemas.microsoft.com/office/drawing/2014/main" id="{C429EBB0-442C-E5FB-4634-7D0DA2B407E0}"/>
              </a:ext>
            </a:extLst>
          </p:cNvPr>
          <p:cNvSpPr>
            <a:spLocks noGrp="1"/>
          </p:cNvSpPr>
          <p:nvPr>
            <p:ph type="sldNum" sz="quarter" idx="12"/>
          </p:nvPr>
        </p:nvSpPr>
        <p:spPr/>
        <p:txBody>
          <a:bodyPr/>
          <a:lstStyle/>
          <a:p>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0D2AF499-6E58-5D9B-A8D3-A7FBEC2D675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7422C4A9-1D1D-649D-DEFE-A807710BF6AC}"/>
              </a:ext>
            </a:extLst>
          </p:cNvPr>
          <p:cNvSpPr txBox="1"/>
          <p:nvPr/>
        </p:nvSpPr>
        <p:spPr>
          <a:xfrm>
            <a:off x="496044" y="494407"/>
            <a:ext cx="3759696" cy="381386"/>
          </a:xfrm>
          <a:prstGeom prst="rect">
            <a:avLst/>
          </a:prstGeom>
        </p:spPr>
        <p:txBody>
          <a:bodyPr lIns="0" tIns="0" rIns="0" bIns="0" rtlCol="0" anchor="t">
            <a:spAutoFit/>
          </a:bodyPr>
          <a:lstStyle/>
          <a:p>
            <a:r>
              <a:t>IDENTIFY COMPLEXITY</a:t>
            </a:r>
          </a:p>
        </p:txBody>
      </p:sp>
      <p:sp>
        <p:nvSpPr>
          <p:cNvPr id="2" name="TextBox 73">
            <a:extLst>
              <a:ext uri="{FF2B5EF4-FFF2-40B4-BE49-F238E27FC236}">
                <a16:creationId xmlns:a16="http://schemas.microsoft.com/office/drawing/2014/main" id="{91B38BC1-AAF8-EC26-4272-4DFD2B74BEB6}"/>
              </a:ext>
            </a:extLst>
          </p:cNvPr>
          <p:cNvSpPr txBox="1"/>
          <p:nvPr/>
        </p:nvSpPr>
        <p:spPr>
          <a:xfrm>
            <a:off x="1031772" y="1456853"/>
            <a:ext cx="11086356" cy="363113"/>
          </a:xfrm>
          <a:prstGeom prst="rect">
            <a:avLst/>
          </a:prstGeom>
        </p:spPr>
        <p:txBody>
          <a:bodyPr wrap="square" lIns="0" tIns="0" rIns="0" bIns="0" rtlCol="0" anchor="t">
            <a:spAutoFit/>
          </a:bodyPr>
          <a:lstStyle/>
          <a:p>
            <a:r>
              <a:t>Identify Complexity of Data Functions (DF)</a:t>
            </a:r>
          </a:p>
        </p:txBody>
      </p:sp>
      <p:grpSp>
        <p:nvGrpSpPr>
          <p:cNvPr id="3" name="Group 74">
            <a:extLst>
              <a:ext uri="{FF2B5EF4-FFF2-40B4-BE49-F238E27FC236}">
                <a16:creationId xmlns:a16="http://schemas.microsoft.com/office/drawing/2014/main" id="{D3AE8653-2CCB-FE58-95CC-27C566DCE9DA}"/>
              </a:ext>
            </a:extLst>
          </p:cNvPr>
          <p:cNvGrpSpPr/>
          <p:nvPr/>
        </p:nvGrpSpPr>
        <p:grpSpPr>
          <a:xfrm>
            <a:off x="1038398" y="2119018"/>
            <a:ext cx="17305436" cy="2939355"/>
            <a:chOff x="0" y="0"/>
            <a:chExt cx="23073915" cy="3919140"/>
          </a:xfrm>
        </p:grpSpPr>
        <p:sp>
          <p:nvSpPr>
            <p:cNvPr id="4" name="Freeform 75">
              <a:extLst>
                <a:ext uri="{FF2B5EF4-FFF2-40B4-BE49-F238E27FC236}">
                  <a16:creationId xmlns:a16="http://schemas.microsoft.com/office/drawing/2014/main" id="{60E0AC72-DCB5-F46D-E272-F6E9CE3E7097}"/>
                </a:ext>
              </a:extLst>
            </p:cNvPr>
            <p:cNvSpPr/>
            <p:nvPr/>
          </p:nvSpPr>
          <p:spPr>
            <a:xfrm>
              <a:off x="0" y="0"/>
              <a:ext cx="23073995" cy="3919093"/>
            </a:xfrm>
            <a:custGeom>
              <a:avLst/>
              <a:gdLst/>
              <a:ahLst/>
              <a:cxnLst/>
              <a:rect l="l" t="t" r="r" b="b"/>
              <a:pathLst>
                <a:path w="23073995" h="3919093">
                  <a:moveTo>
                    <a:pt x="0" y="85725"/>
                  </a:moveTo>
                  <a:cubicBezTo>
                    <a:pt x="0" y="38354"/>
                    <a:pt x="38481" y="0"/>
                    <a:pt x="85979" y="0"/>
                  </a:cubicBezTo>
                  <a:lnTo>
                    <a:pt x="22988015" y="0"/>
                  </a:lnTo>
                  <a:lnTo>
                    <a:pt x="22988015" y="6350"/>
                  </a:lnTo>
                  <a:lnTo>
                    <a:pt x="22988015" y="0"/>
                  </a:lnTo>
                  <a:cubicBezTo>
                    <a:pt x="23035513" y="0"/>
                    <a:pt x="23073995" y="38354"/>
                    <a:pt x="23073995" y="85725"/>
                  </a:cubicBezTo>
                  <a:lnTo>
                    <a:pt x="23067645" y="85725"/>
                  </a:lnTo>
                  <a:lnTo>
                    <a:pt x="23073995" y="85725"/>
                  </a:lnTo>
                  <a:lnTo>
                    <a:pt x="23073995" y="3833368"/>
                  </a:lnTo>
                  <a:lnTo>
                    <a:pt x="23067645" y="3833368"/>
                  </a:lnTo>
                  <a:lnTo>
                    <a:pt x="23073995" y="3833368"/>
                  </a:lnTo>
                  <a:cubicBezTo>
                    <a:pt x="23073995" y="3880739"/>
                    <a:pt x="23035513" y="3919093"/>
                    <a:pt x="22988015" y="3919093"/>
                  </a:cubicBezTo>
                  <a:lnTo>
                    <a:pt x="22988015" y="3912743"/>
                  </a:lnTo>
                  <a:lnTo>
                    <a:pt x="22988015" y="3919093"/>
                  </a:lnTo>
                  <a:lnTo>
                    <a:pt x="85979" y="3919093"/>
                  </a:lnTo>
                  <a:lnTo>
                    <a:pt x="85979" y="3912743"/>
                  </a:lnTo>
                  <a:lnTo>
                    <a:pt x="85979" y="3919093"/>
                  </a:lnTo>
                  <a:cubicBezTo>
                    <a:pt x="38481" y="3919093"/>
                    <a:pt x="0" y="3880739"/>
                    <a:pt x="0" y="3833368"/>
                  </a:cubicBezTo>
                  <a:lnTo>
                    <a:pt x="0" y="85725"/>
                  </a:lnTo>
                  <a:lnTo>
                    <a:pt x="6350" y="85725"/>
                  </a:lnTo>
                  <a:lnTo>
                    <a:pt x="0" y="85725"/>
                  </a:lnTo>
                  <a:moveTo>
                    <a:pt x="12700" y="85725"/>
                  </a:moveTo>
                  <a:lnTo>
                    <a:pt x="12700" y="3833368"/>
                  </a:lnTo>
                  <a:lnTo>
                    <a:pt x="6350" y="3833368"/>
                  </a:lnTo>
                  <a:lnTo>
                    <a:pt x="12700" y="3833368"/>
                  </a:lnTo>
                  <a:cubicBezTo>
                    <a:pt x="12700" y="3873627"/>
                    <a:pt x="45466" y="3906393"/>
                    <a:pt x="85979" y="3906393"/>
                  </a:cubicBezTo>
                  <a:lnTo>
                    <a:pt x="22988015" y="3906393"/>
                  </a:lnTo>
                  <a:cubicBezTo>
                    <a:pt x="23028529" y="3906393"/>
                    <a:pt x="23061295" y="3873627"/>
                    <a:pt x="23061295" y="3833368"/>
                  </a:cubicBezTo>
                  <a:lnTo>
                    <a:pt x="23061295" y="85725"/>
                  </a:lnTo>
                  <a:cubicBezTo>
                    <a:pt x="23061295" y="45466"/>
                    <a:pt x="23028529" y="12700"/>
                    <a:pt x="22988015" y="12700"/>
                  </a:cubicBezTo>
                  <a:lnTo>
                    <a:pt x="85979" y="12700"/>
                  </a:lnTo>
                  <a:lnTo>
                    <a:pt x="85979" y="6350"/>
                  </a:lnTo>
                  <a:lnTo>
                    <a:pt x="85979" y="12700"/>
                  </a:lnTo>
                  <a:cubicBezTo>
                    <a:pt x="45466" y="12700"/>
                    <a:pt x="12700" y="45466"/>
                    <a:pt x="12700" y="85725"/>
                  </a:cubicBezTo>
                  <a:close/>
                </a:path>
              </a:pathLst>
            </a:custGeom>
            <a:solidFill>
              <a:srgbClr val="F8F8F8">
                <a:alpha val="392"/>
              </a:srgbClr>
            </a:solidFill>
          </p:spPr>
        </p:sp>
      </p:grpSp>
      <p:grpSp>
        <p:nvGrpSpPr>
          <p:cNvPr id="5" name="Group 76">
            <a:extLst>
              <a:ext uri="{FF2B5EF4-FFF2-40B4-BE49-F238E27FC236}">
                <a16:creationId xmlns:a16="http://schemas.microsoft.com/office/drawing/2014/main" id="{AFBEDE55-C21F-1C8A-FB49-322E7EA52DC3}"/>
              </a:ext>
            </a:extLst>
          </p:cNvPr>
          <p:cNvGrpSpPr/>
          <p:nvPr/>
        </p:nvGrpSpPr>
        <p:grpSpPr>
          <a:xfrm>
            <a:off x="1052686" y="2133305"/>
            <a:ext cx="17276861" cy="415826"/>
            <a:chOff x="0" y="0"/>
            <a:chExt cx="23035815" cy="554435"/>
          </a:xfrm>
        </p:grpSpPr>
        <p:sp>
          <p:nvSpPr>
            <p:cNvPr id="73" name="Freeform 77">
              <a:extLst>
                <a:ext uri="{FF2B5EF4-FFF2-40B4-BE49-F238E27FC236}">
                  <a16:creationId xmlns:a16="http://schemas.microsoft.com/office/drawing/2014/main" id="{0304EECC-D8CE-F498-30DA-601DAEC0D7B5}"/>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74" name="TextBox 78">
            <a:extLst>
              <a:ext uri="{FF2B5EF4-FFF2-40B4-BE49-F238E27FC236}">
                <a16:creationId xmlns:a16="http://schemas.microsoft.com/office/drawing/2014/main" id="{FBBD1189-3B20-2966-48D4-DF0421BB7929}"/>
              </a:ext>
            </a:extLst>
          </p:cNvPr>
          <p:cNvSpPr txBox="1"/>
          <p:nvPr/>
        </p:nvSpPr>
        <p:spPr>
          <a:xfrm>
            <a:off x="1171813" y="2150492"/>
            <a:ext cx="3167211" cy="245260"/>
          </a:xfrm>
          <a:prstGeom prst="rect">
            <a:avLst/>
          </a:prstGeom>
        </p:spPr>
        <p:txBody>
          <a:bodyPr lIns="0" tIns="0" rIns="0" bIns="0" rtlCol="0" anchor="t">
            <a:spAutoFit/>
          </a:bodyPr>
          <a:lstStyle/>
          <a:p>
            <a:r>
              <a:t>Data Function</a:t>
            </a:r>
          </a:p>
        </p:txBody>
      </p:sp>
      <p:sp>
        <p:nvSpPr>
          <p:cNvPr id="75" name="TextBox 79">
            <a:extLst>
              <a:ext uri="{FF2B5EF4-FFF2-40B4-BE49-F238E27FC236}">
                <a16:creationId xmlns:a16="http://schemas.microsoft.com/office/drawing/2014/main" id="{D6521926-3A86-84FD-C8E6-05FBFA509F33}"/>
              </a:ext>
            </a:extLst>
          </p:cNvPr>
          <p:cNvSpPr txBox="1"/>
          <p:nvPr/>
        </p:nvSpPr>
        <p:spPr>
          <a:xfrm>
            <a:off x="4631918" y="2150492"/>
            <a:ext cx="3162449" cy="245260"/>
          </a:xfrm>
          <a:prstGeom prst="rect">
            <a:avLst/>
          </a:prstGeom>
        </p:spPr>
        <p:txBody>
          <a:bodyPr lIns="0" tIns="0" rIns="0" bIns="0" rtlCol="0" anchor="t">
            <a:spAutoFit/>
          </a:bodyPr>
          <a:lstStyle/>
          <a:p>
            <a:r>
              <a:t>Type</a:t>
            </a:r>
          </a:p>
        </p:txBody>
      </p:sp>
      <p:sp>
        <p:nvSpPr>
          <p:cNvPr id="76" name="TextBox 80">
            <a:extLst>
              <a:ext uri="{FF2B5EF4-FFF2-40B4-BE49-F238E27FC236}">
                <a16:creationId xmlns:a16="http://schemas.microsoft.com/office/drawing/2014/main" id="{817DC74B-7DF6-41EE-A435-0F2AA705CD07}"/>
              </a:ext>
            </a:extLst>
          </p:cNvPr>
          <p:cNvSpPr txBox="1"/>
          <p:nvPr/>
        </p:nvSpPr>
        <p:spPr>
          <a:xfrm>
            <a:off x="8087261" y="2150492"/>
            <a:ext cx="3162449" cy="245260"/>
          </a:xfrm>
          <a:prstGeom prst="rect">
            <a:avLst/>
          </a:prstGeom>
        </p:spPr>
        <p:txBody>
          <a:bodyPr lIns="0" tIns="0" rIns="0" bIns="0" rtlCol="0" anchor="t">
            <a:spAutoFit/>
          </a:bodyPr>
          <a:lstStyle/>
          <a:p>
            <a:r>
              <a:t>RET</a:t>
            </a:r>
          </a:p>
        </p:txBody>
      </p:sp>
      <p:sp>
        <p:nvSpPr>
          <p:cNvPr id="77" name="TextBox 81">
            <a:extLst>
              <a:ext uri="{FF2B5EF4-FFF2-40B4-BE49-F238E27FC236}">
                <a16:creationId xmlns:a16="http://schemas.microsoft.com/office/drawing/2014/main" id="{319E84E8-4B53-8DF2-ED9B-427324304CF6}"/>
              </a:ext>
            </a:extLst>
          </p:cNvPr>
          <p:cNvSpPr txBox="1"/>
          <p:nvPr/>
        </p:nvSpPr>
        <p:spPr>
          <a:xfrm>
            <a:off x="11542603" y="2150492"/>
            <a:ext cx="3162449" cy="245260"/>
          </a:xfrm>
          <a:prstGeom prst="rect">
            <a:avLst/>
          </a:prstGeom>
        </p:spPr>
        <p:txBody>
          <a:bodyPr lIns="0" tIns="0" rIns="0" bIns="0" rtlCol="0" anchor="t">
            <a:spAutoFit/>
          </a:bodyPr>
          <a:lstStyle/>
          <a:p>
            <a:r>
              <a:t>DET</a:t>
            </a:r>
          </a:p>
        </p:txBody>
      </p:sp>
      <p:sp>
        <p:nvSpPr>
          <p:cNvPr id="78" name="TextBox 82">
            <a:extLst>
              <a:ext uri="{FF2B5EF4-FFF2-40B4-BE49-F238E27FC236}">
                <a16:creationId xmlns:a16="http://schemas.microsoft.com/office/drawing/2014/main" id="{B127ABE1-5045-A229-DF20-EBABBB945512}"/>
              </a:ext>
            </a:extLst>
          </p:cNvPr>
          <p:cNvSpPr txBox="1"/>
          <p:nvPr/>
        </p:nvSpPr>
        <p:spPr>
          <a:xfrm>
            <a:off x="14997946" y="2150492"/>
            <a:ext cx="3167211" cy="245260"/>
          </a:xfrm>
          <a:prstGeom prst="rect">
            <a:avLst/>
          </a:prstGeom>
        </p:spPr>
        <p:txBody>
          <a:bodyPr lIns="0" tIns="0" rIns="0" bIns="0" rtlCol="0" anchor="t">
            <a:spAutoFit/>
          </a:bodyPr>
          <a:lstStyle/>
          <a:p>
            <a:r>
              <a:t>Complexity</a:t>
            </a:r>
          </a:p>
        </p:txBody>
      </p:sp>
      <p:sp>
        <p:nvSpPr>
          <p:cNvPr id="81" name="TextBox 85">
            <a:extLst>
              <a:ext uri="{FF2B5EF4-FFF2-40B4-BE49-F238E27FC236}">
                <a16:creationId xmlns:a16="http://schemas.microsoft.com/office/drawing/2014/main" id="{FA87E51E-6A9F-5366-D377-1ED534FA67A6}"/>
              </a:ext>
            </a:extLst>
          </p:cNvPr>
          <p:cNvSpPr txBox="1"/>
          <p:nvPr/>
        </p:nvSpPr>
        <p:spPr>
          <a:xfrm>
            <a:off x="1194519" y="2596012"/>
            <a:ext cx="3167211" cy="487634"/>
          </a:xfrm>
          <a:prstGeom prst="rect">
            <a:avLst/>
          </a:prstGeom>
        </p:spPr>
        <p:txBody>
          <a:bodyPr lIns="0" tIns="0" rIns="0" bIns="0" rtlCol="0" anchor="t">
            <a:spAutoFit/>
          </a:bodyPr>
          <a:lstStyle/>
          <a:p>
            <a:r>
              <a:t>1 Users</a:t>
            </a:r>
          </a:p>
        </p:txBody>
      </p:sp>
      <p:sp>
        <p:nvSpPr>
          <p:cNvPr id="82" name="TextBox 86">
            <a:extLst>
              <a:ext uri="{FF2B5EF4-FFF2-40B4-BE49-F238E27FC236}">
                <a16:creationId xmlns:a16="http://schemas.microsoft.com/office/drawing/2014/main" id="{37A4A282-CF9E-04C1-B530-EC41A67B7C6A}"/>
              </a:ext>
            </a:extLst>
          </p:cNvPr>
          <p:cNvSpPr txBox="1"/>
          <p:nvPr/>
        </p:nvSpPr>
        <p:spPr>
          <a:xfrm>
            <a:off x="4654624" y="2596012"/>
            <a:ext cx="3162449" cy="487634"/>
          </a:xfrm>
          <a:prstGeom prst="rect">
            <a:avLst/>
          </a:prstGeom>
        </p:spPr>
        <p:txBody>
          <a:bodyPr lIns="0" tIns="0" rIns="0" bIns="0" rtlCol="0" anchor="t">
            <a:spAutoFit/>
          </a:bodyPr>
          <a:lstStyle/>
          <a:p>
            <a:r>
              <a:t>ILF</a:t>
            </a:r>
          </a:p>
        </p:txBody>
      </p:sp>
      <p:sp>
        <p:nvSpPr>
          <p:cNvPr id="83" name="TextBox 87">
            <a:extLst>
              <a:ext uri="{FF2B5EF4-FFF2-40B4-BE49-F238E27FC236}">
                <a16:creationId xmlns:a16="http://schemas.microsoft.com/office/drawing/2014/main" id="{39B415FB-62C0-58C9-7054-AA13CC8AE006}"/>
              </a:ext>
            </a:extLst>
          </p:cNvPr>
          <p:cNvSpPr txBox="1"/>
          <p:nvPr/>
        </p:nvSpPr>
        <p:spPr>
          <a:xfrm>
            <a:off x="8109967" y="2596012"/>
            <a:ext cx="3162449" cy="487634"/>
          </a:xfrm>
          <a:prstGeom prst="rect">
            <a:avLst/>
          </a:prstGeom>
        </p:spPr>
        <p:txBody>
          <a:bodyPr lIns="0" tIns="0" rIns="0" bIns="0" rtlCol="0" anchor="t">
            <a:spAutoFit/>
          </a:bodyPr>
          <a:lstStyle/>
          <a:p>
            <a:r>
              <a:t>1</a:t>
            </a:r>
          </a:p>
        </p:txBody>
      </p:sp>
      <p:sp>
        <p:nvSpPr>
          <p:cNvPr id="84" name="TextBox 88">
            <a:extLst>
              <a:ext uri="{FF2B5EF4-FFF2-40B4-BE49-F238E27FC236}">
                <a16:creationId xmlns:a16="http://schemas.microsoft.com/office/drawing/2014/main" id="{BAABC8D3-A1A8-5EA2-96CB-A82FD5276E5A}"/>
              </a:ext>
            </a:extLst>
          </p:cNvPr>
          <p:cNvSpPr txBox="1"/>
          <p:nvPr/>
        </p:nvSpPr>
        <p:spPr>
          <a:xfrm>
            <a:off x="11565309" y="2596012"/>
            <a:ext cx="3162449" cy="487634"/>
          </a:xfrm>
          <a:prstGeom prst="rect">
            <a:avLst/>
          </a:prstGeom>
        </p:spPr>
        <p:txBody>
          <a:bodyPr lIns="0" tIns="0" rIns="0" bIns="0" rtlCol="0" anchor="t">
            <a:spAutoFit/>
          </a:bodyPr>
          <a:lstStyle/>
          <a:p>
            <a:r>
              <a:t>7</a:t>
            </a:r>
          </a:p>
        </p:txBody>
      </p:sp>
      <p:sp>
        <p:nvSpPr>
          <p:cNvPr id="85" name="TextBox 89">
            <a:extLst>
              <a:ext uri="{FF2B5EF4-FFF2-40B4-BE49-F238E27FC236}">
                <a16:creationId xmlns:a16="http://schemas.microsoft.com/office/drawing/2014/main" id="{ED9CF544-B664-4D60-783E-EDB98A7A967A}"/>
              </a:ext>
            </a:extLst>
          </p:cNvPr>
          <p:cNvSpPr txBox="1"/>
          <p:nvPr/>
        </p:nvSpPr>
        <p:spPr>
          <a:xfrm>
            <a:off x="15020652" y="2596012"/>
            <a:ext cx="3167211" cy="487634"/>
          </a:xfrm>
          <a:prstGeom prst="rect">
            <a:avLst/>
          </a:prstGeom>
        </p:spPr>
        <p:txBody>
          <a:bodyPr lIns="0" tIns="0" rIns="0" bIns="0" rtlCol="0" anchor="t">
            <a:spAutoFit/>
          </a:bodyPr>
          <a:lstStyle/>
          <a:p>
            <a:r>
              <a:t>Low</a:t>
            </a:r>
          </a:p>
        </p:txBody>
      </p:sp>
      <p:sp>
        <p:nvSpPr>
          <p:cNvPr id="88" name="TextBox 92">
            <a:extLst>
              <a:ext uri="{FF2B5EF4-FFF2-40B4-BE49-F238E27FC236}">
                <a16:creationId xmlns:a16="http://schemas.microsoft.com/office/drawing/2014/main" id="{FC0B60B0-4296-F3CE-A327-4B505605DA53}"/>
              </a:ext>
            </a:extLst>
          </p:cNvPr>
          <p:cNvSpPr txBox="1"/>
          <p:nvPr/>
        </p:nvSpPr>
        <p:spPr>
          <a:xfrm>
            <a:off x="1194519" y="3011838"/>
            <a:ext cx="3167211" cy="487634"/>
          </a:xfrm>
          <a:prstGeom prst="rect">
            <a:avLst/>
          </a:prstGeom>
        </p:spPr>
        <p:txBody>
          <a:bodyPr lIns="0" tIns="0" rIns="0" bIns="0" rtlCol="0" anchor="t">
            <a:spAutoFit/>
          </a:bodyPr>
          <a:lstStyle/>
          <a:p>
            <a:r>
              <a:t>2 Menu Items</a:t>
            </a:r>
          </a:p>
        </p:txBody>
      </p:sp>
      <p:sp>
        <p:nvSpPr>
          <p:cNvPr id="89" name="TextBox 93">
            <a:extLst>
              <a:ext uri="{FF2B5EF4-FFF2-40B4-BE49-F238E27FC236}">
                <a16:creationId xmlns:a16="http://schemas.microsoft.com/office/drawing/2014/main" id="{CCDDB12D-CF7D-004A-4182-ABE2A6407C55}"/>
              </a:ext>
            </a:extLst>
          </p:cNvPr>
          <p:cNvSpPr txBox="1"/>
          <p:nvPr/>
        </p:nvSpPr>
        <p:spPr>
          <a:xfrm>
            <a:off x="4654624" y="3011838"/>
            <a:ext cx="3162449" cy="487634"/>
          </a:xfrm>
          <a:prstGeom prst="rect">
            <a:avLst/>
          </a:prstGeom>
        </p:spPr>
        <p:txBody>
          <a:bodyPr lIns="0" tIns="0" rIns="0" bIns="0" rtlCol="0" anchor="t">
            <a:spAutoFit/>
          </a:bodyPr>
          <a:lstStyle/>
          <a:p>
            <a:r>
              <a:t>ILF</a:t>
            </a:r>
          </a:p>
        </p:txBody>
      </p:sp>
      <p:sp>
        <p:nvSpPr>
          <p:cNvPr id="90" name="TextBox 94">
            <a:extLst>
              <a:ext uri="{FF2B5EF4-FFF2-40B4-BE49-F238E27FC236}">
                <a16:creationId xmlns:a16="http://schemas.microsoft.com/office/drawing/2014/main" id="{C24C5806-1041-CEAF-E48A-2D605CEC65EF}"/>
              </a:ext>
            </a:extLst>
          </p:cNvPr>
          <p:cNvSpPr txBox="1"/>
          <p:nvPr/>
        </p:nvSpPr>
        <p:spPr>
          <a:xfrm>
            <a:off x="8109967" y="3011838"/>
            <a:ext cx="3162449" cy="487634"/>
          </a:xfrm>
          <a:prstGeom prst="rect">
            <a:avLst/>
          </a:prstGeom>
        </p:spPr>
        <p:txBody>
          <a:bodyPr lIns="0" tIns="0" rIns="0" bIns="0" rtlCol="0" anchor="t">
            <a:spAutoFit/>
          </a:bodyPr>
          <a:lstStyle/>
          <a:p>
            <a:r>
              <a:t>1</a:t>
            </a:r>
          </a:p>
        </p:txBody>
      </p:sp>
      <p:sp>
        <p:nvSpPr>
          <p:cNvPr id="91" name="TextBox 95">
            <a:extLst>
              <a:ext uri="{FF2B5EF4-FFF2-40B4-BE49-F238E27FC236}">
                <a16:creationId xmlns:a16="http://schemas.microsoft.com/office/drawing/2014/main" id="{ABD7D8F6-7857-2CD5-C515-3EB1DD57A615}"/>
              </a:ext>
            </a:extLst>
          </p:cNvPr>
          <p:cNvSpPr txBox="1"/>
          <p:nvPr/>
        </p:nvSpPr>
        <p:spPr>
          <a:xfrm>
            <a:off x="11565309" y="3011838"/>
            <a:ext cx="3162449" cy="487634"/>
          </a:xfrm>
          <a:prstGeom prst="rect">
            <a:avLst/>
          </a:prstGeom>
        </p:spPr>
        <p:txBody>
          <a:bodyPr lIns="0" tIns="0" rIns="0" bIns="0" rtlCol="0" anchor="t">
            <a:spAutoFit/>
          </a:bodyPr>
          <a:lstStyle/>
          <a:p>
            <a:r>
              <a:t>8</a:t>
            </a:r>
          </a:p>
        </p:txBody>
      </p:sp>
      <p:sp>
        <p:nvSpPr>
          <p:cNvPr id="92" name="TextBox 96">
            <a:extLst>
              <a:ext uri="{FF2B5EF4-FFF2-40B4-BE49-F238E27FC236}">
                <a16:creationId xmlns:a16="http://schemas.microsoft.com/office/drawing/2014/main" id="{9BC176C5-2B63-C62A-BAB1-AA7B1D155051}"/>
              </a:ext>
            </a:extLst>
          </p:cNvPr>
          <p:cNvSpPr txBox="1"/>
          <p:nvPr/>
        </p:nvSpPr>
        <p:spPr>
          <a:xfrm>
            <a:off x="15020652" y="3011838"/>
            <a:ext cx="3167211" cy="487634"/>
          </a:xfrm>
          <a:prstGeom prst="rect">
            <a:avLst/>
          </a:prstGeom>
        </p:spPr>
        <p:txBody>
          <a:bodyPr lIns="0" tIns="0" rIns="0" bIns="0" rtlCol="0" anchor="t">
            <a:spAutoFit/>
          </a:bodyPr>
          <a:lstStyle/>
          <a:p>
            <a:r>
              <a:t>Low</a:t>
            </a:r>
          </a:p>
        </p:txBody>
      </p:sp>
      <p:grpSp>
        <p:nvGrpSpPr>
          <p:cNvPr id="93" name="Group 97">
            <a:extLst>
              <a:ext uri="{FF2B5EF4-FFF2-40B4-BE49-F238E27FC236}">
                <a16:creationId xmlns:a16="http://schemas.microsoft.com/office/drawing/2014/main" id="{1DA21AC5-3C58-B514-2E39-3CF43F27471C}"/>
              </a:ext>
            </a:extLst>
          </p:cNvPr>
          <p:cNvGrpSpPr/>
          <p:nvPr/>
        </p:nvGrpSpPr>
        <p:grpSpPr>
          <a:xfrm>
            <a:off x="1052686" y="3380783"/>
            <a:ext cx="17276861" cy="415826"/>
            <a:chOff x="0" y="0"/>
            <a:chExt cx="23035815" cy="554435"/>
          </a:xfrm>
        </p:grpSpPr>
        <p:sp>
          <p:nvSpPr>
            <p:cNvPr id="94" name="Freeform 98">
              <a:extLst>
                <a:ext uri="{FF2B5EF4-FFF2-40B4-BE49-F238E27FC236}">
                  <a16:creationId xmlns:a16="http://schemas.microsoft.com/office/drawing/2014/main" id="{7570F374-CBFB-E3B0-7D8D-A671CF06F901}"/>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95" name="TextBox 99">
            <a:extLst>
              <a:ext uri="{FF2B5EF4-FFF2-40B4-BE49-F238E27FC236}">
                <a16:creationId xmlns:a16="http://schemas.microsoft.com/office/drawing/2014/main" id="{F7488A4D-B08C-1CFE-40E8-CF27EE8ACF9A}"/>
              </a:ext>
            </a:extLst>
          </p:cNvPr>
          <p:cNvSpPr txBox="1"/>
          <p:nvPr/>
        </p:nvSpPr>
        <p:spPr>
          <a:xfrm>
            <a:off x="1194519" y="3427663"/>
            <a:ext cx="3167211" cy="487634"/>
          </a:xfrm>
          <a:prstGeom prst="rect">
            <a:avLst/>
          </a:prstGeom>
        </p:spPr>
        <p:txBody>
          <a:bodyPr lIns="0" tIns="0" rIns="0" bIns="0" rtlCol="0" anchor="t">
            <a:spAutoFit/>
          </a:bodyPr>
          <a:lstStyle/>
          <a:p>
            <a:r>
              <a:t>3 Orders</a:t>
            </a:r>
          </a:p>
        </p:txBody>
      </p:sp>
      <p:sp>
        <p:nvSpPr>
          <p:cNvPr id="96" name="TextBox 100">
            <a:extLst>
              <a:ext uri="{FF2B5EF4-FFF2-40B4-BE49-F238E27FC236}">
                <a16:creationId xmlns:a16="http://schemas.microsoft.com/office/drawing/2014/main" id="{BF0C61DB-DC22-C79E-BDFE-CFAB33AD0D20}"/>
              </a:ext>
            </a:extLst>
          </p:cNvPr>
          <p:cNvSpPr txBox="1"/>
          <p:nvPr/>
        </p:nvSpPr>
        <p:spPr>
          <a:xfrm>
            <a:off x="4654624" y="3427663"/>
            <a:ext cx="3162449" cy="487634"/>
          </a:xfrm>
          <a:prstGeom prst="rect">
            <a:avLst/>
          </a:prstGeom>
        </p:spPr>
        <p:txBody>
          <a:bodyPr lIns="0" tIns="0" rIns="0" bIns="0" rtlCol="0" anchor="t">
            <a:spAutoFit/>
          </a:bodyPr>
          <a:lstStyle/>
          <a:p>
            <a:r>
              <a:t>ILF</a:t>
            </a:r>
          </a:p>
        </p:txBody>
      </p:sp>
      <p:sp>
        <p:nvSpPr>
          <p:cNvPr id="97" name="TextBox 101">
            <a:extLst>
              <a:ext uri="{FF2B5EF4-FFF2-40B4-BE49-F238E27FC236}">
                <a16:creationId xmlns:a16="http://schemas.microsoft.com/office/drawing/2014/main" id="{AF3F92D9-1CA0-BB18-1AFD-F1AE7C0837E3}"/>
              </a:ext>
            </a:extLst>
          </p:cNvPr>
          <p:cNvSpPr txBox="1"/>
          <p:nvPr/>
        </p:nvSpPr>
        <p:spPr>
          <a:xfrm>
            <a:off x="8109967" y="3427663"/>
            <a:ext cx="3162449" cy="487634"/>
          </a:xfrm>
          <a:prstGeom prst="rect">
            <a:avLst/>
          </a:prstGeom>
        </p:spPr>
        <p:txBody>
          <a:bodyPr lIns="0" tIns="0" rIns="0" bIns="0" rtlCol="0" anchor="t">
            <a:spAutoFit/>
          </a:bodyPr>
          <a:lstStyle/>
          <a:p>
            <a:r>
              <a:t>1</a:t>
            </a:r>
          </a:p>
        </p:txBody>
      </p:sp>
      <p:sp>
        <p:nvSpPr>
          <p:cNvPr id="98" name="TextBox 102">
            <a:extLst>
              <a:ext uri="{FF2B5EF4-FFF2-40B4-BE49-F238E27FC236}">
                <a16:creationId xmlns:a16="http://schemas.microsoft.com/office/drawing/2014/main" id="{8E0896C3-08ED-FF21-CF04-AAD176A6F38F}"/>
              </a:ext>
            </a:extLst>
          </p:cNvPr>
          <p:cNvSpPr txBox="1"/>
          <p:nvPr/>
        </p:nvSpPr>
        <p:spPr>
          <a:xfrm>
            <a:off x="11565309" y="3427663"/>
            <a:ext cx="3162449" cy="487634"/>
          </a:xfrm>
          <a:prstGeom prst="rect">
            <a:avLst/>
          </a:prstGeom>
        </p:spPr>
        <p:txBody>
          <a:bodyPr lIns="0" tIns="0" rIns="0" bIns="0" rtlCol="0" anchor="t">
            <a:spAutoFit/>
          </a:bodyPr>
          <a:lstStyle/>
          <a:p>
            <a:r>
              <a:t>12</a:t>
            </a:r>
          </a:p>
        </p:txBody>
      </p:sp>
      <p:sp>
        <p:nvSpPr>
          <p:cNvPr id="99" name="TextBox 103">
            <a:extLst>
              <a:ext uri="{FF2B5EF4-FFF2-40B4-BE49-F238E27FC236}">
                <a16:creationId xmlns:a16="http://schemas.microsoft.com/office/drawing/2014/main" id="{A5395454-36FC-A0DB-5C1B-054468943830}"/>
              </a:ext>
            </a:extLst>
          </p:cNvPr>
          <p:cNvSpPr txBox="1"/>
          <p:nvPr/>
        </p:nvSpPr>
        <p:spPr>
          <a:xfrm>
            <a:off x="15020652" y="3427663"/>
            <a:ext cx="3167211" cy="487634"/>
          </a:xfrm>
          <a:prstGeom prst="rect">
            <a:avLst/>
          </a:prstGeom>
        </p:spPr>
        <p:txBody>
          <a:bodyPr lIns="0" tIns="0" rIns="0" bIns="0" rtlCol="0" anchor="t">
            <a:spAutoFit/>
          </a:bodyPr>
          <a:lstStyle/>
          <a:p>
            <a:r>
              <a:t>Low</a:t>
            </a:r>
          </a:p>
        </p:txBody>
      </p:sp>
      <p:grpSp>
        <p:nvGrpSpPr>
          <p:cNvPr id="100" name="Group 104">
            <a:extLst>
              <a:ext uri="{FF2B5EF4-FFF2-40B4-BE49-F238E27FC236}">
                <a16:creationId xmlns:a16="http://schemas.microsoft.com/office/drawing/2014/main" id="{7930BC23-0469-D9C7-1FC7-1682B08B6B12}"/>
              </a:ext>
            </a:extLst>
          </p:cNvPr>
          <p:cNvGrpSpPr/>
          <p:nvPr/>
        </p:nvGrpSpPr>
        <p:grpSpPr>
          <a:xfrm>
            <a:off x="1066975" y="3833955"/>
            <a:ext cx="17276861" cy="415826"/>
            <a:chOff x="0" y="0"/>
            <a:chExt cx="23035815" cy="554435"/>
          </a:xfrm>
        </p:grpSpPr>
        <p:sp>
          <p:nvSpPr>
            <p:cNvPr id="101" name="Freeform 105">
              <a:extLst>
                <a:ext uri="{FF2B5EF4-FFF2-40B4-BE49-F238E27FC236}">
                  <a16:creationId xmlns:a16="http://schemas.microsoft.com/office/drawing/2014/main" id="{92D00E9A-3184-FC08-6240-A0751606352A}"/>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02" name="TextBox 106">
            <a:extLst>
              <a:ext uri="{FF2B5EF4-FFF2-40B4-BE49-F238E27FC236}">
                <a16:creationId xmlns:a16="http://schemas.microsoft.com/office/drawing/2014/main" id="{06C2D5C9-9419-0FD0-F327-22F714D54726}"/>
              </a:ext>
            </a:extLst>
          </p:cNvPr>
          <p:cNvSpPr txBox="1"/>
          <p:nvPr/>
        </p:nvSpPr>
        <p:spPr>
          <a:xfrm>
            <a:off x="1194519" y="3843489"/>
            <a:ext cx="3167211" cy="487634"/>
          </a:xfrm>
          <a:prstGeom prst="rect">
            <a:avLst/>
          </a:prstGeom>
        </p:spPr>
        <p:txBody>
          <a:bodyPr lIns="0" tIns="0" rIns="0" bIns="0" rtlCol="0" anchor="t">
            <a:spAutoFit/>
          </a:bodyPr>
          <a:lstStyle/>
          <a:p>
            <a:r>
              <a:t>4 Transactions</a:t>
            </a:r>
          </a:p>
        </p:txBody>
      </p:sp>
      <p:sp>
        <p:nvSpPr>
          <p:cNvPr id="103" name="TextBox 107">
            <a:extLst>
              <a:ext uri="{FF2B5EF4-FFF2-40B4-BE49-F238E27FC236}">
                <a16:creationId xmlns:a16="http://schemas.microsoft.com/office/drawing/2014/main" id="{0ED242B5-81FB-1AD4-CE78-6FA94BA959BF}"/>
              </a:ext>
            </a:extLst>
          </p:cNvPr>
          <p:cNvSpPr txBox="1"/>
          <p:nvPr/>
        </p:nvSpPr>
        <p:spPr>
          <a:xfrm>
            <a:off x="4654624" y="3843489"/>
            <a:ext cx="3162449" cy="487634"/>
          </a:xfrm>
          <a:prstGeom prst="rect">
            <a:avLst/>
          </a:prstGeom>
        </p:spPr>
        <p:txBody>
          <a:bodyPr lIns="0" tIns="0" rIns="0" bIns="0" rtlCol="0" anchor="t">
            <a:spAutoFit/>
          </a:bodyPr>
          <a:lstStyle/>
          <a:p>
            <a:r>
              <a:t>ILF</a:t>
            </a:r>
          </a:p>
        </p:txBody>
      </p:sp>
      <p:sp>
        <p:nvSpPr>
          <p:cNvPr id="104" name="TextBox 108">
            <a:extLst>
              <a:ext uri="{FF2B5EF4-FFF2-40B4-BE49-F238E27FC236}">
                <a16:creationId xmlns:a16="http://schemas.microsoft.com/office/drawing/2014/main" id="{61339C48-3181-7F46-17ED-40E27CBAAFC8}"/>
              </a:ext>
            </a:extLst>
          </p:cNvPr>
          <p:cNvSpPr txBox="1"/>
          <p:nvPr/>
        </p:nvSpPr>
        <p:spPr>
          <a:xfrm>
            <a:off x="8109967" y="3843489"/>
            <a:ext cx="3162449" cy="487634"/>
          </a:xfrm>
          <a:prstGeom prst="rect">
            <a:avLst/>
          </a:prstGeom>
        </p:spPr>
        <p:txBody>
          <a:bodyPr lIns="0" tIns="0" rIns="0" bIns="0" rtlCol="0" anchor="t">
            <a:spAutoFit/>
          </a:bodyPr>
          <a:lstStyle/>
          <a:p>
            <a:r>
              <a:t>1</a:t>
            </a:r>
          </a:p>
        </p:txBody>
      </p:sp>
      <p:sp>
        <p:nvSpPr>
          <p:cNvPr id="105" name="TextBox 109">
            <a:extLst>
              <a:ext uri="{FF2B5EF4-FFF2-40B4-BE49-F238E27FC236}">
                <a16:creationId xmlns:a16="http://schemas.microsoft.com/office/drawing/2014/main" id="{6D6CC221-475E-EB54-00EA-25D2DFB6B928}"/>
              </a:ext>
            </a:extLst>
          </p:cNvPr>
          <p:cNvSpPr txBox="1"/>
          <p:nvPr/>
        </p:nvSpPr>
        <p:spPr>
          <a:xfrm>
            <a:off x="11565309" y="3843489"/>
            <a:ext cx="3162449" cy="487634"/>
          </a:xfrm>
          <a:prstGeom prst="rect">
            <a:avLst/>
          </a:prstGeom>
        </p:spPr>
        <p:txBody>
          <a:bodyPr lIns="0" tIns="0" rIns="0" bIns="0" rtlCol="0" anchor="t">
            <a:spAutoFit/>
          </a:bodyPr>
          <a:lstStyle/>
          <a:p>
            <a:r>
              <a:t>10</a:t>
            </a:r>
          </a:p>
        </p:txBody>
      </p:sp>
      <p:sp>
        <p:nvSpPr>
          <p:cNvPr id="106" name="TextBox 110">
            <a:extLst>
              <a:ext uri="{FF2B5EF4-FFF2-40B4-BE49-F238E27FC236}">
                <a16:creationId xmlns:a16="http://schemas.microsoft.com/office/drawing/2014/main" id="{6BE4DE0A-6A8D-4EF7-5FC3-3D9EAFB0D3B9}"/>
              </a:ext>
            </a:extLst>
          </p:cNvPr>
          <p:cNvSpPr txBox="1"/>
          <p:nvPr/>
        </p:nvSpPr>
        <p:spPr>
          <a:xfrm>
            <a:off x="15020652" y="3843489"/>
            <a:ext cx="3167211" cy="487634"/>
          </a:xfrm>
          <a:prstGeom prst="rect">
            <a:avLst/>
          </a:prstGeom>
        </p:spPr>
        <p:txBody>
          <a:bodyPr lIns="0" tIns="0" rIns="0" bIns="0" rtlCol="0" anchor="t">
            <a:spAutoFit/>
          </a:bodyPr>
          <a:lstStyle/>
          <a:p>
            <a:r>
              <a:t>Low</a:t>
            </a:r>
          </a:p>
        </p:txBody>
      </p:sp>
      <p:grpSp>
        <p:nvGrpSpPr>
          <p:cNvPr id="107" name="Group 111">
            <a:extLst>
              <a:ext uri="{FF2B5EF4-FFF2-40B4-BE49-F238E27FC236}">
                <a16:creationId xmlns:a16="http://schemas.microsoft.com/office/drawing/2014/main" id="{5FDA7D61-9E7C-948D-F37B-96A410162C09}"/>
              </a:ext>
            </a:extLst>
          </p:cNvPr>
          <p:cNvGrpSpPr/>
          <p:nvPr/>
        </p:nvGrpSpPr>
        <p:grpSpPr>
          <a:xfrm>
            <a:off x="1052686" y="4212434"/>
            <a:ext cx="17276861" cy="415826"/>
            <a:chOff x="0" y="0"/>
            <a:chExt cx="23035815" cy="554435"/>
          </a:xfrm>
        </p:grpSpPr>
        <p:sp>
          <p:nvSpPr>
            <p:cNvPr id="108" name="Freeform 112">
              <a:extLst>
                <a:ext uri="{FF2B5EF4-FFF2-40B4-BE49-F238E27FC236}">
                  <a16:creationId xmlns:a16="http://schemas.microsoft.com/office/drawing/2014/main" id="{0360418E-FFF9-7D82-6769-6996627B0BE5}"/>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09" name="TextBox 113">
            <a:extLst>
              <a:ext uri="{FF2B5EF4-FFF2-40B4-BE49-F238E27FC236}">
                <a16:creationId xmlns:a16="http://schemas.microsoft.com/office/drawing/2014/main" id="{D43D1213-5B14-062F-85C5-550D8987D570}"/>
              </a:ext>
            </a:extLst>
          </p:cNvPr>
          <p:cNvSpPr txBox="1"/>
          <p:nvPr/>
        </p:nvSpPr>
        <p:spPr>
          <a:xfrm>
            <a:off x="1194519" y="4259315"/>
            <a:ext cx="3167211" cy="487634"/>
          </a:xfrm>
          <a:prstGeom prst="rect">
            <a:avLst/>
          </a:prstGeom>
        </p:spPr>
        <p:txBody>
          <a:bodyPr lIns="0" tIns="0" rIns="0" bIns="0" rtlCol="0" anchor="t">
            <a:spAutoFit/>
          </a:bodyPr>
          <a:lstStyle/>
          <a:p>
            <a:r>
              <a:t>5 Stock</a:t>
            </a:r>
          </a:p>
        </p:txBody>
      </p:sp>
      <p:sp>
        <p:nvSpPr>
          <p:cNvPr id="110" name="TextBox 114">
            <a:extLst>
              <a:ext uri="{FF2B5EF4-FFF2-40B4-BE49-F238E27FC236}">
                <a16:creationId xmlns:a16="http://schemas.microsoft.com/office/drawing/2014/main" id="{AC7A6192-4005-7BCD-8D09-E464DA97E3E7}"/>
              </a:ext>
            </a:extLst>
          </p:cNvPr>
          <p:cNvSpPr txBox="1"/>
          <p:nvPr/>
        </p:nvSpPr>
        <p:spPr>
          <a:xfrm>
            <a:off x="4654624" y="4259315"/>
            <a:ext cx="3162449" cy="487634"/>
          </a:xfrm>
          <a:prstGeom prst="rect">
            <a:avLst/>
          </a:prstGeom>
        </p:spPr>
        <p:txBody>
          <a:bodyPr lIns="0" tIns="0" rIns="0" bIns="0" rtlCol="0" anchor="t">
            <a:spAutoFit/>
          </a:bodyPr>
          <a:lstStyle/>
          <a:p>
            <a:r>
              <a:t>ILF</a:t>
            </a:r>
          </a:p>
        </p:txBody>
      </p:sp>
      <p:sp>
        <p:nvSpPr>
          <p:cNvPr id="111" name="TextBox 115">
            <a:extLst>
              <a:ext uri="{FF2B5EF4-FFF2-40B4-BE49-F238E27FC236}">
                <a16:creationId xmlns:a16="http://schemas.microsoft.com/office/drawing/2014/main" id="{316F7D37-4A89-A8B3-3971-0F4F0023C800}"/>
              </a:ext>
            </a:extLst>
          </p:cNvPr>
          <p:cNvSpPr txBox="1"/>
          <p:nvPr/>
        </p:nvSpPr>
        <p:spPr>
          <a:xfrm>
            <a:off x="8109967" y="4259315"/>
            <a:ext cx="3162449" cy="487634"/>
          </a:xfrm>
          <a:prstGeom prst="rect">
            <a:avLst/>
          </a:prstGeom>
        </p:spPr>
        <p:txBody>
          <a:bodyPr lIns="0" tIns="0" rIns="0" bIns="0" rtlCol="0" anchor="t">
            <a:spAutoFit/>
          </a:bodyPr>
          <a:lstStyle/>
          <a:p>
            <a:r>
              <a:t>1</a:t>
            </a:r>
          </a:p>
        </p:txBody>
      </p:sp>
      <p:sp>
        <p:nvSpPr>
          <p:cNvPr id="112" name="TextBox 116">
            <a:extLst>
              <a:ext uri="{FF2B5EF4-FFF2-40B4-BE49-F238E27FC236}">
                <a16:creationId xmlns:a16="http://schemas.microsoft.com/office/drawing/2014/main" id="{A5E2FA19-15CF-0F86-81D7-072E958EDB35}"/>
              </a:ext>
            </a:extLst>
          </p:cNvPr>
          <p:cNvSpPr txBox="1"/>
          <p:nvPr/>
        </p:nvSpPr>
        <p:spPr>
          <a:xfrm>
            <a:off x="11565309" y="4259315"/>
            <a:ext cx="3162449" cy="487634"/>
          </a:xfrm>
          <a:prstGeom prst="rect">
            <a:avLst/>
          </a:prstGeom>
        </p:spPr>
        <p:txBody>
          <a:bodyPr lIns="0" tIns="0" rIns="0" bIns="0" rtlCol="0" anchor="t">
            <a:spAutoFit/>
          </a:bodyPr>
          <a:lstStyle/>
          <a:p>
            <a:r>
              <a:t>6</a:t>
            </a:r>
          </a:p>
        </p:txBody>
      </p:sp>
      <p:sp>
        <p:nvSpPr>
          <p:cNvPr id="113" name="TextBox 117">
            <a:extLst>
              <a:ext uri="{FF2B5EF4-FFF2-40B4-BE49-F238E27FC236}">
                <a16:creationId xmlns:a16="http://schemas.microsoft.com/office/drawing/2014/main" id="{9C4F1E33-29F5-64B0-2C18-F59F72A78594}"/>
              </a:ext>
            </a:extLst>
          </p:cNvPr>
          <p:cNvSpPr txBox="1"/>
          <p:nvPr/>
        </p:nvSpPr>
        <p:spPr>
          <a:xfrm>
            <a:off x="15020652" y="4259315"/>
            <a:ext cx="3167211" cy="487634"/>
          </a:xfrm>
          <a:prstGeom prst="rect">
            <a:avLst/>
          </a:prstGeom>
        </p:spPr>
        <p:txBody>
          <a:bodyPr lIns="0" tIns="0" rIns="0" bIns="0" rtlCol="0" anchor="t">
            <a:spAutoFit/>
          </a:bodyPr>
          <a:lstStyle/>
          <a:p>
            <a:r>
              <a:t>Low</a:t>
            </a:r>
          </a:p>
        </p:txBody>
      </p:sp>
      <p:grpSp>
        <p:nvGrpSpPr>
          <p:cNvPr id="114" name="Group 118">
            <a:extLst>
              <a:ext uri="{FF2B5EF4-FFF2-40B4-BE49-F238E27FC236}">
                <a16:creationId xmlns:a16="http://schemas.microsoft.com/office/drawing/2014/main" id="{E7BFB19D-A137-1FEF-A6D2-967F99C9DD37}"/>
              </a:ext>
            </a:extLst>
          </p:cNvPr>
          <p:cNvGrpSpPr/>
          <p:nvPr/>
        </p:nvGrpSpPr>
        <p:grpSpPr>
          <a:xfrm>
            <a:off x="1052686" y="4628261"/>
            <a:ext cx="17276861" cy="415826"/>
            <a:chOff x="0" y="0"/>
            <a:chExt cx="23035815" cy="554435"/>
          </a:xfrm>
        </p:grpSpPr>
        <p:sp>
          <p:nvSpPr>
            <p:cNvPr id="115" name="Freeform 119">
              <a:extLst>
                <a:ext uri="{FF2B5EF4-FFF2-40B4-BE49-F238E27FC236}">
                  <a16:creationId xmlns:a16="http://schemas.microsoft.com/office/drawing/2014/main" id="{8C3420D3-B68A-4E68-775F-D7960954B4D0}"/>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16" name="TextBox 120">
            <a:extLst>
              <a:ext uri="{FF2B5EF4-FFF2-40B4-BE49-F238E27FC236}">
                <a16:creationId xmlns:a16="http://schemas.microsoft.com/office/drawing/2014/main" id="{2F4D92C6-01AC-D9F9-5BFF-7CB0AE03494B}"/>
              </a:ext>
            </a:extLst>
          </p:cNvPr>
          <p:cNvSpPr txBox="1"/>
          <p:nvPr/>
        </p:nvSpPr>
        <p:spPr>
          <a:xfrm>
            <a:off x="1194519" y="4675140"/>
            <a:ext cx="3167211" cy="487634"/>
          </a:xfrm>
          <a:prstGeom prst="rect">
            <a:avLst/>
          </a:prstGeom>
        </p:spPr>
        <p:txBody>
          <a:bodyPr lIns="0" tIns="0" rIns="0" bIns="0" rtlCol="0" anchor="t">
            <a:spAutoFit/>
          </a:bodyPr>
          <a:lstStyle/>
          <a:p>
            <a:r>
              <a:t>6 Reports</a:t>
            </a:r>
          </a:p>
        </p:txBody>
      </p:sp>
      <p:sp>
        <p:nvSpPr>
          <p:cNvPr id="117" name="TextBox 121">
            <a:extLst>
              <a:ext uri="{FF2B5EF4-FFF2-40B4-BE49-F238E27FC236}">
                <a16:creationId xmlns:a16="http://schemas.microsoft.com/office/drawing/2014/main" id="{FF176B95-776B-2991-BEF0-FA790AF63569}"/>
              </a:ext>
            </a:extLst>
          </p:cNvPr>
          <p:cNvSpPr txBox="1"/>
          <p:nvPr/>
        </p:nvSpPr>
        <p:spPr>
          <a:xfrm>
            <a:off x="4654624" y="4675140"/>
            <a:ext cx="3162449" cy="487634"/>
          </a:xfrm>
          <a:prstGeom prst="rect">
            <a:avLst/>
          </a:prstGeom>
        </p:spPr>
        <p:txBody>
          <a:bodyPr lIns="0" tIns="0" rIns="0" bIns="0" rtlCol="0" anchor="t">
            <a:spAutoFit/>
          </a:bodyPr>
          <a:lstStyle/>
          <a:p>
            <a:r>
              <a:t>ILF</a:t>
            </a:r>
          </a:p>
        </p:txBody>
      </p:sp>
      <p:sp>
        <p:nvSpPr>
          <p:cNvPr id="118" name="TextBox 122">
            <a:extLst>
              <a:ext uri="{FF2B5EF4-FFF2-40B4-BE49-F238E27FC236}">
                <a16:creationId xmlns:a16="http://schemas.microsoft.com/office/drawing/2014/main" id="{088A4F8C-C1EA-2FA2-DE3C-57080635DBC4}"/>
              </a:ext>
            </a:extLst>
          </p:cNvPr>
          <p:cNvSpPr txBox="1"/>
          <p:nvPr/>
        </p:nvSpPr>
        <p:spPr>
          <a:xfrm>
            <a:off x="8109967" y="4675140"/>
            <a:ext cx="3162449" cy="487634"/>
          </a:xfrm>
          <a:prstGeom prst="rect">
            <a:avLst/>
          </a:prstGeom>
        </p:spPr>
        <p:txBody>
          <a:bodyPr lIns="0" tIns="0" rIns="0" bIns="0" rtlCol="0" anchor="t">
            <a:spAutoFit/>
          </a:bodyPr>
          <a:lstStyle/>
          <a:p>
            <a:r>
              <a:t>1</a:t>
            </a:r>
          </a:p>
        </p:txBody>
      </p:sp>
      <p:sp>
        <p:nvSpPr>
          <p:cNvPr id="119" name="TextBox 123">
            <a:extLst>
              <a:ext uri="{FF2B5EF4-FFF2-40B4-BE49-F238E27FC236}">
                <a16:creationId xmlns:a16="http://schemas.microsoft.com/office/drawing/2014/main" id="{1670F7CA-49B4-3656-27F6-CE8372CC6AD4}"/>
              </a:ext>
            </a:extLst>
          </p:cNvPr>
          <p:cNvSpPr txBox="1"/>
          <p:nvPr/>
        </p:nvSpPr>
        <p:spPr>
          <a:xfrm>
            <a:off x="11565309" y="4675140"/>
            <a:ext cx="3162449" cy="487634"/>
          </a:xfrm>
          <a:prstGeom prst="rect">
            <a:avLst/>
          </a:prstGeom>
        </p:spPr>
        <p:txBody>
          <a:bodyPr lIns="0" tIns="0" rIns="0" bIns="0" rtlCol="0" anchor="t">
            <a:spAutoFit/>
          </a:bodyPr>
          <a:lstStyle/>
          <a:p>
            <a:r>
              <a:t>9</a:t>
            </a:r>
          </a:p>
        </p:txBody>
      </p:sp>
      <p:sp>
        <p:nvSpPr>
          <p:cNvPr id="120" name="TextBox 124">
            <a:extLst>
              <a:ext uri="{FF2B5EF4-FFF2-40B4-BE49-F238E27FC236}">
                <a16:creationId xmlns:a16="http://schemas.microsoft.com/office/drawing/2014/main" id="{6CDF7D4E-679E-F80F-4A5D-8BEBA78C505D}"/>
              </a:ext>
            </a:extLst>
          </p:cNvPr>
          <p:cNvSpPr txBox="1"/>
          <p:nvPr/>
        </p:nvSpPr>
        <p:spPr>
          <a:xfrm>
            <a:off x="15020652" y="4675140"/>
            <a:ext cx="3167211" cy="487634"/>
          </a:xfrm>
          <a:prstGeom prst="rect">
            <a:avLst/>
          </a:prstGeom>
        </p:spPr>
        <p:txBody>
          <a:bodyPr lIns="0" tIns="0" rIns="0" bIns="0" rtlCol="0" anchor="t">
            <a:spAutoFit/>
          </a:bodyPr>
          <a:lstStyle/>
          <a:p>
            <a:r>
              <a:t>Low</a:t>
            </a:r>
          </a:p>
        </p:txBody>
      </p:sp>
      <p:sp>
        <p:nvSpPr>
          <p:cNvPr id="128" name="Slide Number Placeholder 127">
            <a:extLst>
              <a:ext uri="{FF2B5EF4-FFF2-40B4-BE49-F238E27FC236}">
                <a16:creationId xmlns:a16="http://schemas.microsoft.com/office/drawing/2014/main" id="{35DBF2EE-C92B-B6FC-8643-991998818A59}"/>
              </a:ext>
            </a:extLst>
          </p:cNvPr>
          <p:cNvSpPr>
            <a:spLocks noGrp="1"/>
          </p:cNvSpPr>
          <p:nvPr>
            <p:ph type="sldNum" sz="quarter" idx="12"/>
          </p:nvPr>
        </p:nvSpPr>
        <p:spPr/>
        <p:txBody>
          <a:bodyPr/>
          <a:lstStyle/>
          <a:p>
            <a:r>
              <a:t>17</a:t>
            </a:r>
          </a:p>
        </p:txBody>
      </p:sp>
    </p:spTree>
    <p:extLst>
      <p:ext uri="{BB962C8B-B14F-4D97-AF65-F5344CB8AC3E}">
        <p14:creationId xmlns:p14="http://schemas.microsoft.com/office/powerpoint/2010/main" val="3094280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7620000" y="2609525"/>
            <a:ext cx="8389800" cy="5067950"/>
          </a:xfrm>
          <a:custGeom>
            <a:avLst/>
            <a:gdLst/>
            <a:ahLst/>
            <a:cxnLst/>
            <a:rect l="l" t="t" r="r" b="b"/>
            <a:pathLst>
              <a:path w="8389800" h="5067950">
                <a:moveTo>
                  <a:pt x="0" y="0"/>
                </a:moveTo>
                <a:lnTo>
                  <a:pt x="8389800" y="0"/>
                </a:lnTo>
                <a:lnTo>
                  <a:pt x="8389800" y="5067950"/>
                </a:lnTo>
                <a:lnTo>
                  <a:pt x="0" y="5067950"/>
                </a:lnTo>
                <a:lnTo>
                  <a:pt x="0" y="0"/>
                </a:lnTo>
                <a:close/>
              </a:path>
            </a:pathLst>
          </a:custGeom>
          <a:blipFill>
            <a:blip r:embed="rId2"/>
            <a:stretch>
              <a:fillRect/>
            </a:stretch>
          </a:blipFill>
        </p:spPr>
        <p:txBody>
          <a:bodyPr/>
          <a:p/>
        </p:txBody>
      </p:sp>
      <p:sp>
        <p:nvSpPr>
          <p:cNvPr id="3" name="TextBox 3"/>
          <p:cNvSpPr txBox="1"/>
          <p:nvPr/>
        </p:nvSpPr>
        <p:spPr>
          <a:xfrm>
            <a:off x="990600" y="4076700"/>
            <a:ext cx="5574209" cy="318492"/>
          </a:xfrm>
          <a:prstGeom prst="rect">
            <a:avLst/>
          </a:prstGeom>
        </p:spPr>
        <p:txBody>
          <a:bodyPr lIns="0" tIns="0" rIns="0" bIns="0" rtlCol="0" anchor="t">
            <a:spAutoFit/>
          </a:bodyPr>
          <a:lstStyle/>
          <a:p>
            <a:r>
              <a:t>Unadjusted Function Point Contribution</a:t>
            </a:r>
          </a:p>
        </p:txBody>
      </p:sp>
      <p:sp>
        <p:nvSpPr>
          <p:cNvPr id="12" name="Slide Number Placeholder 11">
            <a:extLst>
              <a:ext uri="{FF2B5EF4-FFF2-40B4-BE49-F238E27FC236}">
                <a16:creationId xmlns:a16="http://schemas.microsoft.com/office/drawing/2014/main" id="{7A29736B-2B74-91DF-4ED5-D4F748BD0FF9}"/>
              </a:ext>
            </a:extLst>
          </p:cNvPr>
          <p:cNvSpPr>
            <a:spLocks noGrp="1"/>
          </p:cNvSpPr>
          <p:nvPr>
            <p:ph type="sldNum" sz="quarter" idx="12"/>
          </p:nvPr>
        </p:nvSpPr>
        <p:spPr/>
        <p:txBody>
          <a:bodyPr/>
          <a:lstStyle/>
          <a:p>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708838" y="365879"/>
            <a:ext cx="16832759" cy="303212"/>
          </a:xfrm>
          <a:prstGeom prst="rect">
            <a:avLst/>
          </a:prstGeom>
        </p:spPr>
        <p:txBody>
          <a:bodyPr lIns="0" tIns="0" rIns="0" bIns="0" rtlCol="0" anchor="t">
            <a:spAutoFit/>
          </a:bodyPr>
          <a:lstStyle/>
          <a:p>
            <a:r>
              <a:t>Table  shows how much each transaction function adds to the total function points.</a:t>
            </a:r>
          </a:p>
        </p:txBody>
      </p:sp>
      <p:sp>
        <p:nvSpPr>
          <p:cNvPr id="7" name="TextBox 7"/>
          <p:cNvSpPr txBox="1"/>
          <p:nvPr/>
        </p:nvSpPr>
        <p:spPr>
          <a:xfrm>
            <a:off x="672395" y="827326"/>
            <a:ext cx="4158406" cy="488403"/>
          </a:xfrm>
          <a:prstGeom prst="rect">
            <a:avLst/>
          </a:prstGeom>
        </p:spPr>
        <p:txBody>
          <a:bodyPr lIns="0" tIns="0" rIns="0" bIns="0" rtlCol="0" anchor="t">
            <a:spAutoFit/>
          </a:bodyPr>
          <a:lstStyle/>
          <a:p>
            <a:r>
              <a:t>UFP OF TF</a:t>
            </a:r>
          </a:p>
        </p:txBody>
      </p:sp>
      <p:sp>
        <p:nvSpPr>
          <p:cNvPr id="12" name="TextBox 12"/>
          <p:cNvSpPr txBox="1"/>
          <p:nvPr/>
        </p:nvSpPr>
        <p:spPr>
          <a:xfrm>
            <a:off x="1029645" y="1427152"/>
            <a:ext cx="2382142" cy="303212"/>
          </a:xfrm>
          <a:prstGeom prst="rect">
            <a:avLst/>
          </a:prstGeom>
        </p:spPr>
        <p:txBody>
          <a:bodyPr lIns="0" tIns="0" rIns="0" bIns="0" rtlCol="0" anchor="t">
            <a:spAutoFit/>
          </a:bodyPr>
          <a:lstStyle/>
          <a:p>
            <a:r>
              <a:t>Transaction Function</a:t>
            </a:r>
          </a:p>
        </p:txBody>
      </p:sp>
      <p:sp>
        <p:nvSpPr>
          <p:cNvPr id="13" name="TextBox 13"/>
          <p:cNvSpPr txBox="1"/>
          <p:nvPr/>
        </p:nvSpPr>
        <p:spPr>
          <a:xfrm>
            <a:off x="3837139" y="1427152"/>
            <a:ext cx="2377380" cy="303212"/>
          </a:xfrm>
          <a:prstGeom prst="rect">
            <a:avLst/>
          </a:prstGeom>
        </p:spPr>
        <p:txBody>
          <a:bodyPr lIns="0" tIns="0" rIns="0" bIns="0" rtlCol="0" anchor="t">
            <a:spAutoFit/>
          </a:bodyPr>
          <a:lstStyle/>
          <a:p>
            <a:r>
              <a:t>TF</a:t>
            </a:r>
          </a:p>
        </p:txBody>
      </p:sp>
      <p:sp>
        <p:nvSpPr>
          <p:cNvPr id="14" name="TextBox 14"/>
          <p:cNvSpPr txBox="1"/>
          <p:nvPr/>
        </p:nvSpPr>
        <p:spPr>
          <a:xfrm>
            <a:off x="4853979" y="1427152"/>
            <a:ext cx="2377380" cy="303212"/>
          </a:xfrm>
          <a:prstGeom prst="rect">
            <a:avLst/>
          </a:prstGeom>
        </p:spPr>
        <p:txBody>
          <a:bodyPr lIns="0" tIns="0" rIns="0" bIns="0" rtlCol="0" anchor="t">
            <a:spAutoFit/>
          </a:bodyPr>
          <a:lstStyle/>
          <a:p>
            <a:r>
              <a:t>FTR</a:t>
            </a:r>
          </a:p>
        </p:txBody>
      </p:sp>
      <p:sp>
        <p:nvSpPr>
          <p:cNvPr id="15" name="TextBox 15"/>
          <p:cNvSpPr txBox="1"/>
          <p:nvPr/>
        </p:nvSpPr>
        <p:spPr>
          <a:xfrm>
            <a:off x="5878941" y="1436321"/>
            <a:ext cx="2377380" cy="303212"/>
          </a:xfrm>
          <a:prstGeom prst="rect">
            <a:avLst/>
          </a:prstGeom>
        </p:spPr>
        <p:txBody>
          <a:bodyPr lIns="0" tIns="0" rIns="0" bIns="0" rtlCol="0" anchor="t">
            <a:spAutoFit/>
          </a:bodyPr>
          <a:lstStyle/>
          <a:p>
            <a:r>
              <a:t>DET</a:t>
            </a:r>
          </a:p>
        </p:txBody>
      </p:sp>
      <p:sp>
        <p:nvSpPr>
          <p:cNvPr id="16" name="TextBox 16"/>
          <p:cNvSpPr txBox="1"/>
          <p:nvPr/>
        </p:nvSpPr>
        <p:spPr>
          <a:xfrm>
            <a:off x="6997778" y="1458743"/>
            <a:ext cx="2377380" cy="303212"/>
          </a:xfrm>
          <a:prstGeom prst="rect">
            <a:avLst/>
          </a:prstGeom>
        </p:spPr>
        <p:txBody>
          <a:bodyPr lIns="0" tIns="0" rIns="0" bIns="0" rtlCol="0" anchor="t">
            <a:spAutoFit/>
          </a:bodyPr>
          <a:lstStyle/>
          <a:p>
            <a:r>
              <a:t>Complexity</a:t>
            </a:r>
          </a:p>
        </p:txBody>
      </p:sp>
      <p:sp>
        <p:nvSpPr>
          <p:cNvPr id="17" name="TextBox 17"/>
          <p:cNvSpPr txBox="1"/>
          <p:nvPr/>
        </p:nvSpPr>
        <p:spPr>
          <a:xfrm>
            <a:off x="8584257" y="1587927"/>
            <a:ext cx="2382142" cy="303212"/>
          </a:xfrm>
          <a:prstGeom prst="rect">
            <a:avLst/>
          </a:prstGeom>
        </p:spPr>
        <p:txBody>
          <a:bodyPr lIns="0" tIns="0" rIns="0" bIns="0" rtlCol="0" anchor="t">
            <a:spAutoFit/>
          </a:bodyPr>
          <a:lstStyle/>
          <a:p>
            <a:r>
              <a:t>UFP</a:t>
            </a:r>
          </a:p>
        </p:txBody>
      </p:sp>
      <p:grpSp>
        <p:nvGrpSpPr>
          <p:cNvPr id="26" name="Group 26"/>
          <p:cNvGrpSpPr/>
          <p:nvPr/>
        </p:nvGrpSpPr>
        <p:grpSpPr>
          <a:xfrm>
            <a:off x="846452" y="1945038"/>
            <a:ext cx="16816982" cy="601116"/>
            <a:chOff x="0" y="0"/>
            <a:chExt cx="22422643" cy="801488"/>
          </a:xfrm>
        </p:grpSpPr>
        <p:sp>
          <p:nvSpPr>
            <p:cNvPr id="27" name="Freeform 27"/>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28" name="TextBox 28"/>
          <p:cNvSpPr txBox="1"/>
          <p:nvPr/>
        </p:nvSpPr>
        <p:spPr>
          <a:xfrm>
            <a:off x="1054960" y="2022132"/>
            <a:ext cx="2382142" cy="303212"/>
          </a:xfrm>
          <a:prstGeom prst="rect">
            <a:avLst/>
          </a:prstGeom>
        </p:spPr>
        <p:txBody>
          <a:bodyPr lIns="0" tIns="0" rIns="0" bIns="0" rtlCol="0" anchor="t">
            <a:spAutoFit/>
          </a:bodyPr>
          <a:lstStyle/>
          <a:p>
            <a:r>
              <a:t>1. User Management</a:t>
            </a:r>
          </a:p>
        </p:txBody>
      </p:sp>
      <p:sp>
        <p:nvSpPr>
          <p:cNvPr id="29" name="TextBox 29"/>
          <p:cNvSpPr txBox="1"/>
          <p:nvPr/>
        </p:nvSpPr>
        <p:spPr>
          <a:xfrm>
            <a:off x="3862454" y="2022132"/>
            <a:ext cx="2377380" cy="303212"/>
          </a:xfrm>
          <a:prstGeom prst="rect">
            <a:avLst/>
          </a:prstGeom>
        </p:spPr>
        <p:txBody>
          <a:bodyPr lIns="0" tIns="0" rIns="0" bIns="0" rtlCol="0" anchor="t">
            <a:spAutoFit/>
          </a:bodyPr>
          <a:lstStyle/>
          <a:p>
            <a:r>
              <a:t>EI</a:t>
            </a:r>
          </a:p>
        </p:txBody>
      </p:sp>
      <p:sp>
        <p:nvSpPr>
          <p:cNvPr id="30" name="TextBox 30"/>
          <p:cNvSpPr txBox="1"/>
          <p:nvPr/>
        </p:nvSpPr>
        <p:spPr>
          <a:xfrm>
            <a:off x="4879294" y="2022132"/>
            <a:ext cx="2377380" cy="303212"/>
          </a:xfrm>
          <a:prstGeom prst="rect">
            <a:avLst/>
          </a:prstGeom>
        </p:spPr>
        <p:txBody>
          <a:bodyPr lIns="0" tIns="0" rIns="0" bIns="0" rtlCol="0" anchor="t">
            <a:spAutoFit/>
          </a:bodyPr>
          <a:lstStyle/>
          <a:p>
            <a:r>
              <a:t>1</a:t>
            </a:r>
          </a:p>
        </p:txBody>
      </p:sp>
      <p:sp>
        <p:nvSpPr>
          <p:cNvPr id="31" name="TextBox 31"/>
          <p:cNvSpPr txBox="1"/>
          <p:nvPr/>
        </p:nvSpPr>
        <p:spPr>
          <a:xfrm>
            <a:off x="5904256" y="2031301"/>
            <a:ext cx="2377380" cy="303212"/>
          </a:xfrm>
          <a:prstGeom prst="rect">
            <a:avLst/>
          </a:prstGeom>
        </p:spPr>
        <p:txBody>
          <a:bodyPr lIns="0" tIns="0" rIns="0" bIns="0" rtlCol="0" anchor="t">
            <a:spAutoFit/>
          </a:bodyPr>
          <a:lstStyle/>
          <a:p>
            <a:r>
              <a:t>3</a:t>
            </a:r>
          </a:p>
        </p:txBody>
      </p:sp>
      <p:sp>
        <p:nvSpPr>
          <p:cNvPr id="32" name="TextBox 32"/>
          <p:cNvSpPr txBox="1"/>
          <p:nvPr/>
        </p:nvSpPr>
        <p:spPr>
          <a:xfrm>
            <a:off x="7023093" y="2053723"/>
            <a:ext cx="2377380" cy="303212"/>
          </a:xfrm>
          <a:prstGeom prst="rect">
            <a:avLst/>
          </a:prstGeom>
        </p:spPr>
        <p:txBody>
          <a:bodyPr lIns="0" tIns="0" rIns="0" bIns="0" rtlCol="0" anchor="t">
            <a:spAutoFit/>
          </a:bodyPr>
          <a:lstStyle/>
          <a:p>
            <a:r>
              <a:t>Low</a:t>
            </a:r>
          </a:p>
        </p:txBody>
      </p:sp>
      <p:sp>
        <p:nvSpPr>
          <p:cNvPr id="33" name="TextBox 33"/>
          <p:cNvSpPr txBox="1"/>
          <p:nvPr/>
        </p:nvSpPr>
        <p:spPr>
          <a:xfrm>
            <a:off x="8609572" y="2182907"/>
            <a:ext cx="2382142" cy="303212"/>
          </a:xfrm>
          <a:prstGeom prst="rect">
            <a:avLst/>
          </a:prstGeom>
        </p:spPr>
        <p:txBody>
          <a:bodyPr lIns="0" tIns="0" rIns="0" bIns="0" rtlCol="0" anchor="t">
            <a:spAutoFit/>
          </a:bodyPr>
          <a:lstStyle/>
          <a:p>
            <a:r>
              <a:t>3</a:t>
            </a:r>
          </a:p>
        </p:txBody>
      </p:sp>
      <p:grpSp>
        <p:nvGrpSpPr>
          <p:cNvPr id="34" name="Group 34"/>
          <p:cNvGrpSpPr/>
          <p:nvPr/>
        </p:nvGrpSpPr>
        <p:grpSpPr>
          <a:xfrm>
            <a:off x="846452" y="2546156"/>
            <a:ext cx="16816982" cy="601116"/>
            <a:chOff x="0" y="0"/>
            <a:chExt cx="22422643" cy="801488"/>
          </a:xfrm>
        </p:grpSpPr>
        <p:sp>
          <p:nvSpPr>
            <p:cNvPr id="35" name="Freeform 35"/>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36" name="TextBox 36"/>
          <p:cNvSpPr txBox="1"/>
          <p:nvPr/>
        </p:nvSpPr>
        <p:spPr>
          <a:xfrm>
            <a:off x="1054960" y="2623248"/>
            <a:ext cx="2382142" cy="303212"/>
          </a:xfrm>
          <a:prstGeom prst="rect">
            <a:avLst/>
          </a:prstGeom>
        </p:spPr>
        <p:txBody>
          <a:bodyPr lIns="0" tIns="0" rIns="0" bIns="0" rtlCol="0" anchor="t">
            <a:spAutoFit/>
          </a:bodyPr>
          <a:lstStyle/>
          <a:p>
            <a:r>
              <a:t>2. Menu Management</a:t>
            </a:r>
          </a:p>
        </p:txBody>
      </p:sp>
      <p:sp>
        <p:nvSpPr>
          <p:cNvPr id="37" name="TextBox 37"/>
          <p:cNvSpPr txBox="1"/>
          <p:nvPr/>
        </p:nvSpPr>
        <p:spPr>
          <a:xfrm>
            <a:off x="3862454" y="2623248"/>
            <a:ext cx="2377380" cy="303212"/>
          </a:xfrm>
          <a:prstGeom prst="rect">
            <a:avLst/>
          </a:prstGeom>
        </p:spPr>
        <p:txBody>
          <a:bodyPr lIns="0" tIns="0" rIns="0" bIns="0" rtlCol="0" anchor="t">
            <a:spAutoFit/>
          </a:bodyPr>
          <a:lstStyle/>
          <a:p>
            <a:r>
              <a:t>EI</a:t>
            </a:r>
          </a:p>
        </p:txBody>
      </p:sp>
      <p:sp>
        <p:nvSpPr>
          <p:cNvPr id="38" name="TextBox 38"/>
          <p:cNvSpPr txBox="1"/>
          <p:nvPr/>
        </p:nvSpPr>
        <p:spPr>
          <a:xfrm>
            <a:off x="4879294" y="2623248"/>
            <a:ext cx="2377380" cy="303212"/>
          </a:xfrm>
          <a:prstGeom prst="rect">
            <a:avLst/>
          </a:prstGeom>
        </p:spPr>
        <p:txBody>
          <a:bodyPr lIns="0" tIns="0" rIns="0" bIns="0" rtlCol="0" anchor="t">
            <a:spAutoFit/>
          </a:bodyPr>
          <a:lstStyle/>
          <a:p>
            <a:r>
              <a:t>2</a:t>
            </a:r>
          </a:p>
        </p:txBody>
      </p:sp>
      <p:sp>
        <p:nvSpPr>
          <p:cNvPr id="39" name="TextBox 39"/>
          <p:cNvSpPr txBox="1"/>
          <p:nvPr/>
        </p:nvSpPr>
        <p:spPr>
          <a:xfrm>
            <a:off x="5904256" y="2632417"/>
            <a:ext cx="2377380" cy="303212"/>
          </a:xfrm>
          <a:prstGeom prst="rect">
            <a:avLst/>
          </a:prstGeom>
        </p:spPr>
        <p:txBody>
          <a:bodyPr lIns="0" tIns="0" rIns="0" bIns="0" rtlCol="0" anchor="t">
            <a:spAutoFit/>
          </a:bodyPr>
          <a:lstStyle/>
          <a:p>
            <a:r>
              <a:t>5</a:t>
            </a:r>
          </a:p>
        </p:txBody>
      </p:sp>
      <p:sp>
        <p:nvSpPr>
          <p:cNvPr id="40" name="TextBox 40"/>
          <p:cNvSpPr txBox="1"/>
          <p:nvPr/>
        </p:nvSpPr>
        <p:spPr>
          <a:xfrm>
            <a:off x="7023093" y="2654839"/>
            <a:ext cx="2377380" cy="303212"/>
          </a:xfrm>
          <a:prstGeom prst="rect">
            <a:avLst/>
          </a:prstGeom>
        </p:spPr>
        <p:txBody>
          <a:bodyPr lIns="0" tIns="0" rIns="0" bIns="0" rtlCol="0" anchor="t">
            <a:spAutoFit/>
          </a:bodyPr>
          <a:lstStyle/>
          <a:p>
            <a:r>
              <a:t>Avg</a:t>
            </a:r>
          </a:p>
        </p:txBody>
      </p:sp>
      <p:sp>
        <p:nvSpPr>
          <p:cNvPr id="41" name="TextBox 41"/>
          <p:cNvSpPr txBox="1"/>
          <p:nvPr/>
        </p:nvSpPr>
        <p:spPr>
          <a:xfrm>
            <a:off x="8609572" y="2784023"/>
            <a:ext cx="2382142" cy="303212"/>
          </a:xfrm>
          <a:prstGeom prst="rect">
            <a:avLst/>
          </a:prstGeom>
        </p:spPr>
        <p:txBody>
          <a:bodyPr lIns="0" tIns="0" rIns="0" bIns="0" rtlCol="0" anchor="t">
            <a:spAutoFit/>
          </a:bodyPr>
          <a:lstStyle/>
          <a:p>
            <a:r>
              <a:t>4</a:t>
            </a:r>
          </a:p>
        </p:txBody>
      </p:sp>
      <p:grpSp>
        <p:nvGrpSpPr>
          <p:cNvPr id="42" name="Group 42"/>
          <p:cNvGrpSpPr/>
          <p:nvPr/>
        </p:nvGrpSpPr>
        <p:grpSpPr>
          <a:xfrm>
            <a:off x="846452" y="3147272"/>
            <a:ext cx="16816982" cy="601116"/>
            <a:chOff x="0" y="0"/>
            <a:chExt cx="22422643" cy="801488"/>
          </a:xfrm>
        </p:grpSpPr>
        <p:sp>
          <p:nvSpPr>
            <p:cNvPr id="43" name="Freeform 43"/>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44" name="TextBox 44"/>
          <p:cNvSpPr txBox="1"/>
          <p:nvPr/>
        </p:nvSpPr>
        <p:spPr>
          <a:xfrm>
            <a:off x="1054960" y="3224366"/>
            <a:ext cx="2382142" cy="303212"/>
          </a:xfrm>
          <a:prstGeom prst="rect">
            <a:avLst/>
          </a:prstGeom>
        </p:spPr>
        <p:txBody>
          <a:bodyPr lIns="0" tIns="0" rIns="0" bIns="0" rtlCol="0" anchor="t">
            <a:spAutoFit/>
          </a:bodyPr>
          <a:lstStyle/>
          <a:p>
            <a:r>
              <a:t>3. Order Processing</a:t>
            </a:r>
          </a:p>
        </p:txBody>
      </p:sp>
      <p:sp>
        <p:nvSpPr>
          <p:cNvPr id="45" name="TextBox 45"/>
          <p:cNvSpPr txBox="1"/>
          <p:nvPr/>
        </p:nvSpPr>
        <p:spPr>
          <a:xfrm>
            <a:off x="3862454" y="3224366"/>
            <a:ext cx="2377380" cy="303212"/>
          </a:xfrm>
          <a:prstGeom prst="rect">
            <a:avLst/>
          </a:prstGeom>
        </p:spPr>
        <p:txBody>
          <a:bodyPr lIns="0" tIns="0" rIns="0" bIns="0" rtlCol="0" anchor="t">
            <a:spAutoFit/>
          </a:bodyPr>
          <a:lstStyle/>
          <a:p>
            <a:r>
              <a:t>EI</a:t>
            </a:r>
          </a:p>
        </p:txBody>
      </p:sp>
      <p:sp>
        <p:nvSpPr>
          <p:cNvPr id="46" name="TextBox 46"/>
          <p:cNvSpPr txBox="1"/>
          <p:nvPr/>
        </p:nvSpPr>
        <p:spPr>
          <a:xfrm>
            <a:off x="4879294" y="3224366"/>
            <a:ext cx="2377380" cy="303212"/>
          </a:xfrm>
          <a:prstGeom prst="rect">
            <a:avLst/>
          </a:prstGeom>
        </p:spPr>
        <p:txBody>
          <a:bodyPr lIns="0" tIns="0" rIns="0" bIns="0" rtlCol="0" anchor="t">
            <a:spAutoFit/>
          </a:bodyPr>
          <a:lstStyle/>
          <a:p>
            <a:r>
              <a:t>2</a:t>
            </a:r>
          </a:p>
        </p:txBody>
      </p:sp>
      <p:sp>
        <p:nvSpPr>
          <p:cNvPr id="47" name="TextBox 47"/>
          <p:cNvSpPr txBox="1"/>
          <p:nvPr/>
        </p:nvSpPr>
        <p:spPr>
          <a:xfrm>
            <a:off x="5904256" y="3233535"/>
            <a:ext cx="2377380" cy="303212"/>
          </a:xfrm>
          <a:prstGeom prst="rect">
            <a:avLst/>
          </a:prstGeom>
        </p:spPr>
        <p:txBody>
          <a:bodyPr lIns="0" tIns="0" rIns="0" bIns="0" rtlCol="0" anchor="t">
            <a:spAutoFit/>
          </a:bodyPr>
          <a:lstStyle/>
          <a:p>
            <a:r>
              <a:t>6</a:t>
            </a:r>
          </a:p>
        </p:txBody>
      </p:sp>
      <p:sp>
        <p:nvSpPr>
          <p:cNvPr id="48" name="TextBox 48"/>
          <p:cNvSpPr txBox="1"/>
          <p:nvPr/>
        </p:nvSpPr>
        <p:spPr>
          <a:xfrm>
            <a:off x="7023093" y="3255957"/>
            <a:ext cx="2377380" cy="303212"/>
          </a:xfrm>
          <a:prstGeom prst="rect">
            <a:avLst/>
          </a:prstGeom>
        </p:spPr>
        <p:txBody>
          <a:bodyPr lIns="0" tIns="0" rIns="0" bIns="0" rtlCol="0" anchor="t">
            <a:spAutoFit/>
          </a:bodyPr>
          <a:lstStyle/>
          <a:p>
            <a:r>
              <a:t>Low</a:t>
            </a:r>
          </a:p>
        </p:txBody>
      </p:sp>
      <p:sp>
        <p:nvSpPr>
          <p:cNvPr id="49" name="TextBox 49"/>
          <p:cNvSpPr txBox="1"/>
          <p:nvPr/>
        </p:nvSpPr>
        <p:spPr>
          <a:xfrm>
            <a:off x="8609572" y="3385141"/>
            <a:ext cx="2382142" cy="303212"/>
          </a:xfrm>
          <a:prstGeom prst="rect">
            <a:avLst/>
          </a:prstGeom>
        </p:spPr>
        <p:txBody>
          <a:bodyPr lIns="0" tIns="0" rIns="0" bIns="0" rtlCol="0" anchor="t">
            <a:spAutoFit/>
          </a:bodyPr>
          <a:lstStyle/>
          <a:p>
            <a:r>
              <a:t>4</a:t>
            </a:r>
          </a:p>
        </p:txBody>
      </p:sp>
      <p:grpSp>
        <p:nvGrpSpPr>
          <p:cNvPr id="50" name="Group 50"/>
          <p:cNvGrpSpPr/>
          <p:nvPr/>
        </p:nvGrpSpPr>
        <p:grpSpPr>
          <a:xfrm>
            <a:off x="846452" y="3748389"/>
            <a:ext cx="16816982" cy="601116"/>
            <a:chOff x="0" y="0"/>
            <a:chExt cx="22422643" cy="801488"/>
          </a:xfrm>
        </p:grpSpPr>
        <p:sp>
          <p:nvSpPr>
            <p:cNvPr id="51" name="Freeform 51"/>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52" name="TextBox 52"/>
          <p:cNvSpPr txBox="1"/>
          <p:nvPr/>
        </p:nvSpPr>
        <p:spPr>
          <a:xfrm>
            <a:off x="1054960" y="3825482"/>
            <a:ext cx="2382142" cy="303212"/>
          </a:xfrm>
          <a:prstGeom prst="rect">
            <a:avLst/>
          </a:prstGeom>
        </p:spPr>
        <p:txBody>
          <a:bodyPr lIns="0" tIns="0" rIns="0" bIns="0" rtlCol="0" anchor="t">
            <a:spAutoFit/>
          </a:bodyPr>
          <a:lstStyle/>
          <a:p>
            <a:r>
              <a:t>4. Payment &amp; Receipts</a:t>
            </a:r>
          </a:p>
        </p:txBody>
      </p:sp>
      <p:sp>
        <p:nvSpPr>
          <p:cNvPr id="53" name="TextBox 53"/>
          <p:cNvSpPr txBox="1"/>
          <p:nvPr/>
        </p:nvSpPr>
        <p:spPr>
          <a:xfrm>
            <a:off x="3862454" y="3825482"/>
            <a:ext cx="2377380" cy="303212"/>
          </a:xfrm>
          <a:prstGeom prst="rect">
            <a:avLst/>
          </a:prstGeom>
        </p:spPr>
        <p:txBody>
          <a:bodyPr lIns="0" tIns="0" rIns="0" bIns="0" rtlCol="0" anchor="t">
            <a:spAutoFit/>
          </a:bodyPr>
          <a:lstStyle/>
          <a:p>
            <a:r>
              <a:t>EI</a:t>
            </a:r>
          </a:p>
        </p:txBody>
      </p:sp>
      <p:sp>
        <p:nvSpPr>
          <p:cNvPr id="54" name="TextBox 54"/>
          <p:cNvSpPr txBox="1"/>
          <p:nvPr/>
        </p:nvSpPr>
        <p:spPr>
          <a:xfrm>
            <a:off x="4879294" y="3825482"/>
            <a:ext cx="2377380" cy="303212"/>
          </a:xfrm>
          <a:prstGeom prst="rect">
            <a:avLst/>
          </a:prstGeom>
        </p:spPr>
        <p:txBody>
          <a:bodyPr lIns="0" tIns="0" rIns="0" bIns="0" rtlCol="0" anchor="t">
            <a:spAutoFit/>
          </a:bodyPr>
          <a:lstStyle/>
          <a:p>
            <a:r>
              <a:t>2</a:t>
            </a:r>
          </a:p>
        </p:txBody>
      </p:sp>
      <p:sp>
        <p:nvSpPr>
          <p:cNvPr id="55" name="TextBox 55"/>
          <p:cNvSpPr txBox="1"/>
          <p:nvPr/>
        </p:nvSpPr>
        <p:spPr>
          <a:xfrm>
            <a:off x="5904256" y="3834651"/>
            <a:ext cx="2377380" cy="303212"/>
          </a:xfrm>
          <a:prstGeom prst="rect">
            <a:avLst/>
          </a:prstGeom>
        </p:spPr>
        <p:txBody>
          <a:bodyPr lIns="0" tIns="0" rIns="0" bIns="0" rtlCol="0" anchor="t">
            <a:spAutoFit/>
          </a:bodyPr>
          <a:lstStyle/>
          <a:p>
            <a:r>
              <a:t>6</a:t>
            </a:r>
          </a:p>
        </p:txBody>
      </p:sp>
      <p:sp>
        <p:nvSpPr>
          <p:cNvPr id="56" name="TextBox 56"/>
          <p:cNvSpPr txBox="1"/>
          <p:nvPr/>
        </p:nvSpPr>
        <p:spPr>
          <a:xfrm>
            <a:off x="7023093" y="3857073"/>
            <a:ext cx="2377380" cy="303212"/>
          </a:xfrm>
          <a:prstGeom prst="rect">
            <a:avLst/>
          </a:prstGeom>
        </p:spPr>
        <p:txBody>
          <a:bodyPr lIns="0" tIns="0" rIns="0" bIns="0" rtlCol="0" anchor="t">
            <a:spAutoFit/>
          </a:bodyPr>
          <a:lstStyle/>
          <a:p>
            <a:r>
              <a:t>Low</a:t>
            </a:r>
          </a:p>
        </p:txBody>
      </p:sp>
      <p:sp>
        <p:nvSpPr>
          <p:cNvPr id="57" name="TextBox 57"/>
          <p:cNvSpPr txBox="1"/>
          <p:nvPr/>
        </p:nvSpPr>
        <p:spPr>
          <a:xfrm>
            <a:off x="8609572" y="3986257"/>
            <a:ext cx="2382142" cy="303212"/>
          </a:xfrm>
          <a:prstGeom prst="rect">
            <a:avLst/>
          </a:prstGeom>
        </p:spPr>
        <p:txBody>
          <a:bodyPr lIns="0" tIns="0" rIns="0" bIns="0" rtlCol="0" anchor="t">
            <a:spAutoFit/>
          </a:bodyPr>
          <a:lstStyle/>
          <a:p>
            <a:r>
              <a:t>4</a:t>
            </a:r>
          </a:p>
        </p:txBody>
      </p:sp>
      <p:grpSp>
        <p:nvGrpSpPr>
          <p:cNvPr id="58" name="Group 58"/>
          <p:cNvGrpSpPr/>
          <p:nvPr/>
        </p:nvGrpSpPr>
        <p:grpSpPr>
          <a:xfrm>
            <a:off x="846452" y="4349506"/>
            <a:ext cx="16816982" cy="933747"/>
            <a:chOff x="0" y="0"/>
            <a:chExt cx="22422643" cy="1244997"/>
          </a:xfrm>
        </p:grpSpPr>
        <p:sp>
          <p:nvSpPr>
            <p:cNvPr id="59" name="Freeform 59"/>
            <p:cNvSpPr/>
            <p:nvPr/>
          </p:nvSpPr>
          <p:spPr>
            <a:xfrm>
              <a:off x="0" y="0"/>
              <a:ext cx="22422613" cy="1244981"/>
            </a:xfrm>
            <a:custGeom>
              <a:avLst/>
              <a:gdLst/>
              <a:ahLst/>
              <a:cxnLst/>
              <a:rect l="l" t="t" r="r" b="b"/>
              <a:pathLst>
                <a:path w="22422613" h="1244981">
                  <a:moveTo>
                    <a:pt x="0" y="0"/>
                  </a:moveTo>
                  <a:lnTo>
                    <a:pt x="22422613" y="0"/>
                  </a:lnTo>
                  <a:lnTo>
                    <a:pt x="22422613" y="1244981"/>
                  </a:lnTo>
                  <a:lnTo>
                    <a:pt x="0" y="1244981"/>
                  </a:lnTo>
                  <a:close/>
                </a:path>
              </a:pathLst>
            </a:custGeom>
            <a:solidFill>
              <a:srgbClr val="F8F8F8">
                <a:alpha val="0"/>
              </a:srgbClr>
            </a:solidFill>
          </p:spPr>
        </p:sp>
      </p:grpSp>
      <p:sp>
        <p:nvSpPr>
          <p:cNvPr id="60" name="TextBox 60"/>
          <p:cNvSpPr txBox="1"/>
          <p:nvPr/>
        </p:nvSpPr>
        <p:spPr>
          <a:xfrm>
            <a:off x="1054960" y="4426598"/>
            <a:ext cx="2382142" cy="298928"/>
          </a:xfrm>
          <a:prstGeom prst="rect">
            <a:avLst/>
          </a:prstGeom>
        </p:spPr>
        <p:txBody>
          <a:bodyPr lIns="0" tIns="0" rIns="0" bIns="0" rtlCol="0" anchor="t">
            <a:spAutoFit/>
          </a:bodyPr>
          <a:lstStyle/>
          <a:p>
            <a:r>
              <a:t>5. Inventory Management</a:t>
            </a:r>
          </a:p>
        </p:txBody>
      </p:sp>
      <p:sp>
        <p:nvSpPr>
          <p:cNvPr id="61" name="TextBox 61"/>
          <p:cNvSpPr txBox="1"/>
          <p:nvPr/>
        </p:nvSpPr>
        <p:spPr>
          <a:xfrm>
            <a:off x="3862454" y="4426598"/>
            <a:ext cx="2377380" cy="303212"/>
          </a:xfrm>
          <a:prstGeom prst="rect">
            <a:avLst/>
          </a:prstGeom>
        </p:spPr>
        <p:txBody>
          <a:bodyPr lIns="0" tIns="0" rIns="0" bIns="0" rtlCol="0" anchor="t">
            <a:spAutoFit/>
          </a:bodyPr>
          <a:lstStyle/>
          <a:p>
            <a:r>
              <a:t>EI</a:t>
            </a:r>
          </a:p>
        </p:txBody>
      </p:sp>
      <p:sp>
        <p:nvSpPr>
          <p:cNvPr id="62" name="TextBox 62"/>
          <p:cNvSpPr txBox="1"/>
          <p:nvPr/>
        </p:nvSpPr>
        <p:spPr>
          <a:xfrm>
            <a:off x="4879294" y="4426598"/>
            <a:ext cx="2377380" cy="303212"/>
          </a:xfrm>
          <a:prstGeom prst="rect">
            <a:avLst/>
          </a:prstGeom>
        </p:spPr>
        <p:txBody>
          <a:bodyPr lIns="0" tIns="0" rIns="0" bIns="0" rtlCol="0" anchor="t">
            <a:spAutoFit/>
          </a:bodyPr>
          <a:lstStyle/>
          <a:p>
            <a:r>
              <a:t>2</a:t>
            </a:r>
          </a:p>
        </p:txBody>
      </p:sp>
      <p:sp>
        <p:nvSpPr>
          <p:cNvPr id="63" name="TextBox 63"/>
          <p:cNvSpPr txBox="1"/>
          <p:nvPr/>
        </p:nvSpPr>
        <p:spPr>
          <a:xfrm>
            <a:off x="5904256" y="4435767"/>
            <a:ext cx="2377380" cy="303212"/>
          </a:xfrm>
          <a:prstGeom prst="rect">
            <a:avLst/>
          </a:prstGeom>
        </p:spPr>
        <p:txBody>
          <a:bodyPr lIns="0" tIns="0" rIns="0" bIns="0" rtlCol="0" anchor="t">
            <a:spAutoFit/>
          </a:bodyPr>
          <a:lstStyle/>
          <a:p>
            <a:r>
              <a:t>4</a:t>
            </a:r>
          </a:p>
        </p:txBody>
      </p:sp>
      <p:sp>
        <p:nvSpPr>
          <p:cNvPr id="64" name="TextBox 64"/>
          <p:cNvSpPr txBox="1"/>
          <p:nvPr/>
        </p:nvSpPr>
        <p:spPr>
          <a:xfrm>
            <a:off x="7023093" y="4458189"/>
            <a:ext cx="2377380" cy="303212"/>
          </a:xfrm>
          <a:prstGeom prst="rect">
            <a:avLst/>
          </a:prstGeom>
        </p:spPr>
        <p:txBody>
          <a:bodyPr lIns="0" tIns="0" rIns="0" bIns="0" rtlCol="0" anchor="t">
            <a:spAutoFit/>
          </a:bodyPr>
          <a:lstStyle/>
          <a:p>
            <a:r>
              <a:t>Low</a:t>
            </a:r>
          </a:p>
        </p:txBody>
      </p:sp>
      <p:sp>
        <p:nvSpPr>
          <p:cNvPr id="65" name="TextBox 65"/>
          <p:cNvSpPr txBox="1"/>
          <p:nvPr/>
        </p:nvSpPr>
        <p:spPr>
          <a:xfrm>
            <a:off x="8609572" y="4587373"/>
            <a:ext cx="2382142" cy="303212"/>
          </a:xfrm>
          <a:prstGeom prst="rect">
            <a:avLst/>
          </a:prstGeom>
        </p:spPr>
        <p:txBody>
          <a:bodyPr lIns="0" tIns="0" rIns="0" bIns="0" rtlCol="0" anchor="t">
            <a:spAutoFit/>
          </a:bodyPr>
          <a:lstStyle/>
          <a:p>
            <a:r>
              <a:t>3</a:t>
            </a:r>
          </a:p>
        </p:txBody>
      </p:sp>
      <p:grpSp>
        <p:nvGrpSpPr>
          <p:cNvPr id="66" name="Group 66"/>
          <p:cNvGrpSpPr/>
          <p:nvPr/>
        </p:nvGrpSpPr>
        <p:grpSpPr>
          <a:xfrm>
            <a:off x="846452" y="5283253"/>
            <a:ext cx="16816982" cy="601116"/>
            <a:chOff x="0" y="0"/>
            <a:chExt cx="22422643" cy="801488"/>
          </a:xfrm>
        </p:grpSpPr>
        <p:sp>
          <p:nvSpPr>
            <p:cNvPr id="67" name="Freeform 67"/>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68" name="TextBox 68"/>
          <p:cNvSpPr txBox="1"/>
          <p:nvPr/>
        </p:nvSpPr>
        <p:spPr>
          <a:xfrm>
            <a:off x="1054960" y="5360347"/>
            <a:ext cx="2382142" cy="303212"/>
          </a:xfrm>
          <a:prstGeom prst="rect">
            <a:avLst/>
          </a:prstGeom>
        </p:spPr>
        <p:txBody>
          <a:bodyPr lIns="0" tIns="0" rIns="0" bIns="0" rtlCol="0" anchor="t">
            <a:spAutoFit/>
          </a:bodyPr>
          <a:lstStyle/>
          <a:p>
            <a:r>
              <a:t>6. Sales Reporting</a:t>
            </a:r>
          </a:p>
        </p:txBody>
      </p:sp>
      <p:sp>
        <p:nvSpPr>
          <p:cNvPr id="69" name="TextBox 69"/>
          <p:cNvSpPr txBox="1"/>
          <p:nvPr/>
        </p:nvSpPr>
        <p:spPr>
          <a:xfrm>
            <a:off x="3862454" y="5360347"/>
            <a:ext cx="2377380" cy="303212"/>
          </a:xfrm>
          <a:prstGeom prst="rect">
            <a:avLst/>
          </a:prstGeom>
        </p:spPr>
        <p:txBody>
          <a:bodyPr lIns="0" tIns="0" rIns="0" bIns="0" rtlCol="0" anchor="t">
            <a:spAutoFit/>
          </a:bodyPr>
          <a:lstStyle/>
          <a:p>
            <a:r>
              <a:t>EO</a:t>
            </a:r>
          </a:p>
        </p:txBody>
      </p:sp>
      <p:sp>
        <p:nvSpPr>
          <p:cNvPr id="70" name="TextBox 70"/>
          <p:cNvSpPr txBox="1"/>
          <p:nvPr/>
        </p:nvSpPr>
        <p:spPr>
          <a:xfrm>
            <a:off x="4879294" y="5360347"/>
            <a:ext cx="2377380" cy="303212"/>
          </a:xfrm>
          <a:prstGeom prst="rect">
            <a:avLst/>
          </a:prstGeom>
        </p:spPr>
        <p:txBody>
          <a:bodyPr lIns="0" tIns="0" rIns="0" bIns="0" rtlCol="0" anchor="t">
            <a:spAutoFit/>
          </a:bodyPr>
          <a:lstStyle/>
          <a:p>
            <a:r>
              <a:t>2</a:t>
            </a:r>
          </a:p>
        </p:txBody>
      </p:sp>
      <p:sp>
        <p:nvSpPr>
          <p:cNvPr id="71" name="TextBox 71"/>
          <p:cNvSpPr txBox="1"/>
          <p:nvPr/>
        </p:nvSpPr>
        <p:spPr>
          <a:xfrm>
            <a:off x="5904256" y="5369516"/>
            <a:ext cx="2377380" cy="303212"/>
          </a:xfrm>
          <a:prstGeom prst="rect">
            <a:avLst/>
          </a:prstGeom>
        </p:spPr>
        <p:txBody>
          <a:bodyPr lIns="0" tIns="0" rIns="0" bIns="0" rtlCol="0" anchor="t">
            <a:spAutoFit/>
          </a:bodyPr>
          <a:lstStyle/>
          <a:p>
            <a:r>
              <a:t>3</a:t>
            </a:r>
          </a:p>
        </p:txBody>
      </p:sp>
      <p:sp>
        <p:nvSpPr>
          <p:cNvPr id="72" name="TextBox 72"/>
          <p:cNvSpPr txBox="1"/>
          <p:nvPr/>
        </p:nvSpPr>
        <p:spPr>
          <a:xfrm>
            <a:off x="7023093" y="5391938"/>
            <a:ext cx="2377380" cy="303212"/>
          </a:xfrm>
          <a:prstGeom prst="rect">
            <a:avLst/>
          </a:prstGeom>
        </p:spPr>
        <p:txBody>
          <a:bodyPr lIns="0" tIns="0" rIns="0" bIns="0" rtlCol="0" anchor="t">
            <a:spAutoFit/>
          </a:bodyPr>
          <a:lstStyle/>
          <a:p>
            <a:r>
              <a:t>Low</a:t>
            </a:r>
          </a:p>
        </p:txBody>
      </p:sp>
      <p:sp>
        <p:nvSpPr>
          <p:cNvPr id="73" name="TextBox 73"/>
          <p:cNvSpPr txBox="1"/>
          <p:nvPr/>
        </p:nvSpPr>
        <p:spPr>
          <a:xfrm>
            <a:off x="8609572" y="5521122"/>
            <a:ext cx="2382142" cy="303212"/>
          </a:xfrm>
          <a:prstGeom prst="rect">
            <a:avLst/>
          </a:prstGeom>
        </p:spPr>
        <p:txBody>
          <a:bodyPr lIns="0" tIns="0" rIns="0" bIns="0" rtlCol="0" anchor="t">
            <a:spAutoFit/>
          </a:bodyPr>
          <a:lstStyle/>
          <a:p>
            <a:r>
              <a:t>4</a:t>
            </a:r>
          </a:p>
        </p:txBody>
      </p:sp>
      <p:grpSp>
        <p:nvGrpSpPr>
          <p:cNvPr id="74" name="Group 74"/>
          <p:cNvGrpSpPr/>
          <p:nvPr/>
        </p:nvGrpSpPr>
        <p:grpSpPr>
          <a:xfrm>
            <a:off x="846452" y="5884371"/>
            <a:ext cx="16816982" cy="601116"/>
            <a:chOff x="0" y="0"/>
            <a:chExt cx="22422643" cy="801488"/>
          </a:xfrm>
        </p:grpSpPr>
        <p:sp>
          <p:nvSpPr>
            <p:cNvPr id="75" name="Freeform 75"/>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76" name="TextBox 76"/>
          <p:cNvSpPr txBox="1"/>
          <p:nvPr/>
        </p:nvSpPr>
        <p:spPr>
          <a:xfrm>
            <a:off x="1054960" y="5961463"/>
            <a:ext cx="2382142" cy="303212"/>
          </a:xfrm>
          <a:prstGeom prst="rect">
            <a:avLst/>
          </a:prstGeom>
        </p:spPr>
        <p:txBody>
          <a:bodyPr lIns="0" tIns="0" rIns="0" bIns="0" rtlCol="0" anchor="t">
            <a:spAutoFit/>
          </a:bodyPr>
          <a:lstStyle/>
          <a:p>
            <a:r>
              <a:t>7. End of Day Process</a:t>
            </a:r>
          </a:p>
        </p:txBody>
      </p:sp>
      <p:sp>
        <p:nvSpPr>
          <p:cNvPr id="77" name="TextBox 77"/>
          <p:cNvSpPr txBox="1"/>
          <p:nvPr/>
        </p:nvSpPr>
        <p:spPr>
          <a:xfrm>
            <a:off x="3862454" y="5961463"/>
            <a:ext cx="2377380" cy="303212"/>
          </a:xfrm>
          <a:prstGeom prst="rect">
            <a:avLst/>
          </a:prstGeom>
        </p:spPr>
        <p:txBody>
          <a:bodyPr lIns="0" tIns="0" rIns="0" bIns="0" rtlCol="0" anchor="t">
            <a:spAutoFit/>
          </a:bodyPr>
          <a:lstStyle/>
          <a:p>
            <a:r>
              <a:t>EI</a:t>
            </a:r>
          </a:p>
        </p:txBody>
      </p:sp>
      <p:sp>
        <p:nvSpPr>
          <p:cNvPr id="78" name="TextBox 78"/>
          <p:cNvSpPr txBox="1"/>
          <p:nvPr/>
        </p:nvSpPr>
        <p:spPr>
          <a:xfrm>
            <a:off x="4879294" y="5961463"/>
            <a:ext cx="2377380" cy="303212"/>
          </a:xfrm>
          <a:prstGeom prst="rect">
            <a:avLst/>
          </a:prstGeom>
        </p:spPr>
        <p:txBody>
          <a:bodyPr lIns="0" tIns="0" rIns="0" bIns="0" rtlCol="0" anchor="t">
            <a:spAutoFit/>
          </a:bodyPr>
          <a:lstStyle/>
          <a:p>
            <a:r>
              <a:t>1</a:t>
            </a:r>
          </a:p>
        </p:txBody>
      </p:sp>
      <p:sp>
        <p:nvSpPr>
          <p:cNvPr id="79" name="TextBox 79"/>
          <p:cNvSpPr txBox="1"/>
          <p:nvPr/>
        </p:nvSpPr>
        <p:spPr>
          <a:xfrm>
            <a:off x="5904256" y="5970632"/>
            <a:ext cx="2377380" cy="303212"/>
          </a:xfrm>
          <a:prstGeom prst="rect">
            <a:avLst/>
          </a:prstGeom>
        </p:spPr>
        <p:txBody>
          <a:bodyPr lIns="0" tIns="0" rIns="0" bIns="0" rtlCol="0" anchor="t">
            <a:spAutoFit/>
          </a:bodyPr>
          <a:lstStyle/>
          <a:p>
            <a:r>
              <a:t>2</a:t>
            </a:r>
          </a:p>
        </p:txBody>
      </p:sp>
      <p:sp>
        <p:nvSpPr>
          <p:cNvPr id="80" name="TextBox 80"/>
          <p:cNvSpPr txBox="1"/>
          <p:nvPr/>
        </p:nvSpPr>
        <p:spPr>
          <a:xfrm>
            <a:off x="7023093" y="5993054"/>
            <a:ext cx="2377380" cy="303212"/>
          </a:xfrm>
          <a:prstGeom prst="rect">
            <a:avLst/>
          </a:prstGeom>
        </p:spPr>
        <p:txBody>
          <a:bodyPr lIns="0" tIns="0" rIns="0" bIns="0" rtlCol="0" anchor="t">
            <a:spAutoFit/>
          </a:bodyPr>
          <a:lstStyle/>
          <a:p>
            <a:r>
              <a:t>Low</a:t>
            </a:r>
          </a:p>
        </p:txBody>
      </p:sp>
      <p:sp>
        <p:nvSpPr>
          <p:cNvPr id="81" name="TextBox 81"/>
          <p:cNvSpPr txBox="1"/>
          <p:nvPr/>
        </p:nvSpPr>
        <p:spPr>
          <a:xfrm>
            <a:off x="8609572" y="6122238"/>
            <a:ext cx="2382142" cy="303212"/>
          </a:xfrm>
          <a:prstGeom prst="rect">
            <a:avLst/>
          </a:prstGeom>
        </p:spPr>
        <p:txBody>
          <a:bodyPr lIns="0" tIns="0" rIns="0" bIns="0" rtlCol="0" anchor="t">
            <a:spAutoFit/>
          </a:bodyPr>
          <a:lstStyle/>
          <a:p>
            <a:r>
              <a:t>3</a:t>
            </a:r>
          </a:p>
        </p:txBody>
      </p:sp>
      <p:grpSp>
        <p:nvGrpSpPr>
          <p:cNvPr id="82" name="Group 82"/>
          <p:cNvGrpSpPr/>
          <p:nvPr/>
        </p:nvGrpSpPr>
        <p:grpSpPr>
          <a:xfrm>
            <a:off x="846452" y="6485487"/>
            <a:ext cx="16816982" cy="601116"/>
            <a:chOff x="0" y="0"/>
            <a:chExt cx="22422643" cy="801488"/>
          </a:xfrm>
        </p:grpSpPr>
        <p:sp>
          <p:nvSpPr>
            <p:cNvPr id="83" name="Freeform 83"/>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84" name="TextBox 84"/>
          <p:cNvSpPr txBox="1"/>
          <p:nvPr/>
        </p:nvSpPr>
        <p:spPr>
          <a:xfrm>
            <a:off x="1054960" y="6562579"/>
            <a:ext cx="2382142" cy="303212"/>
          </a:xfrm>
          <a:prstGeom prst="rect">
            <a:avLst/>
          </a:prstGeom>
        </p:spPr>
        <p:txBody>
          <a:bodyPr lIns="0" tIns="0" rIns="0" bIns="0" rtlCol="0" anchor="t">
            <a:spAutoFit/>
          </a:bodyPr>
          <a:lstStyle/>
          <a:p>
            <a:r>
              <a:t>8. Customer Feedback</a:t>
            </a:r>
          </a:p>
        </p:txBody>
      </p:sp>
      <p:sp>
        <p:nvSpPr>
          <p:cNvPr id="85" name="TextBox 85"/>
          <p:cNvSpPr txBox="1"/>
          <p:nvPr/>
        </p:nvSpPr>
        <p:spPr>
          <a:xfrm>
            <a:off x="3862454" y="6562579"/>
            <a:ext cx="2377380" cy="303212"/>
          </a:xfrm>
          <a:prstGeom prst="rect">
            <a:avLst/>
          </a:prstGeom>
        </p:spPr>
        <p:txBody>
          <a:bodyPr lIns="0" tIns="0" rIns="0" bIns="0" rtlCol="0" anchor="t">
            <a:spAutoFit/>
          </a:bodyPr>
          <a:lstStyle/>
          <a:p>
            <a:r>
              <a:t>EO</a:t>
            </a:r>
          </a:p>
        </p:txBody>
      </p:sp>
      <p:sp>
        <p:nvSpPr>
          <p:cNvPr id="86" name="TextBox 86"/>
          <p:cNvSpPr txBox="1"/>
          <p:nvPr/>
        </p:nvSpPr>
        <p:spPr>
          <a:xfrm>
            <a:off x="4879294" y="6562579"/>
            <a:ext cx="2377380" cy="303212"/>
          </a:xfrm>
          <a:prstGeom prst="rect">
            <a:avLst/>
          </a:prstGeom>
        </p:spPr>
        <p:txBody>
          <a:bodyPr lIns="0" tIns="0" rIns="0" bIns="0" rtlCol="0" anchor="t">
            <a:spAutoFit/>
          </a:bodyPr>
          <a:lstStyle/>
          <a:p>
            <a:r>
              <a:t>1</a:t>
            </a:r>
          </a:p>
        </p:txBody>
      </p:sp>
      <p:sp>
        <p:nvSpPr>
          <p:cNvPr id="87" name="TextBox 87"/>
          <p:cNvSpPr txBox="1"/>
          <p:nvPr/>
        </p:nvSpPr>
        <p:spPr>
          <a:xfrm>
            <a:off x="5904256" y="6571748"/>
            <a:ext cx="2377380" cy="303212"/>
          </a:xfrm>
          <a:prstGeom prst="rect">
            <a:avLst/>
          </a:prstGeom>
        </p:spPr>
        <p:txBody>
          <a:bodyPr lIns="0" tIns="0" rIns="0" bIns="0" rtlCol="0" anchor="t">
            <a:spAutoFit/>
          </a:bodyPr>
          <a:lstStyle/>
          <a:p>
            <a:r>
              <a:t>3</a:t>
            </a:r>
          </a:p>
        </p:txBody>
      </p:sp>
      <p:sp>
        <p:nvSpPr>
          <p:cNvPr id="88" name="TextBox 88"/>
          <p:cNvSpPr txBox="1"/>
          <p:nvPr/>
        </p:nvSpPr>
        <p:spPr>
          <a:xfrm>
            <a:off x="7023093" y="6594170"/>
            <a:ext cx="2377380" cy="303212"/>
          </a:xfrm>
          <a:prstGeom prst="rect">
            <a:avLst/>
          </a:prstGeom>
        </p:spPr>
        <p:txBody>
          <a:bodyPr lIns="0" tIns="0" rIns="0" bIns="0" rtlCol="0" anchor="t">
            <a:spAutoFit/>
          </a:bodyPr>
          <a:lstStyle/>
          <a:p>
            <a:r>
              <a:t>Low</a:t>
            </a:r>
          </a:p>
        </p:txBody>
      </p:sp>
      <p:sp>
        <p:nvSpPr>
          <p:cNvPr id="89" name="TextBox 89"/>
          <p:cNvSpPr txBox="1"/>
          <p:nvPr/>
        </p:nvSpPr>
        <p:spPr>
          <a:xfrm>
            <a:off x="8609572" y="6723354"/>
            <a:ext cx="2382142" cy="303212"/>
          </a:xfrm>
          <a:prstGeom prst="rect">
            <a:avLst/>
          </a:prstGeom>
        </p:spPr>
        <p:txBody>
          <a:bodyPr lIns="0" tIns="0" rIns="0" bIns="0" rtlCol="0" anchor="t">
            <a:spAutoFit/>
          </a:bodyPr>
          <a:lstStyle/>
          <a:p>
            <a:r>
              <a:t>4</a:t>
            </a:r>
          </a:p>
        </p:txBody>
      </p:sp>
      <p:sp>
        <p:nvSpPr>
          <p:cNvPr id="93" name="TextBox 92">
            <a:extLst>
              <a:ext uri="{FF2B5EF4-FFF2-40B4-BE49-F238E27FC236}">
                <a16:creationId xmlns:a16="http://schemas.microsoft.com/office/drawing/2014/main" id="{7EA11358-9654-78A0-8C33-73CC5348A157}"/>
              </a:ext>
            </a:extLst>
          </p:cNvPr>
          <p:cNvSpPr txBox="1"/>
          <p:nvPr/>
        </p:nvSpPr>
        <p:spPr>
          <a:xfrm>
            <a:off x="3240775" y="7187773"/>
            <a:ext cx="6172200" cy="396519"/>
          </a:xfrm>
          <a:prstGeom prst="rect">
            <a:avLst/>
          </a:prstGeom>
          <a:noFill/>
        </p:spPr>
        <p:txBody>
          <a:bodyPr wrap="square">
            <a:spAutoFit/>
          </a:bodyPr>
          <a:lstStyle/>
          <a:p>
            <a:r>
              <a:t>Total UFP (TF) 35</a:t>
            </a:r>
          </a:p>
        </p:txBody>
      </p:sp>
      <p:pic>
        <p:nvPicPr>
          <p:cNvPr id="92" name="Picture 91">
            <a:extLst>
              <a:ext uri="{FF2B5EF4-FFF2-40B4-BE49-F238E27FC236}">
                <a16:creationId xmlns:a16="http://schemas.microsoft.com/office/drawing/2014/main" id="{99305725-518E-6E3A-90A3-C7807CC69644}"/>
              </a:ext>
            </a:extLst>
          </p:cNvPr>
          <p:cNvPicPr>
            <a:picLocks noChangeAspect="1"/>
          </p:cNvPicPr>
          <p:nvPr/>
        </p:nvPicPr>
        <p:blipFill>
          <a:blip r:embed="rId2"/>
          <a:stretch>
            <a:fillRect/>
          </a:stretch>
        </p:blipFill>
        <p:spPr>
          <a:xfrm>
            <a:off x="12365751" y="2007022"/>
            <a:ext cx="4286848" cy="4201111"/>
          </a:xfrm>
          <a:prstGeom prst="rect">
            <a:avLst/>
          </a:prstGeom>
        </p:spPr>
      </p:pic>
      <p:sp>
        <p:nvSpPr>
          <p:cNvPr id="95" name="TextBox 94">
            <a:extLst>
              <a:ext uri="{FF2B5EF4-FFF2-40B4-BE49-F238E27FC236}">
                <a16:creationId xmlns:a16="http://schemas.microsoft.com/office/drawing/2014/main" id="{0B234747-D251-9CE2-CDE0-0EC1489DA530}"/>
              </a:ext>
            </a:extLst>
          </p:cNvPr>
          <p:cNvSpPr txBox="1"/>
          <p:nvPr/>
        </p:nvSpPr>
        <p:spPr>
          <a:xfrm>
            <a:off x="11145067" y="6296266"/>
            <a:ext cx="6970201" cy="385362"/>
          </a:xfrm>
          <a:prstGeom prst="rect">
            <a:avLst/>
          </a:prstGeom>
          <a:noFill/>
        </p:spPr>
        <p:txBody>
          <a:bodyPr wrap="square">
            <a:spAutoFit/>
          </a:bodyPr>
          <a:lstStyle/>
          <a:p>
            <a:r>
              <a:t>Table: shows the unadjusted function point contribution of data functions.</a:t>
            </a:r>
          </a:p>
        </p:txBody>
      </p:sp>
      <p:sp>
        <p:nvSpPr>
          <p:cNvPr id="103" name="Slide Number Placeholder 102">
            <a:extLst>
              <a:ext uri="{FF2B5EF4-FFF2-40B4-BE49-F238E27FC236}">
                <a16:creationId xmlns:a16="http://schemas.microsoft.com/office/drawing/2014/main" id="{0CDEA568-5A2D-6172-9CE6-0561A4024907}"/>
              </a:ext>
            </a:extLst>
          </p:cNvPr>
          <p:cNvSpPr>
            <a:spLocks noGrp="1"/>
          </p:cNvSpPr>
          <p:nvPr>
            <p:ph type="sldNum" sz="quarter" idx="12"/>
          </p:nvPr>
        </p:nvSpPr>
        <p:spPr/>
        <p:txBody>
          <a:bodyPr/>
          <a:lstStyle/>
          <a:p>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 name="Group 10"/>
          <p:cNvGrpSpPr/>
          <p:nvPr/>
        </p:nvGrpSpPr>
        <p:grpSpPr>
          <a:xfrm>
            <a:off x="505569" y="11572280"/>
            <a:ext cx="17275076" cy="415826"/>
            <a:chOff x="0" y="0"/>
            <a:chExt cx="23033435" cy="554435"/>
          </a:xfrm>
        </p:grpSpPr>
        <p:sp>
          <p:nvSpPr>
            <p:cNvPr id="11" name="Freeform 11"/>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grpSp>
        <p:nvGrpSpPr>
          <p:cNvPr id="12" name="Group 12"/>
          <p:cNvGrpSpPr/>
          <p:nvPr/>
        </p:nvGrpSpPr>
        <p:grpSpPr>
          <a:xfrm>
            <a:off x="505569" y="11988105"/>
            <a:ext cx="17275076" cy="415826"/>
            <a:chOff x="0" y="0"/>
            <a:chExt cx="23033435" cy="554435"/>
          </a:xfrm>
        </p:grpSpPr>
        <p:sp>
          <p:nvSpPr>
            <p:cNvPr id="13" name="Freeform 13"/>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grpSp>
        <p:nvGrpSpPr>
          <p:cNvPr id="14" name="Group 14"/>
          <p:cNvGrpSpPr/>
          <p:nvPr/>
        </p:nvGrpSpPr>
        <p:grpSpPr>
          <a:xfrm>
            <a:off x="505569" y="12403931"/>
            <a:ext cx="17275076" cy="415826"/>
            <a:chOff x="0" y="0"/>
            <a:chExt cx="23033435" cy="554435"/>
          </a:xfrm>
        </p:grpSpPr>
        <p:sp>
          <p:nvSpPr>
            <p:cNvPr id="15" name="Freeform 15"/>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sp>
        <p:nvSpPr>
          <p:cNvPr id="18" name="TextBox 18"/>
          <p:cNvSpPr txBox="1"/>
          <p:nvPr/>
        </p:nvSpPr>
        <p:spPr>
          <a:xfrm>
            <a:off x="325676" y="238446"/>
            <a:ext cx="2835325" cy="332592"/>
          </a:xfrm>
          <a:prstGeom prst="rect">
            <a:avLst/>
          </a:prstGeom>
        </p:spPr>
        <p:txBody>
          <a:bodyPr lIns="0" tIns="0" rIns="0" bIns="0" rtlCol="0" anchor="t">
            <a:spAutoFit/>
          </a:bodyPr>
          <a:lstStyle/>
          <a:p>
            <a:r>
              <a:t>UFP OF DF</a:t>
            </a:r>
          </a:p>
        </p:txBody>
      </p:sp>
      <p:sp>
        <p:nvSpPr>
          <p:cNvPr id="21" name="TextBox 21"/>
          <p:cNvSpPr txBox="1"/>
          <p:nvPr/>
        </p:nvSpPr>
        <p:spPr>
          <a:xfrm>
            <a:off x="921026" y="4943367"/>
            <a:ext cx="1771948" cy="223587"/>
          </a:xfrm>
          <a:prstGeom prst="rect">
            <a:avLst/>
          </a:prstGeom>
        </p:spPr>
        <p:txBody>
          <a:bodyPr lIns="0" tIns="0" rIns="0" bIns="0" rtlCol="0" anchor="t">
            <a:spAutoFit/>
          </a:bodyPr>
          <a:lstStyle/>
          <a:p>
            <a:r>
              <a:t>Total UFP</a:t>
            </a:r>
          </a:p>
        </p:txBody>
      </p:sp>
      <p:sp>
        <p:nvSpPr>
          <p:cNvPr id="22" name="TextBox 22"/>
          <p:cNvSpPr txBox="1"/>
          <p:nvPr/>
        </p:nvSpPr>
        <p:spPr>
          <a:xfrm>
            <a:off x="921026" y="5227584"/>
            <a:ext cx="8274695" cy="230832"/>
          </a:xfrm>
          <a:prstGeom prst="rect">
            <a:avLst/>
          </a:prstGeom>
        </p:spPr>
        <p:txBody>
          <a:bodyPr lIns="0" tIns="0" rIns="0" bIns="0" rtlCol="0" anchor="t">
            <a:spAutoFit/>
          </a:bodyPr>
          <a:lstStyle/>
          <a:p>
            <a:r>
              <a:t>UFP(TF) + UFP(DF) = 35 + 49 = 84</a:t>
            </a:r>
          </a:p>
        </p:txBody>
      </p:sp>
      <p:sp>
        <p:nvSpPr>
          <p:cNvPr id="23" name="TextBox 23"/>
          <p:cNvSpPr txBox="1"/>
          <p:nvPr/>
        </p:nvSpPr>
        <p:spPr>
          <a:xfrm>
            <a:off x="10105131" y="4754452"/>
            <a:ext cx="7686824" cy="307777"/>
          </a:xfrm>
          <a:prstGeom prst="rect">
            <a:avLst/>
          </a:prstGeom>
        </p:spPr>
        <p:txBody>
          <a:bodyPr wrap="square" lIns="0" tIns="0" rIns="0" bIns="0" rtlCol="0" anchor="t">
            <a:spAutoFit/>
          </a:bodyPr>
          <a:lstStyle/>
          <a:p>
            <a:r>
              <a:t>CALCULATION OF TOTAL DEGREE OF INFLUENCE (TDI) :</a:t>
            </a:r>
          </a:p>
        </p:txBody>
      </p:sp>
      <p:sp>
        <p:nvSpPr>
          <p:cNvPr id="34" name="TextBox 34"/>
          <p:cNvSpPr txBox="1"/>
          <p:nvPr/>
        </p:nvSpPr>
        <p:spPr>
          <a:xfrm>
            <a:off x="12169379" y="11619160"/>
            <a:ext cx="5469582" cy="206375"/>
          </a:xfrm>
          <a:prstGeom prst="rect">
            <a:avLst/>
          </a:prstGeom>
        </p:spPr>
        <p:txBody>
          <a:bodyPr lIns="0" tIns="0" rIns="0" bIns="0" rtlCol="0" anchor="t">
            <a:spAutoFit/>
          </a:bodyPr>
          <a:lstStyle/>
          <a:p>
            <a:r>
              <a:t>3</a:t>
            </a:r>
          </a:p>
        </p:txBody>
      </p:sp>
      <p:sp>
        <p:nvSpPr>
          <p:cNvPr id="37" name="TextBox 37"/>
          <p:cNvSpPr txBox="1"/>
          <p:nvPr/>
        </p:nvSpPr>
        <p:spPr>
          <a:xfrm>
            <a:off x="12169379" y="12034986"/>
            <a:ext cx="5469582" cy="206375"/>
          </a:xfrm>
          <a:prstGeom prst="rect">
            <a:avLst/>
          </a:prstGeom>
        </p:spPr>
        <p:txBody>
          <a:bodyPr lIns="0" tIns="0" rIns="0" bIns="0" rtlCol="0" anchor="t">
            <a:spAutoFit/>
          </a:bodyPr>
          <a:lstStyle/>
          <a:p>
            <a:r>
              <a:t>1</a:t>
            </a:r>
          </a:p>
        </p:txBody>
      </p:sp>
      <p:sp>
        <p:nvSpPr>
          <p:cNvPr id="40" name="TextBox 40"/>
          <p:cNvSpPr txBox="1"/>
          <p:nvPr/>
        </p:nvSpPr>
        <p:spPr>
          <a:xfrm>
            <a:off x="12169379" y="12450812"/>
            <a:ext cx="5469582" cy="206375"/>
          </a:xfrm>
          <a:prstGeom prst="rect">
            <a:avLst/>
          </a:prstGeom>
        </p:spPr>
        <p:txBody>
          <a:bodyPr lIns="0" tIns="0" rIns="0" bIns="0" rtlCol="0" anchor="t">
            <a:spAutoFit/>
          </a:bodyPr>
          <a:lstStyle/>
          <a:p>
            <a:r>
              <a:t>3</a:t>
            </a:r>
          </a:p>
        </p:txBody>
      </p:sp>
      <p:pic>
        <p:nvPicPr>
          <p:cNvPr id="52" name="Picture 51">
            <a:extLst>
              <a:ext uri="{FF2B5EF4-FFF2-40B4-BE49-F238E27FC236}">
                <a16:creationId xmlns:a16="http://schemas.microsoft.com/office/drawing/2014/main" id="{F784C47D-C67E-B350-714D-9530A291850C}"/>
              </a:ext>
            </a:extLst>
          </p:cNvPr>
          <p:cNvPicPr>
            <a:picLocks noChangeAspect="1"/>
          </p:cNvPicPr>
          <p:nvPr/>
        </p:nvPicPr>
        <p:blipFill>
          <a:blip r:embed="rId2"/>
          <a:srcRect l="5781" r="7137"/>
          <a:stretch>
            <a:fillRect/>
          </a:stretch>
        </p:blipFill>
        <p:spPr>
          <a:xfrm>
            <a:off x="914400" y="721236"/>
            <a:ext cx="8686800" cy="3666838"/>
          </a:xfrm>
          <a:prstGeom prst="rect">
            <a:avLst/>
          </a:prstGeom>
        </p:spPr>
      </p:pic>
      <p:pic>
        <p:nvPicPr>
          <p:cNvPr id="54" name="Picture 53">
            <a:extLst>
              <a:ext uri="{FF2B5EF4-FFF2-40B4-BE49-F238E27FC236}">
                <a16:creationId xmlns:a16="http://schemas.microsoft.com/office/drawing/2014/main" id="{157CE929-346A-33DD-7C46-66D53B0FD05C}"/>
              </a:ext>
            </a:extLst>
          </p:cNvPr>
          <p:cNvPicPr>
            <a:picLocks noChangeAspect="1"/>
          </p:cNvPicPr>
          <p:nvPr/>
        </p:nvPicPr>
        <p:blipFill>
          <a:blip r:embed="rId3"/>
          <a:srcRect l="4474" t="2318" r="4785" b="3428"/>
          <a:stretch>
            <a:fillRect/>
          </a:stretch>
        </p:blipFill>
        <p:spPr>
          <a:xfrm>
            <a:off x="9512029" y="5166954"/>
            <a:ext cx="8583625" cy="4886629"/>
          </a:xfrm>
          <a:prstGeom prst="rect">
            <a:avLst/>
          </a:prstGeom>
        </p:spPr>
      </p:pic>
      <p:pic>
        <p:nvPicPr>
          <p:cNvPr id="58" name="Picture 57">
            <a:extLst>
              <a:ext uri="{FF2B5EF4-FFF2-40B4-BE49-F238E27FC236}">
                <a16:creationId xmlns:a16="http://schemas.microsoft.com/office/drawing/2014/main" id="{698FD7CE-2414-CCC0-1254-E32FFB3E6E80}"/>
              </a:ext>
            </a:extLst>
          </p:cNvPr>
          <p:cNvPicPr>
            <a:picLocks noChangeAspect="1"/>
          </p:cNvPicPr>
          <p:nvPr/>
        </p:nvPicPr>
        <p:blipFill>
          <a:blip r:embed="rId4"/>
          <a:stretch>
            <a:fillRect/>
          </a:stretch>
        </p:blipFill>
        <p:spPr>
          <a:xfrm>
            <a:off x="742213" y="6721475"/>
            <a:ext cx="8020865" cy="3315483"/>
          </a:xfrm>
          <a:prstGeom prst="rect">
            <a:avLst/>
          </a:prstGeom>
        </p:spPr>
      </p:pic>
      <p:sp>
        <p:nvSpPr>
          <p:cNvPr id="60" name="TextBox 59">
            <a:extLst>
              <a:ext uri="{FF2B5EF4-FFF2-40B4-BE49-F238E27FC236}">
                <a16:creationId xmlns:a16="http://schemas.microsoft.com/office/drawing/2014/main" id="{134931CF-B81B-3991-E884-5EF34AEDF165}"/>
              </a:ext>
            </a:extLst>
          </p:cNvPr>
          <p:cNvSpPr txBox="1"/>
          <p:nvPr/>
        </p:nvSpPr>
        <p:spPr>
          <a:xfrm>
            <a:off x="742213" y="6132877"/>
            <a:ext cx="2273029" cy="385362"/>
          </a:xfrm>
          <a:prstGeom prst="rect">
            <a:avLst/>
          </a:prstGeom>
          <a:noFill/>
        </p:spPr>
        <p:txBody>
          <a:bodyPr wrap="square">
            <a:spAutoFit/>
          </a:bodyPr>
          <a:lstStyle/>
          <a:p>
            <a:r>
              <a:t>Final Calculation</a:t>
            </a:r>
          </a:p>
        </p:txBody>
      </p:sp>
      <p:sp>
        <p:nvSpPr>
          <p:cNvPr id="66" name="Slide Number Placeholder 65">
            <a:extLst>
              <a:ext uri="{FF2B5EF4-FFF2-40B4-BE49-F238E27FC236}">
                <a16:creationId xmlns:a16="http://schemas.microsoft.com/office/drawing/2014/main" id="{A63B1060-C607-D0E4-9416-57C346B25865}"/>
              </a:ext>
            </a:extLst>
          </p:cNvPr>
          <p:cNvSpPr>
            <a:spLocks noGrp="1"/>
          </p:cNvSpPr>
          <p:nvPr>
            <p:ph type="sldNum" sz="quarter" idx="12"/>
          </p:nvPr>
        </p:nvSpPr>
        <p:spPr/>
        <p:txBody>
          <a:bodyPr/>
          <a:lstStyle/>
          <a:p>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sp>
        <p:nvSpPr>
          <p:cNvPr id="6" name="Freeform 6"/>
          <p:cNvSpPr/>
          <p:nvPr/>
        </p:nvSpPr>
        <p:spPr>
          <a:xfrm>
            <a:off x="1028700" y="3144609"/>
            <a:ext cx="6322401" cy="5177990"/>
          </a:xfrm>
          <a:custGeom>
            <a:avLst/>
            <a:gdLst/>
            <a:ahLst/>
            <a:cxnLst/>
            <a:rect l="l" t="t" r="r" b="b"/>
            <a:pathLst>
              <a:path w="6322401" h="5177990">
                <a:moveTo>
                  <a:pt x="0" y="0"/>
                </a:moveTo>
                <a:lnTo>
                  <a:pt x="6322401" y="0"/>
                </a:lnTo>
                <a:lnTo>
                  <a:pt x="6322401" y="5177990"/>
                </a:lnTo>
                <a:lnTo>
                  <a:pt x="0" y="5177990"/>
                </a:lnTo>
                <a:lnTo>
                  <a:pt x="0" y="0"/>
                </a:lnTo>
                <a:close/>
              </a:path>
            </a:pathLst>
          </a:custGeom>
          <a:blipFill>
            <a:blip r:embed="rId2"/>
            <a:stretch>
              <a:fillRect/>
            </a:stretch>
          </a:blipFill>
        </p:spPr>
        <p:txBody>
          <a:bodyPr/>
          <a:p/>
        </p:txBody>
      </p:sp>
      <p:sp>
        <p:nvSpPr>
          <p:cNvPr id="7" name="TextBox 7"/>
          <p:cNvSpPr txBox="1"/>
          <p:nvPr/>
        </p:nvSpPr>
        <p:spPr>
          <a:xfrm>
            <a:off x="7850237" y="4005709"/>
            <a:ext cx="7088237" cy="844213"/>
          </a:xfrm>
          <a:prstGeom prst="rect">
            <a:avLst/>
          </a:prstGeom>
        </p:spPr>
        <p:txBody>
          <a:bodyPr lIns="0" tIns="0" rIns="0" bIns="0" rtlCol="0" anchor="t">
            <a:spAutoFit/>
          </a:bodyPr>
          <a:lstStyle/>
          <a:p>
            <a:r>
              <a:t>Project Scheduling</a:t>
            </a:r>
          </a:p>
        </p:txBody>
      </p:sp>
      <p:sp>
        <p:nvSpPr>
          <p:cNvPr id="8" name="TextBox 8"/>
          <p:cNvSpPr txBox="1"/>
          <p:nvPr/>
        </p:nvSpPr>
        <p:spPr>
          <a:xfrm>
            <a:off x="7850237" y="5259735"/>
            <a:ext cx="9445526" cy="862012"/>
          </a:xfrm>
          <a:prstGeom prst="rect">
            <a:avLst/>
          </a:prstGeom>
        </p:spPr>
        <p:txBody>
          <a:bodyPr lIns="0" tIns="0" rIns="0" bIns="0" rtlCol="0" anchor="t">
            <a:spAutoFit/>
          </a:bodyPr>
          <a:lstStyle/>
          <a:p>
            <a:r>
              <a:t>The project is planned to be completed in 12 weeks (3 months). Below is the Gantt chart illustrating the schedule:</a:t>
            </a:r>
          </a:p>
        </p:txBody>
      </p:sp>
      <p:sp>
        <p:nvSpPr>
          <p:cNvPr id="17" name="Slide Number Placeholder 16">
            <a:extLst>
              <a:ext uri="{FF2B5EF4-FFF2-40B4-BE49-F238E27FC236}">
                <a16:creationId xmlns:a16="http://schemas.microsoft.com/office/drawing/2014/main" id="{5833900C-3821-5132-6BAB-E540F151D0A5}"/>
              </a:ext>
            </a:extLst>
          </p:cNvPr>
          <p:cNvSpPr>
            <a:spLocks noGrp="1"/>
          </p:cNvSpPr>
          <p:nvPr>
            <p:ph type="sldNum" sz="quarter" idx="12"/>
          </p:nvPr>
        </p:nvSpPr>
        <p:spPr/>
        <p:txBody>
          <a:bodyPr/>
          <a:lstStyle/>
          <a:p>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4C05-F6F0-D951-50E8-2F29EADDA4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324100"/>
            <a:ext cx="18288000" cy="7086600"/>
          </a:xfrm>
          <a:prstGeom prst="rect">
            <a:avLst/>
          </a:prstGeom>
          <a:noFill/>
          <a:ln>
            <a:noFill/>
          </a:ln>
        </p:spPr>
      </p:pic>
      <p:sp>
        <p:nvSpPr>
          <p:cNvPr id="5" name="Rectangle 4">
            <a:extLst>
              <a:ext uri="{FF2B5EF4-FFF2-40B4-BE49-F238E27FC236}">
                <a16:creationId xmlns:a16="http://schemas.microsoft.com/office/drawing/2014/main" id="{116CCECC-79D6-9D6F-9448-D256DF4A28CA}"/>
              </a:ext>
            </a:extLst>
          </p:cNvPr>
          <p:cNvSpPr/>
          <p:nvPr/>
        </p:nvSpPr>
        <p:spPr>
          <a:xfrm>
            <a:off x="24384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Rectangle 7">
            <a:extLst>
              <a:ext uri="{FF2B5EF4-FFF2-40B4-BE49-F238E27FC236}">
                <a16:creationId xmlns:a16="http://schemas.microsoft.com/office/drawing/2014/main" id="{11E77648-D64A-487C-A324-826765F0E9D9}"/>
              </a:ext>
            </a:extLst>
          </p:cNvPr>
          <p:cNvSpPr/>
          <p:nvPr/>
        </p:nvSpPr>
        <p:spPr>
          <a:xfrm>
            <a:off x="89916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14C5C283-79EC-A8BC-5C10-F4426D2C7DA1}"/>
              </a:ext>
            </a:extLst>
          </p:cNvPr>
          <p:cNvSpPr/>
          <p:nvPr/>
        </p:nvSpPr>
        <p:spPr>
          <a:xfrm>
            <a:off x="148209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053A73F8-B435-272D-9F15-44E6095231AC}"/>
              </a:ext>
            </a:extLst>
          </p:cNvPr>
          <p:cNvSpPr/>
          <p:nvPr/>
        </p:nvSpPr>
        <p:spPr>
          <a:xfrm>
            <a:off x="14706600" y="91059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25E1F3FB-25E4-DF85-0EEE-C59DEA364A33}"/>
              </a:ext>
            </a:extLst>
          </p:cNvPr>
          <p:cNvSpPr/>
          <p:nvPr/>
        </p:nvSpPr>
        <p:spPr>
          <a:xfrm>
            <a:off x="8839200" y="91059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DBAC8D58-715B-0F23-DFC1-84D9BB571E34}"/>
              </a:ext>
            </a:extLst>
          </p:cNvPr>
          <p:cNvSpPr/>
          <p:nvPr/>
        </p:nvSpPr>
        <p:spPr>
          <a:xfrm>
            <a:off x="2209800" y="9147313"/>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TextBox 13">
            <a:extLst>
              <a:ext uri="{FF2B5EF4-FFF2-40B4-BE49-F238E27FC236}">
                <a16:creationId xmlns:a16="http://schemas.microsoft.com/office/drawing/2014/main" id="{ADBDBB9C-E168-1707-90B9-F571A5F40397}"/>
              </a:ext>
            </a:extLst>
          </p:cNvPr>
          <p:cNvSpPr txBox="1"/>
          <p:nvPr/>
        </p:nvSpPr>
        <p:spPr>
          <a:xfrm>
            <a:off x="381000" y="1562100"/>
            <a:ext cx="9144000" cy="584775"/>
          </a:xfrm>
          <a:prstGeom prst="rect">
            <a:avLst/>
          </a:prstGeom>
          <a:noFill/>
        </p:spPr>
        <p:txBody>
          <a:bodyPr wrap="square">
            <a:spAutoFit/>
          </a:bodyPr>
          <a:lstStyle/>
          <a:p>
            <a:r>
              <a:t>Project Scheduling</a:t>
            </a:r>
          </a:p>
        </p:txBody>
      </p:sp>
      <p:sp>
        <p:nvSpPr>
          <p:cNvPr id="22" name="Slide Number Placeholder 21">
            <a:extLst>
              <a:ext uri="{FF2B5EF4-FFF2-40B4-BE49-F238E27FC236}">
                <a16:creationId xmlns:a16="http://schemas.microsoft.com/office/drawing/2014/main" id="{5771A232-82F5-52EC-008D-EE6403C7D64E}"/>
              </a:ext>
            </a:extLst>
          </p:cNvPr>
          <p:cNvSpPr>
            <a:spLocks noGrp="1"/>
          </p:cNvSpPr>
          <p:nvPr>
            <p:ph type="sldNum" sz="quarter" idx="12"/>
          </p:nvPr>
        </p:nvSpPr>
        <p:spPr/>
        <p:txBody>
          <a:bodyPr/>
          <a:lstStyle/>
          <a:p>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986879" y="747117"/>
            <a:ext cx="8390781" cy="721351"/>
          </a:xfrm>
          <a:prstGeom prst="rect">
            <a:avLst/>
          </a:prstGeom>
        </p:spPr>
        <p:txBody>
          <a:bodyPr lIns="0" tIns="0" rIns="0" bIns="0" rtlCol="0" anchor="t">
            <a:spAutoFit/>
          </a:bodyPr>
          <a:lstStyle/>
          <a:p>
            <a:r>
              <a:t>PROJECT PHASES AND TIMELINE</a:t>
            </a:r>
          </a:p>
        </p:txBody>
      </p:sp>
      <p:sp>
        <p:nvSpPr>
          <p:cNvPr id="7" name="TextBox 7"/>
          <p:cNvSpPr txBox="1"/>
          <p:nvPr/>
        </p:nvSpPr>
        <p:spPr>
          <a:xfrm>
            <a:off x="986878" y="2134940"/>
            <a:ext cx="537121" cy="408766"/>
          </a:xfrm>
          <a:prstGeom prst="rect">
            <a:avLst/>
          </a:prstGeom>
        </p:spPr>
        <p:txBody>
          <a:bodyPr wrap="square" lIns="0" tIns="0" rIns="0" bIns="0" rtlCol="0" anchor="t">
            <a:spAutoFit/>
          </a:bodyPr>
          <a:lstStyle/>
          <a:p>
            <a:r>
              <a:t>01</a:t>
            </a:r>
          </a:p>
        </p:txBody>
      </p:sp>
      <p:grpSp>
        <p:nvGrpSpPr>
          <p:cNvPr id="8" name="Group 8"/>
          <p:cNvGrpSpPr/>
          <p:nvPr/>
        </p:nvGrpSpPr>
        <p:grpSpPr>
          <a:xfrm>
            <a:off x="986879" y="2661642"/>
            <a:ext cx="5250061" cy="38100"/>
            <a:chOff x="0" y="0"/>
            <a:chExt cx="7000082" cy="50800"/>
          </a:xfrm>
        </p:grpSpPr>
        <p:sp>
          <p:nvSpPr>
            <p:cNvPr id="9" name="Freeform 9"/>
            <p:cNvSpPr/>
            <p:nvPr/>
          </p:nvSpPr>
          <p:spPr>
            <a:xfrm>
              <a:off x="0" y="0"/>
              <a:ext cx="7000113" cy="50800"/>
            </a:xfrm>
            <a:custGeom>
              <a:avLst/>
              <a:gdLst/>
              <a:ahLst/>
              <a:cxnLst/>
              <a:rect l="l" t="t" r="r" b="b"/>
              <a:pathLst>
                <a:path w="7000113" h="50800">
                  <a:moveTo>
                    <a:pt x="0" y="0"/>
                  </a:moveTo>
                  <a:lnTo>
                    <a:pt x="7000113" y="0"/>
                  </a:lnTo>
                  <a:lnTo>
                    <a:pt x="7000113" y="50800"/>
                  </a:lnTo>
                  <a:lnTo>
                    <a:pt x="0" y="50800"/>
                  </a:lnTo>
                  <a:close/>
                </a:path>
              </a:pathLst>
            </a:custGeom>
            <a:solidFill>
              <a:srgbClr val="000000"/>
            </a:solidFill>
          </p:spPr>
        </p:sp>
      </p:grpSp>
      <p:sp>
        <p:nvSpPr>
          <p:cNvPr id="10" name="TextBox 10"/>
          <p:cNvSpPr txBox="1"/>
          <p:nvPr/>
        </p:nvSpPr>
        <p:spPr>
          <a:xfrm>
            <a:off x="986879" y="2859732"/>
            <a:ext cx="5250061" cy="409664"/>
          </a:xfrm>
          <a:prstGeom prst="rect">
            <a:avLst/>
          </a:prstGeom>
        </p:spPr>
        <p:txBody>
          <a:bodyPr lIns="0" tIns="0" rIns="0" bIns="0" rtlCol="0" anchor="t">
            <a:spAutoFit/>
          </a:bodyPr>
          <a:lstStyle/>
          <a:p>
            <a:r>
              <a:t>Planning &amp; Requirement Gathering</a:t>
            </a:r>
          </a:p>
        </p:txBody>
      </p:sp>
      <p:sp>
        <p:nvSpPr>
          <p:cNvPr id="11" name="TextBox 11"/>
          <p:cNvSpPr txBox="1"/>
          <p:nvPr/>
        </p:nvSpPr>
        <p:spPr>
          <a:xfrm>
            <a:off x="986878" y="3526558"/>
            <a:ext cx="4651921" cy="2703625"/>
          </a:xfrm>
          <a:prstGeom prst="rect">
            <a:avLst/>
          </a:prstGeom>
        </p:spPr>
        <p:txBody>
          <a:bodyPr wrap="square" lIns="0" tIns="0" rIns="0" bIns="0" rtlCol="0" anchor="t">
            <a:spAutoFit/>
          </a:bodyPr>
          <a:lstStyle/>
          <a:p>
            <a:r>
              <a:t>Conduct background research and study</a:t>
            </a:r>
          </a:p>
          <a:p>
            <a:r>
              <a:t>Complete requirements analysis</a:t>
            </a:r>
          </a:p>
          <a:p>
            <a:r>
              <a:t>Prepare requirements specification in week 3</a:t>
            </a:r>
          </a:p>
        </p:txBody>
      </p:sp>
      <p:sp>
        <p:nvSpPr>
          <p:cNvPr id="12" name="TextBox 12"/>
          <p:cNvSpPr txBox="1"/>
          <p:nvPr/>
        </p:nvSpPr>
        <p:spPr>
          <a:xfrm>
            <a:off x="6518821" y="2153990"/>
            <a:ext cx="281880" cy="335989"/>
          </a:xfrm>
          <a:prstGeom prst="rect">
            <a:avLst/>
          </a:prstGeom>
        </p:spPr>
        <p:txBody>
          <a:bodyPr lIns="0" tIns="0" rIns="0" bIns="0" rtlCol="0" anchor="t">
            <a:spAutoFit/>
          </a:bodyPr>
          <a:lstStyle/>
          <a:p>
            <a:r>
              <a:t>02</a:t>
            </a:r>
          </a:p>
        </p:txBody>
      </p:sp>
      <p:grpSp>
        <p:nvGrpSpPr>
          <p:cNvPr id="13" name="Group 13"/>
          <p:cNvGrpSpPr/>
          <p:nvPr/>
        </p:nvGrpSpPr>
        <p:grpSpPr>
          <a:xfrm>
            <a:off x="6518821" y="2661642"/>
            <a:ext cx="5250210" cy="38100"/>
            <a:chOff x="0" y="0"/>
            <a:chExt cx="7000280" cy="50800"/>
          </a:xfrm>
        </p:grpSpPr>
        <p:sp>
          <p:nvSpPr>
            <p:cNvPr id="14" name="Freeform 14"/>
            <p:cNvSpPr/>
            <p:nvPr/>
          </p:nvSpPr>
          <p:spPr>
            <a:xfrm>
              <a:off x="0" y="0"/>
              <a:ext cx="7000240" cy="50800"/>
            </a:xfrm>
            <a:custGeom>
              <a:avLst/>
              <a:gdLst/>
              <a:ahLst/>
              <a:cxnLst/>
              <a:rect l="l" t="t" r="r" b="b"/>
              <a:pathLst>
                <a:path w="7000240" h="50800">
                  <a:moveTo>
                    <a:pt x="0" y="0"/>
                  </a:moveTo>
                  <a:lnTo>
                    <a:pt x="7000240" y="0"/>
                  </a:lnTo>
                  <a:lnTo>
                    <a:pt x="7000240" y="50800"/>
                  </a:lnTo>
                  <a:lnTo>
                    <a:pt x="0" y="50800"/>
                  </a:lnTo>
                  <a:close/>
                </a:path>
              </a:pathLst>
            </a:custGeom>
            <a:solidFill>
              <a:srgbClr val="000000"/>
            </a:solidFill>
          </p:spPr>
        </p:sp>
      </p:grpSp>
      <p:sp>
        <p:nvSpPr>
          <p:cNvPr id="15" name="TextBox 15"/>
          <p:cNvSpPr txBox="1"/>
          <p:nvPr/>
        </p:nvSpPr>
        <p:spPr>
          <a:xfrm>
            <a:off x="6518821" y="2859732"/>
            <a:ext cx="3524547" cy="409664"/>
          </a:xfrm>
          <a:prstGeom prst="rect">
            <a:avLst/>
          </a:prstGeom>
        </p:spPr>
        <p:txBody>
          <a:bodyPr lIns="0" tIns="0" rIns="0" bIns="0" rtlCol="0" anchor="t">
            <a:spAutoFit/>
          </a:bodyPr>
          <a:lstStyle/>
          <a:p>
            <a:r>
              <a:t>Analysis Modelling</a:t>
            </a:r>
          </a:p>
        </p:txBody>
      </p:sp>
      <p:sp>
        <p:nvSpPr>
          <p:cNvPr id="16" name="TextBox 16"/>
          <p:cNvSpPr txBox="1"/>
          <p:nvPr/>
        </p:nvSpPr>
        <p:spPr>
          <a:xfrm>
            <a:off x="6518821" y="3412182"/>
            <a:ext cx="5250180" cy="1595630"/>
          </a:xfrm>
          <a:prstGeom prst="rect">
            <a:avLst/>
          </a:prstGeom>
        </p:spPr>
        <p:txBody>
          <a:bodyPr wrap="square" lIns="0" tIns="0" rIns="0" bIns="0" rtlCol="0" anchor="t">
            <a:spAutoFit/>
          </a:bodyPr>
          <a:lstStyle/>
          <a:p>
            <a:r>
              <a:t>Create use case, class, and object diagrams</a:t>
            </a:r>
          </a:p>
          <a:p>
            <a:r>
              <a:t>Present demo in week 5</a:t>
            </a:r>
          </a:p>
        </p:txBody>
      </p:sp>
      <p:sp>
        <p:nvSpPr>
          <p:cNvPr id="17" name="TextBox 17"/>
          <p:cNvSpPr txBox="1"/>
          <p:nvPr/>
        </p:nvSpPr>
        <p:spPr>
          <a:xfrm>
            <a:off x="12050911" y="2153990"/>
            <a:ext cx="281880" cy="335989"/>
          </a:xfrm>
          <a:prstGeom prst="rect">
            <a:avLst/>
          </a:prstGeom>
        </p:spPr>
        <p:txBody>
          <a:bodyPr lIns="0" tIns="0" rIns="0" bIns="0" rtlCol="0" anchor="t">
            <a:spAutoFit/>
          </a:bodyPr>
          <a:lstStyle/>
          <a:p>
            <a:r>
              <a:t>03</a:t>
            </a:r>
          </a:p>
        </p:txBody>
      </p:sp>
      <p:grpSp>
        <p:nvGrpSpPr>
          <p:cNvPr id="18" name="Group 18"/>
          <p:cNvGrpSpPr/>
          <p:nvPr/>
        </p:nvGrpSpPr>
        <p:grpSpPr>
          <a:xfrm>
            <a:off x="12050911" y="2661642"/>
            <a:ext cx="5250210" cy="38100"/>
            <a:chOff x="0" y="0"/>
            <a:chExt cx="7000280" cy="50800"/>
          </a:xfrm>
        </p:grpSpPr>
        <p:sp>
          <p:nvSpPr>
            <p:cNvPr id="19" name="Freeform 19"/>
            <p:cNvSpPr/>
            <p:nvPr/>
          </p:nvSpPr>
          <p:spPr>
            <a:xfrm>
              <a:off x="0" y="0"/>
              <a:ext cx="7000240" cy="50800"/>
            </a:xfrm>
            <a:custGeom>
              <a:avLst/>
              <a:gdLst/>
              <a:ahLst/>
              <a:cxnLst/>
              <a:rect l="l" t="t" r="r" b="b"/>
              <a:pathLst>
                <a:path w="7000240" h="50800">
                  <a:moveTo>
                    <a:pt x="0" y="0"/>
                  </a:moveTo>
                  <a:lnTo>
                    <a:pt x="7000240" y="0"/>
                  </a:lnTo>
                  <a:lnTo>
                    <a:pt x="7000240" y="50800"/>
                  </a:lnTo>
                  <a:lnTo>
                    <a:pt x="0" y="50800"/>
                  </a:lnTo>
                  <a:close/>
                </a:path>
              </a:pathLst>
            </a:custGeom>
            <a:solidFill>
              <a:srgbClr val="000000"/>
            </a:solidFill>
          </p:spPr>
        </p:sp>
      </p:grpSp>
      <p:sp>
        <p:nvSpPr>
          <p:cNvPr id="20" name="TextBox 20"/>
          <p:cNvSpPr txBox="1"/>
          <p:nvPr/>
        </p:nvSpPr>
        <p:spPr>
          <a:xfrm>
            <a:off x="12050911" y="2859732"/>
            <a:ext cx="3524548" cy="409664"/>
          </a:xfrm>
          <a:prstGeom prst="rect">
            <a:avLst/>
          </a:prstGeom>
        </p:spPr>
        <p:txBody>
          <a:bodyPr lIns="0" tIns="0" rIns="0" bIns="0" rtlCol="0" anchor="t">
            <a:spAutoFit/>
          </a:bodyPr>
          <a:lstStyle/>
          <a:p>
            <a:r>
              <a:t>Design</a:t>
            </a:r>
          </a:p>
        </p:txBody>
      </p:sp>
      <p:sp>
        <p:nvSpPr>
          <p:cNvPr id="21" name="TextBox 21"/>
          <p:cNvSpPr txBox="1"/>
          <p:nvPr/>
        </p:nvSpPr>
        <p:spPr>
          <a:xfrm>
            <a:off x="12050911" y="3412182"/>
            <a:ext cx="5250210" cy="1041632"/>
          </a:xfrm>
          <a:prstGeom prst="rect">
            <a:avLst/>
          </a:prstGeom>
        </p:spPr>
        <p:txBody>
          <a:bodyPr lIns="0" tIns="0" rIns="0" bIns="0" rtlCol="0" anchor="t">
            <a:spAutoFit/>
          </a:bodyPr>
          <a:lstStyle/>
          <a:p>
            <a:r>
              <a:t>ER and DFD design in week 5</a:t>
            </a:r>
          </a:p>
          <a:p>
            <a:r>
              <a:t>Input/output design in week 6</a:t>
            </a:r>
          </a:p>
        </p:txBody>
      </p:sp>
      <p:sp>
        <p:nvSpPr>
          <p:cNvPr id="22" name="TextBox 22"/>
          <p:cNvSpPr txBox="1"/>
          <p:nvPr/>
        </p:nvSpPr>
        <p:spPr>
          <a:xfrm>
            <a:off x="986879" y="6621215"/>
            <a:ext cx="281880" cy="312393"/>
          </a:xfrm>
          <a:prstGeom prst="rect">
            <a:avLst/>
          </a:prstGeom>
        </p:spPr>
        <p:txBody>
          <a:bodyPr lIns="0" tIns="0" rIns="0" bIns="0" rtlCol="0" anchor="t">
            <a:spAutoFit/>
          </a:bodyPr>
          <a:lstStyle/>
          <a:p>
            <a:r>
              <a:t>04</a:t>
            </a:r>
          </a:p>
        </p:txBody>
      </p:sp>
      <p:grpSp>
        <p:nvGrpSpPr>
          <p:cNvPr id="23" name="Group 23"/>
          <p:cNvGrpSpPr/>
          <p:nvPr/>
        </p:nvGrpSpPr>
        <p:grpSpPr>
          <a:xfrm>
            <a:off x="986879" y="7119342"/>
            <a:ext cx="8016180" cy="38100"/>
            <a:chOff x="0" y="0"/>
            <a:chExt cx="10688240" cy="50800"/>
          </a:xfrm>
        </p:grpSpPr>
        <p:sp>
          <p:nvSpPr>
            <p:cNvPr id="24" name="Freeform 24"/>
            <p:cNvSpPr/>
            <p:nvPr/>
          </p:nvSpPr>
          <p:spPr>
            <a:xfrm>
              <a:off x="0" y="0"/>
              <a:ext cx="10688193" cy="50800"/>
            </a:xfrm>
            <a:custGeom>
              <a:avLst/>
              <a:gdLst/>
              <a:ahLst/>
              <a:cxnLst/>
              <a:rect l="l" t="t" r="r" b="b"/>
              <a:pathLst>
                <a:path w="10688193" h="50800">
                  <a:moveTo>
                    <a:pt x="0" y="0"/>
                  </a:moveTo>
                  <a:lnTo>
                    <a:pt x="10688193" y="0"/>
                  </a:lnTo>
                  <a:lnTo>
                    <a:pt x="10688193" y="50800"/>
                  </a:lnTo>
                  <a:lnTo>
                    <a:pt x="0" y="50800"/>
                  </a:lnTo>
                  <a:close/>
                </a:path>
              </a:pathLst>
            </a:custGeom>
            <a:solidFill>
              <a:srgbClr val="000000"/>
            </a:solidFill>
          </p:spPr>
        </p:sp>
      </p:grpSp>
      <p:sp>
        <p:nvSpPr>
          <p:cNvPr id="25" name="TextBox 25"/>
          <p:cNvSpPr txBox="1"/>
          <p:nvPr/>
        </p:nvSpPr>
        <p:spPr>
          <a:xfrm>
            <a:off x="986879" y="7317432"/>
            <a:ext cx="3524548" cy="409664"/>
          </a:xfrm>
          <a:prstGeom prst="rect">
            <a:avLst/>
          </a:prstGeom>
        </p:spPr>
        <p:txBody>
          <a:bodyPr lIns="0" tIns="0" rIns="0" bIns="0" rtlCol="0" anchor="t">
            <a:spAutoFit/>
          </a:bodyPr>
          <a:lstStyle/>
          <a:p>
            <a:r>
              <a:t>Coding</a:t>
            </a:r>
          </a:p>
        </p:txBody>
      </p:sp>
      <p:sp>
        <p:nvSpPr>
          <p:cNvPr id="26" name="TextBox 26"/>
          <p:cNvSpPr txBox="1"/>
          <p:nvPr/>
        </p:nvSpPr>
        <p:spPr>
          <a:xfrm>
            <a:off x="986879" y="7860357"/>
            <a:ext cx="8016180" cy="369332"/>
          </a:xfrm>
          <a:prstGeom prst="rect">
            <a:avLst/>
          </a:prstGeom>
        </p:spPr>
        <p:txBody>
          <a:bodyPr lIns="0" tIns="0" rIns="0" bIns="0" rtlCol="0" anchor="t">
            <a:spAutoFit/>
          </a:bodyPr>
          <a:lstStyle/>
          <a:p>
            <a:r>
              <a:t>Main coding and documentation phase</a:t>
            </a:r>
          </a:p>
        </p:txBody>
      </p:sp>
      <p:sp>
        <p:nvSpPr>
          <p:cNvPr id="27" name="TextBox 27"/>
          <p:cNvSpPr txBox="1"/>
          <p:nvPr/>
        </p:nvSpPr>
        <p:spPr>
          <a:xfrm>
            <a:off x="9284940" y="6611690"/>
            <a:ext cx="281880" cy="335989"/>
          </a:xfrm>
          <a:prstGeom prst="rect">
            <a:avLst/>
          </a:prstGeom>
        </p:spPr>
        <p:txBody>
          <a:bodyPr lIns="0" tIns="0" rIns="0" bIns="0" rtlCol="0" anchor="t">
            <a:spAutoFit/>
          </a:bodyPr>
          <a:lstStyle/>
          <a:p>
            <a:r>
              <a:t>05</a:t>
            </a:r>
          </a:p>
        </p:txBody>
      </p:sp>
      <p:grpSp>
        <p:nvGrpSpPr>
          <p:cNvPr id="28" name="Group 28"/>
          <p:cNvGrpSpPr/>
          <p:nvPr/>
        </p:nvGrpSpPr>
        <p:grpSpPr>
          <a:xfrm>
            <a:off x="9284940" y="7119342"/>
            <a:ext cx="8016180" cy="38100"/>
            <a:chOff x="0" y="0"/>
            <a:chExt cx="10688240" cy="50800"/>
          </a:xfrm>
        </p:grpSpPr>
        <p:sp>
          <p:nvSpPr>
            <p:cNvPr id="29" name="Freeform 29"/>
            <p:cNvSpPr/>
            <p:nvPr/>
          </p:nvSpPr>
          <p:spPr>
            <a:xfrm>
              <a:off x="0" y="0"/>
              <a:ext cx="10688193" cy="50800"/>
            </a:xfrm>
            <a:custGeom>
              <a:avLst/>
              <a:gdLst/>
              <a:ahLst/>
              <a:cxnLst/>
              <a:rect l="l" t="t" r="r" b="b"/>
              <a:pathLst>
                <a:path w="10688193" h="50800">
                  <a:moveTo>
                    <a:pt x="0" y="0"/>
                  </a:moveTo>
                  <a:lnTo>
                    <a:pt x="10688193" y="0"/>
                  </a:lnTo>
                  <a:lnTo>
                    <a:pt x="10688193" y="50800"/>
                  </a:lnTo>
                  <a:lnTo>
                    <a:pt x="0" y="50800"/>
                  </a:lnTo>
                  <a:close/>
                </a:path>
              </a:pathLst>
            </a:custGeom>
            <a:solidFill>
              <a:srgbClr val="000000"/>
            </a:solidFill>
          </p:spPr>
        </p:sp>
      </p:grpSp>
      <p:sp>
        <p:nvSpPr>
          <p:cNvPr id="30" name="TextBox 30"/>
          <p:cNvSpPr txBox="1"/>
          <p:nvPr/>
        </p:nvSpPr>
        <p:spPr>
          <a:xfrm>
            <a:off x="9284940" y="7317432"/>
            <a:ext cx="3524548" cy="409664"/>
          </a:xfrm>
          <a:prstGeom prst="rect">
            <a:avLst/>
          </a:prstGeom>
        </p:spPr>
        <p:txBody>
          <a:bodyPr lIns="0" tIns="0" rIns="0" bIns="0" rtlCol="0" anchor="t">
            <a:spAutoFit/>
          </a:bodyPr>
          <a:lstStyle/>
          <a:p>
            <a:r>
              <a:t>Testing</a:t>
            </a:r>
          </a:p>
        </p:txBody>
      </p:sp>
      <p:sp>
        <p:nvSpPr>
          <p:cNvPr id="31" name="TextBox 31"/>
          <p:cNvSpPr txBox="1"/>
          <p:nvPr/>
        </p:nvSpPr>
        <p:spPr>
          <a:xfrm>
            <a:off x="9284940" y="7860357"/>
            <a:ext cx="8016180" cy="1041632"/>
          </a:xfrm>
          <a:prstGeom prst="rect">
            <a:avLst/>
          </a:prstGeom>
        </p:spPr>
        <p:txBody>
          <a:bodyPr lIns="0" tIns="0" rIns="0" bIns="0" rtlCol="0" anchor="t">
            <a:spAutoFit/>
          </a:bodyPr>
          <a:lstStyle/>
          <a:p>
            <a:r>
              <a:t>Self-testing in week 10</a:t>
            </a:r>
          </a:p>
          <a:p>
            <a:r>
              <a:t>Reviews and retrospective in weeks 11–12</a:t>
            </a:r>
          </a:p>
        </p:txBody>
      </p:sp>
      <p:sp>
        <p:nvSpPr>
          <p:cNvPr id="40" name="Slide Number Placeholder 39">
            <a:extLst>
              <a:ext uri="{FF2B5EF4-FFF2-40B4-BE49-F238E27FC236}">
                <a16:creationId xmlns:a16="http://schemas.microsoft.com/office/drawing/2014/main" id="{74BEFBE7-465D-1D14-EC87-48F61AD0E38A}"/>
              </a:ext>
            </a:extLst>
          </p:cNvPr>
          <p:cNvSpPr>
            <a:spLocks noGrp="1"/>
          </p:cNvSpPr>
          <p:nvPr>
            <p:ph type="sldNum" sz="quarter" idx="12"/>
          </p:nvPr>
        </p:nvSpPr>
        <p:spPr/>
        <p:txBody>
          <a:bodyPr/>
          <a:lstStyle/>
          <a:p>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497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sp>
        <p:nvSpPr>
          <p:cNvPr id="6" name="TextBox 6"/>
          <p:cNvSpPr txBox="1"/>
          <p:nvPr/>
        </p:nvSpPr>
        <p:spPr>
          <a:xfrm>
            <a:off x="674042" y="510480"/>
            <a:ext cx="5726758" cy="481414"/>
          </a:xfrm>
          <a:prstGeom prst="rect">
            <a:avLst/>
          </a:prstGeom>
        </p:spPr>
        <p:txBody>
          <a:bodyPr wrap="square" lIns="0" tIns="0" rIns="0" bIns="0" rtlCol="0" anchor="t">
            <a:spAutoFit/>
          </a:bodyPr>
          <a:lstStyle/>
          <a:p>
            <a:r>
              <a:t>KEY  PROJECT  MILESTONES</a:t>
            </a:r>
          </a:p>
        </p:txBody>
      </p:sp>
      <p:grpSp>
        <p:nvGrpSpPr>
          <p:cNvPr id="7" name="Group 7"/>
          <p:cNvGrpSpPr/>
          <p:nvPr/>
        </p:nvGrpSpPr>
        <p:grpSpPr>
          <a:xfrm>
            <a:off x="9129712" y="1516410"/>
            <a:ext cx="28575" cy="5750124"/>
            <a:chOff x="0" y="0"/>
            <a:chExt cx="38100" cy="7666832"/>
          </a:xfrm>
        </p:grpSpPr>
        <p:sp>
          <p:nvSpPr>
            <p:cNvPr id="8" name="Freeform 8"/>
            <p:cNvSpPr/>
            <p:nvPr/>
          </p:nvSpPr>
          <p:spPr>
            <a:xfrm>
              <a:off x="0" y="0"/>
              <a:ext cx="38100" cy="7666863"/>
            </a:xfrm>
            <a:custGeom>
              <a:avLst/>
              <a:gdLst/>
              <a:ahLst/>
              <a:cxnLst/>
              <a:rect l="l" t="t" r="r" b="b"/>
              <a:pathLst>
                <a:path w="38100" h="7666863">
                  <a:moveTo>
                    <a:pt x="0" y="19050"/>
                  </a:moveTo>
                  <a:cubicBezTo>
                    <a:pt x="0" y="8509"/>
                    <a:pt x="8509" y="0"/>
                    <a:pt x="19050" y="0"/>
                  </a:cubicBezTo>
                  <a:cubicBezTo>
                    <a:pt x="29591" y="0"/>
                    <a:pt x="38100" y="8509"/>
                    <a:pt x="38100" y="19050"/>
                  </a:cubicBezTo>
                  <a:lnTo>
                    <a:pt x="38100" y="7647813"/>
                  </a:lnTo>
                  <a:cubicBezTo>
                    <a:pt x="38100" y="7658354"/>
                    <a:pt x="29591" y="7666863"/>
                    <a:pt x="19050" y="7666863"/>
                  </a:cubicBezTo>
                  <a:cubicBezTo>
                    <a:pt x="8509" y="7666863"/>
                    <a:pt x="0" y="7658354"/>
                    <a:pt x="0" y="7647813"/>
                  </a:cubicBezTo>
                  <a:close/>
                </a:path>
              </a:pathLst>
            </a:custGeom>
            <a:solidFill>
              <a:srgbClr val="F8F8F8"/>
            </a:solidFill>
          </p:spPr>
        </p:sp>
      </p:grpSp>
      <p:grpSp>
        <p:nvGrpSpPr>
          <p:cNvPr id="9" name="Group 9"/>
          <p:cNvGrpSpPr/>
          <p:nvPr/>
        </p:nvGrpSpPr>
        <p:grpSpPr>
          <a:xfrm>
            <a:off x="8378205" y="1718667"/>
            <a:ext cx="577751" cy="28575"/>
            <a:chOff x="0" y="0"/>
            <a:chExt cx="770335" cy="38100"/>
          </a:xfrm>
        </p:grpSpPr>
        <p:sp>
          <p:nvSpPr>
            <p:cNvPr id="10" name="Freeform 10"/>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11" name="Group 11"/>
          <p:cNvGrpSpPr/>
          <p:nvPr/>
        </p:nvGrpSpPr>
        <p:grpSpPr>
          <a:xfrm>
            <a:off x="8922619" y="1506677"/>
            <a:ext cx="442764" cy="442764"/>
            <a:chOff x="0" y="0"/>
            <a:chExt cx="590352" cy="590352"/>
          </a:xfrm>
        </p:grpSpPr>
        <p:sp>
          <p:nvSpPr>
            <p:cNvPr id="12" name="Freeform 12"/>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13" name="Freeform 13"/>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14" name="TextBox 14"/>
          <p:cNvSpPr txBox="1"/>
          <p:nvPr/>
        </p:nvSpPr>
        <p:spPr>
          <a:xfrm>
            <a:off x="8999487" y="1590526"/>
            <a:ext cx="288875" cy="304800"/>
          </a:xfrm>
          <a:prstGeom prst="rect">
            <a:avLst/>
          </a:prstGeom>
        </p:spPr>
        <p:txBody>
          <a:bodyPr lIns="0" tIns="0" rIns="0" bIns="0" rtlCol="0" anchor="t">
            <a:spAutoFit/>
          </a:bodyPr>
          <a:lstStyle/>
          <a:p>
            <a:r>
              <a:t>1</a:t>
            </a:r>
          </a:p>
        </p:txBody>
      </p:sp>
      <p:sp>
        <p:nvSpPr>
          <p:cNvPr id="15" name="TextBox 15"/>
          <p:cNvSpPr txBox="1"/>
          <p:nvPr/>
        </p:nvSpPr>
        <p:spPr>
          <a:xfrm>
            <a:off x="3422154" y="1567995"/>
            <a:ext cx="4758929" cy="487313"/>
          </a:xfrm>
          <a:prstGeom prst="rect">
            <a:avLst/>
          </a:prstGeom>
        </p:spPr>
        <p:txBody>
          <a:bodyPr lIns="0" tIns="0" rIns="0" bIns="0" rtlCol="0" anchor="t">
            <a:spAutoFit/>
          </a:bodyPr>
          <a:lstStyle/>
          <a:p>
            <a:r>
              <a:t>Week 3: Requirements specification completed</a:t>
            </a:r>
          </a:p>
        </p:txBody>
      </p:sp>
      <p:grpSp>
        <p:nvGrpSpPr>
          <p:cNvPr id="16" name="Group 16"/>
          <p:cNvGrpSpPr/>
          <p:nvPr/>
        </p:nvGrpSpPr>
        <p:grpSpPr>
          <a:xfrm>
            <a:off x="9332044" y="2874169"/>
            <a:ext cx="577751" cy="28575"/>
            <a:chOff x="0" y="0"/>
            <a:chExt cx="770335" cy="38100"/>
          </a:xfrm>
        </p:grpSpPr>
        <p:sp>
          <p:nvSpPr>
            <p:cNvPr id="17" name="Freeform 17"/>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18" name="Group 18"/>
          <p:cNvGrpSpPr/>
          <p:nvPr/>
        </p:nvGrpSpPr>
        <p:grpSpPr>
          <a:xfrm>
            <a:off x="8922619" y="2667149"/>
            <a:ext cx="442764" cy="442764"/>
            <a:chOff x="0" y="0"/>
            <a:chExt cx="590352" cy="590352"/>
          </a:xfrm>
        </p:grpSpPr>
        <p:sp>
          <p:nvSpPr>
            <p:cNvPr id="19" name="Freeform 19"/>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20" name="Freeform 20"/>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21" name="TextBox 21"/>
          <p:cNvSpPr txBox="1"/>
          <p:nvPr/>
        </p:nvSpPr>
        <p:spPr>
          <a:xfrm>
            <a:off x="8999487" y="2741058"/>
            <a:ext cx="288875" cy="317395"/>
          </a:xfrm>
          <a:prstGeom prst="rect">
            <a:avLst/>
          </a:prstGeom>
        </p:spPr>
        <p:txBody>
          <a:bodyPr lIns="0" tIns="0" rIns="0" bIns="0" rtlCol="0" anchor="t">
            <a:spAutoFit/>
          </a:bodyPr>
          <a:lstStyle/>
          <a:p>
            <a:r>
              <a:t>2</a:t>
            </a:r>
          </a:p>
        </p:txBody>
      </p:sp>
      <p:sp>
        <p:nvSpPr>
          <p:cNvPr id="22" name="TextBox 22"/>
          <p:cNvSpPr txBox="1"/>
          <p:nvPr/>
        </p:nvSpPr>
        <p:spPr>
          <a:xfrm>
            <a:off x="10106917" y="2723496"/>
            <a:ext cx="3239244" cy="512961"/>
          </a:xfrm>
          <a:prstGeom prst="rect">
            <a:avLst/>
          </a:prstGeom>
        </p:spPr>
        <p:txBody>
          <a:bodyPr lIns="0" tIns="0" rIns="0" bIns="0" rtlCol="0" anchor="t">
            <a:spAutoFit/>
          </a:bodyPr>
          <a:lstStyle/>
          <a:p>
            <a:r>
              <a:t>Week 6: System design finalised</a:t>
            </a:r>
          </a:p>
        </p:txBody>
      </p:sp>
      <p:grpSp>
        <p:nvGrpSpPr>
          <p:cNvPr id="23" name="Group 23"/>
          <p:cNvGrpSpPr/>
          <p:nvPr/>
        </p:nvGrpSpPr>
        <p:grpSpPr>
          <a:xfrm>
            <a:off x="8378205" y="3870126"/>
            <a:ext cx="577751" cy="28575"/>
            <a:chOff x="0" y="0"/>
            <a:chExt cx="770335" cy="38100"/>
          </a:xfrm>
        </p:grpSpPr>
        <p:sp>
          <p:nvSpPr>
            <p:cNvPr id="24" name="Freeform 24"/>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25" name="Group 25"/>
          <p:cNvGrpSpPr/>
          <p:nvPr/>
        </p:nvGrpSpPr>
        <p:grpSpPr>
          <a:xfrm>
            <a:off x="8922619" y="3658136"/>
            <a:ext cx="442764" cy="442764"/>
            <a:chOff x="0" y="0"/>
            <a:chExt cx="590352" cy="590352"/>
          </a:xfrm>
        </p:grpSpPr>
        <p:sp>
          <p:nvSpPr>
            <p:cNvPr id="26" name="Freeform 26"/>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27" name="Freeform 27"/>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28" name="TextBox 28"/>
          <p:cNvSpPr txBox="1"/>
          <p:nvPr/>
        </p:nvSpPr>
        <p:spPr>
          <a:xfrm>
            <a:off x="8999487" y="3741985"/>
            <a:ext cx="288875" cy="304800"/>
          </a:xfrm>
          <a:prstGeom prst="rect">
            <a:avLst/>
          </a:prstGeom>
        </p:spPr>
        <p:txBody>
          <a:bodyPr lIns="0" tIns="0" rIns="0" bIns="0" rtlCol="0" anchor="t">
            <a:spAutoFit/>
          </a:bodyPr>
          <a:lstStyle/>
          <a:p>
            <a:r>
              <a:t>3</a:t>
            </a:r>
          </a:p>
        </p:txBody>
      </p:sp>
      <p:sp>
        <p:nvSpPr>
          <p:cNvPr id="29" name="TextBox 29"/>
          <p:cNvSpPr txBox="1"/>
          <p:nvPr/>
        </p:nvSpPr>
        <p:spPr>
          <a:xfrm>
            <a:off x="3742581" y="3728979"/>
            <a:ext cx="4438501" cy="520976"/>
          </a:xfrm>
          <a:prstGeom prst="rect">
            <a:avLst/>
          </a:prstGeom>
        </p:spPr>
        <p:txBody>
          <a:bodyPr lIns="0" tIns="0" rIns="0" bIns="0" rtlCol="0" anchor="t">
            <a:spAutoFit/>
          </a:bodyPr>
          <a:lstStyle/>
          <a:p>
            <a:r>
              <a:t>Week 8: Core functionality implementation</a:t>
            </a:r>
          </a:p>
        </p:txBody>
      </p:sp>
      <p:grpSp>
        <p:nvGrpSpPr>
          <p:cNvPr id="30" name="Group 30"/>
          <p:cNvGrpSpPr/>
          <p:nvPr/>
        </p:nvGrpSpPr>
        <p:grpSpPr>
          <a:xfrm>
            <a:off x="9332044" y="4866085"/>
            <a:ext cx="577751" cy="28575"/>
            <a:chOff x="0" y="0"/>
            <a:chExt cx="770335" cy="38100"/>
          </a:xfrm>
        </p:grpSpPr>
        <p:sp>
          <p:nvSpPr>
            <p:cNvPr id="31" name="Freeform 31"/>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32" name="Group 32"/>
          <p:cNvGrpSpPr/>
          <p:nvPr/>
        </p:nvGrpSpPr>
        <p:grpSpPr>
          <a:xfrm>
            <a:off x="8922619" y="4654095"/>
            <a:ext cx="442764" cy="442764"/>
            <a:chOff x="0" y="0"/>
            <a:chExt cx="590352" cy="590352"/>
          </a:xfrm>
        </p:grpSpPr>
        <p:sp>
          <p:nvSpPr>
            <p:cNvPr id="33" name="Freeform 33"/>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txBody>
            <a:bodyPr/>
            <a:lstStyle/>
            <a:p>
              <a:endParaRPr lang="en-US" dirty="0"/>
            </a:p>
          </p:txBody>
        </p:sp>
        <p:sp>
          <p:nvSpPr>
            <p:cNvPr id="34" name="Freeform 34"/>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35" name="TextBox 35"/>
          <p:cNvSpPr txBox="1"/>
          <p:nvPr/>
        </p:nvSpPr>
        <p:spPr>
          <a:xfrm>
            <a:off x="8999487" y="4737944"/>
            <a:ext cx="288875" cy="304800"/>
          </a:xfrm>
          <a:prstGeom prst="rect">
            <a:avLst/>
          </a:prstGeom>
        </p:spPr>
        <p:txBody>
          <a:bodyPr lIns="0" tIns="0" rIns="0" bIns="0" rtlCol="0" anchor="t">
            <a:spAutoFit/>
          </a:bodyPr>
          <a:lstStyle/>
          <a:p>
            <a:r>
              <a:t>4</a:t>
            </a:r>
          </a:p>
        </p:txBody>
      </p:sp>
      <p:sp>
        <p:nvSpPr>
          <p:cNvPr id="36" name="TextBox 36"/>
          <p:cNvSpPr txBox="1"/>
          <p:nvPr/>
        </p:nvSpPr>
        <p:spPr>
          <a:xfrm>
            <a:off x="10106918" y="4715411"/>
            <a:ext cx="3837831" cy="512961"/>
          </a:xfrm>
          <a:prstGeom prst="rect">
            <a:avLst/>
          </a:prstGeom>
        </p:spPr>
        <p:txBody>
          <a:bodyPr lIns="0" tIns="0" rIns="0" bIns="0" rtlCol="0" anchor="t">
            <a:spAutoFit/>
          </a:bodyPr>
          <a:lstStyle/>
          <a:p>
            <a:r>
              <a:t>Week 10: Alpha version testing begins</a:t>
            </a:r>
          </a:p>
        </p:txBody>
      </p:sp>
      <p:grpSp>
        <p:nvGrpSpPr>
          <p:cNvPr id="37" name="Group 37"/>
          <p:cNvGrpSpPr/>
          <p:nvPr/>
        </p:nvGrpSpPr>
        <p:grpSpPr>
          <a:xfrm>
            <a:off x="8378205" y="5862042"/>
            <a:ext cx="577751" cy="28575"/>
            <a:chOff x="0" y="0"/>
            <a:chExt cx="770335" cy="38100"/>
          </a:xfrm>
        </p:grpSpPr>
        <p:sp>
          <p:nvSpPr>
            <p:cNvPr id="38" name="Freeform 38"/>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39" name="Group 39"/>
          <p:cNvGrpSpPr/>
          <p:nvPr/>
        </p:nvGrpSpPr>
        <p:grpSpPr>
          <a:xfrm>
            <a:off x="8922619" y="5655022"/>
            <a:ext cx="442764" cy="442764"/>
            <a:chOff x="0" y="0"/>
            <a:chExt cx="590352" cy="590352"/>
          </a:xfrm>
        </p:grpSpPr>
        <p:sp>
          <p:nvSpPr>
            <p:cNvPr id="40" name="Freeform 40"/>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41" name="Freeform 41"/>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42" name="TextBox 42"/>
          <p:cNvSpPr txBox="1"/>
          <p:nvPr/>
        </p:nvSpPr>
        <p:spPr>
          <a:xfrm>
            <a:off x="8999487" y="5728931"/>
            <a:ext cx="288875" cy="294953"/>
          </a:xfrm>
          <a:prstGeom prst="rect">
            <a:avLst/>
          </a:prstGeom>
        </p:spPr>
        <p:txBody>
          <a:bodyPr lIns="0" tIns="0" rIns="0" bIns="0" rtlCol="0" anchor="t">
            <a:spAutoFit/>
          </a:bodyPr>
          <a:lstStyle/>
          <a:p>
            <a:r>
              <a:t>5</a:t>
            </a:r>
          </a:p>
        </p:txBody>
      </p:sp>
      <p:sp>
        <p:nvSpPr>
          <p:cNvPr id="43" name="TextBox 43"/>
          <p:cNvSpPr txBox="1"/>
          <p:nvPr/>
        </p:nvSpPr>
        <p:spPr>
          <a:xfrm>
            <a:off x="3035350" y="5720895"/>
            <a:ext cx="5145732" cy="512961"/>
          </a:xfrm>
          <a:prstGeom prst="rect">
            <a:avLst/>
          </a:prstGeom>
        </p:spPr>
        <p:txBody>
          <a:bodyPr lIns="0" tIns="0" rIns="0" bIns="0" rtlCol="0" anchor="t">
            <a:spAutoFit/>
          </a:bodyPr>
          <a:lstStyle/>
          <a:p>
            <a:r>
              <a:t>Week 12: Final system delivery and documentation</a:t>
            </a:r>
          </a:p>
        </p:txBody>
      </p:sp>
      <p:sp>
        <p:nvSpPr>
          <p:cNvPr id="44" name="TextBox 44"/>
          <p:cNvSpPr txBox="1"/>
          <p:nvPr/>
        </p:nvSpPr>
        <p:spPr>
          <a:xfrm>
            <a:off x="674042" y="7545884"/>
            <a:ext cx="3851672" cy="457200"/>
          </a:xfrm>
          <a:prstGeom prst="rect">
            <a:avLst/>
          </a:prstGeom>
        </p:spPr>
        <p:txBody>
          <a:bodyPr lIns="0" tIns="0" rIns="0" bIns="0" rtlCol="0" anchor="t">
            <a:spAutoFit/>
          </a:bodyPr>
          <a:lstStyle/>
          <a:p>
            <a:r>
              <a:t>Resource Allocation:</a:t>
            </a:r>
          </a:p>
        </p:txBody>
      </p:sp>
      <p:sp>
        <p:nvSpPr>
          <p:cNvPr id="45" name="TextBox 45"/>
          <p:cNvSpPr txBox="1"/>
          <p:nvPr/>
        </p:nvSpPr>
        <p:spPr>
          <a:xfrm>
            <a:off x="674043" y="8263622"/>
            <a:ext cx="16939915" cy="307777"/>
          </a:xfrm>
          <a:prstGeom prst="rect">
            <a:avLst/>
          </a:prstGeom>
        </p:spPr>
        <p:txBody>
          <a:bodyPr lIns="0" tIns="0" rIns="0" bIns="0" rtlCol="0" anchor="t">
            <a:spAutoFit/>
          </a:bodyPr>
          <a:lstStyle/>
          <a:p>
            <a:r>
              <a:t>Weeks 1-3: Business analysts and stakeholders</a:t>
            </a:r>
          </a:p>
        </p:txBody>
      </p:sp>
      <p:sp>
        <p:nvSpPr>
          <p:cNvPr id="46" name="TextBox 46"/>
          <p:cNvSpPr txBox="1"/>
          <p:nvPr/>
        </p:nvSpPr>
        <p:spPr>
          <a:xfrm>
            <a:off x="674043" y="8638968"/>
            <a:ext cx="16939915" cy="307777"/>
          </a:xfrm>
          <a:prstGeom prst="rect">
            <a:avLst/>
          </a:prstGeom>
        </p:spPr>
        <p:txBody>
          <a:bodyPr lIns="0" tIns="0" rIns="0" bIns="0" rtlCol="0" anchor="t">
            <a:spAutoFit/>
          </a:bodyPr>
          <a:lstStyle/>
          <a:p>
            <a:r>
              <a:t>Weeks 4-6: System architects and designers</a:t>
            </a:r>
          </a:p>
        </p:txBody>
      </p:sp>
      <p:sp>
        <p:nvSpPr>
          <p:cNvPr id="47" name="TextBox 47"/>
          <p:cNvSpPr txBox="1"/>
          <p:nvPr/>
        </p:nvSpPr>
        <p:spPr>
          <a:xfrm>
            <a:off x="674043" y="9014312"/>
            <a:ext cx="16939915" cy="307777"/>
          </a:xfrm>
          <a:prstGeom prst="rect">
            <a:avLst/>
          </a:prstGeom>
        </p:spPr>
        <p:txBody>
          <a:bodyPr lIns="0" tIns="0" rIns="0" bIns="0" rtlCol="0" anchor="t">
            <a:spAutoFit/>
          </a:bodyPr>
          <a:lstStyle/>
          <a:p>
            <a:r>
              <a:t>Weeks 7-10: Development team (Frontend &amp; Backend)</a:t>
            </a:r>
          </a:p>
        </p:txBody>
      </p:sp>
      <p:sp>
        <p:nvSpPr>
          <p:cNvPr id="48" name="TextBox 48"/>
          <p:cNvSpPr txBox="1"/>
          <p:nvPr/>
        </p:nvSpPr>
        <p:spPr>
          <a:xfrm>
            <a:off x="674043" y="9389656"/>
            <a:ext cx="16939915" cy="307777"/>
          </a:xfrm>
          <a:prstGeom prst="rect">
            <a:avLst/>
          </a:prstGeom>
        </p:spPr>
        <p:txBody>
          <a:bodyPr lIns="0" tIns="0" rIns="0" bIns="0" rtlCol="0" anchor="t">
            <a:spAutoFit/>
          </a:bodyPr>
          <a:lstStyle/>
          <a:p>
            <a:r>
              <a:t>Weeks 11-12: QA team and end users</a:t>
            </a:r>
          </a:p>
        </p:txBody>
      </p:sp>
      <p:sp>
        <p:nvSpPr>
          <p:cNvPr id="57" name="Slide Number Placeholder 56">
            <a:extLst>
              <a:ext uri="{FF2B5EF4-FFF2-40B4-BE49-F238E27FC236}">
                <a16:creationId xmlns:a16="http://schemas.microsoft.com/office/drawing/2014/main" id="{E6720F58-D69A-398F-13BB-207C4E5196B7}"/>
              </a:ext>
            </a:extLst>
          </p:cNvPr>
          <p:cNvSpPr>
            <a:spLocks noGrp="1"/>
          </p:cNvSpPr>
          <p:nvPr>
            <p:ph type="sldNum" sz="quarter" idx="12"/>
          </p:nvPr>
        </p:nvSpPr>
        <p:spPr/>
        <p:txBody>
          <a:bodyPr/>
          <a:lstStyle/>
          <a:p>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txBody>
            <a:bodyPr/>
            <a:lstStyle/>
            <a:p>
              <a:endParaRPr lang="en-US" dirty="0"/>
            </a:p>
          </p:txBody>
        </p:sp>
      </p:grpSp>
      <p:sp>
        <p:nvSpPr>
          <p:cNvPr id="10" name="TextBox 10"/>
          <p:cNvSpPr txBox="1"/>
          <p:nvPr/>
        </p:nvSpPr>
        <p:spPr>
          <a:xfrm>
            <a:off x="992238" y="3251746"/>
            <a:ext cx="9445526" cy="2004993"/>
          </a:xfrm>
          <a:prstGeom prst="rect">
            <a:avLst/>
          </a:prstGeom>
        </p:spPr>
        <p:txBody>
          <a:bodyPr lIns="0" tIns="0" rIns="0" bIns="0" rtlCol="0" anchor="t">
            <a:spAutoFit/>
          </a:bodyPr>
          <a:lstStyle/>
          <a:p>
            <a:r>
              <a:t>THE RMMM PLAN FOR RESTAURANT Restaurant Management System SYSTEMS</a:t>
            </a:r>
          </a:p>
        </p:txBody>
      </p:sp>
      <p:sp>
        <p:nvSpPr>
          <p:cNvPr id="11" name="TextBox 11"/>
          <p:cNvSpPr txBox="1"/>
          <p:nvPr/>
        </p:nvSpPr>
        <p:spPr>
          <a:xfrm>
            <a:off x="992238" y="5843885"/>
            <a:ext cx="9445526" cy="1073150"/>
          </a:xfrm>
          <a:prstGeom prst="rect">
            <a:avLst/>
          </a:prstGeom>
        </p:spPr>
        <p:txBody>
          <a:bodyPr lIns="0" tIns="0" rIns="0" bIns="0" rtlCol="0" anchor="t">
            <a:spAutoFit/>
          </a:bodyPr>
          <a:lstStyle/>
          <a:p>
            <a:r>
              <a:t>A comprehensive risk management framework designed specifically for restaurant Point of Sale system development and operations.</a:t>
            </a:r>
          </a:p>
        </p:txBody>
      </p:sp>
      <p:sp>
        <p:nvSpPr>
          <p:cNvPr id="18" name="Slide Number Placeholder 17">
            <a:extLst>
              <a:ext uri="{FF2B5EF4-FFF2-40B4-BE49-F238E27FC236}">
                <a16:creationId xmlns:a16="http://schemas.microsoft.com/office/drawing/2014/main" id="{1085A600-748A-E162-96BE-0CCE36882C11}"/>
              </a:ext>
            </a:extLst>
          </p:cNvPr>
          <p:cNvSpPr>
            <a:spLocks noGrp="1"/>
          </p:cNvSpPr>
          <p:nvPr>
            <p:ph type="sldNum" sz="quarter" idx="12"/>
          </p:nvPr>
        </p:nvSpPr>
        <p:spPr/>
        <p:txBody>
          <a:bodyPr/>
          <a:lstStyle/>
          <a:p>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656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1656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1008802" y="2520702"/>
            <a:ext cx="14459798" cy="943079"/>
          </a:xfrm>
          <a:prstGeom prst="rect">
            <a:avLst/>
          </a:prstGeom>
        </p:spPr>
        <p:txBody>
          <a:bodyPr wrap="square" lIns="0" tIns="0" rIns="0" bIns="0" rtlCol="0" anchor="t">
            <a:spAutoFit/>
          </a:bodyPr>
          <a:lstStyle/>
          <a:p>
            <a:r>
              <a:t>UNDERSTANDING RMMM FRAMEWORK</a:t>
            </a:r>
          </a:p>
        </p:txBody>
      </p:sp>
      <p:grpSp>
        <p:nvGrpSpPr>
          <p:cNvPr id="7" name="Group 7"/>
          <p:cNvGrpSpPr/>
          <p:nvPr/>
        </p:nvGrpSpPr>
        <p:grpSpPr>
          <a:xfrm>
            <a:off x="994515" y="4199781"/>
            <a:ext cx="5274022" cy="2458194"/>
            <a:chOff x="0" y="0"/>
            <a:chExt cx="7032030" cy="3277592"/>
          </a:xfrm>
        </p:grpSpPr>
        <p:sp>
          <p:nvSpPr>
            <p:cNvPr id="8" name="Freeform 8"/>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9" name="Freeform 9"/>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10" name="TextBox 10"/>
          <p:cNvSpPr txBox="1"/>
          <p:nvPr/>
        </p:nvSpPr>
        <p:spPr>
          <a:xfrm>
            <a:off x="1320895" y="4497586"/>
            <a:ext cx="4075807" cy="490134"/>
          </a:xfrm>
          <a:prstGeom prst="rect">
            <a:avLst/>
          </a:prstGeom>
        </p:spPr>
        <p:txBody>
          <a:bodyPr wrap="square" lIns="0" tIns="0" rIns="0" bIns="0" rtlCol="0" anchor="t">
            <a:spAutoFit/>
          </a:bodyPr>
          <a:lstStyle/>
          <a:p>
            <a:r>
              <a:t>Risk Mitigation</a:t>
            </a:r>
          </a:p>
        </p:txBody>
      </p:sp>
      <p:sp>
        <p:nvSpPr>
          <p:cNvPr id="11" name="TextBox 11"/>
          <p:cNvSpPr txBox="1"/>
          <p:nvPr/>
        </p:nvSpPr>
        <p:spPr>
          <a:xfrm>
            <a:off x="1320895" y="5207050"/>
            <a:ext cx="4621262" cy="716543"/>
          </a:xfrm>
          <a:prstGeom prst="rect">
            <a:avLst/>
          </a:prstGeom>
        </p:spPr>
        <p:txBody>
          <a:bodyPr wrap="square" lIns="0" tIns="0" rIns="0" bIns="0" rtlCol="0" anchor="t">
            <a:spAutoFit/>
          </a:bodyPr>
          <a:lstStyle/>
          <a:p>
            <a:r>
              <a:t>Proactive planning to prevent risks before they occur in your Restaurant Management System</a:t>
            </a:r>
          </a:p>
        </p:txBody>
      </p:sp>
      <p:grpSp>
        <p:nvGrpSpPr>
          <p:cNvPr id="12" name="Group 12"/>
          <p:cNvGrpSpPr/>
          <p:nvPr/>
        </p:nvGrpSpPr>
        <p:grpSpPr>
          <a:xfrm>
            <a:off x="6523480" y="4199781"/>
            <a:ext cx="5274022" cy="2458194"/>
            <a:chOff x="0" y="0"/>
            <a:chExt cx="7032030" cy="3277592"/>
          </a:xfrm>
        </p:grpSpPr>
        <p:sp>
          <p:nvSpPr>
            <p:cNvPr id="13" name="Freeform 13"/>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14" name="Freeform 14"/>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15" name="TextBox 15"/>
          <p:cNvSpPr txBox="1"/>
          <p:nvPr/>
        </p:nvSpPr>
        <p:spPr>
          <a:xfrm>
            <a:off x="6849860" y="4497586"/>
            <a:ext cx="4075807" cy="490134"/>
          </a:xfrm>
          <a:prstGeom prst="rect">
            <a:avLst/>
          </a:prstGeom>
        </p:spPr>
        <p:txBody>
          <a:bodyPr wrap="square" lIns="0" tIns="0" rIns="0" bIns="0" rtlCol="0" anchor="t">
            <a:spAutoFit/>
          </a:bodyPr>
          <a:lstStyle/>
          <a:p>
            <a:r>
              <a:t>Risk Monitoring</a:t>
            </a:r>
          </a:p>
        </p:txBody>
      </p:sp>
      <p:sp>
        <p:nvSpPr>
          <p:cNvPr id="16" name="TextBox 16"/>
          <p:cNvSpPr txBox="1"/>
          <p:nvPr/>
        </p:nvSpPr>
        <p:spPr>
          <a:xfrm>
            <a:off x="6849860" y="5207050"/>
            <a:ext cx="4621262" cy="716543"/>
          </a:xfrm>
          <a:prstGeom prst="rect">
            <a:avLst/>
          </a:prstGeom>
        </p:spPr>
        <p:txBody>
          <a:bodyPr wrap="square" lIns="0" tIns="0" rIns="0" bIns="0" rtlCol="0" anchor="t">
            <a:spAutoFit/>
          </a:bodyPr>
          <a:lstStyle/>
          <a:p>
            <a:r>
              <a:t>Continuous assessment of system performance and emerging threats</a:t>
            </a:r>
          </a:p>
        </p:txBody>
      </p:sp>
      <p:grpSp>
        <p:nvGrpSpPr>
          <p:cNvPr id="17" name="Group 17"/>
          <p:cNvGrpSpPr/>
          <p:nvPr/>
        </p:nvGrpSpPr>
        <p:grpSpPr>
          <a:xfrm>
            <a:off x="12052444" y="4199781"/>
            <a:ext cx="5274022" cy="2458194"/>
            <a:chOff x="0" y="0"/>
            <a:chExt cx="7032030" cy="3277592"/>
          </a:xfrm>
        </p:grpSpPr>
        <p:sp>
          <p:nvSpPr>
            <p:cNvPr id="18" name="Freeform 18"/>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19" name="Freeform 19"/>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20" name="TextBox 20"/>
          <p:cNvSpPr txBox="1"/>
          <p:nvPr/>
        </p:nvSpPr>
        <p:spPr>
          <a:xfrm>
            <a:off x="12378825" y="4497586"/>
            <a:ext cx="4075808" cy="490134"/>
          </a:xfrm>
          <a:prstGeom prst="rect">
            <a:avLst/>
          </a:prstGeom>
        </p:spPr>
        <p:txBody>
          <a:bodyPr wrap="square" lIns="0" tIns="0" rIns="0" bIns="0" rtlCol="0" anchor="t">
            <a:spAutoFit/>
          </a:bodyPr>
          <a:lstStyle/>
          <a:p>
            <a:r>
              <a:t>Risk Management</a:t>
            </a:r>
          </a:p>
        </p:txBody>
      </p:sp>
      <p:sp>
        <p:nvSpPr>
          <p:cNvPr id="21" name="TextBox 21"/>
          <p:cNvSpPr txBox="1"/>
          <p:nvPr/>
        </p:nvSpPr>
        <p:spPr>
          <a:xfrm>
            <a:off x="12378825" y="5207050"/>
            <a:ext cx="4621263" cy="716543"/>
          </a:xfrm>
          <a:prstGeom prst="rect">
            <a:avLst/>
          </a:prstGeom>
        </p:spPr>
        <p:txBody>
          <a:bodyPr wrap="square" lIns="0" tIns="0" rIns="0" bIns="0" rtlCol="0" anchor="t">
            <a:spAutoFit/>
          </a:bodyPr>
          <a:lstStyle/>
          <a:p>
            <a:r>
              <a:t>Immediate response actions when mitigation fails and risks materialize</a:t>
            </a:r>
          </a:p>
        </p:txBody>
      </p:sp>
      <p:sp>
        <p:nvSpPr>
          <p:cNvPr id="22" name="TextBox 22"/>
          <p:cNvSpPr txBox="1"/>
          <p:nvPr/>
        </p:nvSpPr>
        <p:spPr>
          <a:xfrm>
            <a:off x="1008802" y="6943576"/>
            <a:ext cx="16303526" cy="344646"/>
          </a:xfrm>
          <a:prstGeom prst="rect">
            <a:avLst/>
          </a:prstGeom>
        </p:spPr>
        <p:txBody>
          <a:bodyPr wrap="square" lIns="0" tIns="0" rIns="0" bIns="0" rtlCol="0" anchor="t">
            <a:spAutoFit/>
          </a:bodyPr>
          <a:lstStyle/>
          <a:p>
            <a:r>
              <a:t>Each component works together to ensure your restaurant Restaurant Management System remains resilient and operational during critical business hours.</a:t>
            </a:r>
          </a:p>
        </p:txBody>
      </p:sp>
      <p:sp>
        <p:nvSpPr>
          <p:cNvPr id="31" name="Slide Number Placeholder 30">
            <a:extLst>
              <a:ext uri="{FF2B5EF4-FFF2-40B4-BE49-F238E27FC236}">
                <a16:creationId xmlns:a16="http://schemas.microsoft.com/office/drawing/2014/main" id="{3B4F8793-0F73-7B6C-7C91-5A468555C7FA}"/>
              </a:ext>
            </a:extLst>
          </p:cNvPr>
          <p:cNvSpPr>
            <a:spLocks noGrp="1"/>
          </p:cNvSpPr>
          <p:nvPr>
            <p:ph type="sldNum" sz="quarter" idx="12"/>
          </p:nvPr>
        </p:nvSpPr>
        <p:spPr/>
        <p:txBody>
          <a:bodyPr/>
          <a:lstStyle/>
          <a:p>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30" name="Group 2"/>
          <p:cNvGrpSpPr/>
          <p:nvPr/>
        </p:nvGrpSpPr>
        <p:grpSpPr>
          <a:xfrm>
            <a:off x="0" y="0"/>
            <a:ext cx="18288000" cy="10287000"/>
            <a:chOff x="0" y="0"/>
            <a:chExt cx="24384000" cy="13716000"/>
          </a:xfrm>
        </p:grpSpPr>
        <p:sp>
          <p:nvSpPr>
            <p:cNvPr id="31"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32" name="Group 4"/>
          <p:cNvGrpSpPr/>
          <p:nvPr/>
        </p:nvGrpSpPr>
        <p:grpSpPr>
          <a:xfrm>
            <a:off x="0" y="0"/>
            <a:ext cx="18288000" cy="10287000"/>
            <a:chOff x="0" y="0"/>
            <a:chExt cx="24384000" cy="13716000"/>
          </a:xfrm>
        </p:grpSpPr>
        <p:sp>
          <p:nvSpPr>
            <p:cNvPr id="33"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34" name="TextBox 8"/>
          <p:cNvSpPr txBox="1"/>
          <p:nvPr/>
        </p:nvSpPr>
        <p:spPr>
          <a:xfrm>
            <a:off x="3728329" y="3576775"/>
            <a:ext cx="10378231" cy="843419"/>
          </a:xfrm>
          <a:prstGeom prst="rect">
            <a:avLst/>
          </a:prstGeom>
        </p:spPr>
        <p:txBody>
          <a:bodyPr lIns="0" tIns="0" rIns="0" bIns="0" rtlCol="0" anchor="t">
            <a:spAutoFit/>
          </a:bodyPr>
          <a:lstStyle/>
          <a:p>
            <a:r>
              <a:t>RISK MITIGATION: PREVENTION FIRST</a:t>
            </a:r>
          </a:p>
        </p:txBody>
      </p:sp>
      <p:sp>
        <p:nvSpPr>
          <p:cNvPr id="35" name="TextBox 9"/>
          <p:cNvSpPr txBox="1"/>
          <p:nvPr/>
        </p:nvSpPr>
        <p:spPr>
          <a:xfrm>
            <a:off x="886866" y="5162847"/>
            <a:ext cx="253305" cy="322263"/>
          </a:xfrm>
          <a:prstGeom prst="rect">
            <a:avLst/>
          </a:prstGeom>
        </p:spPr>
        <p:txBody>
          <a:bodyPr lIns="0" tIns="0" rIns="0" bIns="0" rtlCol="0" anchor="t">
            <a:spAutoFit/>
          </a:bodyPr>
          <a:lstStyle/>
          <a:p>
            <a:r>
              <a:t>01</a:t>
            </a:r>
          </a:p>
        </p:txBody>
      </p:sp>
      <p:grpSp>
        <p:nvGrpSpPr>
          <p:cNvPr id="36" name="Group 10"/>
          <p:cNvGrpSpPr/>
          <p:nvPr/>
        </p:nvGrpSpPr>
        <p:grpSpPr>
          <a:xfrm>
            <a:off x="886866" y="5606057"/>
            <a:ext cx="8130480" cy="28575"/>
            <a:chOff x="0" y="0"/>
            <a:chExt cx="10840640" cy="38100"/>
          </a:xfrm>
        </p:grpSpPr>
        <p:sp>
          <p:nvSpPr>
            <p:cNvPr id="37" name="Freeform 11"/>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38" name="TextBox 12"/>
          <p:cNvSpPr txBox="1"/>
          <p:nvPr/>
        </p:nvSpPr>
        <p:spPr>
          <a:xfrm>
            <a:off x="886866" y="5761285"/>
            <a:ext cx="4532560" cy="429518"/>
          </a:xfrm>
          <a:prstGeom prst="rect">
            <a:avLst/>
          </a:prstGeom>
        </p:spPr>
        <p:txBody>
          <a:bodyPr lIns="0" tIns="0" rIns="0" bIns="0" rtlCol="0" anchor="t">
            <a:spAutoFit/>
          </a:bodyPr>
          <a:lstStyle/>
          <a:p>
            <a:r>
              <a:t>Automated Backup Systems</a:t>
            </a:r>
          </a:p>
        </p:txBody>
      </p:sp>
      <p:sp>
        <p:nvSpPr>
          <p:cNvPr id="39" name="TextBox 13"/>
          <p:cNvSpPr txBox="1"/>
          <p:nvPr/>
        </p:nvSpPr>
        <p:spPr>
          <a:xfrm>
            <a:off x="886866" y="6386810"/>
            <a:ext cx="8130480" cy="646113"/>
          </a:xfrm>
          <a:prstGeom prst="rect">
            <a:avLst/>
          </a:prstGeom>
        </p:spPr>
        <p:txBody>
          <a:bodyPr lIns="0" tIns="0" rIns="0" bIns="0" rtlCol="0" anchor="t">
            <a:spAutoFit/>
          </a:bodyPr>
          <a:lstStyle/>
          <a:p>
            <a:r>
              <a:t>Implement robust backup protocols during day-end processes to protect transaction data and prevent revenue loss.</a:t>
            </a:r>
          </a:p>
        </p:txBody>
      </p:sp>
      <p:sp>
        <p:nvSpPr>
          <p:cNvPr id="40" name="TextBox 14"/>
          <p:cNvSpPr txBox="1"/>
          <p:nvPr/>
        </p:nvSpPr>
        <p:spPr>
          <a:xfrm>
            <a:off x="9270652" y="5172372"/>
            <a:ext cx="253305" cy="260701"/>
          </a:xfrm>
          <a:prstGeom prst="rect">
            <a:avLst/>
          </a:prstGeom>
        </p:spPr>
        <p:txBody>
          <a:bodyPr lIns="0" tIns="0" rIns="0" bIns="0" rtlCol="0" anchor="t">
            <a:spAutoFit/>
          </a:bodyPr>
          <a:lstStyle/>
          <a:p>
            <a:r>
              <a:t>02</a:t>
            </a:r>
          </a:p>
        </p:txBody>
      </p:sp>
      <p:grpSp>
        <p:nvGrpSpPr>
          <p:cNvPr id="41" name="Group 15"/>
          <p:cNvGrpSpPr/>
          <p:nvPr/>
        </p:nvGrpSpPr>
        <p:grpSpPr>
          <a:xfrm>
            <a:off x="9270652" y="5606057"/>
            <a:ext cx="8130480" cy="28575"/>
            <a:chOff x="0" y="0"/>
            <a:chExt cx="10840640" cy="38100"/>
          </a:xfrm>
        </p:grpSpPr>
        <p:sp>
          <p:nvSpPr>
            <p:cNvPr id="42" name="Freeform 16"/>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43" name="TextBox 17"/>
          <p:cNvSpPr txBox="1"/>
          <p:nvPr/>
        </p:nvSpPr>
        <p:spPr>
          <a:xfrm>
            <a:off x="9270652" y="5761285"/>
            <a:ext cx="4486424" cy="438051"/>
          </a:xfrm>
          <a:prstGeom prst="rect">
            <a:avLst/>
          </a:prstGeom>
        </p:spPr>
        <p:txBody>
          <a:bodyPr lIns="0" tIns="0" rIns="0" bIns="0" rtlCol="0" anchor="t">
            <a:spAutoFit/>
          </a:bodyPr>
          <a:lstStyle/>
          <a:p>
            <a:r>
              <a:t>Role-Based Access Controls</a:t>
            </a:r>
          </a:p>
        </p:txBody>
      </p:sp>
      <p:sp>
        <p:nvSpPr>
          <p:cNvPr id="44" name="TextBox 18"/>
          <p:cNvSpPr txBox="1"/>
          <p:nvPr/>
        </p:nvSpPr>
        <p:spPr>
          <a:xfrm>
            <a:off x="9270652" y="6386810"/>
            <a:ext cx="8130480" cy="646113"/>
          </a:xfrm>
          <a:prstGeom prst="rect">
            <a:avLst/>
          </a:prstGeom>
        </p:spPr>
        <p:txBody>
          <a:bodyPr lIns="0" tIns="0" rIns="0" bIns="0" rtlCol="0" anchor="t">
            <a:spAutoFit/>
          </a:bodyPr>
          <a:lstStyle/>
          <a:p>
            <a:r>
              <a:t>Establish secure user management with granular permissions to protect sensitive customer and financial data.</a:t>
            </a:r>
          </a:p>
        </p:txBody>
      </p:sp>
      <p:sp>
        <p:nvSpPr>
          <p:cNvPr id="45" name="TextBox 19"/>
          <p:cNvSpPr txBox="1"/>
          <p:nvPr/>
        </p:nvSpPr>
        <p:spPr>
          <a:xfrm>
            <a:off x="886866" y="7498259"/>
            <a:ext cx="253305" cy="260701"/>
          </a:xfrm>
          <a:prstGeom prst="rect">
            <a:avLst/>
          </a:prstGeom>
        </p:spPr>
        <p:txBody>
          <a:bodyPr lIns="0" tIns="0" rIns="0" bIns="0" rtlCol="0" anchor="t">
            <a:spAutoFit/>
          </a:bodyPr>
          <a:lstStyle/>
          <a:p>
            <a:r>
              <a:t>03</a:t>
            </a:r>
          </a:p>
        </p:txBody>
      </p:sp>
      <p:grpSp>
        <p:nvGrpSpPr>
          <p:cNvPr id="46" name="Group 20"/>
          <p:cNvGrpSpPr/>
          <p:nvPr/>
        </p:nvGrpSpPr>
        <p:grpSpPr>
          <a:xfrm>
            <a:off x="886866" y="7931944"/>
            <a:ext cx="8130480" cy="28575"/>
            <a:chOff x="0" y="0"/>
            <a:chExt cx="10840640" cy="38100"/>
          </a:xfrm>
        </p:grpSpPr>
        <p:sp>
          <p:nvSpPr>
            <p:cNvPr id="47" name="Freeform 21"/>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48" name="TextBox 22"/>
          <p:cNvSpPr txBox="1"/>
          <p:nvPr/>
        </p:nvSpPr>
        <p:spPr>
          <a:xfrm>
            <a:off x="886866" y="8087171"/>
            <a:ext cx="4268540" cy="438051"/>
          </a:xfrm>
          <a:prstGeom prst="rect">
            <a:avLst/>
          </a:prstGeom>
        </p:spPr>
        <p:txBody>
          <a:bodyPr lIns="0" tIns="0" rIns="0" bIns="0" rtlCol="0" anchor="t">
            <a:spAutoFit/>
          </a:bodyPr>
          <a:lstStyle/>
          <a:p>
            <a:r>
              <a:t>Database Integrity Checks</a:t>
            </a:r>
          </a:p>
        </p:txBody>
      </p:sp>
      <p:sp>
        <p:nvSpPr>
          <p:cNvPr id="49" name="TextBox 23"/>
          <p:cNvSpPr txBox="1"/>
          <p:nvPr/>
        </p:nvSpPr>
        <p:spPr>
          <a:xfrm>
            <a:off x="886866" y="8712696"/>
            <a:ext cx="8130480" cy="646113"/>
          </a:xfrm>
          <a:prstGeom prst="rect">
            <a:avLst/>
          </a:prstGeom>
        </p:spPr>
        <p:txBody>
          <a:bodyPr lIns="0" tIns="0" rIns="0" bIns="0" rtlCol="0" anchor="t">
            <a:spAutoFit/>
          </a:bodyPr>
          <a:lstStyle/>
          <a:p>
            <a:r>
              <a:t>Schedule regular validation processes to ensure order data remains accurate and consistent across all systems.</a:t>
            </a:r>
          </a:p>
        </p:txBody>
      </p:sp>
      <p:sp>
        <p:nvSpPr>
          <p:cNvPr id="50" name="TextBox 24"/>
          <p:cNvSpPr txBox="1"/>
          <p:nvPr/>
        </p:nvSpPr>
        <p:spPr>
          <a:xfrm>
            <a:off x="9270652" y="7498259"/>
            <a:ext cx="253305" cy="243329"/>
          </a:xfrm>
          <a:prstGeom prst="rect">
            <a:avLst/>
          </a:prstGeom>
        </p:spPr>
        <p:txBody>
          <a:bodyPr lIns="0" tIns="0" rIns="0" bIns="0" rtlCol="0" anchor="t">
            <a:spAutoFit/>
          </a:bodyPr>
          <a:lstStyle/>
          <a:p>
            <a:r>
              <a:t>04</a:t>
            </a:r>
          </a:p>
        </p:txBody>
      </p:sp>
      <p:grpSp>
        <p:nvGrpSpPr>
          <p:cNvPr id="51" name="Group 25"/>
          <p:cNvGrpSpPr/>
          <p:nvPr/>
        </p:nvGrpSpPr>
        <p:grpSpPr>
          <a:xfrm>
            <a:off x="9270652" y="7931944"/>
            <a:ext cx="8130480" cy="28575"/>
            <a:chOff x="0" y="0"/>
            <a:chExt cx="10840640" cy="38100"/>
          </a:xfrm>
        </p:grpSpPr>
        <p:sp>
          <p:nvSpPr>
            <p:cNvPr id="52" name="Freeform 26"/>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53" name="TextBox 27"/>
          <p:cNvSpPr txBox="1"/>
          <p:nvPr/>
        </p:nvSpPr>
        <p:spPr>
          <a:xfrm>
            <a:off x="9270652" y="8077646"/>
            <a:ext cx="4315271" cy="438547"/>
          </a:xfrm>
          <a:prstGeom prst="rect">
            <a:avLst/>
          </a:prstGeom>
        </p:spPr>
        <p:txBody>
          <a:bodyPr lIns="0" tIns="0" rIns="0" bIns="0" rtlCol="0" anchor="t">
            <a:spAutoFit/>
          </a:bodyPr>
          <a:lstStyle/>
          <a:p>
            <a:r>
              <a:t>Payment Testing Protocols</a:t>
            </a:r>
          </a:p>
        </p:txBody>
      </p:sp>
      <p:sp>
        <p:nvSpPr>
          <p:cNvPr id="54" name="TextBox 28"/>
          <p:cNvSpPr txBox="1"/>
          <p:nvPr/>
        </p:nvSpPr>
        <p:spPr>
          <a:xfrm>
            <a:off x="9270652" y="8712696"/>
            <a:ext cx="8130480" cy="646113"/>
          </a:xfrm>
          <a:prstGeom prst="rect">
            <a:avLst/>
          </a:prstGeom>
        </p:spPr>
        <p:txBody>
          <a:bodyPr lIns="0" tIns="0" rIns="0" bIns="0" rtlCol="0" anchor="t">
            <a:spAutoFit/>
          </a:bodyPr>
          <a:lstStyle/>
          <a:p>
            <a:r>
              <a:t>Establish comprehensive testing procedures for payment processing functionality before deployment.</a:t>
            </a:r>
          </a:p>
        </p:txBody>
      </p:sp>
      <p:sp>
        <p:nvSpPr>
          <p:cNvPr id="9" name="Slide Number Placeholder 8">
            <a:extLst>
              <a:ext uri="{FF2B5EF4-FFF2-40B4-BE49-F238E27FC236}">
                <a16:creationId xmlns:a16="http://schemas.microsoft.com/office/drawing/2014/main" id="{6DAC8B39-7231-CC71-A39E-6310AADDF1C7}"/>
              </a:ext>
            </a:extLst>
          </p:cNvPr>
          <p:cNvSpPr>
            <a:spLocks noGrp="1"/>
          </p:cNvSpPr>
          <p:nvPr>
            <p:ph type="sldNum" sz="quarter" idx="12"/>
          </p:nvPr>
        </p:nvSpPr>
        <p:spPr/>
        <p:txBody>
          <a:bodyPr/>
          <a:lstStyle/>
          <a:p>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992237" y="2049066"/>
            <a:ext cx="10480625" cy="889811"/>
          </a:xfrm>
          <a:prstGeom prst="rect">
            <a:avLst/>
          </a:prstGeom>
        </p:spPr>
        <p:txBody>
          <a:bodyPr lIns="0" tIns="0" rIns="0" bIns="0" rtlCol="0" anchor="t">
            <a:spAutoFit/>
          </a:bodyPr>
          <a:lstStyle/>
          <a:p>
            <a:r>
              <a:t>INVENTORY TRACKING ACCURACY</a:t>
            </a:r>
          </a:p>
        </p:txBody>
      </p:sp>
      <p:sp>
        <p:nvSpPr>
          <p:cNvPr id="7" name="TextBox 7"/>
          <p:cNvSpPr txBox="1"/>
          <p:nvPr/>
        </p:nvSpPr>
        <p:spPr>
          <a:xfrm>
            <a:off x="992238" y="3836491"/>
            <a:ext cx="4941391" cy="604599"/>
          </a:xfrm>
          <a:prstGeom prst="rect">
            <a:avLst/>
          </a:prstGeom>
        </p:spPr>
        <p:txBody>
          <a:bodyPr lIns="0" tIns="0" rIns="0" bIns="0" rtlCol="0" anchor="t">
            <a:spAutoFit/>
          </a:bodyPr>
          <a:lstStyle/>
          <a:p>
            <a:r>
              <a:t>Key Monitoring Points</a:t>
            </a:r>
          </a:p>
        </p:txBody>
      </p:sp>
      <p:sp>
        <p:nvSpPr>
          <p:cNvPr id="8" name="TextBox 8"/>
          <p:cNvSpPr txBox="1"/>
          <p:nvPr/>
        </p:nvSpPr>
        <p:spPr>
          <a:xfrm>
            <a:off x="992237" y="4774704"/>
            <a:ext cx="6106269" cy="349250"/>
          </a:xfrm>
          <a:prstGeom prst="rect">
            <a:avLst/>
          </a:prstGeom>
        </p:spPr>
        <p:txBody>
          <a:bodyPr lIns="0" tIns="0" rIns="0" bIns="0" rtlCol="0" anchor="t">
            <a:spAutoFit/>
          </a:bodyPr>
          <a:lstStyle/>
          <a:p>
            <a:r>
              <a:t>Real-time stock level updates</a:t>
            </a:r>
          </a:p>
        </p:txBody>
      </p:sp>
      <p:sp>
        <p:nvSpPr>
          <p:cNvPr id="9" name="TextBox 9"/>
          <p:cNvSpPr txBox="1"/>
          <p:nvPr/>
        </p:nvSpPr>
        <p:spPr>
          <a:xfrm>
            <a:off x="992237" y="5242322"/>
            <a:ext cx="6106269" cy="349250"/>
          </a:xfrm>
          <a:prstGeom prst="rect">
            <a:avLst/>
          </a:prstGeom>
        </p:spPr>
        <p:txBody>
          <a:bodyPr lIns="0" tIns="0" rIns="0" bIns="0" rtlCol="0" anchor="t">
            <a:spAutoFit/>
          </a:bodyPr>
          <a:lstStyle/>
          <a:p>
            <a:r>
              <a:t>Ingredient usage patterns</a:t>
            </a:r>
          </a:p>
        </p:txBody>
      </p:sp>
      <p:sp>
        <p:nvSpPr>
          <p:cNvPr id="10" name="TextBox 10"/>
          <p:cNvSpPr txBox="1"/>
          <p:nvPr/>
        </p:nvSpPr>
        <p:spPr>
          <a:xfrm>
            <a:off x="992237" y="5709940"/>
            <a:ext cx="6106269" cy="349250"/>
          </a:xfrm>
          <a:prstGeom prst="rect">
            <a:avLst/>
          </a:prstGeom>
        </p:spPr>
        <p:txBody>
          <a:bodyPr lIns="0" tIns="0" rIns="0" bIns="0" rtlCol="0" anchor="t">
            <a:spAutoFit/>
          </a:bodyPr>
          <a:lstStyle/>
          <a:p>
            <a:r>
              <a:t>Waste tracking and reporting</a:t>
            </a:r>
          </a:p>
        </p:txBody>
      </p:sp>
      <p:sp>
        <p:nvSpPr>
          <p:cNvPr id="11" name="TextBox 11"/>
          <p:cNvSpPr txBox="1"/>
          <p:nvPr/>
        </p:nvSpPr>
        <p:spPr>
          <a:xfrm>
            <a:off x="992237" y="6177558"/>
            <a:ext cx="6106269" cy="349250"/>
          </a:xfrm>
          <a:prstGeom prst="rect">
            <a:avLst/>
          </a:prstGeom>
        </p:spPr>
        <p:txBody>
          <a:bodyPr lIns="0" tIns="0" rIns="0" bIns="0" rtlCol="0" anchor="t">
            <a:spAutoFit/>
          </a:bodyPr>
          <a:lstStyle/>
          <a:p>
            <a:r>
              <a:t>Supplier integration status</a:t>
            </a:r>
          </a:p>
        </p:txBody>
      </p:sp>
      <p:sp>
        <p:nvSpPr>
          <p:cNvPr id="12" name="TextBox 12"/>
          <p:cNvSpPr txBox="1"/>
          <p:nvPr/>
        </p:nvSpPr>
        <p:spPr>
          <a:xfrm>
            <a:off x="992237" y="6801147"/>
            <a:ext cx="6106269" cy="1073150"/>
          </a:xfrm>
          <a:prstGeom prst="rect">
            <a:avLst/>
          </a:prstGeom>
        </p:spPr>
        <p:txBody>
          <a:bodyPr lIns="0" tIns="0" rIns="0" bIns="0" rtlCol="0" anchor="t">
            <a:spAutoFit/>
          </a:bodyPr>
          <a:lstStyle/>
          <a:p>
            <a:r>
              <a:t>Continuous evaluation prevents stock discrepancies that could impact menu availability and customer satisfaction.</a:t>
            </a:r>
          </a:p>
        </p:txBody>
      </p:sp>
      <p:sp>
        <p:nvSpPr>
          <p:cNvPr id="13" name="TextBox 13"/>
          <p:cNvSpPr txBox="1"/>
          <p:nvPr/>
        </p:nvSpPr>
        <p:spPr>
          <a:xfrm>
            <a:off x="7799785" y="4165998"/>
            <a:ext cx="4575422" cy="801949"/>
          </a:xfrm>
          <a:prstGeom prst="rect">
            <a:avLst/>
          </a:prstGeom>
        </p:spPr>
        <p:txBody>
          <a:bodyPr lIns="0" tIns="0" rIns="0" bIns="0" rtlCol="0" anchor="t">
            <a:spAutoFit/>
          </a:bodyPr>
          <a:lstStyle/>
          <a:p>
            <a:r>
              <a:t>99.7%</a:t>
            </a:r>
          </a:p>
        </p:txBody>
      </p:sp>
      <p:sp>
        <p:nvSpPr>
          <p:cNvPr id="14" name="TextBox 14"/>
          <p:cNvSpPr txBox="1"/>
          <p:nvPr/>
        </p:nvSpPr>
        <p:spPr>
          <a:xfrm>
            <a:off x="8049518" y="5312866"/>
            <a:ext cx="4075808" cy="514350"/>
          </a:xfrm>
          <a:prstGeom prst="rect">
            <a:avLst/>
          </a:prstGeom>
        </p:spPr>
        <p:txBody>
          <a:bodyPr lIns="0" tIns="0" rIns="0" bIns="0" rtlCol="0" anchor="t">
            <a:spAutoFit/>
          </a:bodyPr>
          <a:lstStyle/>
          <a:p>
            <a:r>
              <a:t>Accuracy Target</a:t>
            </a:r>
          </a:p>
        </p:txBody>
      </p:sp>
      <p:sp>
        <p:nvSpPr>
          <p:cNvPr id="15" name="TextBox 15"/>
          <p:cNvSpPr txBox="1"/>
          <p:nvPr/>
        </p:nvSpPr>
        <p:spPr>
          <a:xfrm>
            <a:off x="7799785" y="6135738"/>
            <a:ext cx="4575422" cy="711200"/>
          </a:xfrm>
          <a:prstGeom prst="rect">
            <a:avLst/>
          </a:prstGeom>
        </p:spPr>
        <p:txBody>
          <a:bodyPr lIns="0" tIns="0" rIns="0" bIns="0" rtlCol="0" anchor="t">
            <a:spAutoFit/>
          </a:bodyPr>
          <a:lstStyle/>
          <a:p>
            <a:r>
              <a:t>Inventory tracking precision goal</a:t>
            </a:r>
          </a:p>
        </p:txBody>
      </p:sp>
      <p:sp>
        <p:nvSpPr>
          <p:cNvPr id="16" name="TextBox 16"/>
          <p:cNvSpPr txBox="1"/>
          <p:nvPr/>
        </p:nvSpPr>
        <p:spPr>
          <a:xfrm>
            <a:off x="12729567" y="4165998"/>
            <a:ext cx="4575572" cy="801949"/>
          </a:xfrm>
          <a:prstGeom prst="rect">
            <a:avLst/>
          </a:prstGeom>
        </p:spPr>
        <p:txBody>
          <a:bodyPr lIns="0" tIns="0" rIns="0" bIns="0" rtlCol="0" anchor="t">
            <a:spAutoFit/>
          </a:bodyPr>
          <a:lstStyle/>
          <a:p>
            <a:r>
              <a:t>15MIN</a:t>
            </a:r>
          </a:p>
        </p:txBody>
      </p:sp>
      <p:sp>
        <p:nvSpPr>
          <p:cNvPr id="17" name="TextBox 17"/>
          <p:cNvSpPr txBox="1"/>
          <p:nvPr/>
        </p:nvSpPr>
        <p:spPr>
          <a:xfrm>
            <a:off x="12979450" y="5312866"/>
            <a:ext cx="4075808" cy="514350"/>
          </a:xfrm>
          <a:prstGeom prst="rect">
            <a:avLst/>
          </a:prstGeom>
        </p:spPr>
        <p:txBody>
          <a:bodyPr lIns="0" tIns="0" rIns="0" bIns="0" rtlCol="0" anchor="t">
            <a:spAutoFit/>
          </a:bodyPr>
          <a:lstStyle/>
          <a:p>
            <a:r>
              <a:t>Update Frequency</a:t>
            </a:r>
          </a:p>
        </p:txBody>
      </p:sp>
      <p:sp>
        <p:nvSpPr>
          <p:cNvPr id="18" name="TextBox 18"/>
          <p:cNvSpPr txBox="1"/>
          <p:nvPr/>
        </p:nvSpPr>
        <p:spPr>
          <a:xfrm>
            <a:off x="12729567" y="6135738"/>
            <a:ext cx="4575572" cy="349250"/>
          </a:xfrm>
          <a:prstGeom prst="rect">
            <a:avLst/>
          </a:prstGeom>
        </p:spPr>
        <p:txBody>
          <a:bodyPr lIns="0" tIns="0" rIns="0" bIns="0" rtlCol="0" anchor="t">
            <a:spAutoFit/>
          </a:bodyPr>
          <a:lstStyle/>
          <a:p>
            <a:r>
              <a:t>Real-time sync intervals</a:t>
            </a:r>
          </a:p>
        </p:txBody>
      </p:sp>
      <p:sp>
        <p:nvSpPr>
          <p:cNvPr id="26" name="Slide Number Placeholder 25">
            <a:extLst>
              <a:ext uri="{FF2B5EF4-FFF2-40B4-BE49-F238E27FC236}">
                <a16:creationId xmlns:a16="http://schemas.microsoft.com/office/drawing/2014/main" id="{27157A1D-FC5C-C767-9367-C24769EAFD7D}"/>
              </a:ext>
            </a:extLst>
          </p:cNvPr>
          <p:cNvSpPr>
            <a:spLocks noGrp="1"/>
          </p:cNvSpPr>
          <p:nvPr>
            <p:ph type="sldNum" sz="quarter" idx="12"/>
          </p:nvPr>
        </p:nvSpPr>
        <p:spPr/>
        <p:txBody>
          <a:bodyPr/>
          <a:lstStyle/>
          <a:p>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8" name="TextBox 8"/>
          <p:cNvSpPr txBox="1"/>
          <p:nvPr/>
        </p:nvSpPr>
        <p:spPr>
          <a:xfrm>
            <a:off x="7623125" y="862161"/>
            <a:ext cx="9899749" cy="1581150"/>
          </a:xfrm>
          <a:prstGeom prst="rect">
            <a:avLst/>
          </a:prstGeom>
        </p:spPr>
        <p:txBody>
          <a:bodyPr lIns="0" tIns="0" rIns="0" bIns="0" rtlCol="0" anchor="t">
            <a:spAutoFit/>
          </a:bodyPr>
          <a:lstStyle/>
          <a:p>
            <a:r>
              <a:t>Risk Management: When Prevention Fails</a:t>
            </a:r>
          </a:p>
        </p:txBody>
      </p:sp>
      <p:sp>
        <p:nvSpPr>
          <p:cNvPr id="9" name="TextBox 9"/>
          <p:cNvSpPr txBox="1"/>
          <p:nvPr/>
        </p:nvSpPr>
        <p:spPr>
          <a:xfrm>
            <a:off x="7623125" y="2795290"/>
            <a:ext cx="9899749" cy="2225675"/>
          </a:xfrm>
          <a:prstGeom prst="rect">
            <a:avLst/>
          </a:prstGeom>
        </p:spPr>
        <p:txBody>
          <a:bodyPr lIns="0" tIns="0" rIns="0" bIns="0" rtlCol="0" anchor="t">
            <a:spAutoFit/>
          </a:bodyPr>
          <a:lstStyle/>
          <a:p>
            <a:r>
              <a:t>EMERGENCY RESPONSE PROTOCOLS</a:t>
            </a:r>
          </a:p>
        </p:txBody>
      </p:sp>
      <p:sp>
        <p:nvSpPr>
          <p:cNvPr id="10" name="TextBox 10"/>
          <p:cNvSpPr txBox="1"/>
          <p:nvPr/>
        </p:nvSpPr>
        <p:spPr>
          <a:xfrm>
            <a:off x="7623125" y="5435352"/>
            <a:ext cx="9899749" cy="817563"/>
          </a:xfrm>
          <a:prstGeom prst="rect">
            <a:avLst/>
          </a:prstGeom>
        </p:spPr>
        <p:txBody>
          <a:bodyPr lIns="0" tIns="0" rIns="0" bIns="0" rtlCol="0" anchor="t">
            <a:spAutoFit/>
          </a:bodyPr>
          <a:lstStyle/>
          <a:p>
            <a:r>
              <a:t>When mitigation strategies fail and risks become live problems, immediate action is critical. Your Restaurant Management System needs predefined response procedures that can be executed quickly and effectively.</a:t>
            </a:r>
          </a:p>
        </p:txBody>
      </p:sp>
      <p:grpSp>
        <p:nvGrpSpPr>
          <p:cNvPr id="11" name="Group 11"/>
          <p:cNvGrpSpPr/>
          <p:nvPr/>
        </p:nvGrpSpPr>
        <p:grpSpPr>
          <a:xfrm>
            <a:off x="7613600" y="6533555"/>
            <a:ext cx="9918799" cy="2862709"/>
            <a:chOff x="0" y="0"/>
            <a:chExt cx="13225065" cy="3816945"/>
          </a:xfrm>
        </p:grpSpPr>
        <p:sp>
          <p:nvSpPr>
            <p:cNvPr id="12" name="Freeform 12"/>
            <p:cNvSpPr/>
            <p:nvPr/>
          </p:nvSpPr>
          <p:spPr>
            <a:xfrm>
              <a:off x="12700" y="12700"/>
              <a:ext cx="13199746" cy="3791585"/>
            </a:xfrm>
            <a:custGeom>
              <a:avLst/>
              <a:gdLst/>
              <a:ahLst/>
              <a:cxnLst/>
              <a:rect l="l" t="t" r="r" b="b"/>
              <a:pathLst>
                <a:path w="13199746" h="3791585">
                  <a:moveTo>
                    <a:pt x="0" y="122428"/>
                  </a:moveTo>
                  <a:cubicBezTo>
                    <a:pt x="0" y="54864"/>
                    <a:pt x="55118" y="0"/>
                    <a:pt x="123063" y="0"/>
                  </a:cubicBezTo>
                  <a:lnTo>
                    <a:pt x="13076682" y="0"/>
                  </a:lnTo>
                  <a:cubicBezTo>
                    <a:pt x="13144627" y="0"/>
                    <a:pt x="13199746" y="54864"/>
                    <a:pt x="13199746" y="122428"/>
                  </a:cubicBezTo>
                  <a:lnTo>
                    <a:pt x="13199746" y="3669157"/>
                  </a:lnTo>
                  <a:cubicBezTo>
                    <a:pt x="13199746" y="3736721"/>
                    <a:pt x="13144627" y="3791585"/>
                    <a:pt x="13076682" y="3791585"/>
                  </a:cubicBezTo>
                  <a:lnTo>
                    <a:pt x="123063" y="3791585"/>
                  </a:lnTo>
                  <a:cubicBezTo>
                    <a:pt x="55118" y="3791585"/>
                    <a:pt x="0" y="3736721"/>
                    <a:pt x="0" y="3669157"/>
                  </a:cubicBezTo>
                  <a:close/>
                </a:path>
              </a:pathLst>
            </a:custGeom>
            <a:solidFill>
              <a:srgbClr val="F8F8F8"/>
            </a:solidFill>
          </p:spPr>
        </p:sp>
        <p:sp>
          <p:nvSpPr>
            <p:cNvPr id="13" name="Freeform 13"/>
            <p:cNvSpPr/>
            <p:nvPr/>
          </p:nvSpPr>
          <p:spPr>
            <a:xfrm>
              <a:off x="0" y="0"/>
              <a:ext cx="13225146" cy="3816985"/>
            </a:xfrm>
            <a:custGeom>
              <a:avLst/>
              <a:gdLst/>
              <a:ahLst/>
              <a:cxnLst/>
              <a:rect l="l" t="t" r="r" b="b"/>
              <a:pathLst>
                <a:path w="13225146" h="3816985">
                  <a:moveTo>
                    <a:pt x="0" y="135128"/>
                  </a:moveTo>
                  <a:cubicBezTo>
                    <a:pt x="0" y="60452"/>
                    <a:pt x="60833" y="0"/>
                    <a:pt x="135763" y="0"/>
                  </a:cubicBezTo>
                  <a:lnTo>
                    <a:pt x="13089382" y="0"/>
                  </a:lnTo>
                  <a:lnTo>
                    <a:pt x="13089382" y="12700"/>
                  </a:lnTo>
                  <a:lnTo>
                    <a:pt x="13089382" y="0"/>
                  </a:lnTo>
                  <a:cubicBezTo>
                    <a:pt x="13164313" y="0"/>
                    <a:pt x="13225146" y="60452"/>
                    <a:pt x="13225146" y="135128"/>
                  </a:cubicBezTo>
                  <a:lnTo>
                    <a:pt x="13212446" y="135128"/>
                  </a:lnTo>
                  <a:lnTo>
                    <a:pt x="13225146" y="135128"/>
                  </a:lnTo>
                  <a:lnTo>
                    <a:pt x="13225146" y="3681857"/>
                  </a:lnTo>
                  <a:lnTo>
                    <a:pt x="13212446" y="3681857"/>
                  </a:lnTo>
                  <a:lnTo>
                    <a:pt x="13225146" y="3681857"/>
                  </a:lnTo>
                  <a:cubicBezTo>
                    <a:pt x="13225146" y="3756533"/>
                    <a:pt x="13164313" y="3816985"/>
                    <a:pt x="13089382" y="3816985"/>
                  </a:cubicBezTo>
                  <a:lnTo>
                    <a:pt x="13089382" y="3804285"/>
                  </a:lnTo>
                  <a:lnTo>
                    <a:pt x="13089382" y="3816985"/>
                  </a:lnTo>
                  <a:lnTo>
                    <a:pt x="135763" y="3816985"/>
                  </a:lnTo>
                  <a:lnTo>
                    <a:pt x="135763" y="3804285"/>
                  </a:lnTo>
                  <a:lnTo>
                    <a:pt x="135763" y="3816985"/>
                  </a:lnTo>
                  <a:cubicBezTo>
                    <a:pt x="60833" y="3816985"/>
                    <a:pt x="0" y="3756533"/>
                    <a:pt x="0" y="3681857"/>
                  </a:cubicBezTo>
                  <a:lnTo>
                    <a:pt x="0" y="135128"/>
                  </a:lnTo>
                  <a:lnTo>
                    <a:pt x="12700" y="135128"/>
                  </a:lnTo>
                  <a:lnTo>
                    <a:pt x="0" y="135128"/>
                  </a:lnTo>
                  <a:moveTo>
                    <a:pt x="25400" y="135128"/>
                  </a:moveTo>
                  <a:lnTo>
                    <a:pt x="25400" y="3681857"/>
                  </a:lnTo>
                  <a:lnTo>
                    <a:pt x="12700" y="3681857"/>
                  </a:lnTo>
                  <a:lnTo>
                    <a:pt x="25400" y="3681857"/>
                  </a:lnTo>
                  <a:cubicBezTo>
                    <a:pt x="25400" y="3742436"/>
                    <a:pt x="74676" y="3791585"/>
                    <a:pt x="135763" y="3791585"/>
                  </a:cubicBezTo>
                  <a:lnTo>
                    <a:pt x="13089382" y="3791585"/>
                  </a:lnTo>
                  <a:cubicBezTo>
                    <a:pt x="13150343" y="3791585"/>
                    <a:pt x="13199746" y="3742436"/>
                    <a:pt x="13199746" y="3681857"/>
                  </a:cubicBezTo>
                  <a:lnTo>
                    <a:pt x="13199746" y="135128"/>
                  </a:lnTo>
                  <a:cubicBezTo>
                    <a:pt x="13199746" y="74549"/>
                    <a:pt x="13150470" y="25400"/>
                    <a:pt x="13089382" y="25400"/>
                  </a:cubicBezTo>
                  <a:lnTo>
                    <a:pt x="135763" y="25400"/>
                  </a:lnTo>
                  <a:lnTo>
                    <a:pt x="135763" y="12700"/>
                  </a:lnTo>
                  <a:lnTo>
                    <a:pt x="135763" y="25400"/>
                  </a:lnTo>
                  <a:cubicBezTo>
                    <a:pt x="74676" y="25400"/>
                    <a:pt x="25400" y="74549"/>
                    <a:pt x="25400" y="135128"/>
                  </a:cubicBezTo>
                  <a:close/>
                </a:path>
              </a:pathLst>
            </a:custGeom>
            <a:solidFill>
              <a:srgbClr val="000000"/>
            </a:solidFill>
          </p:spPr>
        </p:sp>
      </p:grpSp>
      <p:grpSp>
        <p:nvGrpSpPr>
          <p:cNvPr id="14" name="Group 14"/>
          <p:cNvGrpSpPr/>
          <p:nvPr/>
        </p:nvGrpSpPr>
        <p:grpSpPr>
          <a:xfrm>
            <a:off x="7642175" y="6562130"/>
            <a:ext cx="4930825" cy="1544836"/>
            <a:chOff x="0" y="0"/>
            <a:chExt cx="6574433" cy="2059782"/>
          </a:xfrm>
        </p:grpSpPr>
        <p:sp>
          <p:nvSpPr>
            <p:cNvPr id="15" name="Freeform 15"/>
            <p:cNvSpPr/>
            <p:nvPr/>
          </p:nvSpPr>
          <p:spPr>
            <a:xfrm>
              <a:off x="0" y="0"/>
              <a:ext cx="6574409" cy="2059813"/>
            </a:xfrm>
            <a:custGeom>
              <a:avLst/>
              <a:gdLst/>
              <a:ahLst/>
              <a:cxnLst/>
              <a:rect l="l" t="t" r="r" b="b"/>
              <a:pathLst>
                <a:path w="6574409" h="2059813">
                  <a:moveTo>
                    <a:pt x="0" y="122428"/>
                  </a:moveTo>
                  <a:cubicBezTo>
                    <a:pt x="0" y="54864"/>
                    <a:pt x="54864" y="0"/>
                    <a:pt x="122428" y="0"/>
                  </a:cubicBezTo>
                  <a:lnTo>
                    <a:pt x="6451981" y="0"/>
                  </a:lnTo>
                  <a:cubicBezTo>
                    <a:pt x="6519545" y="0"/>
                    <a:pt x="6574409" y="54864"/>
                    <a:pt x="6574409" y="122428"/>
                  </a:cubicBezTo>
                  <a:lnTo>
                    <a:pt x="6574409" y="1937385"/>
                  </a:lnTo>
                  <a:cubicBezTo>
                    <a:pt x="6574409" y="2004949"/>
                    <a:pt x="6519545" y="2059813"/>
                    <a:pt x="6451981" y="2059813"/>
                  </a:cubicBezTo>
                  <a:lnTo>
                    <a:pt x="122428" y="2059813"/>
                  </a:lnTo>
                  <a:cubicBezTo>
                    <a:pt x="54864" y="2059813"/>
                    <a:pt x="0" y="2004949"/>
                    <a:pt x="0" y="1937385"/>
                  </a:cubicBezTo>
                  <a:close/>
                </a:path>
              </a:pathLst>
            </a:custGeom>
            <a:solidFill>
              <a:srgbClr val="F8F8F8"/>
            </a:solidFill>
          </p:spPr>
        </p:sp>
      </p:grpSp>
      <p:sp>
        <p:nvSpPr>
          <p:cNvPr id="16" name="TextBox 16"/>
          <p:cNvSpPr txBox="1"/>
          <p:nvPr/>
        </p:nvSpPr>
        <p:spPr>
          <a:xfrm>
            <a:off x="7860655" y="6761560"/>
            <a:ext cx="3387626" cy="333337"/>
          </a:xfrm>
          <a:prstGeom prst="rect">
            <a:avLst/>
          </a:prstGeom>
        </p:spPr>
        <p:txBody>
          <a:bodyPr lIns="0" tIns="0" rIns="0" bIns="0" rtlCol="0" anchor="t">
            <a:spAutoFit/>
          </a:bodyPr>
          <a:lstStyle/>
          <a:p>
            <a:r>
              <a:t>System Failure Response</a:t>
            </a:r>
          </a:p>
        </p:txBody>
      </p:sp>
      <p:sp>
        <p:nvSpPr>
          <p:cNvPr id="17" name="TextBox 17"/>
          <p:cNvSpPr txBox="1"/>
          <p:nvPr/>
        </p:nvSpPr>
        <p:spPr>
          <a:xfrm>
            <a:off x="7860655" y="7310735"/>
            <a:ext cx="4493865" cy="541337"/>
          </a:xfrm>
          <a:prstGeom prst="rect">
            <a:avLst/>
          </a:prstGeom>
        </p:spPr>
        <p:txBody>
          <a:bodyPr lIns="0" tIns="0" rIns="0" bIns="0" rtlCol="0" anchor="t">
            <a:spAutoFit/>
          </a:bodyPr>
          <a:lstStyle/>
          <a:p>
            <a:r>
              <a:t>Rollback mechanisms to restore order data and maintain transaction integrity</a:t>
            </a:r>
          </a:p>
        </p:txBody>
      </p:sp>
      <p:grpSp>
        <p:nvGrpSpPr>
          <p:cNvPr id="18" name="Group 18"/>
          <p:cNvGrpSpPr/>
          <p:nvPr/>
        </p:nvGrpSpPr>
        <p:grpSpPr>
          <a:xfrm>
            <a:off x="12573000" y="6562130"/>
            <a:ext cx="4930825" cy="1544836"/>
            <a:chOff x="0" y="0"/>
            <a:chExt cx="6574433" cy="2059782"/>
          </a:xfrm>
        </p:grpSpPr>
        <p:sp>
          <p:nvSpPr>
            <p:cNvPr id="19" name="Freeform 19"/>
            <p:cNvSpPr/>
            <p:nvPr/>
          </p:nvSpPr>
          <p:spPr>
            <a:xfrm>
              <a:off x="0" y="0"/>
              <a:ext cx="6574409" cy="2059813"/>
            </a:xfrm>
            <a:custGeom>
              <a:avLst/>
              <a:gdLst/>
              <a:ahLst/>
              <a:cxnLst/>
              <a:rect l="l" t="t" r="r" b="b"/>
              <a:pathLst>
                <a:path w="6574409" h="2059813">
                  <a:moveTo>
                    <a:pt x="0" y="0"/>
                  </a:moveTo>
                  <a:lnTo>
                    <a:pt x="6574409" y="0"/>
                  </a:lnTo>
                  <a:lnTo>
                    <a:pt x="6574409" y="2059813"/>
                  </a:lnTo>
                  <a:lnTo>
                    <a:pt x="0" y="2059813"/>
                  </a:lnTo>
                  <a:close/>
                </a:path>
              </a:pathLst>
            </a:custGeom>
            <a:solidFill>
              <a:srgbClr val="F8F8F8"/>
            </a:solidFill>
          </p:spPr>
        </p:sp>
      </p:grpSp>
      <p:grpSp>
        <p:nvGrpSpPr>
          <p:cNvPr id="20" name="Group 20"/>
          <p:cNvGrpSpPr/>
          <p:nvPr/>
        </p:nvGrpSpPr>
        <p:grpSpPr>
          <a:xfrm>
            <a:off x="12573000" y="6562130"/>
            <a:ext cx="28575" cy="1544836"/>
            <a:chOff x="0" y="0"/>
            <a:chExt cx="38100" cy="2059782"/>
          </a:xfrm>
        </p:grpSpPr>
        <p:sp>
          <p:nvSpPr>
            <p:cNvPr id="21" name="Freeform 21"/>
            <p:cNvSpPr/>
            <p:nvPr/>
          </p:nvSpPr>
          <p:spPr>
            <a:xfrm>
              <a:off x="0" y="0"/>
              <a:ext cx="38100" cy="2059813"/>
            </a:xfrm>
            <a:custGeom>
              <a:avLst/>
              <a:gdLst/>
              <a:ahLst/>
              <a:cxnLst/>
              <a:rect l="l" t="t" r="r" b="b"/>
              <a:pathLst>
                <a:path w="38100" h="2059813">
                  <a:moveTo>
                    <a:pt x="0" y="19050"/>
                  </a:moveTo>
                  <a:cubicBezTo>
                    <a:pt x="0" y="8509"/>
                    <a:pt x="8509" y="0"/>
                    <a:pt x="19050" y="0"/>
                  </a:cubicBezTo>
                  <a:cubicBezTo>
                    <a:pt x="29591" y="0"/>
                    <a:pt x="38100" y="8509"/>
                    <a:pt x="38100" y="19050"/>
                  </a:cubicBezTo>
                  <a:lnTo>
                    <a:pt x="38100" y="2040763"/>
                  </a:lnTo>
                  <a:cubicBezTo>
                    <a:pt x="38100" y="2051304"/>
                    <a:pt x="29591" y="2059813"/>
                    <a:pt x="19050" y="2059813"/>
                  </a:cubicBezTo>
                  <a:cubicBezTo>
                    <a:pt x="8509" y="2059813"/>
                    <a:pt x="0" y="2051304"/>
                    <a:pt x="0" y="2040763"/>
                  </a:cubicBezTo>
                  <a:close/>
                </a:path>
              </a:pathLst>
            </a:custGeom>
            <a:solidFill>
              <a:srgbClr val="000000"/>
            </a:solidFill>
          </p:spPr>
        </p:sp>
      </p:grpSp>
      <p:sp>
        <p:nvSpPr>
          <p:cNvPr id="22" name="TextBox 22"/>
          <p:cNvSpPr txBox="1"/>
          <p:nvPr/>
        </p:nvSpPr>
        <p:spPr>
          <a:xfrm>
            <a:off x="12791480" y="6752035"/>
            <a:ext cx="3657898" cy="351692"/>
          </a:xfrm>
          <a:prstGeom prst="rect">
            <a:avLst/>
          </a:prstGeom>
        </p:spPr>
        <p:txBody>
          <a:bodyPr lIns="0" tIns="0" rIns="0" bIns="0" rtlCol="0" anchor="t">
            <a:spAutoFit/>
          </a:bodyPr>
          <a:lstStyle/>
          <a:p>
            <a:r>
              <a:t>Payment Gateway Backup</a:t>
            </a:r>
          </a:p>
        </p:txBody>
      </p:sp>
      <p:sp>
        <p:nvSpPr>
          <p:cNvPr id="23" name="TextBox 23"/>
          <p:cNvSpPr txBox="1"/>
          <p:nvPr/>
        </p:nvSpPr>
        <p:spPr>
          <a:xfrm>
            <a:off x="12791480" y="7310735"/>
            <a:ext cx="4493865" cy="541337"/>
          </a:xfrm>
          <a:prstGeom prst="rect">
            <a:avLst/>
          </a:prstGeom>
        </p:spPr>
        <p:txBody>
          <a:bodyPr lIns="0" tIns="0" rIns="0" bIns="0" rtlCol="0" anchor="t">
            <a:spAutoFit/>
          </a:bodyPr>
          <a:lstStyle/>
          <a:p>
            <a:r>
              <a:t>Alternative processing methods when primary systems fail</a:t>
            </a:r>
          </a:p>
        </p:txBody>
      </p:sp>
      <p:grpSp>
        <p:nvGrpSpPr>
          <p:cNvPr id="24" name="Group 24"/>
          <p:cNvGrpSpPr/>
          <p:nvPr/>
        </p:nvGrpSpPr>
        <p:grpSpPr>
          <a:xfrm>
            <a:off x="7642175" y="8106966"/>
            <a:ext cx="9861649" cy="1260722"/>
            <a:chOff x="0" y="0"/>
            <a:chExt cx="13148865" cy="1680963"/>
          </a:xfrm>
        </p:grpSpPr>
        <p:sp>
          <p:nvSpPr>
            <p:cNvPr id="25" name="Freeform 25"/>
            <p:cNvSpPr/>
            <p:nvPr/>
          </p:nvSpPr>
          <p:spPr>
            <a:xfrm>
              <a:off x="0" y="0"/>
              <a:ext cx="13148818" cy="1680972"/>
            </a:xfrm>
            <a:custGeom>
              <a:avLst/>
              <a:gdLst/>
              <a:ahLst/>
              <a:cxnLst/>
              <a:rect l="l" t="t" r="r" b="b"/>
              <a:pathLst>
                <a:path w="13148818" h="1680972">
                  <a:moveTo>
                    <a:pt x="0" y="0"/>
                  </a:moveTo>
                  <a:lnTo>
                    <a:pt x="13148818" y="0"/>
                  </a:lnTo>
                  <a:lnTo>
                    <a:pt x="13148818" y="1680972"/>
                  </a:lnTo>
                  <a:lnTo>
                    <a:pt x="0" y="1680972"/>
                  </a:lnTo>
                  <a:close/>
                </a:path>
              </a:pathLst>
            </a:custGeom>
            <a:solidFill>
              <a:srgbClr val="F8F8F8"/>
            </a:solidFill>
          </p:spPr>
        </p:sp>
      </p:grpSp>
      <p:grpSp>
        <p:nvGrpSpPr>
          <p:cNvPr id="26" name="Group 26"/>
          <p:cNvGrpSpPr/>
          <p:nvPr/>
        </p:nvGrpSpPr>
        <p:grpSpPr>
          <a:xfrm>
            <a:off x="7642175" y="8106966"/>
            <a:ext cx="9861649" cy="28575"/>
            <a:chOff x="0" y="0"/>
            <a:chExt cx="13148865" cy="38100"/>
          </a:xfrm>
        </p:grpSpPr>
        <p:sp>
          <p:nvSpPr>
            <p:cNvPr id="27" name="Freeform 27"/>
            <p:cNvSpPr/>
            <p:nvPr/>
          </p:nvSpPr>
          <p:spPr>
            <a:xfrm>
              <a:off x="0" y="0"/>
              <a:ext cx="13148818" cy="38100"/>
            </a:xfrm>
            <a:custGeom>
              <a:avLst/>
              <a:gdLst/>
              <a:ahLst/>
              <a:cxnLst/>
              <a:rect l="l" t="t" r="r" b="b"/>
              <a:pathLst>
                <a:path w="13148818" h="38100">
                  <a:moveTo>
                    <a:pt x="0" y="19050"/>
                  </a:moveTo>
                  <a:cubicBezTo>
                    <a:pt x="0" y="8509"/>
                    <a:pt x="8509" y="0"/>
                    <a:pt x="19050" y="0"/>
                  </a:cubicBezTo>
                  <a:lnTo>
                    <a:pt x="13129768" y="0"/>
                  </a:lnTo>
                  <a:cubicBezTo>
                    <a:pt x="13140308" y="0"/>
                    <a:pt x="13148818" y="8509"/>
                    <a:pt x="13148818" y="19050"/>
                  </a:cubicBezTo>
                  <a:cubicBezTo>
                    <a:pt x="13148818" y="29591"/>
                    <a:pt x="13140308" y="38100"/>
                    <a:pt x="13129768" y="38100"/>
                  </a:cubicBezTo>
                  <a:lnTo>
                    <a:pt x="19050" y="38100"/>
                  </a:lnTo>
                  <a:cubicBezTo>
                    <a:pt x="8509" y="38100"/>
                    <a:pt x="0" y="29591"/>
                    <a:pt x="0" y="19050"/>
                  </a:cubicBezTo>
                  <a:close/>
                </a:path>
              </a:pathLst>
            </a:custGeom>
            <a:solidFill>
              <a:srgbClr val="000000"/>
            </a:solidFill>
          </p:spPr>
        </p:sp>
      </p:grpSp>
      <p:sp>
        <p:nvSpPr>
          <p:cNvPr id="28" name="TextBox 28"/>
          <p:cNvSpPr txBox="1"/>
          <p:nvPr/>
        </p:nvSpPr>
        <p:spPr>
          <a:xfrm>
            <a:off x="7860655" y="8296870"/>
            <a:ext cx="4095899" cy="360104"/>
          </a:xfrm>
          <a:prstGeom prst="rect">
            <a:avLst/>
          </a:prstGeom>
        </p:spPr>
        <p:txBody>
          <a:bodyPr lIns="0" tIns="0" rIns="0" bIns="0" rtlCol="0" anchor="t">
            <a:spAutoFit/>
          </a:bodyPr>
          <a:lstStyle/>
          <a:p>
            <a:r>
              <a:t>Manual Override Procedures</a:t>
            </a:r>
          </a:p>
        </p:txBody>
      </p:sp>
      <p:sp>
        <p:nvSpPr>
          <p:cNvPr id="29" name="TextBox 29"/>
          <p:cNvSpPr txBox="1"/>
          <p:nvPr/>
        </p:nvSpPr>
        <p:spPr>
          <a:xfrm>
            <a:off x="7860655" y="8855571"/>
            <a:ext cx="9424690" cy="265113"/>
          </a:xfrm>
          <a:prstGeom prst="rect">
            <a:avLst/>
          </a:prstGeom>
        </p:spPr>
        <p:txBody>
          <a:bodyPr lIns="0" tIns="0" rIns="0" bIns="0" rtlCol="0" anchor="t">
            <a:spAutoFit/>
          </a:bodyPr>
          <a:lstStyle/>
          <a:p>
            <a:r>
              <a:t>Emergency protocols for continued operations during downtime</a:t>
            </a:r>
          </a:p>
        </p:txBody>
      </p:sp>
      <p:sp>
        <p:nvSpPr>
          <p:cNvPr id="36" name="Slide Number Placeholder 35">
            <a:extLst>
              <a:ext uri="{FF2B5EF4-FFF2-40B4-BE49-F238E27FC236}">
                <a16:creationId xmlns:a16="http://schemas.microsoft.com/office/drawing/2014/main" id="{7B14C787-C543-813C-40A4-D6FBF3F44CFA}"/>
              </a:ext>
            </a:extLst>
          </p:cNvPr>
          <p:cNvSpPr>
            <a:spLocks noGrp="1"/>
          </p:cNvSpPr>
          <p:nvPr>
            <p:ph type="sldNum" sz="quarter" idx="12"/>
          </p:nvPr>
        </p:nvSpPr>
        <p:spPr/>
        <p:txBody>
          <a:bodyPr/>
          <a:lstStyle/>
          <a:p>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13654" y="33236"/>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7793088" y="1187203"/>
            <a:ext cx="9559826" cy="1970087"/>
          </a:xfrm>
          <a:prstGeom prst="rect">
            <a:avLst/>
          </a:prstGeom>
        </p:spPr>
        <p:txBody>
          <a:bodyPr lIns="0" tIns="0" rIns="0" bIns="0" rtlCol="0" anchor="t">
            <a:spAutoFit/>
          </a:bodyPr>
          <a:lstStyle/>
          <a:p>
            <a:r>
              <a:t>EMERGENCY RESPONSE IMPLEMENTATION</a:t>
            </a:r>
          </a:p>
        </p:txBody>
      </p:sp>
      <p:grpSp>
        <p:nvGrpSpPr>
          <p:cNvPr id="9" name="Group 9"/>
          <p:cNvGrpSpPr/>
          <p:nvPr/>
        </p:nvGrpSpPr>
        <p:grpSpPr>
          <a:xfrm>
            <a:off x="8093571" y="3651945"/>
            <a:ext cx="38100" cy="5381179"/>
            <a:chOff x="0" y="0"/>
            <a:chExt cx="50800" cy="7174905"/>
          </a:xfrm>
        </p:grpSpPr>
        <p:sp>
          <p:nvSpPr>
            <p:cNvPr id="10" name="Freeform 10"/>
            <p:cNvSpPr/>
            <p:nvPr/>
          </p:nvSpPr>
          <p:spPr>
            <a:xfrm>
              <a:off x="0" y="0"/>
              <a:ext cx="50800" cy="7174865"/>
            </a:xfrm>
            <a:custGeom>
              <a:avLst/>
              <a:gdLst/>
              <a:ahLst/>
              <a:cxnLst/>
              <a:rect l="l" t="t" r="r" b="b"/>
              <a:pathLst>
                <a:path w="50800" h="7174865">
                  <a:moveTo>
                    <a:pt x="0" y="25400"/>
                  </a:moveTo>
                  <a:cubicBezTo>
                    <a:pt x="0" y="11430"/>
                    <a:pt x="11430" y="0"/>
                    <a:pt x="25400" y="0"/>
                  </a:cubicBezTo>
                  <a:cubicBezTo>
                    <a:pt x="39370" y="0"/>
                    <a:pt x="50800" y="11430"/>
                    <a:pt x="50800" y="25400"/>
                  </a:cubicBezTo>
                  <a:lnTo>
                    <a:pt x="50800" y="7149465"/>
                  </a:lnTo>
                  <a:cubicBezTo>
                    <a:pt x="50800" y="7163435"/>
                    <a:pt x="39370" y="7174865"/>
                    <a:pt x="25400" y="7174865"/>
                  </a:cubicBezTo>
                  <a:cubicBezTo>
                    <a:pt x="11430" y="7174865"/>
                    <a:pt x="0" y="7163435"/>
                    <a:pt x="0" y="7149465"/>
                  </a:cubicBezTo>
                  <a:close/>
                </a:path>
              </a:pathLst>
            </a:custGeom>
            <a:solidFill>
              <a:srgbClr val="F8F8F8"/>
            </a:solidFill>
          </p:spPr>
        </p:sp>
      </p:grpSp>
      <p:grpSp>
        <p:nvGrpSpPr>
          <p:cNvPr id="11" name="Group 11"/>
          <p:cNvGrpSpPr/>
          <p:nvPr/>
        </p:nvGrpSpPr>
        <p:grpSpPr>
          <a:xfrm>
            <a:off x="8356030" y="3933379"/>
            <a:ext cx="801589" cy="38100"/>
            <a:chOff x="0" y="0"/>
            <a:chExt cx="1068785" cy="50800"/>
          </a:xfrm>
        </p:grpSpPr>
        <p:sp>
          <p:nvSpPr>
            <p:cNvPr id="12" name="Freeform 12"/>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13" name="Group 13"/>
          <p:cNvGrpSpPr/>
          <p:nvPr/>
        </p:nvGrpSpPr>
        <p:grpSpPr>
          <a:xfrm>
            <a:off x="7778725" y="3637657"/>
            <a:ext cx="629691" cy="629691"/>
            <a:chOff x="0" y="0"/>
            <a:chExt cx="839588" cy="839588"/>
          </a:xfrm>
        </p:grpSpPr>
        <p:sp>
          <p:nvSpPr>
            <p:cNvPr id="14" name="Freeform 14"/>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15" name="Freeform 15"/>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16" name="TextBox 16"/>
          <p:cNvSpPr txBox="1"/>
          <p:nvPr/>
        </p:nvSpPr>
        <p:spPr>
          <a:xfrm>
            <a:off x="7863036" y="3729037"/>
            <a:ext cx="460921" cy="473075"/>
          </a:xfrm>
          <a:prstGeom prst="rect">
            <a:avLst/>
          </a:prstGeom>
        </p:spPr>
        <p:txBody>
          <a:bodyPr lIns="0" tIns="0" rIns="0" bIns="0" rtlCol="0" anchor="t">
            <a:spAutoFit/>
          </a:bodyPr>
          <a:lstStyle/>
          <a:p>
            <a:r>
              <a:t>1</a:t>
            </a:r>
          </a:p>
        </p:txBody>
      </p:sp>
      <p:sp>
        <p:nvSpPr>
          <p:cNvPr id="17" name="TextBox 17"/>
          <p:cNvSpPr txBox="1"/>
          <p:nvPr/>
        </p:nvSpPr>
        <p:spPr>
          <a:xfrm>
            <a:off x="9429601" y="3706863"/>
            <a:ext cx="5353050" cy="461685"/>
          </a:xfrm>
          <a:prstGeom prst="rect">
            <a:avLst/>
          </a:prstGeom>
        </p:spPr>
        <p:txBody>
          <a:bodyPr lIns="0" tIns="0" rIns="0" bIns="0" rtlCol="0" anchor="t">
            <a:spAutoFit/>
          </a:bodyPr>
          <a:lstStyle/>
          <a:p>
            <a:r>
              <a:t>Immediate Response (0-2 min)</a:t>
            </a:r>
          </a:p>
        </p:txBody>
      </p:sp>
      <p:sp>
        <p:nvSpPr>
          <p:cNvPr id="18" name="TextBox 18"/>
          <p:cNvSpPr txBox="1"/>
          <p:nvPr/>
        </p:nvSpPr>
        <p:spPr>
          <a:xfrm>
            <a:off x="9429601" y="4375994"/>
            <a:ext cx="7923311" cy="658812"/>
          </a:xfrm>
          <a:prstGeom prst="rect">
            <a:avLst/>
          </a:prstGeom>
        </p:spPr>
        <p:txBody>
          <a:bodyPr lIns="0" tIns="0" rIns="0" bIns="0" rtlCol="0" anchor="t">
            <a:spAutoFit/>
          </a:bodyPr>
          <a:lstStyle/>
          <a:p>
            <a:r>
              <a:t>Activate backup payment processing, switch to manual order tracking, notify management of system status.</a:t>
            </a:r>
          </a:p>
        </p:txBody>
      </p:sp>
      <p:grpSp>
        <p:nvGrpSpPr>
          <p:cNvPr id="19" name="Group 19"/>
          <p:cNvGrpSpPr/>
          <p:nvPr/>
        </p:nvGrpSpPr>
        <p:grpSpPr>
          <a:xfrm>
            <a:off x="8356030" y="5905202"/>
            <a:ext cx="801589" cy="38100"/>
            <a:chOff x="0" y="0"/>
            <a:chExt cx="1068785" cy="50800"/>
          </a:xfrm>
        </p:grpSpPr>
        <p:sp>
          <p:nvSpPr>
            <p:cNvPr id="20" name="Freeform 20"/>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21" name="Group 21"/>
          <p:cNvGrpSpPr/>
          <p:nvPr/>
        </p:nvGrpSpPr>
        <p:grpSpPr>
          <a:xfrm>
            <a:off x="7778725" y="5609481"/>
            <a:ext cx="629691" cy="629691"/>
            <a:chOff x="0" y="0"/>
            <a:chExt cx="839588" cy="839588"/>
          </a:xfrm>
        </p:grpSpPr>
        <p:sp>
          <p:nvSpPr>
            <p:cNvPr id="22" name="Freeform 22"/>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23" name="Freeform 23"/>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24" name="TextBox 24"/>
          <p:cNvSpPr txBox="1"/>
          <p:nvPr/>
        </p:nvSpPr>
        <p:spPr>
          <a:xfrm>
            <a:off x="7863036" y="5700861"/>
            <a:ext cx="460921" cy="473075"/>
          </a:xfrm>
          <a:prstGeom prst="rect">
            <a:avLst/>
          </a:prstGeom>
        </p:spPr>
        <p:txBody>
          <a:bodyPr lIns="0" tIns="0" rIns="0" bIns="0" rtlCol="0" anchor="t">
            <a:spAutoFit/>
          </a:bodyPr>
          <a:lstStyle/>
          <a:p>
            <a:r>
              <a:t>2</a:t>
            </a:r>
          </a:p>
        </p:txBody>
      </p:sp>
      <p:sp>
        <p:nvSpPr>
          <p:cNvPr id="25" name="TextBox 25"/>
          <p:cNvSpPr txBox="1"/>
          <p:nvPr/>
        </p:nvSpPr>
        <p:spPr>
          <a:xfrm>
            <a:off x="9429601" y="5688211"/>
            <a:ext cx="5083820" cy="461248"/>
          </a:xfrm>
          <a:prstGeom prst="rect">
            <a:avLst/>
          </a:prstGeom>
        </p:spPr>
        <p:txBody>
          <a:bodyPr lIns="0" tIns="0" rIns="0" bIns="0" rtlCol="0" anchor="t">
            <a:spAutoFit/>
          </a:bodyPr>
          <a:lstStyle/>
          <a:p>
            <a:r>
              <a:t>Short-term Actions (2-15 min)</a:t>
            </a:r>
          </a:p>
        </p:txBody>
      </p:sp>
      <p:sp>
        <p:nvSpPr>
          <p:cNvPr id="26" name="TextBox 26"/>
          <p:cNvSpPr txBox="1"/>
          <p:nvPr/>
        </p:nvSpPr>
        <p:spPr>
          <a:xfrm>
            <a:off x="9429601" y="6347818"/>
            <a:ext cx="7923311" cy="658812"/>
          </a:xfrm>
          <a:prstGeom prst="rect">
            <a:avLst/>
          </a:prstGeom>
        </p:spPr>
        <p:txBody>
          <a:bodyPr lIns="0" tIns="0" rIns="0" bIns="0" rtlCol="0" anchor="t">
            <a:spAutoFit/>
          </a:bodyPr>
          <a:lstStyle/>
          <a:p>
            <a:r>
              <a:t>Deploy alternative inventory tracking, implement paper-based backup procedures, contact technical support.</a:t>
            </a:r>
          </a:p>
        </p:txBody>
      </p:sp>
      <p:grpSp>
        <p:nvGrpSpPr>
          <p:cNvPr id="27" name="Group 27"/>
          <p:cNvGrpSpPr/>
          <p:nvPr/>
        </p:nvGrpSpPr>
        <p:grpSpPr>
          <a:xfrm>
            <a:off x="8356030" y="7877026"/>
            <a:ext cx="801589" cy="38100"/>
            <a:chOff x="0" y="0"/>
            <a:chExt cx="1068785" cy="50800"/>
          </a:xfrm>
        </p:grpSpPr>
        <p:sp>
          <p:nvSpPr>
            <p:cNvPr id="28" name="Freeform 28"/>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29" name="Group 29"/>
          <p:cNvGrpSpPr/>
          <p:nvPr/>
        </p:nvGrpSpPr>
        <p:grpSpPr>
          <a:xfrm>
            <a:off x="7778725" y="7581305"/>
            <a:ext cx="629691" cy="629691"/>
            <a:chOff x="0" y="0"/>
            <a:chExt cx="839588" cy="839588"/>
          </a:xfrm>
        </p:grpSpPr>
        <p:sp>
          <p:nvSpPr>
            <p:cNvPr id="30" name="Freeform 30"/>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31" name="Freeform 31"/>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32" name="TextBox 32"/>
          <p:cNvSpPr txBox="1"/>
          <p:nvPr/>
        </p:nvSpPr>
        <p:spPr>
          <a:xfrm>
            <a:off x="7863036" y="7672685"/>
            <a:ext cx="460921" cy="473075"/>
          </a:xfrm>
          <a:prstGeom prst="rect">
            <a:avLst/>
          </a:prstGeom>
        </p:spPr>
        <p:txBody>
          <a:bodyPr lIns="0" tIns="0" rIns="0" bIns="0" rtlCol="0" anchor="t">
            <a:spAutoFit/>
          </a:bodyPr>
          <a:lstStyle/>
          <a:p>
            <a:r>
              <a:t>3</a:t>
            </a:r>
          </a:p>
        </p:txBody>
      </p:sp>
      <p:sp>
        <p:nvSpPr>
          <p:cNvPr id="33" name="TextBox 33"/>
          <p:cNvSpPr txBox="1"/>
          <p:nvPr/>
        </p:nvSpPr>
        <p:spPr>
          <a:xfrm>
            <a:off x="9429601" y="7650510"/>
            <a:ext cx="4322564" cy="461685"/>
          </a:xfrm>
          <a:prstGeom prst="rect">
            <a:avLst/>
          </a:prstGeom>
        </p:spPr>
        <p:txBody>
          <a:bodyPr lIns="0" tIns="0" rIns="0" bIns="0" rtlCol="0" anchor="t">
            <a:spAutoFit/>
          </a:bodyPr>
          <a:lstStyle/>
          <a:p>
            <a:r>
              <a:t>Recovery Phase (15+ min)</a:t>
            </a:r>
          </a:p>
        </p:txBody>
      </p:sp>
      <p:sp>
        <p:nvSpPr>
          <p:cNvPr id="34" name="TextBox 34"/>
          <p:cNvSpPr txBox="1"/>
          <p:nvPr/>
        </p:nvSpPr>
        <p:spPr>
          <a:xfrm>
            <a:off x="9429601" y="8319641"/>
            <a:ext cx="7923311" cy="658812"/>
          </a:xfrm>
          <a:prstGeom prst="rect">
            <a:avLst/>
          </a:prstGeom>
        </p:spPr>
        <p:txBody>
          <a:bodyPr lIns="0" tIns="0" rIns="0" bIns="0" rtlCol="0" anchor="t">
            <a:spAutoFit/>
          </a:bodyPr>
          <a:lstStyle/>
          <a:p>
            <a:r>
              <a:t>Execute rollback mechanisms, validate data integrity, conduct post-incident analysis for future improvements.</a:t>
            </a:r>
          </a:p>
        </p:txBody>
      </p:sp>
      <p:sp>
        <p:nvSpPr>
          <p:cNvPr id="41" name="Slide Number Placeholder 40">
            <a:extLst>
              <a:ext uri="{FF2B5EF4-FFF2-40B4-BE49-F238E27FC236}">
                <a16:creationId xmlns:a16="http://schemas.microsoft.com/office/drawing/2014/main" id="{A82D8A48-D6C2-C6E8-85DE-2768F91FAF4F}"/>
              </a:ext>
            </a:extLst>
          </p:cNvPr>
          <p:cNvSpPr>
            <a:spLocks noGrp="1"/>
          </p:cNvSpPr>
          <p:nvPr>
            <p:ph type="sldNum" sz="quarter" idx="12"/>
          </p:nvPr>
        </p:nvSpPr>
        <p:spPr/>
        <p:txBody>
          <a:bodyPr/>
          <a:lstStyle/>
          <a:p>
            <a: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992237" y="901453"/>
            <a:ext cx="10970865" cy="932875"/>
          </a:xfrm>
          <a:prstGeom prst="rect">
            <a:avLst/>
          </a:prstGeom>
        </p:spPr>
        <p:txBody>
          <a:bodyPr lIns="0" tIns="0" rIns="0" bIns="0" rtlCol="0" anchor="t">
            <a:spAutoFit/>
          </a:bodyPr>
          <a:lstStyle/>
          <a:p>
            <a:r>
              <a:t>BUILDING RESILIENT Restaurant Management System SYSTEMS</a:t>
            </a:r>
          </a:p>
        </p:txBody>
      </p:sp>
      <p:sp>
        <p:nvSpPr>
          <p:cNvPr id="7" name="TextBox 7"/>
          <p:cNvSpPr txBox="1"/>
          <p:nvPr/>
        </p:nvSpPr>
        <p:spPr>
          <a:xfrm>
            <a:off x="1647974" y="4497586"/>
            <a:ext cx="4075807" cy="514350"/>
          </a:xfrm>
          <a:prstGeom prst="rect">
            <a:avLst/>
          </a:prstGeom>
        </p:spPr>
        <p:txBody>
          <a:bodyPr lIns="0" tIns="0" rIns="0" bIns="0" rtlCol="0" anchor="t">
            <a:spAutoFit/>
          </a:bodyPr>
          <a:lstStyle/>
          <a:p>
            <a:r>
              <a:t>Proactive Mitigation</a:t>
            </a:r>
          </a:p>
        </p:txBody>
      </p:sp>
      <p:sp>
        <p:nvSpPr>
          <p:cNvPr id="8" name="TextBox 8"/>
          <p:cNvSpPr txBox="1"/>
          <p:nvPr/>
        </p:nvSpPr>
        <p:spPr>
          <a:xfrm>
            <a:off x="992237" y="5207050"/>
            <a:ext cx="4731544" cy="1073150"/>
          </a:xfrm>
          <a:prstGeom prst="rect">
            <a:avLst/>
          </a:prstGeom>
        </p:spPr>
        <p:txBody>
          <a:bodyPr lIns="0" tIns="0" rIns="0" bIns="0" rtlCol="0" anchor="t">
            <a:spAutoFit/>
          </a:bodyPr>
          <a:lstStyle/>
          <a:p>
            <a:r>
              <a:t>Prevent issues before they impact operations through robust system design</a:t>
            </a:r>
          </a:p>
        </p:txBody>
      </p:sp>
      <p:grpSp>
        <p:nvGrpSpPr>
          <p:cNvPr id="9" name="Group 9"/>
          <p:cNvGrpSpPr/>
          <p:nvPr/>
        </p:nvGrpSpPr>
        <p:grpSpPr>
          <a:xfrm>
            <a:off x="6290816" y="2575769"/>
            <a:ext cx="5706219" cy="5706219"/>
            <a:chOff x="0" y="0"/>
            <a:chExt cx="7608292" cy="7608292"/>
          </a:xfrm>
        </p:grpSpPr>
        <p:sp>
          <p:nvSpPr>
            <p:cNvPr id="10" name="Freeform 10"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2"/>
              <a:stretch>
                <a:fillRect/>
              </a:stretch>
            </a:blipFill>
          </p:spPr>
        </p:sp>
      </p:grpSp>
      <p:grpSp>
        <p:nvGrpSpPr>
          <p:cNvPr id="11" name="Group 11"/>
          <p:cNvGrpSpPr/>
          <p:nvPr/>
        </p:nvGrpSpPr>
        <p:grpSpPr>
          <a:xfrm>
            <a:off x="6934646" y="5153025"/>
            <a:ext cx="424160" cy="551409"/>
            <a:chOff x="0" y="0"/>
            <a:chExt cx="565547" cy="735212"/>
          </a:xfrm>
        </p:grpSpPr>
        <p:sp>
          <p:nvSpPr>
            <p:cNvPr id="12" name="Freeform 12"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3"/>
              <a:stretch>
                <a:fillRect l="-431" r="-433" b="-1"/>
              </a:stretch>
            </a:blipFill>
          </p:spPr>
        </p:sp>
      </p:grpSp>
      <p:sp>
        <p:nvSpPr>
          <p:cNvPr id="13" name="TextBox 13"/>
          <p:cNvSpPr txBox="1"/>
          <p:nvPr/>
        </p:nvSpPr>
        <p:spPr>
          <a:xfrm>
            <a:off x="12422237" y="3148905"/>
            <a:ext cx="4330601" cy="496253"/>
          </a:xfrm>
          <a:prstGeom prst="rect">
            <a:avLst/>
          </a:prstGeom>
        </p:spPr>
        <p:txBody>
          <a:bodyPr lIns="0" tIns="0" rIns="0" bIns="0" rtlCol="0" anchor="t">
            <a:spAutoFit/>
          </a:bodyPr>
          <a:lstStyle/>
          <a:p>
            <a:r>
              <a:t>Continuous Monitoring</a:t>
            </a:r>
          </a:p>
        </p:txBody>
      </p:sp>
      <p:sp>
        <p:nvSpPr>
          <p:cNvPr id="14" name="TextBox 14"/>
          <p:cNvSpPr txBox="1"/>
          <p:nvPr/>
        </p:nvSpPr>
        <p:spPr>
          <a:xfrm>
            <a:off x="12422237" y="3858369"/>
            <a:ext cx="4873526" cy="711200"/>
          </a:xfrm>
          <a:prstGeom prst="rect">
            <a:avLst/>
          </a:prstGeom>
        </p:spPr>
        <p:txBody>
          <a:bodyPr lIns="0" tIns="0" rIns="0" bIns="0" rtlCol="0" anchor="t">
            <a:spAutoFit/>
          </a:bodyPr>
          <a:lstStyle/>
          <a:p>
            <a:r>
              <a:t>Real-time oversight ensures early detection of potential problems</a:t>
            </a:r>
          </a:p>
        </p:txBody>
      </p:sp>
      <p:grpSp>
        <p:nvGrpSpPr>
          <p:cNvPr id="15" name="Group 15"/>
          <p:cNvGrpSpPr/>
          <p:nvPr/>
        </p:nvGrpSpPr>
        <p:grpSpPr>
          <a:xfrm>
            <a:off x="6290816" y="2575769"/>
            <a:ext cx="5706219" cy="5706219"/>
            <a:chOff x="0" y="0"/>
            <a:chExt cx="7608292" cy="7608292"/>
          </a:xfrm>
        </p:grpSpPr>
        <p:sp>
          <p:nvSpPr>
            <p:cNvPr id="16" name="Freeform 16"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4"/>
              <a:stretch>
                <a:fillRect/>
              </a:stretch>
            </a:blipFill>
          </p:spPr>
        </p:sp>
      </p:grpSp>
      <p:grpSp>
        <p:nvGrpSpPr>
          <p:cNvPr id="17" name="Group 17"/>
          <p:cNvGrpSpPr/>
          <p:nvPr/>
        </p:nvGrpSpPr>
        <p:grpSpPr>
          <a:xfrm>
            <a:off x="9930407" y="3423494"/>
            <a:ext cx="424160" cy="551409"/>
            <a:chOff x="0" y="0"/>
            <a:chExt cx="565547" cy="735212"/>
          </a:xfrm>
        </p:grpSpPr>
        <p:sp>
          <p:nvSpPr>
            <p:cNvPr id="18" name="Freeform 18"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5"/>
              <a:stretch>
                <a:fillRect l="-431" r="-433" b="-1"/>
              </a:stretch>
            </a:blipFill>
          </p:spPr>
        </p:sp>
      </p:grpSp>
      <p:sp>
        <p:nvSpPr>
          <p:cNvPr id="19" name="TextBox 19"/>
          <p:cNvSpPr txBox="1"/>
          <p:nvPr/>
        </p:nvSpPr>
        <p:spPr>
          <a:xfrm>
            <a:off x="12422237" y="6214616"/>
            <a:ext cx="4075808" cy="514350"/>
          </a:xfrm>
          <a:prstGeom prst="rect">
            <a:avLst/>
          </a:prstGeom>
        </p:spPr>
        <p:txBody>
          <a:bodyPr lIns="0" tIns="0" rIns="0" bIns="0" rtlCol="0" anchor="t">
            <a:spAutoFit/>
          </a:bodyPr>
          <a:lstStyle/>
          <a:p>
            <a:r>
              <a:t>Rapid Response</a:t>
            </a:r>
          </a:p>
        </p:txBody>
      </p:sp>
      <p:sp>
        <p:nvSpPr>
          <p:cNvPr id="20" name="TextBox 20"/>
          <p:cNvSpPr txBox="1"/>
          <p:nvPr/>
        </p:nvSpPr>
        <p:spPr>
          <a:xfrm>
            <a:off x="12422237" y="6924080"/>
            <a:ext cx="4873526" cy="711200"/>
          </a:xfrm>
          <a:prstGeom prst="rect">
            <a:avLst/>
          </a:prstGeom>
        </p:spPr>
        <p:txBody>
          <a:bodyPr lIns="0" tIns="0" rIns="0" bIns="0" rtlCol="0" anchor="t">
            <a:spAutoFit/>
          </a:bodyPr>
          <a:lstStyle/>
          <a:p>
            <a:r>
              <a:t>Quick action protocols minimize downtime and protect revenue</a:t>
            </a:r>
          </a:p>
        </p:txBody>
      </p:sp>
      <p:grpSp>
        <p:nvGrpSpPr>
          <p:cNvPr id="21" name="Group 21"/>
          <p:cNvGrpSpPr/>
          <p:nvPr/>
        </p:nvGrpSpPr>
        <p:grpSpPr>
          <a:xfrm>
            <a:off x="6290816" y="2575769"/>
            <a:ext cx="5706219" cy="5706219"/>
            <a:chOff x="0" y="0"/>
            <a:chExt cx="7608292" cy="7608292"/>
          </a:xfrm>
        </p:grpSpPr>
        <p:sp>
          <p:nvSpPr>
            <p:cNvPr id="22" name="Freeform 22"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6"/>
              <a:stretch>
                <a:fillRect/>
              </a:stretch>
            </a:blipFill>
          </p:spPr>
        </p:sp>
      </p:grpSp>
      <p:grpSp>
        <p:nvGrpSpPr>
          <p:cNvPr id="23" name="Group 23"/>
          <p:cNvGrpSpPr/>
          <p:nvPr/>
        </p:nvGrpSpPr>
        <p:grpSpPr>
          <a:xfrm>
            <a:off x="9930407" y="6882556"/>
            <a:ext cx="424160" cy="551409"/>
            <a:chOff x="0" y="0"/>
            <a:chExt cx="565547" cy="735212"/>
          </a:xfrm>
        </p:grpSpPr>
        <p:sp>
          <p:nvSpPr>
            <p:cNvPr id="24" name="Freeform 24"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7"/>
              <a:stretch>
                <a:fillRect l="-431" r="-433" b="-1"/>
              </a:stretch>
            </a:blipFill>
          </p:spPr>
        </p:sp>
      </p:grpSp>
      <p:sp>
        <p:nvSpPr>
          <p:cNvPr id="25" name="TextBox 25"/>
          <p:cNvSpPr txBox="1"/>
          <p:nvPr/>
        </p:nvSpPr>
        <p:spPr>
          <a:xfrm>
            <a:off x="992237" y="8581876"/>
            <a:ext cx="16303526" cy="711200"/>
          </a:xfrm>
          <a:prstGeom prst="rect">
            <a:avLst/>
          </a:prstGeom>
        </p:spPr>
        <p:txBody>
          <a:bodyPr lIns="0" tIns="0" rIns="0" bIns="0" rtlCol="0" anchor="t">
            <a:spAutoFit/>
          </a:bodyPr>
          <a:lstStyle/>
          <a:p>
            <a:r>
              <a:t>The RMMM framework provides a comprehensive approach to risk management that keeps your restaurant Restaurant Management System operational when it matters most.</a:t>
            </a:r>
          </a:p>
        </p:txBody>
      </p:sp>
      <p:sp>
        <p:nvSpPr>
          <p:cNvPr id="34" name="Slide Number Placeholder 33">
            <a:extLst>
              <a:ext uri="{FF2B5EF4-FFF2-40B4-BE49-F238E27FC236}">
                <a16:creationId xmlns:a16="http://schemas.microsoft.com/office/drawing/2014/main" id="{095A93AB-1E3B-49AC-935A-499A81A507AF}"/>
              </a:ext>
            </a:extLst>
          </p:cNvPr>
          <p:cNvSpPr>
            <a:spLocks noGrp="1"/>
          </p:cNvSpPr>
          <p:nvPr>
            <p:ph type="sldNum" sz="quarter" idx="12"/>
          </p:nvPr>
        </p:nvSpPr>
        <p:spPr/>
        <p:txBody>
          <a:bodyPr/>
          <a:lstStyle/>
          <a:p>
            <a: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p/>
        </p:txBody>
      </p:sp>
      <p:sp>
        <p:nvSpPr>
          <p:cNvPr id="3" name="TextBox 3"/>
          <p:cNvSpPr txBox="1"/>
          <p:nvPr/>
        </p:nvSpPr>
        <p:spPr>
          <a:xfrm>
            <a:off x="4485814" y="2204896"/>
            <a:ext cx="9316373" cy="4963287"/>
          </a:xfrm>
          <a:prstGeom prst="rect">
            <a:avLst/>
          </a:prstGeom>
        </p:spPr>
        <p:txBody>
          <a:bodyPr lIns="0" tIns="0" rIns="0" bIns="0" rtlCol="0" anchor="t">
            <a:spAutoFit/>
          </a:bodyPr>
          <a:lstStyle/>
          <a:p>
            <a:r>
              <a:t>ANALYSIS MODELLING</a:t>
            </a:r>
          </a:p>
        </p:txBody>
      </p:sp>
      <p:sp>
        <p:nvSpPr>
          <p:cNvPr id="12" name="Slide Number Placeholder 11">
            <a:extLst>
              <a:ext uri="{FF2B5EF4-FFF2-40B4-BE49-F238E27FC236}">
                <a16:creationId xmlns:a16="http://schemas.microsoft.com/office/drawing/2014/main" id="{9E9EDBAE-2940-6B3C-1D84-CF9DB1B5DD51}"/>
              </a:ext>
            </a:extLst>
          </p:cNvPr>
          <p:cNvSpPr>
            <a:spLocks noGrp="1"/>
          </p:cNvSpPr>
          <p:nvPr>
            <p:ph type="sldNum" sz="quarter" idx="12"/>
          </p:nvPr>
        </p:nvSpPr>
        <p:spPr/>
        <p:txBody>
          <a:bodyPr/>
          <a:lstStyle/>
          <a:p>
            <a: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739044" y="2245932"/>
            <a:ext cx="10416144" cy="6275727"/>
          </a:xfrm>
          <a:custGeom>
            <a:avLst/>
            <a:gdLst/>
            <a:ahLst/>
            <a:cxnLst/>
            <a:rect l="l" t="t" r="r" b="b"/>
            <a:pathLst>
              <a:path w="10416144" h="6275727">
                <a:moveTo>
                  <a:pt x="0" y="0"/>
                </a:moveTo>
                <a:lnTo>
                  <a:pt x="10416143" y="0"/>
                </a:lnTo>
                <a:lnTo>
                  <a:pt x="10416143" y="6275727"/>
                </a:lnTo>
                <a:lnTo>
                  <a:pt x="0" y="6275727"/>
                </a:lnTo>
                <a:lnTo>
                  <a:pt x="0" y="0"/>
                </a:lnTo>
                <a:close/>
              </a:path>
            </a:pathLst>
          </a:custGeom>
          <a:blipFill>
            <a:blip r:embed="rId2"/>
            <a:stretch>
              <a:fillRect/>
            </a:stretch>
          </a:blipFill>
        </p:spPr>
        <p:txBody>
          <a:bodyPr/>
          <a:p/>
        </p:txBody>
      </p:sp>
      <p:sp>
        <p:nvSpPr>
          <p:cNvPr id="3" name="TextBox 3"/>
          <p:cNvSpPr txBox="1"/>
          <p:nvPr/>
        </p:nvSpPr>
        <p:spPr>
          <a:xfrm>
            <a:off x="1028700" y="1000125"/>
            <a:ext cx="7672277" cy="637987"/>
          </a:xfrm>
          <a:prstGeom prst="rect">
            <a:avLst/>
          </a:prstGeom>
        </p:spPr>
        <p:txBody>
          <a:bodyPr lIns="0" tIns="0" rIns="0" bIns="0" rtlCol="0" anchor="t">
            <a:spAutoFit/>
          </a:bodyPr>
          <a:lstStyle/>
          <a:p>
            <a:r>
              <a:t>Activity Diagram for admin</a:t>
            </a:r>
          </a:p>
        </p:txBody>
      </p:sp>
      <p:sp>
        <p:nvSpPr>
          <p:cNvPr id="4" name="TextBox 4"/>
          <p:cNvSpPr txBox="1"/>
          <p:nvPr/>
        </p:nvSpPr>
        <p:spPr>
          <a:xfrm>
            <a:off x="5110977" y="8837021"/>
            <a:ext cx="7672277" cy="309468"/>
          </a:xfrm>
          <a:prstGeom prst="rect">
            <a:avLst/>
          </a:prstGeom>
        </p:spPr>
        <p:txBody>
          <a:bodyPr lIns="0" tIns="0" rIns="0" bIns="0" rtlCol="0" anchor="t">
            <a:spAutoFit/>
          </a:bodyPr>
          <a:lstStyle/>
          <a:p>
            <a:r>
              <a:t>Fig : Activity Diagram for admin</a:t>
            </a:r>
          </a:p>
        </p:txBody>
      </p:sp>
      <p:sp>
        <p:nvSpPr>
          <p:cNvPr id="13" name="Slide Number Placeholder 12">
            <a:extLst>
              <a:ext uri="{FF2B5EF4-FFF2-40B4-BE49-F238E27FC236}">
                <a16:creationId xmlns:a16="http://schemas.microsoft.com/office/drawing/2014/main" id="{EEF0EFCC-D3EB-2016-FC67-5C3BFCB0F09F}"/>
              </a:ext>
            </a:extLst>
          </p:cNvPr>
          <p:cNvSpPr>
            <a:spLocks noGrp="1"/>
          </p:cNvSpPr>
          <p:nvPr>
            <p:ph type="sldNum" sz="quarter" idx="12"/>
          </p:nvPr>
        </p:nvSpPr>
        <p:spPr/>
        <p:txBody>
          <a:bodyPr/>
          <a:lstStyle/>
          <a:p>
            <a: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p/>
        </p:txBody>
      </p:sp>
      <p:sp>
        <p:nvSpPr>
          <p:cNvPr id="3" name="TextBox 3"/>
          <p:cNvSpPr txBox="1"/>
          <p:nvPr/>
        </p:nvSpPr>
        <p:spPr>
          <a:xfrm>
            <a:off x="4775911" y="3860800"/>
            <a:ext cx="8736178" cy="2415223"/>
          </a:xfrm>
          <a:prstGeom prst="rect">
            <a:avLst/>
          </a:prstGeom>
        </p:spPr>
        <p:txBody>
          <a:bodyPr lIns="0" tIns="0" rIns="0" bIns="0" rtlCol="0" anchor="t">
            <a:spAutoFit/>
          </a:bodyPr>
          <a:lstStyle/>
          <a:p>
            <a:r>
              <a:t>SWIM LANE DIAGRAMS</a:t>
            </a:r>
          </a:p>
        </p:txBody>
      </p:sp>
      <p:sp>
        <p:nvSpPr>
          <p:cNvPr id="12" name="Slide Number Placeholder 11">
            <a:extLst>
              <a:ext uri="{FF2B5EF4-FFF2-40B4-BE49-F238E27FC236}">
                <a16:creationId xmlns:a16="http://schemas.microsoft.com/office/drawing/2014/main" id="{78F264D4-316A-511B-36EE-046A986ADB10}"/>
              </a:ext>
            </a:extLst>
          </p:cNvPr>
          <p:cNvSpPr>
            <a:spLocks noGrp="1"/>
          </p:cNvSpPr>
          <p:nvPr>
            <p:ph type="sldNum" sz="quarter" idx="12"/>
          </p:nvPr>
        </p:nvSpPr>
        <p:spPr/>
        <p:txBody>
          <a:bodyPr/>
          <a:lstStyle/>
          <a:p>
            <a: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925187" y="1232907"/>
            <a:ext cx="5709465" cy="7821185"/>
          </a:xfrm>
          <a:custGeom>
            <a:avLst/>
            <a:gdLst/>
            <a:ahLst/>
            <a:cxnLst/>
            <a:rect l="l" t="t" r="r" b="b"/>
            <a:pathLst>
              <a:path w="5709465" h="7821185">
                <a:moveTo>
                  <a:pt x="0" y="0"/>
                </a:moveTo>
                <a:lnTo>
                  <a:pt x="5709465" y="0"/>
                </a:lnTo>
                <a:lnTo>
                  <a:pt x="5709465" y="7821186"/>
                </a:lnTo>
                <a:lnTo>
                  <a:pt x="0" y="7821186"/>
                </a:lnTo>
                <a:lnTo>
                  <a:pt x="0" y="0"/>
                </a:lnTo>
                <a:close/>
              </a:path>
            </a:pathLst>
          </a:custGeom>
          <a:blipFill>
            <a:blip r:embed="rId2"/>
            <a:stretch>
              <a:fillRect/>
            </a:stretch>
          </a:blipFill>
        </p:spPr>
        <p:txBody>
          <a:bodyPr/>
          <a:p/>
        </p:txBody>
      </p:sp>
      <p:sp>
        <p:nvSpPr>
          <p:cNvPr id="3" name="TextBox 3"/>
          <p:cNvSpPr txBox="1"/>
          <p:nvPr/>
        </p:nvSpPr>
        <p:spPr>
          <a:xfrm>
            <a:off x="0" y="659117"/>
            <a:ext cx="8206300" cy="656770"/>
          </a:xfrm>
          <a:prstGeom prst="rect">
            <a:avLst/>
          </a:prstGeom>
        </p:spPr>
        <p:txBody>
          <a:bodyPr lIns="0" tIns="0" rIns="0" bIns="0" rtlCol="0" anchor="t">
            <a:spAutoFit/>
          </a:bodyPr>
          <a:lstStyle/>
          <a:p>
            <a:r>
              <a:t>Swim-lane Diagram for Authentication &amp; Login Process</a:t>
            </a:r>
          </a:p>
        </p:txBody>
      </p:sp>
      <p:sp>
        <p:nvSpPr>
          <p:cNvPr id="4" name="TextBox 4"/>
          <p:cNvSpPr txBox="1"/>
          <p:nvPr/>
        </p:nvSpPr>
        <p:spPr>
          <a:xfrm>
            <a:off x="698632" y="9239250"/>
            <a:ext cx="7927628" cy="331650"/>
          </a:xfrm>
          <a:prstGeom prst="rect">
            <a:avLst/>
          </a:prstGeom>
        </p:spPr>
        <p:txBody>
          <a:bodyPr lIns="0" tIns="0" rIns="0" bIns="0" rtlCol="0" anchor="t">
            <a:spAutoFit/>
          </a:bodyPr>
          <a:lstStyle/>
          <a:p>
            <a:r>
              <a:t>Fig : Swim-lane Diagram for Authentication &amp; Login Process</a:t>
            </a:r>
          </a:p>
        </p:txBody>
      </p:sp>
      <p:sp>
        <p:nvSpPr>
          <p:cNvPr id="5" name="Freeform 5"/>
          <p:cNvSpPr/>
          <p:nvPr/>
        </p:nvSpPr>
        <p:spPr>
          <a:xfrm>
            <a:off x="11571144" y="1232907"/>
            <a:ext cx="4790484" cy="7951011"/>
          </a:xfrm>
          <a:custGeom>
            <a:avLst/>
            <a:gdLst/>
            <a:ahLst/>
            <a:cxnLst/>
            <a:rect l="l" t="t" r="r" b="b"/>
            <a:pathLst>
              <a:path w="4790484" h="7951011">
                <a:moveTo>
                  <a:pt x="0" y="0"/>
                </a:moveTo>
                <a:lnTo>
                  <a:pt x="4790484" y="0"/>
                </a:lnTo>
                <a:lnTo>
                  <a:pt x="4790484" y="7951011"/>
                </a:lnTo>
                <a:lnTo>
                  <a:pt x="0" y="7951011"/>
                </a:lnTo>
                <a:lnTo>
                  <a:pt x="0" y="0"/>
                </a:lnTo>
                <a:close/>
              </a:path>
            </a:pathLst>
          </a:custGeom>
          <a:blipFill>
            <a:blip r:embed="rId3"/>
            <a:stretch>
              <a:fillRect/>
            </a:stretch>
          </a:blipFill>
        </p:spPr>
        <p:txBody>
          <a:bodyPr/>
          <a:p/>
        </p:txBody>
      </p:sp>
      <p:sp>
        <p:nvSpPr>
          <p:cNvPr id="6" name="TextBox 6"/>
          <p:cNvSpPr txBox="1"/>
          <p:nvPr/>
        </p:nvSpPr>
        <p:spPr>
          <a:xfrm>
            <a:off x="9450583" y="705305"/>
            <a:ext cx="9031607" cy="323395"/>
          </a:xfrm>
          <a:prstGeom prst="rect">
            <a:avLst/>
          </a:prstGeom>
        </p:spPr>
        <p:txBody>
          <a:bodyPr lIns="0" tIns="0" rIns="0" bIns="0" rtlCol="0" anchor="t">
            <a:spAutoFit/>
          </a:bodyPr>
          <a:lstStyle/>
          <a:p>
            <a:r>
              <a:t>Swim-lane Diagram for Menu Management</a:t>
            </a:r>
          </a:p>
        </p:txBody>
      </p:sp>
      <p:sp>
        <p:nvSpPr>
          <p:cNvPr id="7" name="TextBox 7"/>
          <p:cNvSpPr txBox="1"/>
          <p:nvPr/>
        </p:nvSpPr>
        <p:spPr>
          <a:xfrm>
            <a:off x="10915043" y="9239250"/>
            <a:ext cx="6424761" cy="331650"/>
          </a:xfrm>
          <a:prstGeom prst="rect">
            <a:avLst/>
          </a:prstGeom>
        </p:spPr>
        <p:txBody>
          <a:bodyPr lIns="0" tIns="0" rIns="0" bIns="0" rtlCol="0" anchor="t">
            <a:spAutoFit/>
          </a:bodyPr>
          <a:lstStyle/>
          <a:p>
            <a:r>
              <a:t>Fig : Swim-lane Diagram for Menu Management</a:t>
            </a:r>
          </a:p>
        </p:txBody>
      </p:sp>
      <p:sp>
        <p:nvSpPr>
          <p:cNvPr id="16" name="Slide Number Placeholder 15">
            <a:extLst>
              <a:ext uri="{FF2B5EF4-FFF2-40B4-BE49-F238E27FC236}">
                <a16:creationId xmlns:a16="http://schemas.microsoft.com/office/drawing/2014/main" id="{DB2383B2-C65A-42D4-2D51-10FD85331134}"/>
              </a:ext>
            </a:extLst>
          </p:cNvPr>
          <p:cNvSpPr>
            <a:spLocks noGrp="1"/>
          </p:cNvSpPr>
          <p:nvPr>
            <p:ph type="sldNum" sz="quarter" idx="12"/>
          </p:nvPr>
        </p:nvSpPr>
        <p:spPr/>
        <p:txBody>
          <a:bodyPr/>
          <a:lstStyle/>
          <a:p>
            <a: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114286" y="826041"/>
            <a:ext cx="5282721" cy="8254252"/>
          </a:xfrm>
          <a:custGeom>
            <a:avLst/>
            <a:gdLst/>
            <a:ahLst/>
            <a:cxnLst/>
            <a:rect l="l" t="t" r="r" b="b"/>
            <a:pathLst>
              <a:path w="5282721" h="8254252">
                <a:moveTo>
                  <a:pt x="0" y="0"/>
                </a:moveTo>
                <a:lnTo>
                  <a:pt x="5282721" y="0"/>
                </a:lnTo>
                <a:lnTo>
                  <a:pt x="5282721" y="8254251"/>
                </a:lnTo>
                <a:lnTo>
                  <a:pt x="0" y="8254251"/>
                </a:lnTo>
                <a:lnTo>
                  <a:pt x="0" y="0"/>
                </a:lnTo>
                <a:close/>
              </a:path>
            </a:pathLst>
          </a:custGeom>
          <a:blipFill>
            <a:blip r:embed="rId2"/>
            <a:stretch>
              <a:fillRect/>
            </a:stretch>
          </a:blipFill>
        </p:spPr>
        <p:txBody>
          <a:bodyPr/>
          <a:p/>
        </p:txBody>
      </p:sp>
      <p:sp>
        <p:nvSpPr>
          <p:cNvPr id="3" name="TextBox 3"/>
          <p:cNvSpPr txBox="1"/>
          <p:nvPr/>
        </p:nvSpPr>
        <p:spPr>
          <a:xfrm>
            <a:off x="275523" y="362405"/>
            <a:ext cx="6960247" cy="666295"/>
          </a:xfrm>
          <a:prstGeom prst="rect">
            <a:avLst/>
          </a:prstGeom>
        </p:spPr>
        <p:txBody>
          <a:bodyPr lIns="0" tIns="0" rIns="0" bIns="0" rtlCol="0" anchor="t">
            <a:spAutoFit/>
          </a:bodyPr>
          <a:lstStyle/>
          <a:p>
            <a:r>
              <a:t>SWIM-LANE DIAGRAM FOR ORDER PROCESSING</a:t>
            </a:r>
          </a:p>
        </p:txBody>
      </p:sp>
      <p:sp>
        <p:nvSpPr>
          <p:cNvPr id="4" name="TextBox 4"/>
          <p:cNvSpPr txBox="1"/>
          <p:nvPr/>
        </p:nvSpPr>
        <p:spPr>
          <a:xfrm>
            <a:off x="1005377" y="9239250"/>
            <a:ext cx="5500539" cy="349249"/>
          </a:xfrm>
          <a:prstGeom prst="rect">
            <a:avLst/>
          </a:prstGeom>
        </p:spPr>
        <p:txBody>
          <a:bodyPr lIns="0" tIns="0" rIns="0" bIns="0" rtlCol="0" anchor="t">
            <a:spAutoFit/>
          </a:bodyPr>
          <a:lstStyle/>
          <a:p>
            <a:r>
              <a:t>Fig : Swim-lane Diagram Order Processing</a:t>
            </a:r>
          </a:p>
        </p:txBody>
      </p:sp>
      <p:sp>
        <p:nvSpPr>
          <p:cNvPr id="5" name="Freeform 5"/>
          <p:cNvSpPr/>
          <p:nvPr/>
        </p:nvSpPr>
        <p:spPr>
          <a:xfrm>
            <a:off x="10636951" y="789468"/>
            <a:ext cx="5164074" cy="8229600"/>
          </a:xfrm>
          <a:custGeom>
            <a:avLst/>
            <a:gdLst/>
            <a:ahLst/>
            <a:cxnLst/>
            <a:rect l="l" t="t" r="r" b="b"/>
            <a:pathLst>
              <a:path w="5164074" h="8229600">
                <a:moveTo>
                  <a:pt x="0" y="0"/>
                </a:moveTo>
                <a:lnTo>
                  <a:pt x="5164074" y="0"/>
                </a:lnTo>
                <a:lnTo>
                  <a:pt x="5164074" y="8229600"/>
                </a:lnTo>
                <a:lnTo>
                  <a:pt x="0" y="8229600"/>
                </a:lnTo>
                <a:lnTo>
                  <a:pt x="0" y="0"/>
                </a:lnTo>
                <a:close/>
              </a:path>
            </a:pathLst>
          </a:custGeom>
          <a:blipFill>
            <a:blip r:embed="rId3"/>
            <a:stretch>
              <a:fillRect/>
            </a:stretch>
          </a:blipFill>
        </p:spPr>
        <p:txBody>
          <a:bodyPr/>
          <a:p/>
        </p:txBody>
      </p:sp>
      <p:sp>
        <p:nvSpPr>
          <p:cNvPr id="6" name="TextBox 6"/>
          <p:cNvSpPr txBox="1"/>
          <p:nvPr/>
        </p:nvSpPr>
        <p:spPr>
          <a:xfrm>
            <a:off x="9878308" y="325832"/>
            <a:ext cx="7380992" cy="666295"/>
          </a:xfrm>
          <a:prstGeom prst="rect">
            <a:avLst/>
          </a:prstGeom>
        </p:spPr>
        <p:txBody>
          <a:bodyPr lIns="0" tIns="0" rIns="0" bIns="0" rtlCol="0" anchor="t">
            <a:spAutoFit/>
          </a:bodyPr>
          <a:lstStyle/>
          <a:p>
            <a:r>
              <a:t>SWIM-LANE DIAGRAM FOR INVENTORY MANAGEMENT</a:t>
            </a:r>
          </a:p>
        </p:txBody>
      </p:sp>
      <p:sp>
        <p:nvSpPr>
          <p:cNvPr id="7" name="TextBox 7"/>
          <p:cNvSpPr txBox="1"/>
          <p:nvPr/>
        </p:nvSpPr>
        <p:spPr>
          <a:xfrm>
            <a:off x="10112494" y="9220276"/>
            <a:ext cx="6912620" cy="331650"/>
          </a:xfrm>
          <a:prstGeom prst="rect">
            <a:avLst/>
          </a:prstGeom>
        </p:spPr>
        <p:txBody>
          <a:bodyPr lIns="0" tIns="0" rIns="0" bIns="0" rtlCol="0" anchor="t">
            <a:spAutoFit/>
          </a:bodyPr>
          <a:lstStyle/>
          <a:p>
            <a:r>
              <a:t>Fig : Swim-lane Diagram for Inventory Management</a:t>
            </a:r>
          </a:p>
        </p:txBody>
      </p:sp>
      <p:sp>
        <p:nvSpPr>
          <p:cNvPr id="16" name="Slide Number Placeholder 15">
            <a:extLst>
              <a:ext uri="{FF2B5EF4-FFF2-40B4-BE49-F238E27FC236}">
                <a16:creationId xmlns:a16="http://schemas.microsoft.com/office/drawing/2014/main" id="{3FCE2A3C-D20C-6F7D-C46D-26634051F631}"/>
              </a:ext>
            </a:extLst>
          </p:cNvPr>
          <p:cNvSpPr>
            <a:spLocks noGrp="1"/>
          </p:cNvSpPr>
          <p:nvPr>
            <p:ph type="sldNum" sz="quarter" idx="12"/>
          </p:nvPr>
        </p:nvSpPr>
        <p:spPr/>
        <p:txBody>
          <a:bodyPr/>
          <a:lstStyle/>
          <a:p>
            <a: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77589" y="1495728"/>
            <a:ext cx="3869798" cy="6356958"/>
          </a:xfrm>
          <a:custGeom>
            <a:avLst/>
            <a:gdLst/>
            <a:ahLst/>
            <a:cxnLst/>
            <a:rect l="l" t="t" r="r" b="b"/>
            <a:pathLst>
              <a:path w="3869798" h="6356958">
                <a:moveTo>
                  <a:pt x="0" y="0"/>
                </a:moveTo>
                <a:lnTo>
                  <a:pt x="3869799" y="0"/>
                </a:lnTo>
                <a:lnTo>
                  <a:pt x="3869799" y="6356958"/>
                </a:lnTo>
                <a:lnTo>
                  <a:pt x="0" y="6356958"/>
                </a:lnTo>
                <a:lnTo>
                  <a:pt x="0" y="0"/>
                </a:lnTo>
                <a:close/>
              </a:path>
            </a:pathLst>
          </a:custGeom>
          <a:blipFill>
            <a:blip r:embed="rId2"/>
            <a:stretch>
              <a:fillRect/>
            </a:stretch>
          </a:blipFill>
        </p:spPr>
        <p:txBody>
          <a:bodyPr/>
          <a:p/>
        </p:txBody>
      </p:sp>
      <p:sp>
        <p:nvSpPr>
          <p:cNvPr id="3" name="TextBox 3"/>
          <p:cNvSpPr txBox="1"/>
          <p:nvPr/>
        </p:nvSpPr>
        <p:spPr>
          <a:xfrm>
            <a:off x="356900" y="607191"/>
            <a:ext cx="7380992" cy="656770"/>
          </a:xfrm>
          <a:prstGeom prst="rect">
            <a:avLst/>
          </a:prstGeom>
        </p:spPr>
        <p:txBody>
          <a:bodyPr lIns="0" tIns="0" rIns="0" bIns="0" rtlCol="0" anchor="t">
            <a:spAutoFit/>
          </a:bodyPr>
          <a:lstStyle/>
          <a:p>
            <a:r>
              <a:t>Swim-lane Diagram for Report &amp; Analytics</a:t>
            </a:r>
          </a:p>
        </p:txBody>
      </p:sp>
      <p:sp>
        <p:nvSpPr>
          <p:cNvPr id="4" name="TextBox 4"/>
          <p:cNvSpPr txBox="1"/>
          <p:nvPr/>
        </p:nvSpPr>
        <p:spPr>
          <a:xfrm>
            <a:off x="1054458" y="8451393"/>
            <a:ext cx="5014168" cy="270781"/>
          </a:xfrm>
          <a:prstGeom prst="rect">
            <a:avLst/>
          </a:prstGeom>
        </p:spPr>
        <p:txBody>
          <a:bodyPr lIns="0" tIns="0" rIns="0" bIns="0" rtlCol="0" anchor="t">
            <a:spAutoFit/>
          </a:bodyPr>
          <a:lstStyle/>
          <a:p>
            <a:r>
              <a:t>Fig : Swim-lane Diagram for Report &amp; Analytics</a:t>
            </a:r>
          </a:p>
        </p:txBody>
      </p:sp>
      <p:sp>
        <p:nvSpPr>
          <p:cNvPr id="5" name="Freeform 5"/>
          <p:cNvSpPr/>
          <p:nvPr/>
        </p:nvSpPr>
        <p:spPr>
          <a:xfrm>
            <a:off x="10116439" y="1364435"/>
            <a:ext cx="3750605" cy="6356958"/>
          </a:xfrm>
          <a:custGeom>
            <a:avLst/>
            <a:gdLst/>
            <a:ahLst/>
            <a:cxnLst/>
            <a:rect l="l" t="t" r="r" b="b"/>
            <a:pathLst>
              <a:path w="3750605" h="6356958">
                <a:moveTo>
                  <a:pt x="0" y="0"/>
                </a:moveTo>
                <a:lnTo>
                  <a:pt x="3750605" y="0"/>
                </a:lnTo>
                <a:lnTo>
                  <a:pt x="3750605" y="6356958"/>
                </a:lnTo>
                <a:lnTo>
                  <a:pt x="0" y="6356958"/>
                </a:lnTo>
                <a:lnTo>
                  <a:pt x="0" y="0"/>
                </a:lnTo>
                <a:close/>
              </a:path>
            </a:pathLst>
          </a:custGeom>
          <a:blipFill>
            <a:blip r:embed="rId3"/>
            <a:stretch>
              <a:fillRect/>
            </a:stretch>
          </a:blipFill>
        </p:spPr>
        <p:txBody>
          <a:bodyPr/>
          <a:p/>
        </p:txBody>
      </p:sp>
      <p:sp>
        <p:nvSpPr>
          <p:cNvPr id="6" name="TextBox 6"/>
          <p:cNvSpPr txBox="1"/>
          <p:nvPr/>
        </p:nvSpPr>
        <p:spPr>
          <a:xfrm>
            <a:off x="8787100" y="707665"/>
            <a:ext cx="7380992" cy="656770"/>
          </a:xfrm>
          <a:prstGeom prst="rect">
            <a:avLst/>
          </a:prstGeom>
        </p:spPr>
        <p:txBody>
          <a:bodyPr lIns="0" tIns="0" rIns="0" bIns="0" rtlCol="0" anchor="t">
            <a:spAutoFit/>
          </a:bodyPr>
          <a:lstStyle/>
          <a:p>
            <a:r>
              <a:t>Swim-lane Diagram for Billing Module</a:t>
            </a:r>
          </a:p>
        </p:txBody>
      </p:sp>
      <p:sp>
        <p:nvSpPr>
          <p:cNvPr id="7" name="TextBox 7"/>
          <p:cNvSpPr txBox="1"/>
          <p:nvPr/>
        </p:nvSpPr>
        <p:spPr>
          <a:xfrm>
            <a:off x="9661688" y="8551867"/>
            <a:ext cx="4660106" cy="270781"/>
          </a:xfrm>
          <a:prstGeom prst="rect">
            <a:avLst/>
          </a:prstGeom>
        </p:spPr>
        <p:txBody>
          <a:bodyPr lIns="0" tIns="0" rIns="0" bIns="0" rtlCol="0" anchor="t">
            <a:spAutoFit/>
          </a:bodyPr>
          <a:lstStyle/>
          <a:p>
            <a:r>
              <a:t>Fig : Swim-lane Diagram for Billling Module</a:t>
            </a:r>
          </a:p>
        </p:txBody>
      </p:sp>
      <p:sp>
        <p:nvSpPr>
          <p:cNvPr id="16" name="Slide Number Placeholder 15">
            <a:extLst>
              <a:ext uri="{FF2B5EF4-FFF2-40B4-BE49-F238E27FC236}">
                <a16:creationId xmlns:a16="http://schemas.microsoft.com/office/drawing/2014/main" id="{A9BBFE21-B631-EEEC-016E-8B17D0442ADA}"/>
              </a:ext>
            </a:extLst>
          </p:cNvPr>
          <p:cNvSpPr>
            <a:spLocks noGrp="1"/>
          </p:cNvSpPr>
          <p:nvPr>
            <p:ph type="sldNum" sz="quarter" idx="12"/>
          </p:nvPr>
        </p:nvSpPr>
        <p:spPr/>
        <p:txBody>
          <a:bodyPr/>
          <a:lstStyle/>
          <a:p>
            <a: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6900118" y="4869180"/>
            <a:ext cx="4487763" cy="854075"/>
          </a:xfrm>
          <a:prstGeom prst="rect">
            <a:avLst/>
          </a:prstGeom>
        </p:spPr>
        <p:txBody>
          <a:bodyPr lIns="0" tIns="0" rIns="0" bIns="0" rtlCol="0" anchor="t">
            <a:spAutoFit/>
          </a:bodyPr>
          <a:lstStyle/>
          <a:p>
            <a:r>
              <a:t>Class Diagram</a:t>
            </a:r>
          </a:p>
        </p:txBody>
      </p:sp>
      <p:sp>
        <p:nvSpPr>
          <p:cNvPr id="11" name="Slide Number Placeholder 10">
            <a:extLst>
              <a:ext uri="{FF2B5EF4-FFF2-40B4-BE49-F238E27FC236}">
                <a16:creationId xmlns:a16="http://schemas.microsoft.com/office/drawing/2014/main" id="{EA0D58C5-2555-A247-1BCD-ECE83E6D973F}"/>
              </a:ext>
            </a:extLst>
          </p:cNvPr>
          <p:cNvSpPr>
            <a:spLocks noGrp="1"/>
          </p:cNvSpPr>
          <p:nvPr>
            <p:ph type="sldNum" sz="quarter" idx="12"/>
          </p:nvPr>
        </p:nvSpPr>
        <p:spPr/>
        <p:txBody>
          <a:bodyPr/>
          <a:lstStyle/>
          <a:p>
            <a: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4238386" y="1158527"/>
            <a:ext cx="9811229" cy="7419742"/>
          </a:xfrm>
          <a:custGeom>
            <a:avLst/>
            <a:gdLst/>
            <a:ahLst/>
            <a:cxnLst/>
            <a:rect l="l" t="t" r="r" b="b"/>
            <a:pathLst>
              <a:path w="9811229" h="7419742">
                <a:moveTo>
                  <a:pt x="0" y="0"/>
                </a:moveTo>
                <a:lnTo>
                  <a:pt x="9811228" y="0"/>
                </a:lnTo>
                <a:lnTo>
                  <a:pt x="9811228" y="7419741"/>
                </a:lnTo>
                <a:lnTo>
                  <a:pt x="0" y="7419741"/>
                </a:lnTo>
                <a:lnTo>
                  <a:pt x="0" y="0"/>
                </a:lnTo>
                <a:close/>
              </a:path>
            </a:pathLst>
          </a:custGeom>
          <a:blipFill>
            <a:blip r:embed="rId2"/>
            <a:stretch>
              <a:fillRect/>
            </a:stretch>
          </a:blipFill>
        </p:spPr>
        <p:txBody>
          <a:bodyPr/>
          <a:p/>
        </p:txBody>
      </p:sp>
      <p:sp>
        <p:nvSpPr>
          <p:cNvPr id="3" name="TextBox 3"/>
          <p:cNvSpPr txBox="1"/>
          <p:nvPr/>
        </p:nvSpPr>
        <p:spPr>
          <a:xfrm>
            <a:off x="4579649" y="632460"/>
            <a:ext cx="7575182" cy="396240"/>
          </a:xfrm>
          <a:prstGeom prst="rect">
            <a:avLst/>
          </a:prstGeom>
        </p:spPr>
        <p:txBody>
          <a:bodyPr lIns="0" tIns="0" rIns="0" bIns="0" rtlCol="0" anchor="t">
            <a:spAutoFit/>
          </a:bodyPr>
          <a:lstStyle/>
          <a:p>
            <a:r>
              <a:t>Class Diagram for Restaurant Restaurant Management System</a:t>
            </a:r>
          </a:p>
        </p:txBody>
      </p:sp>
      <p:sp>
        <p:nvSpPr>
          <p:cNvPr id="4" name="TextBox 4"/>
          <p:cNvSpPr txBox="1"/>
          <p:nvPr/>
        </p:nvSpPr>
        <p:spPr>
          <a:xfrm>
            <a:off x="5356409" y="8787918"/>
            <a:ext cx="7575182" cy="339725"/>
          </a:xfrm>
          <a:prstGeom prst="rect">
            <a:avLst/>
          </a:prstGeom>
        </p:spPr>
        <p:txBody>
          <a:bodyPr lIns="0" tIns="0" rIns="0" bIns="0" rtlCol="0" anchor="t">
            <a:spAutoFit/>
          </a:bodyPr>
          <a:lstStyle/>
          <a:p>
            <a:r>
              <a:t>Fig : Class Diagram for Restaurant Restaurant Management System</a:t>
            </a:r>
          </a:p>
        </p:txBody>
      </p:sp>
      <p:sp>
        <p:nvSpPr>
          <p:cNvPr id="13" name="Slide Number Placeholder 12">
            <a:extLst>
              <a:ext uri="{FF2B5EF4-FFF2-40B4-BE49-F238E27FC236}">
                <a16:creationId xmlns:a16="http://schemas.microsoft.com/office/drawing/2014/main" id="{4F4E3D99-EC3B-BAAD-46DC-A6E23FB5C151}"/>
              </a:ext>
            </a:extLst>
          </p:cNvPr>
          <p:cNvSpPr>
            <a:spLocks noGrp="1"/>
          </p:cNvSpPr>
          <p:nvPr>
            <p:ph type="sldNum" sz="quarter" idx="12"/>
          </p:nvPr>
        </p:nvSpPr>
        <p:spPr/>
        <p:txBody>
          <a:bodyPr/>
          <a:lstStyle/>
          <a:p>
            <a: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045535" y="2515359"/>
            <a:ext cx="8196931" cy="5256282"/>
          </a:xfrm>
          <a:custGeom>
            <a:avLst/>
            <a:gdLst/>
            <a:ahLst/>
            <a:cxnLst/>
            <a:rect l="l" t="t" r="r" b="b"/>
            <a:pathLst>
              <a:path w="8196931" h="5256282">
                <a:moveTo>
                  <a:pt x="0" y="0"/>
                </a:moveTo>
                <a:lnTo>
                  <a:pt x="8196930" y="0"/>
                </a:lnTo>
                <a:lnTo>
                  <a:pt x="8196930" y="5256282"/>
                </a:lnTo>
                <a:lnTo>
                  <a:pt x="0" y="5256282"/>
                </a:lnTo>
                <a:lnTo>
                  <a:pt x="0" y="0"/>
                </a:lnTo>
                <a:close/>
              </a:path>
            </a:pathLst>
          </a:custGeom>
          <a:blipFill>
            <a:blip r:embed="rId2"/>
            <a:stretch>
              <a:fillRect/>
            </a:stretch>
          </a:blipFill>
        </p:spPr>
        <p:txBody>
          <a:bodyPr/>
          <a:p/>
        </p:txBody>
      </p:sp>
      <p:sp>
        <p:nvSpPr>
          <p:cNvPr id="3" name="TextBox 3"/>
          <p:cNvSpPr txBox="1"/>
          <p:nvPr/>
        </p:nvSpPr>
        <p:spPr>
          <a:xfrm>
            <a:off x="7389912" y="1281885"/>
            <a:ext cx="3508177" cy="646791"/>
          </a:xfrm>
          <a:prstGeom prst="rect">
            <a:avLst/>
          </a:prstGeom>
        </p:spPr>
        <p:txBody>
          <a:bodyPr lIns="0" tIns="0" rIns="0" bIns="0" rtlCol="0" anchor="t">
            <a:spAutoFit/>
          </a:bodyPr>
          <a:lstStyle/>
          <a:p>
            <a:r>
              <a:t>ERD Diagram</a:t>
            </a:r>
          </a:p>
        </p:txBody>
      </p:sp>
      <p:sp>
        <p:nvSpPr>
          <p:cNvPr id="4" name="TextBox 4"/>
          <p:cNvSpPr txBox="1"/>
          <p:nvPr/>
        </p:nvSpPr>
        <p:spPr>
          <a:xfrm>
            <a:off x="5356409" y="7582729"/>
            <a:ext cx="7575182" cy="339725"/>
          </a:xfrm>
          <a:prstGeom prst="rect">
            <a:avLst/>
          </a:prstGeom>
        </p:spPr>
        <p:txBody>
          <a:bodyPr lIns="0" tIns="0" rIns="0" bIns="0" rtlCol="0" anchor="t">
            <a:spAutoFit/>
          </a:bodyPr>
          <a:lstStyle/>
          <a:p>
            <a:r>
              <a:t>Fig : ERD for Restaurant Restaurant Management System</a:t>
            </a:r>
          </a:p>
        </p:txBody>
      </p:sp>
      <p:sp>
        <p:nvSpPr>
          <p:cNvPr id="13" name="Slide Number Placeholder 12">
            <a:extLst>
              <a:ext uri="{FF2B5EF4-FFF2-40B4-BE49-F238E27FC236}">
                <a16:creationId xmlns:a16="http://schemas.microsoft.com/office/drawing/2014/main" id="{2A3369C2-9B73-33F2-828F-2F1606877621}"/>
              </a:ext>
            </a:extLst>
          </p:cNvPr>
          <p:cNvSpPr>
            <a:spLocks noGrp="1"/>
          </p:cNvSpPr>
          <p:nvPr>
            <p:ph type="sldNum" sz="quarter" idx="12"/>
          </p:nvPr>
        </p:nvSpPr>
        <p:spPr/>
        <p:txBody>
          <a:bodyPr/>
          <a:lstStyle/>
          <a:p>
            <a: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115808" y="2167673"/>
            <a:ext cx="8056384" cy="5951654"/>
          </a:xfrm>
          <a:custGeom>
            <a:avLst/>
            <a:gdLst/>
            <a:ahLst/>
            <a:cxnLst/>
            <a:rect l="l" t="t" r="r" b="b"/>
            <a:pathLst>
              <a:path w="8056384" h="5951654">
                <a:moveTo>
                  <a:pt x="0" y="0"/>
                </a:moveTo>
                <a:lnTo>
                  <a:pt x="8056384" y="0"/>
                </a:lnTo>
                <a:lnTo>
                  <a:pt x="8056384" y="5951654"/>
                </a:lnTo>
                <a:lnTo>
                  <a:pt x="0" y="5951654"/>
                </a:lnTo>
                <a:lnTo>
                  <a:pt x="0" y="0"/>
                </a:lnTo>
                <a:close/>
              </a:path>
            </a:pathLst>
          </a:custGeom>
          <a:blipFill>
            <a:blip r:embed="rId2"/>
            <a:stretch>
              <a:fillRect/>
            </a:stretch>
          </a:blipFill>
        </p:spPr>
        <p:txBody>
          <a:bodyPr/>
          <a:p/>
        </p:txBody>
      </p:sp>
      <p:sp>
        <p:nvSpPr>
          <p:cNvPr id="3" name="TextBox 3"/>
          <p:cNvSpPr txBox="1"/>
          <p:nvPr/>
        </p:nvSpPr>
        <p:spPr>
          <a:xfrm>
            <a:off x="6953250" y="990600"/>
            <a:ext cx="4381500" cy="646791"/>
          </a:xfrm>
          <a:prstGeom prst="rect">
            <a:avLst/>
          </a:prstGeom>
        </p:spPr>
        <p:txBody>
          <a:bodyPr lIns="0" tIns="0" rIns="0" bIns="0" rtlCol="0" anchor="t">
            <a:spAutoFit/>
          </a:bodyPr>
          <a:lstStyle/>
          <a:p>
            <a:r>
              <a:t>Database Design</a:t>
            </a:r>
          </a:p>
        </p:txBody>
      </p:sp>
      <p:sp>
        <p:nvSpPr>
          <p:cNvPr id="4" name="TextBox 4"/>
          <p:cNvSpPr txBox="1"/>
          <p:nvPr/>
        </p:nvSpPr>
        <p:spPr>
          <a:xfrm>
            <a:off x="6457727" y="8467698"/>
            <a:ext cx="5372546" cy="323395"/>
          </a:xfrm>
          <a:prstGeom prst="rect">
            <a:avLst/>
          </a:prstGeom>
        </p:spPr>
        <p:txBody>
          <a:bodyPr lIns="0" tIns="0" rIns="0" bIns="0" rtlCol="0" anchor="t">
            <a:spAutoFit/>
          </a:bodyPr>
          <a:lstStyle/>
          <a:p>
            <a:r>
              <a:t>Fig : Database for Restaurant Restaurant Management System</a:t>
            </a:r>
          </a:p>
        </p:txBody>
      </p:sp>
      <p:sp>
        <p:nvSpPr>
          <p:cNvPr id="13" name="Slide Number Placeholder 12">
            <a:extLst>
              <a:ext uri="{FF2B5EF4-FFF2-40B4-BE49-F238E27FC236}">
                <a16:creationId xmlns:a16="http://schemas.microsoft.com/office/drawing/2014/main" id="{BDA045B1-7F5D-0F41-C5B3-10E69C28238E}"/>
              </a:ext>
            </a:extLst>
          </p:cNvPr>
          <p:cNvSpPr>
            <a:spLocks noGrp="1"/>
          </p:cNvSpPr>
          <p:nvPr>
            <p:ph type="sldNum" sz="quarter" idx="12"/>
          </p:nvPr>
        </p:nvSpPr>
        <p:spPr/>
        <p:txBody>
          <a:bodyPr/>
          <a:lstStyle/>
          <a:p>
            <a: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1936603"/>
            <a:ext cx="11301259" cy="5410478"/>
          </a:xfrm>
          <a:custGeom>
            <a:avLst/>
            <a:gdLst/>
            <a:ahLst/>
            <a:cxnLst/>
            <a:rect l="l" t="t" r="r" b="b"/>
            <a:pathLst>
              <a:path w="11301259" h="5410478">
                <a:moveTo>
                  <a:pt x="0" y="0"/>
                </a:moveTo>
                <a:lnTo>
                  <a:pt x="11301258" y="0"/>
                </a:lnTo>
                <a:lnTo>
                  <a:pt x="11301258" y="5410478"/>
                </a:lnTo>
                <a:lnTo>
                  <a:pt x="0" y="5410478"/>
                </a:lnTo>
                <a:lnTo>
                  <a:pt x="0" y="0"/>
                </a:lnTo>
                <a:close/>
              </a:path>
            </a:pathLst>
          </a:custGeom>
          <a:blipFill>
            <a:blip r:embed="rId2"/>
            <a:stretch>
              <a:fillRect/>
            </a:stretch>
          </a:blipFill>
        </p:spPr>
        <p:txBody>
          <a:bodyPr/>
          <a:p/>
        </p:txBody>
      </p:sp>
      <p:sp>
        <p:nvSpPr>
          <p:cNvPr id="3" name="TextBox 3"/>
          <p:cNvSpPr txBox="1"/>
          <p:nvPr/>
        </p:nvSpPr>
        <p:spPr>
          <a:xfrm>
            <a:off x="617320" y="1000125"/>
            <a:ext cx="3621881" cy="480331"/>
          </a:xfrm>
          <a:prstGeom prst="rect">
            <a:avLst/>
          </a:prstGeom>
        </p:spPr>
        <p:txBody>
          <a:bodyPr lIns="0" tIns="0" rIns="0" bIns="0" rtlCol="0" anchor="t">
            <a:spAutoFit/>
          </a:bodyPr>
          <a:lstStyle/>
          <a:p>
            <a:r>
              <a:t>Data Flow Diagram</a:t>
            </a:r>
          </a:p>
        </p:txBody>
      </p:sp>
      <p:sp>
        <p:nvSpPr>
          <p:cNvPr id="4" name="TextBox 4"/>
          <p:cNvSpPr txBox="1"/>
          <p:nvPr/>
        </p:nvSpPr>
        <p:spPr>
          <a:xfrm>
            <a:off x="4420567" y="7885128"/>
            <a:ext cx="9446865" cy="323395"/>
          </a:xfrm>
          <a:prstGeom prst="rect">
            <a:avLst/>
          </a:prstGeom>
        </p:spPr>
        <p:txBody>
          <a:bodyPr lIns="0" tIns="0" rIns="0" bIns="0" rtlCol="0" anchor="t">
            <a:spAutoFit/>
          </a:bodyPr>
          <a:lstStyle/>
          <a:p>
            <a:r>
              <a:t>Fig : Illustrates the context-level DFD 0 and shows the actors and process.</a:t>
            </a:r>
          </a:p>
        </p:txBody>
      </p:sp>
      <p:sp>
        <p:nvSpPr>
          <p:cNvPr id="13" name="Slide Number Placeholder 12">
            <a:extLst>
              <a:ext uri="{FF2B5EF4-FFF2-40B4-BE49-F238E27FC236}">
                <a16:creationId xmlns:a16="http://schemas.microsoft.com/office/drawing/2014/main" id="{B9ED4D5B-7350-9961-745A-CCB2078AF162}"/>
              </a:ext>
            </a:extLst>
          </p:cNvPr>
          <p:cNvSpPr>
            <a:spLocks noGrp="1"/>
          </p:cNvSpPr>
          <p:nvPr>
            <p:ph type="sldNum" sz="quarter" idx="12"/>
          </p:nvPr>
        </p:nvSpPr>
        <p:spPr/>
        <p:txBody>
          <a:bodyPr/>
          <a:lstStyle/>
          <a:p>
            <a: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4817393" y="1393915"/>
            <a:ext cx="8653215" cy="6652159"/>
          </a:xfrm>
          <a:custGeom>
            <a:avLst/>
            <a:gdLst/>
            <a:ahLst/>
            <a:cxnLst/>
            <a:rect l="l" t="t" r="r" b="b"/>
            <a:pathLst>
              <a:path w="8653215" h="6652159">
                <a:moveTo>
                  <a:pt x="0" y="0"/>
                </a:moveTo>
                <a:lnTo>
                  <a:pt x="8653214" y="0"/>
                </a:lnTo>
                <a:lnTo>
                  <a:pt x="8653214" y="6652158"/>
                </a:lnTo>
                <a:lnTo>
                  <a:pt x="0" y="6652158"/>
                </a:lnTo>
                <a:lnTo>
                  <a:pt x="0" y="0"/>
                </a:lnTo>
                <a:close/>
              </a:path>
            </a:pathLst>
          </a:custGeom>
          <a:blipFill>
            <a:blip r:embed="rId2"/>
            <a:stretch>
              <a:fillRect/>
            </a:stretch>
          </a:blipFill>
        </p:spPr>
        <p:txBody>
          <a:bodyPr/>
          <a:p/>
        </p:txBody>
      </p:sp>
      <p:sp>
        <p:nvSpPr>
          <p:cNvPr id="3" name="TextBox 3"/>
          <p:cNvSpPr txBox="1"/>
          <p:nvPr/>
        </p:nvSpPr>
        <p:spPr>
          <a:xfrm>
            <a:off x="1027956" y="1009650"/>
            <a:ext cx="2045196" cy="384265"/>
          </a:xfrm>
          <a:prstGeom prst="rect">
            <a:avLst/>
          </a:prstGeom>
        </p:spPr>
        <p:txBody>
          <a:bodyPr lIns="0" tIns="0" rIns="0" bIns="0" rtlCol="0" anchor="t">
            <a:spAutoFit/>
          </a:bodyPr>
          <a:lstStyle/>
          <a:p>
            <a:r>
              <a:t>Level 1 (DFD) :</a:t>
            </a:r>
          </a:p>
        </p:txBody>
      </p:sp>
      <p:sp>
        <p:nvSpPr>
          <p:cNvPr id="4" name="TextBox 4"/>
          <p:cNvSpPr txBox="1"/>
          <p:nvPr/>
        </p:nvSpPr>
        <p:spPr>
          <a:xfrm>
            <a:off x="7234758" y="8407412"/>
            <a:ext cx="3818483" cy="323395"/>
          </a:xfrm>
          <a:prstGeom prst="rect">
            <a:avLst/>
          </a:prstGeom>
        </p:spPr>
        <p:txBody>
          <a:bodyPr lIns="0" tIns="0" rIns="0" bIns="0" rtlCol="0" anchor="t">
            <a:spAutoFit/>
          </a:bodyPr>
          <a:lstStyle/>
          <a:p>
            <a:r>
              <a:t>Fig : Level 1 DFD Admin Panel.</a:t>
            </a:r>
          </a:p>
        </p:txBody>
      </p:sp>
      <p:sp>
        <p:nvSpPr>
          <p:cNvPr id="13" name="Slide Number Placeholder 12">
            <a:extLst>
              <a:ext uri="{FF2B5EF4-FFF2-40B4-BE49-F238E27FC236}">
                <a16:creationId xmlns:a16="http://schemas.microsoft.com/office/drawing/2014/main" id="{49E56FAF-3C03-2523-5C42-038829256AA9}"/>
              </a:ext>
            </a:extLst>
          </p:cNvPr>
          <p:cNvSpPr>
            <a:spLocks noGrp="1"/>
          </p:cNvSpPr>
          <p:nvPr>
            <p:ph type="sldNum" sz="quarter" idx="12"/>
          </p:nvPr>
        </p:nvSpPr>
        <p:spPr/>
        <p:txBody>
          <a:bodyPr/>
          <a:lstStyle/>
          <a:p>
            <a: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8700" y="1847195"/>
            <a:ext cx="7011715" cy="6099009"/>
          </a:xfrm>
          <a:custGeom>
            <a:avLst/>
            <a:gdLst/>
            <a:ahLst/>
            <a:cxnLst/>
            <a:rect l="l" t="t" r="r" b="b"/>
            <a:pathLst>
              <a:path w="7011715" h="6099009">
                <a:moveTo>
                  <a:pt x="0" y="0"/>
                </a:moveTo>
                <a:lnTo>
                  <a:pt x="7011715" y="0"/>
                </a:lnTo>
                <a:lnTo>
                  <a:pt x="7011715" y="6099009"/>
                </a:lnTo>
                <a:lnTo>
                  <a:pt x="0" y="6099009"/>
                </a:lnTo>
                <a:lnTo>
                  <a:pt x="0" y="0"/>
                </a:lnTo>
                <a:close/>
              </a:path>
            </a:pathLst>
          </a:custGeom>
          <a:blipFill>
            <a:blip r:embed="rId2"/>
            <a:stretch>
              <a:fillRect b="-4905"/>
            </a:stretch>
          </a:blipFill>
        </p:spPr>
        <p:txBody>
          <a:bodyPr/>
          <a:p/>
        </p:txBody>
      </p:sp>
      <p:sp>
        <p:nvSpPr>
          <p:cNvPr id="3" name="Freeform 3"/>
          <p:cNvSpPr/>
          <p:nvPr/>
        </p:nvSpPr>
        <p:spPr>
          <a:xfrm>
            <a:off x="10591174" y="2061206"/>
            <a:ext cx="6668126" cy="5039869"/>
          </a:xfrm>
          <a:custGeom>
            <a:avLst/>
            <a:gdLst/>
            <a:ahLst/>
            <a:cxnLst/>
            <a:rect l="l" t="t" r="r" b="b"/>
            <a:pathLst>
              <a:path w="6668126" h="5039869">
                <a:moveTo>
                  <a:pt x="0" y="0"/>
                </a:moveTo>
                <a:lnTo>
                  <a:pt x="6668126" y="0"/>
                </a:lnTo>
                <a:lnTo>
                  <a:pt x="6668126" y="5039869"/>
                </a:lnTo>
                <a:lnTo>
                  <a:pt x="0" y="5039869"/>
                </a:lnTo>
                <a:lnTo>
                  <a:pt x="0" y="0"/>
                </a:lnTo>
                <a:close/>
              </a:path>
            </a:pathLst>
          </a:custGeom>
          <a:blipFill>
            <a:blip r:embed="rId3"/>
            <a:stretch>
              <a:fillRect t="-4192"/>
            </a:stretch>
          </a:blipFill>
        </p:spPr>
        <p:txBody>
          <a:bodyPr/>
          <a:p/>
        </p:txBody>
      </p:sp>
      <p:sp>
        <p:nvSpPr>
          <p:cNvPr id="4" name="TextBox 4"/>
          <p:cNvSpPr txBox="1"/>
          <p:nvPr/>
        </p:nvSpPr>
        <p:spPr>
          <a:xfrm>
            <a:off x="1880788" y="1188006"/>
            <a:ext cx="3151584" cy="392338"/>
          </a:xfrm>
          <a:prstGeom prst="rect">
            <a:avLst/>
          </a:prstGeom>
        </p:spPr>
        <p:txBody>
          <a:bodyPr lIns="0" tIns="0" rIns="0" bIns="0" rtlCol="0" anchor="t">
            <a:spAutoFit/>
          </a:bodyPr>
          <a:lstStyle/>
          <a:p>
            <a:r>
              <a:t>Level 2 DFD Process 1</a:t>
            </a:r>
          </a:p>
        </p:txBody>
      </p:sp>
      <p:sp>
        <p:nvSpPr>
          <p:cNvPr id="5" name="TextBox 5"/>
          <p:cNvSpPr txBox="1"/>
          <p:nvPr/>
        </p:nvSpPr>
        <p:spPr>
          <a:xfrm>
            <a:off x="1468824" y="8194005"/>
            <a:ext cx="5548908" cy="323395"/>
          </a:xfrm>
          <a:prstGeom prst="rect">
            <a:avLst/>
          </a:prstGeom>
        </p:spPr>
        <p:txBody>
          <a:bodyPr lIns="0" tIns="0" rIns="0" bIns="0" rtlCol="0" anchor="t">
            <a:spAutoFit/>
          </a:bodyPr>
          <a:lstStyle/>
          <a:p>
            <a:r>
              <a:t>Figure: Level 2 DFD Process 1 Menu Module.</a:t>
            </a:r>
          </a:p>
        </p:txBody>
      </p:sp>
      <p:sp>
        <p:nvSpPr>
          <p:cNvPr id="6" name="TextBox 6"/>
          <p:cNvSpPr txBox="1"/>
          <p:nvPr/>
        </p:nvSpPr>
        <p:spPr>
          <a:xfrm>
            <a:off x="10965479" y="1188006"/>
            <a:ext cx="3217218" cy="392338"/>
          </a:xfrm>
          <a:prstGeom prst="rect">
            <a:avLst/>
          </a:prstGeom>
        </p:spPr>
        <p:txBody>
          <a:bodyPr lIns="0" tIns="0" rIns="0" bIns="0" rtlCol="0" anchor="t">
            <a:spAutoFit/>
          </a:bodyPr>
          <a:lstStyle/>
          <a:p>
            <a:r>
              <a:t>Level 2 DFD Process 2</a:t>
            </a:r>
          </a:p>
        </p:txBody>
      </p:sp>
      <p:sp>
        <p:nvSpPr>
          <p:cNvPr id="7" name="TextBox 7"/>
          <p:cNvSpPr txBox="1"/>
          <p:nvPr/>
        </p:nvSpPr>
        <p:spPr>
          <a:xfrm>
            <a:off x="10559989" y="8194005"/>
            <a:ext cx="5601593" cy="323395"/>
          </a:xfrm>
          <a:prstGeom prst="rect">
            <a:avLst/>
          </a:prstGeom>
        </p:spPr>
        <p:txBody>
          <a:bodyPr lIns="0" tIns="0" rIns="0" bIns="0" rtlCol="0" anchor="t">
            <a:spAutoFit/>
          </a:bodyPr>
          <a:lstStyle/>
          <a:p>
            <a:r>
              <a:t>Figure: Level 2 DFD Process 2 Order Module.</a:t>
            </a:r>
          </a:p>
        </p:txBody>
      </p:sp>
      <p:sp>
        <p:nvSpPr>
          <p:cNvPr id="16" name="Slide Number Placeholder 15">
            <a:extLst>
              <a:ext uri="{FF2B5EF4-FFF2-40B4-BE49-F238E27FC236}">
                <a16:creationId xmlns:a16="http://schemas.microsoft.com/office/drawing/2014/main" id="{83CA7CE5-56FA-4C22-9D4E-AD1896C3B0CF}"/>
              </a:ext>
            </a:extLst>
          </p:cNvPr>
          <p:cNvSpPr>
            <a:spLocks noGrp="1"/>
          </p:cNvSpPr>
          <p:nvPr>
            <p:ph type="sldNum" sz="quarter" idx="12"/>
          </p:nvPr>
        </p:nvSpPr>
        <p:spPr/>
        <p:txBody>
          <a:bodyPr/>
          <a:lstStyle/>
          <a:p>
            <a: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67031" y="2410587"/>
            <a:ext cx="8976969" cy="4399506"/>
          </a:xfrm>
          <a:custGeom>
            <a:avLst/>
            <a:gdLst/>
            <a:ahLst/>
            <a:cxnLst/>
            <a:rect l="l" t="t" r="r" b="b"/>
            <a:pathLst>
              <a:path w="8976969" h="4399506">
                <a:moveTo>
                  <a:pt x="0" y="0"/>
                </a:moveTo>
                <a:lnTo>
                  <a:pt x="8976969" y="0"/>
                </a:lnTo>
                <a:lnTo>
                  <a:pt x="8976969" y="4399506"/>
                </a:lnTo>
                <a:lnTo>
                  <a:pt x="0" y="4399506"/>
                </a:lnTo>
                <a:lnTo>
                  <a:pt x="0" y="0"/>
                </a:lnTo>
                <a:close/>
              </a:path>
            </a:pathLst>
          </a:custGeom>
          <a:blipFill>
            <a:blip r:embed="rId2"/>
            <a:stretch>
              <a:fillRect t="-7888"/>
            </a:stretch>
          </a:blipFill>
        </p:spPr>
        <p:txBody>
          <a:bodyPr/>
          <a:p/>
        </p:txBody>
      </p:sp>
      <p:sp>
        <p:nvSpPr>
          <p:cNvPr id="3" name="Freeform 3"/>
          <p:cNvSpPr/>
          <p:nvPr/>
        </p:nvSpPr>
        <p:spPr>
          <a:xfrm>
            <a:off x="9620658" y="2410587"/>
            <a:ext cx="8667342" cy="4062861"/>
          </a:xfrm>
          <a:custGeom>
            <a:avLst/>
            <a:gdLst/>
            <a:ahLst/>
            <a:cxnLst/>
            <a:rect l="l" t="t" r="r" b="b"/>
            <a:pathLst>
              <a:path w="8667342" h="4062861">
                <a:moveTo>
                  <a:pt x="0" y="0"/>
                </a:moveTo>
                <a:lnTo>
                  <a:pt x="8667342" y="0"/>
                </a:lnTo>
                <a:lnTo>
                  <a:pt x="8667342" y="4062861"/>
                </a:lnTo>
                <a:lnTo>
                  <a:pt x="0" y="4062861"/>
                </a:lnTo>
                <a:lnTo>
                  <a:pt x="0" y="0"/>
                </a:lnTo>
                <a:close/>
              </a:path>
            </a:pathLst>
          </a:custGeom>
          <a:blipFill>
            <a:blip r:embed="rId3"/>
            <a:stretch>
              <a:fillRect t="-10355" r="-1680"/>
            </a:stretch>
          </a:blipFill>
        </p:spPr>
        <p:txBody>
          <a:bodyPr/>
          <a:p/>
        </p:txBody>
      </p:sp>
      <p:sp>
        <p:nvSpPr>
          <p:cNvPr id="4" name="TextBox 4"/>
          <p:cNvSpPr txBox="1"/>
          <p:nvPr/>
        </p:nvSpPr>
        <p:spPr>
          <a:xfrm>
            <a:off x="1848566" y="1188006"/>
            <a:ext cx="3216027" cy="392338"/>
          </a:xfrm>
          <a:prstGeom prst="rect">
            <a:avLst/>
          </a:prstGeom>
        </p:spPr>
        <p:txBody>
          <a:bodyPr lIns="0" tIns="0" rIns="0" bIns="0" rtlCol="0" anchor="t">
            <a:spAutoFit/>
          </a:bodyPr>
          <a:lstStyle/>
          <a:p>
            <a:r>
              <a:t>Level 2 DFD Process 3</a:t>
            </a:r>
          </a:p>
        </p:txBody>
      </p:sp>
      <p:sp>
        <p:nvSpPr>
          <p:cNvPr id="5" name="TextBox 5"/>
          <p:cNvSpPr txBox="1"/>
          <p:nvPr/>
        </p:nvSpPr>
        <p:spPr>
          <a:xfrm>
            <a:off x="1406762" y="8194005"/>
            <a:ext cx="5673030" cy="323395"/>
          </a:xfrm>
          <a:prstGeom prst="rect">
            <a:avLst/>
          </a:prstGeom>
        </p:spPr>
        <p:txBody>
          <a:bodyPr lIns="0" tIns="0" rIns="0" bIns="0" rtlCol="0" anchor="t">
            <a:spAutoFit/>
          </a:bodyPr>
          <a:lstStyle/>
          <a:p>
            <a:r>
              <a:t>Figure: Level 2 DFD Process 3 Billing Module.</a:t>
            </a:r>
          </a:p>
        </p:txBody>
      </p:sp>
      <p:sp>
        <p:nvSpPr>
          <p:cNvPr id="6" name="TextBox 6"/>
          <p:cNvSpPr txBox="1"/>
          <p:nvPr/>
        </p:nvSpPr>
        <p:spPr>
          <a:xfrm>
            <a:off x="12698381" y="1188006"/>
            <a:ext cx="3246834" cy="392338"/>
          </a:xfrm>
          <a:prstGeom prst="rect">
            <a:avLst/>
          </a:prstGeom>
        </p:spPr>
        <p:txBody>
          <a:bodyPr lIns="0" tIns="0" rIns="0" bIns="0" rtlCol="0" anchor="t">
            <a:spAutoFit/>
          </a:bodyPr>
          <a:lstStyle/>
          <a:p>
            <a:r>
              <a:t>Level 2 DFD Process 4</a:t>
            </a:r>
          </a:p>
        </p:txBody>
      </p:sp>
      <p:sp>
        <p:nvSpPr>
          <p:cNvPr id="7" name="TextBox 7"/>
          <p:cNvSpPr txBox="1"/>
          <p:nvPr/>
        </p:nvSpPr>
        <p:spPr>
          <a:xfrm>
            <a:off x="11625428" y="8194005"/>
            <a:ext cx="6092279" cy="323395"/>
          </a:xfrm>
          <a:prstGeom prst="rect">
            <a:avLst/>
          </a:prstGeom>
        </p:spPr>
        <p:txBody>
          <a:bodyPr lIns="0" tIns="0" rIns="0" bIns="0" rtlCol="0" anchor="t">
            <a:spAutoFit/>
          </a:bodyPr>
          <a:lstStyle/>
          <a:p>
            <a:r>
              <a:t>Figure: Level 2 DFD Process 4 Inventory Module.</a:t>
            </a:r>
          </a:p>
        </p:txBody>
      </p:sp>
      <p:sp>
        <p:nvSpPr>
          <p:cNvPr id="16" name="Slide Number Placeholder 15">
            <a:extLst>
              <a:ext uri="{FF2B5EF4-FFF2-40B4-BE49-F238E27FC236}">
                <a16:creationId xmlns:a16="http://schemas.microsoft.com/office/drawing/2014/main" id="{3A1C5D0D-B7DF-8703-F16F-CCDD7EACCE02}"/>
              </a:ext>
            </a:extLst>
          </p:cNvPr>
          <p:cNvSpPr>
            <a:spLocks noGrp="1"/>
          </p:cNvSpPr>
          <p:nvPr>
            <p:ph type="sldNum" sz="quarter" idx="12"/>
          </p:nvPr>
        </p:nvSpPr>
        <p:spPr/>
        <p:txBody>
          <a:bodyPr/>
          <a:lstStyle/>
          <a:p>
            <a: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2268742"/>
            <a:ext cx="11301259" cy="5749515"/>
          </a:xfrm>
          <a:custGeom>
            <a:avLst/>
            <a:gdLst/>
            <a:ahLst/>
            <a:cxnLst/>
            <a:rect l="l" t="t" r="r" b="b"/>
            <a:pathLst>
              <a:path w="11301259" h="5749515">
                <a:moveTo>
                  <a:pt x="0" y="0"/>
                </a:moveTo>
                <a:lnTo>
                  <a:pt x="11301258" y="0"/>
                </a:lnTo>
                <a:lnTo>
                  <a:pt x="11301258" y="5749516"/>
                </a:lnTo>
                <a:lnTo>
                  <a:pt x="0" y="5749516"/>
                </a:lnTo>
                <a:lnTo>
                  <a:pt x="0" y="0"/>
                </a:lnTo>
                <a:close/>
              </a:path>
            </a:pathLst>
          </a:custGeom>
          <a:blipFill>
            <a:blip r:embed="rId2"/>
            <a:stretch>
              <a:fillRect/>
            </a:stretch>
          </a:blipFill>
        </p:spPr>
        <p:txBody>
          <a:bodyPr/>
          <a:p/>
        </p:txBody>
      </p:sp>
      <p:sp>
        <p:nvSpPr>
          <p:cNvPr id="3" name="TextBox 3"/>
          <p:cNvSpPr txBox="1"/>
          <p:nvPr/>
        </p:nvSpPr>
        <p:spPr>
          <a:xfrm>
            <a:off x="7185919" y="1333648"/>
            <a:ext cx="3216622" cy="392338"/>
          </a:xfrm>
          <a:prstGeom prst="rect">
            <a:avLst/>
          </a:prstGeom>
        </p:spPr>
        <p:txBody>
          <a:bodyPr lIns="0" tIns="0" rIns="0" bIns="0" rtlCol="0" anchor="t">
            <a:spAutoFit/>
          </a:bodyPr>
          <a:lstStyle/>
          <a:p>
            <a:r>
              <a:t>Level 2 DFD Process 5</a:t>
            </a:r>
          </a:p>
        </p:txBody>
      </p:sp>
      <p:sp>
        <p:nvSpPr>
          <p:cNvPr id="4" name="TextBox 4"/>
          <p:cNvSpPr txBox="1"/>
          <p:nvPr/>
        </p:nvSpPr>
        <p:spPr>
          <a:xfrm>
            <a:off x="6187232" y="8339648"/>
            <a:ext cx="5913537" cy="323395"/>
          </a:xfrm>
          <a:prstGeom prst="rect">
            <a:avLst/>
          </a:prstGeom>
        </p:spPr>
        <p:txBody>
          <a:bodyPr lIns="0" tIns="0" rIns="0" bIns="0" rtlCol="0" anchor="t">
            <a:spAutoFit/>
          </a:bodyPr>
          <a:lstStyle/>
          <a:p>
            <a:r>
              <a:t>Figure: Level 2 DFD Process 5 Settings Module.</a:t>
            </a:r>
          </a:p>
        </p:txBody>
      </p:sp>
      <p:sp>
        <p:nvSpPr>
          <p:cNvPr id="13" name="Slide Number Placeholder 12">
            <a:extLst>
              <a:ext uri="{FF2B5EF4-FFF2-40B4-BE49-F238E27FC236}">
                <a16:creationId xmlns:a16="http://schemas.microsoft.com/office/drawing/2014/main" id="{30165CFE-9FC6-6232-81BE-5C9157B603F2}"/>
              </a:ext>
            </a:extLst>
          </p:cNvPr>
          <p:cNvSpPr>
            <a:spLocks noGrp="1"/>
          </p:cNvSpPr>
          <p:nvPr>
            <p:ph type="sldNum" sz="quarter" idx="12"/>
          </p:nvPr>
        </p:nvSpPr>
        <p:spPr/>
        <p:txBody>
          <a:bodyPr/>
          <a:lstStyle/>
          <a:p>
            <a: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4465424"/>
            <a:ext cx="11301259" cy="1356151"/>
          </a:xfrm>
          <a:custGeom>
            <a:avLst/>
            <a:gdLst/>
            <a:ahLst/>
            <a:cxnLst/>
            <a:rect l="l" t="t" r="r" b="b"/>
            <a:pathLst>
              <a:path w="11301259" h="1356151">
                <a:moveTo>
                  <a:pt x="0" y="0"/>
                </a:moveTo>
                <a:lnTo>
                  <a:pt x="11301258" y="0"/>
                </a:lnTo>
                <a:lnTo>
                  <a:pt x="11301258" y="1356152"/>
                </a:lnTo>
                <a:lnTo>
                  <a:pt x="0" y="1356152"/>
                </a:lnTo>
                <a:lnTo>
                  <a:pt x="0" y="0"/>
                </a:lnTo>
                <a:close/>
              </a:path>
            </a:pathLst>
          </a:custGeom>
          <a:blipFill>
            <a:blip r:embed="rId2"/>
            <a:stretch>
              <a:fillRect/>
            </a:stretch>
          </a:blipFill>
        </p:spPr>
        <p:txBody>
          <a:bodyPr/>
          <a:p/>
        </p:txBody>
      </p:sp>
      <p:sp>
        <p:nvSpPr>
          <p:cNvPr id="11" name="Slide Number Placeholder 10">
            <a:extLst>
              <a:ext uri="{FF2B5EF4-FFF2-40B4-BE49-F238E27FC236}">
                <a16:creationId xmlns:a16="http://schemas.microsoft.com/office/drawing/2014/main" id="{F21B9464-E977-EFA5-02D3-32803D096441}"/>
              </a:ext>
            </a:extLst>
          </p:cNvPr>
          <p:cNvSpPr>
            <a:spLocks noGrp="1"/>
          </p:cNvSpPr>
          <p:nvPr>
            <p:ph type="sldNum" sz="quarter" idx="12"/>
          </p:nvPr>
        </p:nvSpPr>
        <p:spPr/>
        <p:txBody>
          <a:bodyPr/>
          <a:lstStyle/>
          <a:p>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859631" y="903685"/>
            <a:ext cx="7061447" cy="887413"/>
          </a:xfrm>
          <a:prstGeom prst="rect">
            <a:avLst/>
          </a:prstGeom>
        </p:spPr>
        <p:txBody>
          <a:bodyPr lIns="0" tIns="0" rIns="0" bIns="0" rtlCol="0" anchor="t">
            <a:spAutoFit/>
          </a:bodyPr>
          <a:lstStyle/>
          <a:p>
            <a:r>
              <a:t>LIMITATIONS</a:t>
            </a:r>
          </a:p>
        </p:txBody>
      </p:sp>
      <p:sp>
        <p:nvSpPr>
          <p:cNvPr id="7" name="TextBox 7"/>
          <p:cNvSpPr txBox="1"/>
          <p:nvPr/>
        </p:nvSpPr>
        <p:spPr>
          <a:xfrm>
            <a:off x="859631" y="2341364"/>
            <a:ext cx="16568738" cy="311150"/>
          </a:xfrm>
          <a:prstGeom prst="rect">
            <a:avLst/>
          </a:prstGeom>
        </p:spPr>
        <p:txBody>
          <a:bodyPr lIns="0" tIns="0" rIns="0" bIns="0" rtlCol="0" anchor="t">
            <a:spAutoFit/>
          </a:bodyPr>
          <a:lstStyle/>
          <a:p>
            <a:r>
              <a:t>Despite its strong features, the current Restaurant Restaurant Management System has some limitations:</a:t>
            </a:r>
          </a:p>
        </p:txBody>
      </p:sp>
      <p:grpSp>
        <p:nvGrpSpPr>
          <p:cNvPr id="8" name="Group 8"/>
          <p:cNvGrpSpPr/>
          <p:nvPr/>
        </p:nvGrpSpPr>
        <p:grpSpPr>
          <a:xfrm>
            <a:off x="845344" y="2951112"/>
            <a:ext cx="5387728" cy="3245792"/>
            <a:chOff x="0" y="0"/>
            <a:chExt cx="7183637" cy="4327723"/>
          </a:xfrm>
        </p:grpSpPr>
        <p:sp>
          <p:nvSpPr>
            <p:cNvPr id="9" name="Freeform 9"/>
            <p:cNvSpPr/>
            <p:nvPr/>
          </p:nvSpPr>
          <p:spPr>
            <a:xfrm>
              <a:off x="19050" y="19050"/>
              <a:ext cx="7145528" cy="4289679"/>
            </a:xfrm>
            <a:custGeom>
              <a:avLst/>
              <a:gdLst/>
              <a:ahLst/>
              <a:cxnLst/>
              <a:rect l="l" t="t" r="r" b="b"/>
              <a:pathLst>
                <a:path w="7145528" h="4289679">
                  <a:moveTo>
                    <a:pt x="0" y="182880"/>
                  </a:moveTo>
                  <a:cubicBezTo>
                    <a:pt x="0" y="81915"/>
                    <a:pt x="82169" y="0"/>
                    <a:pt x="183515" y="0"/>
                  </a:cubicBezTo>
                  <a:lnTo>
                    <a:pt x="6962013" y="0"/>
                  </a:lnTo>
                  <a:cubicBezTo>
                    <a:pt x="7063359" y="0"/>
                    <a:pt x="7145528" y="81915"/>
                    <a:pt x="7145528" y="182880"/>
                  </a:cubicBezTo>
                  <a:lnTo>
                    <a:pt x="7145528" y="4106799"/>
                  </a:lnTo>
                  <a:cubicBezTo>
                    <a:pt x="7145528" y="4207764"/>
                    <a:pt x="7063359" y="4289679"/>
                    <a:pt x="6962013" y="4289679"/>
                  </a:cubicBezTo>
                  <a:lnTo>
                    <a:pt x="183515" y="4289679"/>
                  </a:lnTo>
                  <a:cubicBezTo>
                    <a:pt x="82169" y="4289679"/>
                    <a:pt x="0" y="4207764"/>
                    <a:pt x="0" y="4106799"/>
                  </a:cubicBezTo>
                  <a:close/>
                </a:path>
              </a:pathLst>
            </a:custGeom>
            <a:solidFill>
              <a:srgbClr val="F8F8F8">
                <a:alpha val="90196"/>
              </a:srgbClr>
            </a:solidFill>
          </p:spPr>
        </p:sp>
        <p:sp>
          <p:nvSpPr>
            <p:cNvPr id="10" name="Freeform 10"/>
            <p:cNvSpPr/>
            <p:nvPr/>
          </p:nvSpPr>
          <p:spPr>
            <a:xfrm>
              <a:off x="0" y="0"/>
              <a:ext cx="7183628" cy="4327779"/>
            </a:xfrm>
            <a:custGeom>
              <a:avLst/>
              <a:gdLst/>
              <a:ahLst/>
              <a:cxnLst/>
              <a:rect l="l" t="t" r="r" b="b"/>
              <a:pathLst>
                <a:path w="7183628" h="4327779">
                  <a:moveTo>
                    <a:pt x="0" y="201930"/>
                  </a:moveTo>
                  <a:cubicBezTo>
                    <a:pt x="0" y="90297"/>
                    <a:pt x="90805" y="0"/>
                    <a:pt x="202565" y="0"/>
                  </a:cubicBezTo>
                  <a:lnTo>
                    <a:pt x="6981063" y="0"/>
                  </a:lnTo>
                  <a:lnTo>
                    <a:pt x="6981063" y="19050"/>
                  </a:lnTo>
                  <a:lnTo>
                    <a:pt x="6981063" y="0"/>
                  </a:lnTo>
                  <a:cubicBezTo>
                    <a:pt x="7092823" y="0"/>
                    <a:pt x="7183628" y="90297"/>
                    <a:pt x="7183628" y="201930"/>
                  </a:cubicBezTo>
                  <a:lnTo>
                    <a:pt x="7164578" y="201930"/>
                  </a:lnTo>
                  <a:lnTo>
                    <a:pt x="7183628" y="201930"/>
                  </a:lnTo>
                  <a:lnTo>
                    <a:pt x="7183628" y="4125849"/>
                  </a:lnTo>
                  <a:lnTo>
                    <a:pt x="7164578" y="4125849"/>
                  </a:lnTo>
                  <a:lnTo>
                    <a:pt x="7183628" y="4125849"/>
                  </a:lnTo>
                  <a:cubicBezTo>
                    <a:pt x="7183628" y="4237482"/>
                    <a:pt x="7092823" y="4327779"/>
                    <a:pt x="6981063" y="4327779"/>
                  </a:cubicBezTo>
                  <a:lnTo>
                    <a:pt x="6981063" y="4308729"/>
                  </a:lnTo>
                  <a:lnTo>
                    <a:pt x="6981063"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063" y="4289679"/>
                  </a:lnTo>
                  <a:cubicBezTo>
                    <a:pt x="7071995" y="4289679"/>
                    <a:pt x="7145528" y="4216273"/>
                    <a:pt x="7145528" y="4125849"/>
                  </a:cubicBezTo>
                  <a:lnTo>
                    <a:pt x="7145528" y="201930"/>
                  </a:lnTo>
                  <a:cubicBezTo>
                    <a:pt x="7145528" y="111506"/>
                    <a:pt x="7071995" y="38100"/>
                    <a:pt x="6981063"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11" name="Group 11"/>
          <p:cNvGrpSpPr/>
          <p:nvPr/>
        </p:nvGrpSpPr>
        <p:grpSpPr>
          <a:xfrm>
            <a:off x="831056" y="2965400"/>
            <a:ext cx="114300" cy="3217217"/>
            <a:chOff x="0" y="0"/>
            <a:chExt cx="152400" cy="4289623"/>
          </a:xfrm>
        </p:grpSpPr>
        <p:sp>
          <p:nvSpPr>
            <p:cNvPr id="12" name="Freeform 12"/>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13" name="TextBox 13"/>
          <p:cNvSpPr txBox="1"/>
          <p:nvPr/>
        </p:nvSpPr>
        <p:spPr>
          <a:xfrm>
            <a:off x="1219498" y="3210966"/>
            <a:ext cx="3530650" cy="425113"/>
          </a:xfrm>
          <a:prstGeom prst="rect">
            <a:avLst/>
          </a:prstGeom>
        </p:spPr>
        <p:txBody>
          <a:bodyPr lIns="0" tIns="0" rIns="0" bIns="0" rtlCol="0" anchor="t">
            <a:spAutoFit/>
          </a:bodyPr>
          <a:lstStyle/>
          <a:p>
            <a:r>
              <a:t>Scalability Constraints:</a:t>
            </a:r>
          </a:p>
        </p:txBody>
      </p:sp>
      <p:sp>
        <p:nvSpPr>
          <p:cNvPr id="14" name="TextBox 14"/>
          <p:cNvSpPr txBox="1"/>
          <p:nvPr/>
        </p:nvSpPr>
        <p:spPr>
          <a:xfrm>
            <a:off x="1219498" y="3817144"/>
            <a:ext cx="4725144" cy="1568450"/>
          </a:xfrm>
          <a:prstGeom prst="rect">
            <a:avLst/>
          </a:prstGeom>
        </p:spPr>
        <p:txBody>
          <a:bodyPr lIns="0" tIns="0" rIns="0" bIns="0" rtlCol="0" anchor="t">
            <a:spAutoFit/>
          </a:bodyPr>
          <a:lstStyle/>
          <a:p>
            <a:r>
              <a:t>The system works well for current transaction volumes but future growth in restaurant size or transaction volume may require additional optimization and scaling efforts</a:t>
            </a:r>
          </a:p>
        </p:txBody>
      </p:sp>
      <p:grpSp>
        <p:nvGrpSpPr>
          <p:cNvPr id="15" name="Group 15"/>
          <p:cNvGrpSpPr/>
          <p:nvPr/>
        </p:nvGrpSpPr>
        <p:grpSpPr>
          <a:xfrm>
            <a:off x="6450062" y="2951112"/>
            <a:ext cx="5387728" cy="3245792"/>
            <a:chOff x="0" y="0"/>
            <a:chExt cx="7183637" cy="4327723"/>
          </a:xfrm>
        </p:grpSpPr>
        <p:sp>
          <p:nvSpPr>
            <p:cNvPr id="16" name="Freeform 16"/>
            <p:cNvSpPr/>
            <p:nvPr/>
          </p:nvSpPr>
          <p:spPr>
            <a:xfrm>
              <a:off x="19050" y="19050"/>
              <a:ext cx="7145528" cy="4289679"/>
            </a:xfrm>
            <a:custGeom>
              <a:avLst/>
              <a:gdLst/>
              <a:ahLst/>
              <a:cxnLst/>
              <a:rect l="l" t="t" r="r" b="b"/>
              <a:pathLst>
                <a:path w="7145528" h="4289679">
                  <a:moveTo>
                    <a:pt x="0" y="182880"/>
                  </a:moveTo>
                  <a:cubicBezTo>
                    <a:pt x="0" y="81915"/>
                    <a:pt x="82169" y="0"/>
                    <a:pt x="183515" y="0"/>
                  </a:cubicBezTo>
                  <a:lnTo>
                    <a:pt x="6962013" y="0"/>
                  </a:lnTo>
                  <a:cubicBezTo>
                    <a:pt x="7063359" y="0"/>
                    <a:pt x="7145528" y="81915"/>
                    <a:pt x="7145528" y="182880"/>
                  </a:cubicBezTo>
                  <a:lnTo>
                    <a:pt x="7145528" y="4106799"/>
                  </a:lnTo>
                  <a:cubicBezTo>
                    <a:pt x="7145528" y="4207764"/>
                    <a:pt x="7063359" y="4289679"/>
                    <a:pt x="6962013" y="4289679"/>
                  </a:cubicBezTo>
                  <a:lnTo>
                    <a:pt x="183515" y="4289679"/>
                  </a:lnTo>
                  <a:cubicBezTo>
                    <a:pt x="82169" y="4289679"/>
                    <a:pt x="0" y="4207764"/>
                    <a:pt x="0" y="4106799"/>
                  </a:cubicBezTo>
                  <a:close/>
                </a:path>
              </a:pathLst>
            </a:custGeom>
            <a:solidFill>
              <a:srgbClr val="F8F8F8">
                <a:alpha val="90196"/>
              </a:srgbClr>
            </a:solidFill>
          </p:spPr>
        </p:sp>
        <p:sp>
          <p:nvSpPr>
            <p:cNvPr id="17" name="Freeform 17"/>
            <p:cNvSpPr/>
            <p:nvPr/>
          </p:nvSpPr>
          <p:spPr>
            <a:xfrm>
              <a:off x="0" y="0"/>
              <a:ext cx="7183628" cy="4327779"/>
            </a:xfrm>
            <a:custGeom>
              <a:avLst/>
              <a:gdLst/>
              <a:ahLst/>
              <a:cxnLst/>
              <a:rect l="l" t="t" r="r" b="b"/>
              <a:pathLst>
                <a:path w="7183628" h="4327779">
                  <a:moveTo>
                    <a:pt x="0" y="201930"/>
                  </a:moveTo>
                  <a:cubicBezTo>
                    <a:pt x="0" y="90297"/>
                    <a:pt x="90805" y="0"/>
                    <a:pt x="202565" y="0"/>
                  </a:cubicBezTo>
                  <a:lnTo>
                    <a:pt x="6981063" y="0"/>
                  </a:lnTo>
                  <a:lnTo>
                    <a:pt x="6981063" y="19050"/>
                  </a:lnTo>
                  <a:lnTo>
                    <a:pt x="6981063" y="0"/>
                  </a:lnTo>
                  <a:cubicBezTo>
                    <a:pt x="7092823" y="0"/>
                    <a:pt x="7183628" y="90297"/>
                    <a:pt x="7183628" y="201930"/>
                  </a:cubicBezTo>
                  <a:lnTo>
                    <a:pt x="7164578" y="201930"/>
                  </a:lnTo>
                  <a:lnTo>
                    <a:pt x="7183628" y="201930"/>
                  </a:lnTo>
                  <a:lnTo>
                    <a:pt x="7183628" y="4125849"/>
                  </a:lnTo>
                  <a:lnTo>
                    <a:pt x="7164578" y="4125849"/>
                  </a:lnTo>
                  <a:lnTo>
                    <a:pt x="7183628" y="4125849"/>
                  </a:lnTo>
                  <a:cubicBezTo>
                    <a:pt x="7183628" y="4237482"/>
                    <a:pt x="7092823" y="4327779"/>
                    <a:pt x="6981063" y="4327779"/>
                  </a:cubicBezTo>
                  <a:lnTo>
                    <a:pt x="6981063" y="4308729"/>
                  </a:lnTo>
                  <a:lnTo>
                    <a:pt x="6981063"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063" y="4289679"/>
                  </a:lnTo>
                  <a:cubicBezTo>
                    <a:pt x="7071995" y="4289679"/>
                    <a:pt x="7145528" y="4216273"/>
                    <a:pt x="7145528" y="4125849"/>
                  </a:cubicBezTo>
                  <a:lnTo>
                    <a:pt x="7145528" y="201930"/>
                  </a:lnTo>
                  <a:cubicBezTo>
                    <a:pt x="7145528" y="111506"/>
                    <a:pt x="7071995" y="38100"/>
                    <a:pt x="6981063"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18" name="Group 18"/>
          <p:cNvGrpSpPr/>
          <p:nvPr/>
        </p:nvGrpSpPr>
        <p:grpSpPr>
          <a:xfrm>
            <a:off x="6435775" y="2965400"/>
            <a:ext cx="114300" cy="3217217"/>
            <a:chOff x="0" y="0"/>
            <a:chExt cx="152400" cy="4289623"/>
          </a:xfrm>
        </p:grpSpPr>
        <p:sp>
          <p:nvSpPr>
            <p:cNvPr id="19" name="Freeform 19"/>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20" name="TextBox 20"/>
          <p:cNvSpPr txBox="1"/>
          <p:nvPr/>
        </p:nvSpPr>
        <p:spPr>
          <a:xfrm>
            <a:off x="6824216" y="3210966"/>
            <a:ext cx="4459337" cy="425113"/>
          </a:xfrm>
          <a:prstGeom prst="rect">
            <a:avLst/>
          </a:prstGeom>
        </p:spPr>
        <p:txBody>
          <a:bodyPr lIns="0" tIns="0" rIns="0" bIns="0" rtlCol="0" anchor="t">
            <a:spAutoFit/>
          </a:bodyPr>
          <a:lstStyle/>
          <a:p>
            <a:r>
              <a:t>External System Integration:</a:t>
            </a:r>
          </a:p>
        </p:txBody>
      </p:sp>
      <p:sp>
        <p:nvSpPr>
          <p:cNvPr id="21" name="TextBox 21"/>
          <p:cNvSpPr txBox="1"/>
          <p:nvPr/>
        </p:nvSpPr>
        <p:spPr>
          <a:xfrm>
            <a:off x="6824216" y="3817144"/>
            <a:ext cx="4725144" cy="1254125"/>
          </a:xfrm>
          <a:prstGeom prst="rect">
            <a:avLst/>
          </a:prstGeom>
        </p:spPr>
        <p:txBody>
          <a:bodyPr lIns="0" tIns="0" rIns="0" bIns="0" rtlCol="0" anchor="t">
            <a:spAutoFit/>
          </a:bodyPr>
          <a:lstStyle/>
          <a:p>
            <a:r>
              <a:t>Currently relies on manual processes or file-based integrations for tasks like supplier data updates or accounting software integration</a:t>
            </a:r>
          </a:p>
        </p:txBody>
      </p:sp>
      <p:sp>
        <p:nvSpPr>
          <p:cNvPr id="22" name="TextBox 22"/>
          <p:cNvSpPr txBox="1"/>
          <p:nvPr/>
        </p:nvSpPr>
        <p:spPr>
          <a:xfrm>
            <a:off x="6824216" y="5241429"/>
            <a:ext cx="4725144" cy="625475"/>
          </a:xfrm>
          <a:prstGeom prst="rect">
            <a:avLst/>
          </a:prstGeom>
        </p:spPr>
        <p:txBody>
          <a:bodyPr lIns="0" tIns="0" rIns="0" bIns="0" rtlCol="0" anchor="t">
            <a:spAutoFit/>
          </a:bodyPr>
          <a:lstStyle/>
          <a:p>
            <a:r>
              <a:t>Limited API-based integrations could streamline these processes</a:t>
            </a:r>
          </a:p>
        </p:txBody>
      </p:sp>
      <p:grpSp>
        <p:nvGrpSpPr>
          <p:cNvPr id="23" name="Group 23"/>
          <p:cNvGrpSpPr/>
          <p:nvPr/>
        </p:nvGrpSpPr>
        <p:grpSpPr>
          <a:xfrm>
            <a:off x="12054780" y="2951112"/>
            <a:ext cx="5387876" cy="3245792"/>
            <a:chOff x="0" y="0"/>
            <a:chExt cx="7183835" cy="4327723"/>
          </a:xfrm>
        </p:grpSpPr>
        <p:sp>
          <p:nvSpPr>
            <p:cNvPr id="24" name="Freeform 24"/>
            <p:cNvSpPr/>
            <p:nvPr/>
          </p:nvSpPr>
          <p:spPr>
            <a:xfrm>
              <a:off x="19050" y="19050"/>
              <a:ext cx="7145782" cy="4289679"/>
            </a:xfrm>
            <a:custGeom>
              <a:avLst/>
              <a:gdLst/>
              <a:ahLst/>
              <a:cxnLst/>
              <a:rect l="l" t="t" r="r" b="b"/>
              <a:pathLst>
                <a:path w="7145782" h="4289679">
                  <a:moveTo>
                    <a:pt x="0" y="182880"/>
                  </a:moveTo>
                  <a:cubicBezTo>
                    <a:pt x="0" y="81915"/>
                    <a:pt x="82169" y="0"/>
                    <a:pt x="183515" y="0"/>
                  </a:cubicBezTo>
                  <a:lnTo>
                    <a:pt x="6962267" y="0"/>
                  </a:lnTo>
                  <a:cubicBezTo>
                    <a:pt x="7063613" y="0"/>
                    <a:pt x="7145782" y="81915"/>
                    <a:pt x="7145782" y="182880"/>
                  </a:cubicBezTo>
                  <a:lnTo>
                    <a:pt x="7145782" y="4106799"/>
                  </a:lnTo>
                  <a:cubicBezTo>
                    <a:pt x="7145782" y="4207764"/>
                    <a:pt x="7063613" y="4289679"/>
                    <a:pt x="6962267" y="4289679"/>
                  </a:cubicBezTo>
                  <a:lnTo>
                    <a:pt x="183515" y="4289679"/>
                  </a:lnTo>
                  <a:cubicBezTo>
                    <a:pt x="82169" y="4289679"/>
                    <a:pt x="0" y="4207764"/>
                    <a:pt x="0" y="4106799"/>
                  </a:cubicBezTo>
                  <a:close/>
                </a:path>
              </a:pathLst>
            </a:custGeom>
            <a:solidFill>
              <a:srgbClr val="F8F8F8">
                <a:alpha val="90196"/>
              </a:srgbClr>
            </a:solidFill>
          </p:spPr>
        </p:sp>
        <p:sp>
          <p:nvSpPr>
            <p:cNvPr id="25" name="Freeform 25"/>
            <p:cNvSpPr/>
            <p:nvPr/>
          </p:nvSpPr>
          <p:spPr>
            <a:xfrm>
              <a:off x="0" y="0"/>
              <a:ext cx="7183882" cy="4327779"/>
            </a:xfrm>
            <a:custGeom>
              <a:avLst/>
              <a:gdLst/>
              <a:ahLst/>
              <a:cxnLst/>
              <a:rect l="l" t="t" r="r" b="b"/>
              <a:pathLst>
                <a:path w="7183882" h="4327779">
                  <a:moveTo>
                    <a:pt x="0" y="201930"/>
                  </a:moveTo>
                  <a:cubicBezTo>
                    <a:pt x="0" y="90297"/>
                    <a:pt x="90805" y="0"/>
                    <a:pt x="202565" y="0"/>
                  </a:cubicBezTo>
                  <a:lnTo>
                    <a:pt x="6981317" y="0"/>
                  </a:lnTo>
                  <a:lnTo>
                    <a:pt x="6981317" y="19050"/>
                  </a:lnTo>
                  <a:lnTo>
                    <a:pt x="6981317" y="0"/>
                  </a:lnTo>
                  <a:cubicBezTo>
                    <a:pt x="7093077" y="0"/>
                    <a:pt x="7183882" y="90297"/>
                    <a:pt x="7183882" y="201930"/>
                  </a:cubicBezTo>
                  <a:lnTo>
                    <a:pt x="7164832" y="201930"/>
                  </a:lnTo>
                  <a:lnTo>
                    <a:pt x="7183882" y="201930"/>
                  </a:lnTo>
                  <a:lnTo>
                    <a:pt x="7183882" y="4125849"/>
                  </a:lnTo>
                  <a:lnTo>
                    <a:pt x="7164832" y="4125849"/>
                  </a:lnTo>
                  <a:lnTo>
                    <a:pt x="7183882" y="4125849"/>
                  </a:lnTo>
                  <a:cubicBezTo>
                    <a:pt x="7183882" y="4237482"/>
                    <a:pt x="7093077" y="4327779"/>
                    <a:pt x="6981317" y="4327779"/>
                  </a:cubicBezTo>
                  <a:lnTo>
                    <a:pt x="6981317" y="4308729"/>
                  </a:lnTo>
                  <a:lnTo>
                    <a:pt x="6981317"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317" y="4289679"/>
                  </a:lnTo>
                  <a:cubicBezTo>
                    <a:pt x="7072249" y="4289679"/>
                    <a:pt x="7145782" y="4216273"/>
                    <a:pt x="7145782" y="4125849"/>
                  </a:cubicBezTo>
                  <a:lnTo>
                    <a:pt x="7145782" y="201930"/>
                  </a:lnTo>
                  <a:cubicBezTo>
                    <a:pt x="7145782" y="111506"/>
                    <a:pt x="7072249" y="38100"/>
                    <a:pt x="6981317"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26" name="Group 26"/>
          <p:cNvGrpSpPr/>
          <p:nvPr/>
        </p:nvGrpSpPr>
        <p:grpSpPr>
          <a:xfrm>
            <a:off x="12040492" y="2965400"/>
            <a:ext cx="114300" cy="3217217"/>
            <a:chOff x="0" y="0"/>
            <a:chExt cx="152400" cy="4289623"/>
          </a:xfrm>
        </p:grpSpPr>
        <p:sp>
          <p:nvSpPr>
            <p:cNvPr id="27" name="Freeform 27"/>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28" name="TextBox 28"/>
          <p:cNvSpPr txBox="1"/>
          <p:nvPr/>
        </p:nvSpPr>
        <p:spPr>
          <a:xfrm>
            <a:off x="12428935" y="3210966"/>
            <a:ext cx="3530650" cy="442912"/>
          </a:xfrm>
          <a:prstGeom prst="rect">
            <a:avLst/>
          </a:prstGeom>
        </p:spPr>
        <p:txBody>
          <a:bodyPr lIns="0" tIns="0" rIns="0" bIns="0" rtlCol="0" anchor="t">
            <a:spAutoFit/>
          </a:bodyPr>
          <a:lstStyle/>
          <a:p>
            <a:r>
              <a:t>Mobile Accessibility:</a:t>
            </a:r>
          </a:p>
        </p:txBody>
      </p:sp>
      <p:sp>
        <p:nvSpPr>
          <p:cNvPr id="29" name="TextBox 29"/>
          <p:cNvSpPr txBox="1"/>
          <p:nvPr/>
        </p:nvSpPr>
        <p:spPr>
          <a:xfrm>
            <a:off x="12428935" y="3817144"/>
            <a:ext cx="4725292" cy="939800"/>
          </a:xfrm>
          <a:prstGeom prst="rect">
            <a:avLst/>
          </a:prstGeom>
        </p:spPr>
        <p:txBody>
          <a:bodyPr lIns="0" tIns="0" rIns="0" bIns="0" rtlCol="0" anchor="t">
            <a:spAutoFit/>
          </a:bodyPr>
          <a:lstStyle/>
          <a:p>
            <a:r>
              <a:t>System is primarily desktop-focused with limited mobile-responsive features</a:t>
            </a:r>
          </a:p>
        </p:txBody>
      </p:sp>
      <p:sp>
        <p:nvSpPr>
          <p:cNvPr id="30" name="TextBox 30"/>
          <p:cNvSpPr txBox="1"/>
          <p:nvPr/>
        </p:nvSpPr>
        <p:spPr>
          <a:xfrm>
            <a:off x="12428935" y="4922192"/>
            <a:ext cx="4725292" cy="625475"/>
          </a:xfrm>
          <a:prstGeom prst="rect">
            <a:avLst/>
          </a:prstGeom>
        </p:spPr>
        <p:txBody>
          <a:bodyPr lIns="0" tIns="0" rIns="0" bIns="0" rtlCol="0" anchor="t">
            <a:spAutoFit/>
          </a:bodyPr>
          <a:lstStyle/>
          <a:p>
            <a:r>
              <a:t>Staff cannot access full functionality from mobile devices during service</a:t>
            </a:r>
          </a:p>
        </p:txBody>
      </p:sp>
      <p:grpSp>
        <p:nvGrpSpPr>
          <p:cNvPr id="31" name="Group 31"/>
          <p:cNvGrpSpPr/>
          <p:nvPr/>
        </p:nvGrpSpPr>
        <p:grpSpPr>
          <a:xfrm>
            <a:off x="845344" y="6413898"/>
            <a:ext cx="5387728" cy="2926556"/>
            <a:chOff x="0" y="0"/>
            <a:chExt cx="7183637" cy="3902075"/>
          </a:xfrm>
        </p:grpSpPr>
        <p:sp>
          <p:nvSpPr>
            <p:cNvPr id="32" name="Freeform 32"/>
            <p:cNvSpPr/>
            <p:nvPr/>
          </p:nvSpPr>
          <p:spPr>
            <a:xfrm>
              <a:off x="19050" y="19050"/>
              <a:ext cx="7145655" cy="3863975"/>
            </a:xfrm>
            <a:custGeom>
              <a:avLst/>
              <a:gdLst/>
              <a:ahLst/>
              <a:cxnLst/>
              <a:rect l="l" t="t" r="r" b="b"/>
              <a:pathLst>
                <a:path w="7145655" h="3863975">
                  <a:moveTo>
                    <a:pt x="0" y="182880"/>
                  </a:moveTo>
                  <a:cubicBezTo>
                    <a:pt x="0" y="81915"/>
                    <a:pt x="82296" y="0"/>
                    <a:pt x="183769" y="0"/>
                  </a:cubicBezTo>
                  <a:lnTo>
                    <a:pt x="6961886" y="0"/>
                  </a:lnTo>
                  <a:cubicBezTo>
                    <a:pt x="7063359" y="0"/>
                    <a:pt x="7145655" y="81915"/>
                    <a:pt x="7145655" y="182880"/>
                  </a:cubicBezTo>
                  <a:lnTo>
                    <a:pt x="7145655" y="3681095"/>
                  </a:lnTo>
                  <a:cubicBezTo>
                    <a:pt x="7145655" y="3782060"/>
                    <a:pt x="7063359" y="3863975"/>
                    <a:pt x="6961886" y="3863975"/>
                  </a:cubicBezTo>
                  <a:lnTo>
                    <a:pt x="183769" y="3863975"/>
                  </a:lnTo>
                  <a:cubicBezTo>
                    <a:pt x="82296" y="3863975"/>
                    <a:pt x="0" y="3782060"/>
                    <a:pt x="0" y="3681095"/>
                  </a:cubicBezTo>
                  <a:close/>
                </a:path>
              </a:pathLst>
            </a:custGeom>
            <a:solidFill>
              <a:srgbClr val="F8F8F8">
                <a:alpha val="90196"/>
              </a:srgbClr>
            </a:solidFill>
          </p:spPr>
        </p:sp>
        <p:sp>
          <p:nvSpPr>
            <p:cNvPr id="33" name="Freeform 33"/>
            <p:cNvSpPr/>
            <p:nvPr/>
          </p:nvSpPr>
          <p:spPr>
            <a:xfrm>
              <a:off x="0" y="0"/>
              <a:ext cx="7183755" cy="3902075"/>
            </a:xfrm>
            <a:custGeom>
              <a:avLst/>
              <a:gdLst/>
              <a:ahLst/>
              <a:cxnLst/>
              <a:rect l="l" t="t" r="r" b="b"/>
              <a:pathLst>
                <a:path w="7183755" h="3902075">
                  <a:moveTo>
                    <a:pt x="0" y="201930"/>
                  </a:moveTo>
                  <a:cubicBezTo>
                    <a:pt x="0" y="90297"/>
                    <a:pt x="90805" y="0"/>
                    <a:pt x="202819" y="0"/>
                  </a:cubicBezTo>
                  <a:lnTo>
                    <a:pt x="6980936" y="0"/>
                  </a:lnTo>
                  <a:lnTo>
                    <a:pt x="6980936" y="19050"/>
                  </a:lnTo>
                  <a:lnTo>
                    <a:pt x="6980936" y="0"/>
                  </a:lnTo>
                  <a:cubicBezTo>
                    <a:pt x="7092823" y="0"/>
                    <a:pt x="7183755" y="90297"/>
                    <a:pt x="7183755" y="201930"/>
                  </a:cubicBezTo>
                  <a:lnTo>
                    <a:pt x="7164705" y="201930"/>
                  </a:lnTo>
                  <a:lnTo>
                    <a:pt x="7183755" y="201930"/>
                  </a:lnTo>
                  <a:lnTo>
                    <a:pt x="7183755" y="3700145"/>
                  </a:lnTo>
                  <a:lnTo>
                    <a:pt x="7164705" y="3700145"/>
                  </a:lnTo>
                  <a:lnTo>
                    <a:pt x="7183755" y="3700145"/>
                  </a:lnTo>
                  <a:cubicBezTo>
                    <a:pt x="7183755" y="3811778"/>
                    <a:pt x="7092950" y="3902075"/>
                    <a:pt x="6980936" y="3902075"/>
                  </a:cubicBezTo>
                  <a:lnTo>
                    <a:pt x="6980936" y="3883025"/>
                  </a:lnTo>
                  <a:lnTo>
                    <a:pt x="6980936" y="3902075"/>
                  </a:lnTo>
                  <a:lnTo>
                    <a:pt x="202819" y="3902075"/>
                  </a:lnTo>
                  <a:lnTo>
                    <a:pt x="202819" y="3883025"/>
                  </a:lnTo>
                  <a:lnTo>
                    <a:pt x="202819" y="3902075"/>
                  </a:lnTo>
                  <a:cubicBezTo>
                    <a:pt x="90805" y="3902075"/>
                    <a:pt x="0" y="3811778"/>
                    <a:pt x="0" y="3700145"/>
                  </a:cubicBezTo>
                  <a:lnTo>
                    <a:pt x="0" y="201930"/>
                  </a:lnTo>
                  <a:lnTo>
                    <a:pt x="19050" y="201930"/>
                  </a:lnTo>
                  <a:lnTo>
                    <a:pt x="0" y="201930"/>
                  </a:lnTo>
                  <a:moveTo>
                    <a:pt x="38100" y="201930"/>
                  </a:moveTo>
                  <a:lnTo>
                    <a:pt x="38100" y="3700145"/>
                  </a:lnTo>
                  <a:lnTo>
                    <a:pt x="19050" y="3700145"/>
                  </a:lnTo>
                  <a:lnTo>
                    <a:pt x="38100" y="3700145"/>
                  </a:lnTo>
                  <a:cubicBezTo>
                    <a:pt x="38100" y="3790569"/>
                    <a:pt x="111760" y="3863975"/>
                    <a:pt x="202819" y="3863975"/>
                  </a:cubicBezTo>
                  <a:lnTo>
                    <a:pt x="6980936" y="3863975"/>
                  </a:lnTo>
                  <a:cubicBezTo>
                    <a:pt x="7071995" y="3863975"/>
                    <a:pt x="7145655" y="3790569"/>
                    <a:pt x="7145655" y="3700145"/>
                  </a:cubicBezTo>
                  <a:lnTo>
                    <a:pt x="7145655" y="201930"/>
                  </a:lnTo>
                  <a:cubicBezTo>
                    <a:pt x="7145655" y="111506"/>
                    <a:pt x="7071995" y="38100"/>
                    <a:pt x="6980936" y="38100"/>
                  </a:cubicBezTo>
                  <a:lnTo>
                    <a:pt x="202819" y="38100"/>
                  </a:lnTo>
                  <a:lnTo>
                    <a:pt x="202819" y="19050"/>
                  </a:lnTo>
                  <a:lnTo>
                    <a:pt x="202819" y="38100"/>
                  </a:lnTo>
                  <a:cubicBezTo>
                    <a:pt x="111760" y="38100"/>
                    <a:pt x="38100" y="111506"/>
                    <a:pt x="38100" y="201930"/>
                  </a:cubicBezTo>
                  <a:close/>
                </a:path>
              </a:pathLst>
            </a:custGeom>
            <a:solidFill>
              <a:srgbClr val="F8F8F8"/>
            </a:solidFill>
          </p:spPr>
        </p:sp>
      </p:grpSp>
      <p:grpSp>
        <p:nvGrpSpPr>
          <p:cNvPr id="34" name="Group 34"/>
          <p:cNvGrpSpPr/>
          <p:nvPr/>
        </p:nvGrpSpPr>
        <p:grpSpPr>
          <a:xfrm>
            <a:off x="831056" y="6428185"/>
            <a:ext cx="114300" cy="2897981"/>
            <a:chOff x="0" y="0"/>
            <a:chExt cx="152400" cy="3863975"/>
          </a:xfrm>
        </p:grpSpPr>
        <p:sp>
          <p:nvSpPr>
            <p:cNvPr id="35" name="Freeform 35"/>
            <p:cNvSpPr/>
            <p:nvPr/>
          </p:nvSpPr>
          <p:spPr>
            <a:xfrm>
              <a:off x="0" y="0"/>
              <a:ext cx="152400" cy="3863975"/>
            </a:xfrm>
            <a:custGeom>
              <a:avLst/>
              <a:gdLst/>
              <a:ahLst/>
              <a:cxnLst/>
              <a:rect l="l" t="t" r="r" b="b"/>
              <a:pathLst>
                <a:path w="152400" h="3863975">
                  <a:moveTo>
                    <a:pt x="0" y="76200"/>
                  </a:moveTo>
                  <a:cubicBezTo>
                    <a:pt x="0" y="34163"/>
                    <a:pt x="34163" y="0"/>
                    <a:pt x="76200" y="0"/>
                  </a:cubicBezTo>
                  <a:cubicBezTo>
                    <a:pt x="118237" y="0"/>
                    <a:pt x="152400" y="34163"/>
                    <a:pt x="152400" y="76200"/>
                  </a:cubicBezTo>
                  <a:lnTo>
                    <a:pt x="152400" y="3787775"/>
                  </a:lnTo>
                  <a:cubicBezTo>
                    <a:pt x="152400" y="3829812"/>
                    <a:pt x="118237" y="3863975"/>
                    <a:pt x="76200" y="3863975"/>
                  </a:cubicBezTo>
                  <a:cubicBezTo>
                    <a:pt x="34163" y="3863975"/>
                    <a:pt x="0" y="3829812"/>
                    <a:pt x="0" y="3787775"/>
                  </a:cubicBezTo>
                  <a:close/>
                </a:path>
              </a:pathLst>
            </a:custGeom>
            <a:solidFill>
              <a:srgbClr val="000000"/>
            </a:solidFill>
          </p:spPr>
        </p:sp>
      </p:grpSp>
      <p:sp>
        <p:nvSpPr>
          <p:cNvPr id="36" name="TextBox 36"/>
          <p:cNvSpPr txBox="1"/>
          <p:nvPr/>
        </p:nvSpPr>
        <p:spPr>
          <a:xfrm>
            <a:off x="1219498" y="6673751"/>
            <a:ext cx="3530650" cy="442912"/>
          </a:xfrm>
          <a:prstGeom prst="rect">
            <a:avLst/>
          </a:prstGeom>
        </p:spPr>
        <p:txBody>
          <a:bodyPr lIns="0" tIns="0" rIns="0" bIns="0" rtlCol="0" anchor="t">
            <a:spAutoFit/>
          </a:bodyPr>
          <a:lstStyle/>
          <a:p>
            <a:r>
              <a:t>Real-time Features:</a:t>
            </a:r>
          </a:p>
        </p:txBody>
      </p:sp>
      <p:sp>
        <p:nvSpPr>
          <p:cNvPr id="37" name="TextBox 37"/>
          <p:cNvSpPr txBox="1"/>
          <p:nvPr/>
        </p:nvSpPr>
        <p:spPr>
          <a:xfrm>
            <a:off x="1219498" y="7279927"/>
            <a:ext cx="4725144" cy="625475"/>
          </a:xfrm>
          <a:prstGeom prst="rect">
            <a:avLst/>
          </a:prstGeom>
        </p:spPr>
        <p:txBody>
          <a:bodyPr lIns="0" tIns="0" rIns="0" bIns="0" rtlCol="0" anchor="t">
            <a:spAutoFit/>
          </a:bodyPr>
          <a:lstStyle/>
          <a:p>
            <a:r>
              <a:t>Basic dashboard functionality without advanced live updates</a:t>
            </a:r>
          </a:p>
        </p:txBody>
      </p:sp>
      <p:sp>
        <p:nvSpPr>
          <p:cNvPr id="38" name="TextBox 38"/>
          <p:cNvSpPr txBox="1"/>
          <p:nvPr/>
        </p:nvSpPr>
        <p:spPr>
          <a:xfrm>
            <a:off x="1219498" y="8065740"/>
            <a:ext cx="4725144" cy="625475"/>
          </a:xfrm>
          <a:prstGeom prst="rect">
            <a:avLst/>
          </a:prstGeom>
        </p:spPr>
        <p:txBody>
          <a:bodyPr lIns="0" tIns="0" rIns="0" bIns="0" rtlCol="0" anchor="t">
            <a:spAutoFit/>
          </a:bodyPr>
          <a:lstStyle/>
          <a:p>
            <a:r>
              <a:t>Limited real-time notifications for critical restaurant operations</a:t>
            </a:r>
          </a:p>
        </p:txBody>
      </p:sp>
      <p:grpSp>
        <p:nvGrpSpPr>
          <p:cNvPr id="39" name="Group 39"/>
          <p:cNvGrpSpPr/>
          <p:nvPr/>
        </p:nvGrpSpPr>
        <p:grpSpPr>
          <a:xfrm>
            <a:off x="6450062" y="6413898"/>
            <a:ext cx="5387728" cy="2926556"/>
            <a:chOff x="0" y="0"/>
            <a:chExt cx="7183637" cy="3902075"/>
          </a:xfrm>
        </p:grpSpPr>
        <p:sp>
          <p:nvSpPr>
            <p:cNvPr id="40" name="Freeform 40"/>
            <p:cNvSpPr/>
            <p:nvPr/>
          </p:nvSpPr>
          <p:spPr>
            <a:xfrm>
              <a:off x="19050" y="19050"/>
              <a:ext cx="7145655" cy="3863975"/>
            </a:xfrm>
            <a:custGeom>
              <a:avLst/>
              <a:gdLst/>
              <a:ahLst/>
              <a:cxnLst/>
              <a:rect l="l" t="t" r="r" b="b"/>
              <a:pathLst>
                <a:path w="7145655" h="3863975">
                  <a:moveTo>
                    <a:pt x="0" y="182880"/>
                  </a:moveTo>
                  <a:cubicBezTo>
                    <a:pt x="0" y="81915"/>
                    <a:pt x="82296" y="0"/>
                    <a:pt x="183769" y="0"/>
                  </a:cubicBezTo>
                  <a:lnTo>
                    <a:pt x="6961886" y="0"/>
                  </a:lnTo>
                  <a:cubicBezTo>
                    <a:pt x="7063359" y="0"/>
                    <a:pt x="7145655" y="81915"/>
                    <a:pt x="7145655" y="182880"/>
                  </a:cubicBezTo>
                  <a:lnTo>
                    <a:pt x="7145655" y="3681095"/>
                  </a:lnTo>
                  <a:cubicBezTo>
                    <a:pt x="7145655" y="3782060"/>
                    <a:pt x="7063359" y="3863975"/>
                    <a:pt x="6961886" y="3863975"/>
                  </a:cubicBezTo>
                  <a:lnTo>
                    <a:pt x="183769" y="3863975"/>
                  </a:lnTo>
                  <a:cubicBezTo>
                    <a:pt x="82296" y="3863975"/>
                    <a:pt x="0" y="3782060"/>
                    <a:pt x="0" y="3681095"/>
                  </a:cubicBezTo>
                  <a:close/>
                </a:path>
              </a:pathLst>
            </a:custGeom>
            <a:solidFill>
              <a:srgbClr val="F8F8F8">
                <a:alpha val="90196"/>
              </a:srgbClr>
            </a:solidFill>
          </p:spPr>
        </p:sp>
        <p:sp>
          <p:nvSpPr>
            <p:cNvPr id="41" name="Freeform 41"/>
            <p:cNvSpPr/>
            <p:nvPr/>
          </p:nvSpPr>
          <p:spPr>
            <a:xfrm>
              <a:off x="0" y="0"/>
              <a:ext cx="7183755" cy="3902075"/>
            </a:xfrm>
            <a:custGeom>
              <a:avLst/>
              <a:gdLst/>
              <a:ahLst/>
              <a:cxnLst/>
              <a:rect l="l" t="t" r="r" b="b"/>
              <a:pathLst>
                <a:path w="7183755" h="3902075">
                  <a:moveTo>
                    <a:pt x="0" y="201930"/>
                  </a:moveTo>
                  <a:cubicBezTo>
                    <a:pt x="0" y="90297"/>
                    <a:pt x="90805" y="0"/>
                    <a:pt x="202819" y="0"/>
                  </a:cubicBezTo>
                  <a:lnTo>
                    <a:pt x="6980936" y="0"/>
                  </a:lnTo>
                  <a:lnTo>
                    <a:pt x="6980936" y="19050"/>
                  </a:lnTo>
                  <a:lnTo>
                    <a:pt x="6980936" y="0"/>
                  </a:lnTo>
                  <a:cubicBezTo>
                    <a:pt x="7092823" y="0"/>
                    <a:pt x="7183755" y="90297"/>
                    <a:pt x="7183755" y="201930"/>
                  </a:cubicBezTo>
                  <a:lnTo>
                    <a:pt x="7164705" y="201930"/>
                  </a:lnTo>
                  <a:lnTo>
                    <a:pt x="7183755" y="201930"/>
                  </a:lnTo>
                  <a:lnTo>
                    <a:pt x="7183755" y="3700145"/>
                  </a:lnTo>
                  <a:lnTo>
                    <a:pt x="7164705" y="3700145"/>
                  </a:lnTo>
                  <a:lnTo>
                    <a:pt x="7183755" y="3700145"/>
                  </a:lnTo>
                  <a:cubicBezTo>
                    <a:pt x="7183755" y="3811778"/>
                    <a:pt x="7092950" y="3902075"/>
                    <a:pt x="6980936" y="3902075"/>
                  </a:cubicBezTo>
                  <a:lnTo>
                    <a:pt x="6980936" y="3883025"/>
                  </a:lnTo>
                  <a:lnTo>
                    <a:pt x="6980936" y="3902075"/>
                  </a:lnTo>
                  <a:lnTo>
                    <a:pt x="202819" y="3902075"/>
                  </a:lnTo>
                  <a:lnTo>
                    <a:pt x="202819" y="3883025"/>
                  </a:lnTo>
                  <a:lnTo>
                    <a:pt x="202819" y="3902075"/>
                  </a:lnTo>
                  <a:cubicBezTo>
                    <a:pt x="90805" y="3902075"/>
                    <a:pt x="0" y="3811778"/>
                    <a:pt x="0" y="3700145"/>
                  </a:cubicBezTo>
                  <a:lnTo>
                    <a:pt x="0" y="201930"/>
                  </a:lnTo>
                  <a:lnTo>
                    <a:pt x="19050" y="201930"/>
                  </a:lnTo>
                  <a:lnTo>
                    <a:pt x="0" y="201930"/>
                  </a:lnTo>
                  <a:moveTo>
                    <a:pt x="38100" y="201930"/>
                  </a:moveTo>
                  <a:lnTo>
                    <a:pt x="38100" y="3700145"/>
                  </a:lnTo>
                  <a:lnTo>
                    <a:pt x="19050" y="3700145"/>
                  </a:lnTo>
                  <a:lnTo>
                    <a:pt x="38100" y="3700145"/>
                  </a:lnTo>
                  <a:cubicBezTo>
                    <a:pt x="38100" y="3790569"/>
                    <a:pt x="111760" y="3863975"/>
                    <a:pt x="202819" y="3863975"/>
                  </a:cubicBezTo>
                  <a:lnTo>
                    <a:pt x="6980936" y="3863975"/>
                  </a:lnTo>
                  <a:cubicBezTo>
                    <a:pt x="7071995" y="3863975"/>
                    <a:pt x="7145655" y="3790569"/>
                    <a:pt x="7145655" y="3700145"/>
                  </a:cubicBezTo>
                  <a:lnTo>
                    <a:pt x="7145655" y="201930"/>
                  </a:lnTo>
                  <a:cubicBezTo>
                    <a:pt x="7145655" y="111506"/>
                    <a:pt x="7071995" y="38100"/>
                    <a:pt x="6980936" y="38100"/>
                  </a:cubicBezTo>
                  <a:lnTo>
                    <a:pt x="202819" y="38100"/>
                  </a:lnTo>
                  <a:lnTo>
                    <a:pt x="202819" y="19050"/>
                  </a:lnTo>
                  <a:lnTo>
                    <a:pt x="202819" y="38100"/>
                  </a:lnTo>
                  <a:cubicBezTo>
                    <a:pt x="111760" y="38100"/>
                    <a:pt x="38100" y="111506"/>
                    <a:pt x="38100" y="201930"/>
                  </a:cubicBezTo>
                  <a:close/>
                </a:path>
              </a:pathLst>
            </a:custGeom>
            <a:solidFill>
              <a:srgbClr val="F8F8F8"/>
            </a:solidFill>
          </p:spPr>
        </p:sp>
      </p:grpSp>
      <p:grpSp>
        <p:nvGrpSpPr>
          <p:cNvPr id="42" name="Group 42"/>
          <p:cNvGrpSpPr/>
          <p:nvPr/>
        </p:nvGrpSpPr>
        <p:grpSpPr>
          <a:xfrm>
            <a:off x="6435775" y="6428185"/>
            <a:ext cx="114300" cy="2897981"/>
            <a:chOff x="0" y="0"/>
            <a:chExt cx="152400" cy="3863975"/>
          </a:xfrm>
        </p:grpSpPr>
        <p:sp>
          <p:nvSpPr>
            <p:cNvPr id="43" name="Freeform 43"/>
            <p:cNvSpPr/>
            <p:nvPr/>
          </p:nvSpPr>
          <p:spPr>
            <a:xfrm>
              <a:off x="0" y="0"/>
              <a:ext cx="152400" cy="3863975"/>
            </a:xfrm>
            <a:custGeom>
              <a:avLst/>
              <a:gdLst/>
              <a:ahLst/>
              <a:cxnLst/>
              <a:rect l="l" t="t" r="r" b="b"/>
              <a:pathLst>
                <a:path w="152400" h="3863975">
                  <a:moveTo>
                    <a:pt x="0" y="76200"/>
                  </a:moveTo>
                  <a:cubicBezTo>
                    <a:pt x="0" y="34163"/>
                    <a:pt x="34163" y="0"/>
                    <a:pt x="76200" y="0"/>
                  </a:cubicBezTo>
                  <a:cubicBezTo>
                    <a:pt x="118237" y="0"/>
                    <a:pt x="152400" y="34163"/>
                    <a:pt x="152400" y="76200"/>
                  </a:cubicBezTo>
                  <a:lnTo>
                    <a:pt x="152400" y="3787775"/>
                  </a:lnTo>
                  <a:cubicBezTo>
                    <a:pt x="152400" y="3829812"/>
                    <a:pt x="118237" y="3863975"/>
                    <a:pt x="76200" y="3863975"/>
                  </a:cubicBezTo>
                  <a:cubicBezTo>
                    <a:pt x="34163" y="3863975"/>
                    <a:pt x="0" y="3829812"/>
                    <a:pt x="0" y="3787775"/>
                  </a:cubicBezTo>
                  <a:close/>
                </a:path>
              </a:pathLst>
            </a:custGeom>
            <a:solidFill>
              <a:srgbClr val="000000"/>
            </a:solidFill>
          </p:spPr>
        </p:sp>
      </p:grpSp>
      <p:sp>
        <p:nvSpPr>
          <p:cNvPr id="44" name="TextBox 44"/>
          <p:cNvSpPr txBox="1"/>
          <p:nvPr/>
        </p:nvSpPr>
        <p:spPr>
          <a:xfrm>
            <a:off x="6824216" y="6673751"/>
            <a:ext cx="3530650" cy="442912"/>
          </a:xfrm>
          <a:prstGeom prst="rect">
            <a:avLst/>
          </a:prstGeom>
        </p:spPr>
        <p:txBody>
          <a:bodyPr lIns="0" tIns="0" rIns="0" bIns="0" rtlCol="0" anchor="t">
            <a:spAutoFit/>
          </a:bodyPr>
          <a:lstStyle/>
          <a:p>
            <a:r>
              <a:t>Advanced Analytics:</a:t>
            </a:r>
          </a:p>
        </p:txBody>
      </p:sp>
      <p:sp>
        <p:nvSpPr>
          <p:cNvPr id="45" name="TextBox 45"/>
          <p:cNvSpPr txBox="1"/>
          <p:nvPr/>
        </p:nvSpPr>
        <p:spPr>
          <a:xfrm>
            <a:off x="6824216" y="7279927"/>
            <a:ext cx="4725144" cy="625475"/>
          </a:xfrm>
          <a:prstGeom prst="rect">
            <a:avLst/>
          </a:prstGeom>
        </p:spPr>
        <p:txBody>
          <a:bodyPr lIns="0" tIns="0" rIns="0" bIns="0" rtlCol="0" anchor="t">
            <a:spAutoFit/>
          </a:bodyPr>
          <a:lstStyle/>
          <a:p>
            <a:r>
              <a:t>Current reporting focuses on basic sales and inventory data</a:t>
            </a:r>
          </a:p>
        </p:txBody>
      </p:sp>
      <p:sp>
        <p:nvSpPr>
          <p:cNvPr id="46" name="TextBox 46"/>
          <p:cNvSpPr txBox="1"/>
          <p:nvPr/>
        </p:nvSpPr>
        <p:spPr>
          <a:xfrm>
            <a:off x="6824216" y="8065740"/>
            <a:ext cx="4725144" cy="939800"/>
          </a:xfrm>
          <a:prstGeom prst="rect">
            <a:avLst/>
          </a:prstGeom>
        </p:spPr>
        <p:txBody>
          <a:bodyPr lIns="0" tIns="0" rIns="0" bIns="0" rtlCol="0" anchor="t">
            <a:spAutoFit/>
          </a:bodyPr>
          <a:lstStyle/>
          <a:p>
            <a:r>
              <a:t>Lacks predictive analytics for demand forecasting and customer behavior analysis</a:t>
            </a:r>
          </a:p>
        </p:txBody>
      </p:sp>
      <p:sp>
        <p:nvSpPr>
          <p:cNvPr id="55" name="Slide Number Placeholder 54">
            <a:extLst>
              <a:ext uri="{FF2B5EF4-FFF2-40B4-BE49-F238E27FC236}">
                <a16:creationId xmlns:a16="http://schemas.microsoft.com/office/drawing/2014/main" id="{2FD35E97-36C1-8289-B816-E0D940BA7ABD}"/>
              </a:ext>
            </a:extLst>
          </p:cNvPr>
          <p:cNvSpPr>
            <a:spLocks noGrp="1"/>
          </p:cNvSpPr>
          <p:nvPr>
            <p:ph type="sldNum" sz="quarter" idx="12"/>
          </p:nvPr>
        </p:nvSpPr>
        <p:spPr/>
        <p:txBody>
          <a:bodyPr/>
          <a:lstStyle/>
          <a:p>
            <a: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txBody>
            <a:bodyPr/>
            <a:lstStyle/>
            <a:p>
              <a:endParaRPr lang="en-US" dirty="0"/>
            </a:p>
          </p:txBody>
        </p:sp>
      </p:grpSp>
      <p:sp>
        <p:nvSpPr>
          <p:cNvPr id="6" name="Freeform 6"/>
          <p:cNvSpPr/>
          <p:nvPr/>
        </p:nvSpPr>
        <p:spPr>
          <a:xfrm>
            <a:off x="3972783" y="1952151"/>
            <a:ext cx="10342434" cy="6812216"/>
          </a:xfrm>
          <a:custGeom>
            <a:avLst/>
            <a:gdLst/>
            <a:ahLst/>
            <a:cxnLst/>
            <a:rect l="l" t="t" r="r" b="b"/>
            <a:pathLst>
              <a:path w="10342434" h="6812216">
                <a:moveTo>
                  <a:pt x="0" y="0"/>
                </a:moveTo>
                <a:lnTo>
                  <a:pt x="10342434" y="0"/>
                </a:lnTo>
                <a:lnTo>
                  <a:pt x="10342434" y="6812216"/>
                </a:lnTo>
                <a:lnTo>
                  <a:pt x="0" y="6812216"/>
                </a:lnTo>
                <a:lnTo>
                  <a:pt x="0" y="0"/>
                </a:lnTo>
                <a:close/>
              </a:path>
            </a:pathLst>
          </a:custGeom>
          <a:blipFill>
            <a:blip r:embed="rId2"/>
            <a:stretch>
              <a:fillRect/>
            </a:stretch>
          </a:blipFill>
        </p:spPr>
        <p:txBody>
          <a:bodyPr/>
          <a:p/>
        </p:txBody>
      </p:sp>
      <p:sp>
        <p:nvSpPr>
          <p:cNvPr id="7" name="TextBox 7"/>
          <p:cNvSpPr txBox="1"/>
          <p:nvPr/>
        </p:nvSpPr>
        <p:spPr>
          <a:xfrm>
            <a:off x="5341949" y="2881735"/>
            <a:ext cx="6521202" cy="825500"/>
          </a:xfrm>
          <a:prstGeom prst="rect">
            <a:avLst/>
          </a:prstGeom>
        </p:spPr>
        <p:txBody>
          <a:bodyPr lIns="0" tIns="0" rIns="0" bIns="0" rtlCol="0" anchor="t">
            <a:spAutoFit/>
          </a:bodyPr>
          <a:lstStyle/>
          <a:p>
            <a:r>
              <a:t>Future Work</a:t>
            </a:r>
          </a:p>
        </p:txBody>
      </p:sp>
      <p:sp>
        <p:nvSpPr>
          <p:cNvPr id="8" name="TextBox 8"/>
          <p:cNvSpPr txBox="1"/>
          <p:nvPr/>
        </p:nvSpPr>
        <p:spPr>
          <a:xfrm>
            <a:off x="5341949" y="6277794"/>
            <a:ext cx="7535991" cy="1073150"/>
          </a:xfrm>
          <a:prstGeom prst="rect">
            <a:avLst/>
          </a:prstGeom>
        </p:spPr>
        <p:txBody>
          <a:bodyPr lIns="0" tIns="0" rIns="0" bIns="0" rtlCol="0" anchor="t">
            <a:spAutoFit/>
          </a:bodyPr>
          <a:lstStyle/>
          <a:p>
            <a:r>
              <a:t>To exceed present limitations and improve the system, the following areas are suggested for future enhancement:</a:t>
            </a:r>
          </a:p>
        </p:txBody>
      </p:sp>
      <p:sp>
        <p:nvSpPr>
          <p:cNvPr id="17" name="Slide Number Placeholder 16">
            <a:extLst>
              <a:ext uri="{FF2B5EF4-FFF2-40B4-BE49-F238E27FC236}">
                <a16:creationId xmlns:a16="http://schemas.microsoft.com/office/drawing/2014/main" id="{9F666A7D-B288-2C0E-19C9-0189CF9258B6}"/>
              </a:ext>
            </a:extLst>
          </p:cNvPr>
          <p:cNvSpPr>
            <a:spLocks noGrp="1"/>
          </p:cNvSpPr>
          <p:nvPr>
            <p:ph type="sldNum" sz="quarter" idx="12"/>
          </p:nvPr>
        </p:nvSpPr>
        <p:spPr/>
        <p:txBody>
          <a:bodyPr/>
          <a:lstStyle/>
          <a:p>
            <a: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grpSp>
        <p:nvGrpSpPr>
          <p:cNvPr id="6" name="Group 6"/>
          <p:cNvGrpSpPr/>
          <p:nvPr/>
        </p:nvGrpSpPr>
        <p:grpSpPr>
          <a:xfrm>
            <a:off x="977950" y="2076153"/>
            <a:ext cx="5274022" cy="6134695"/>
            <a:chOff x="0" y="0"/>
            <a:chExt cx="7032030" cy="8179593"/>
          </a:xfrm>
        </p:grpSpPr>
        <p:sp>
          <p:nvSpPr>
            <p:cNvPr id="7" name="Freeform 7"/>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8" name="Freeform 8"/>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9" name="Group 9"/>
          <p:cNvGrpSpPr/>
          <p:nvPr/>
        </p:nvGrpSpPr>
        <p:grpSpPr>
          <a:xfrm>
            <a:off x="1304330" y="2402532"/>
            <a:ext cx="850552" cy="850553"/>
            <a:chOff x="0" y="0"/>
            <a:chExt cx="1134070" cy="1134070"/>
          </a:xfrm>
        </p:grpSpPr>
        <p:sp>
          <p:nvSpPr>
            <p:cNvPr id="10" name="Freeform 1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11" name="Group 11"/>
          <p:cNvGrpSpPr/>
          <p:nvPr/>
        </p:nvGrpSpPr>
        <p:grpSpPr>
          <a:xfrm>
            <a:off x="1538288" y="2579042"/>
            <a:ext cx="382637" cy="497533"/>
            <a:chOff x="0" y="0"/>
            <a:chExt cx="510183" cy="663377"/>
          </a:xfrm>
        </p:grpSpPr>
        <p:sp>
          <p:nvSpPr>
            <p:cNvPr id="12" name="Freeform 12"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2"/>
              <a:stretch>
                <a:fillRect l="-10" r="-15" b="-8"/>
              </a:stretch>
            </a:blipFill>
          </p:spPr>
        </p:sp>
      </p:grpSp>
      <p:sp>
        <p:nvSpPr>
          <p:cNvPr id="13" name="TextBox 13"/>
          <p:cNvSpPr txBox="1"/>
          <p:nvPr/>
        </p:nvSpPr>
        <p:spPr>
          <a:xfrm>
            <a:off x="1304330" y="3508027"/>
            <a:ext cx="4621262" cy="982742"/>
          </a:xfrm>
          <a:prstGeom prst="rect">
            <a:avLst/>
          </a:prstGeom>
        </p:spPr>
        <p:txBody>
          <a:bodyPr lIns="0" tIns="0" rIns="0" bIns="0" rtlCol="0" anchor="t">
            <a:spAutoFit/>
          </a:bodyPr>
          <a:lstStyle/>
          <a:p>
            <a:r>
              <a:t>Performance and Scalability Enhancement:</a:t>
            </a:r>
          </a:p>
        </p:txBody>
      </p:sp>
      <p:sp>
        <p:nvSpPr>
          <p:cNvPr id="14" name="TextBox 14"/>
          <p:cNvSpPr txBox="1"/>
          <p:nvPr/>
        </p:nvSpPr>
        <p:spPr>
          <a:xfrm>
            <a:off x="1304330" y="4747320"/>
            <a:ext cx="4621262" cy="1435100"/>
          </a:xfrm>
          <a:prstGeom prst="rect">
            <a:avLst/>
          </a:prstGeom>
        </p:spPr>
        <p:txBody>
          <a:bodyPr lIns="0" tIns="0" rIns="0" bIns="0" rtlCol="0" anchor="t">
            <a:spAutoFit/>
          </a:bodyPr>
          <a:lstStyle/>
          <a:p>
            <a:r>
              <a:t>Migrating to cloud-based infrastructure or using optimized database solutions (e.g., cloud MySQL)</a:t>
            </a:r>
          </a:p>
        </p:txBody>
      </p:sp>
      <p:sp>
        <p:nvSpPr>
          <p:cNvPr id="15" name="TextBox 15"/>
          <p:cNvSpPr txBox="1"/>
          <p:nvPr/>
        </p:nvSpPr>
        <p:spPr>
          <a:xfrm>
            <a:off x="1304330" y="6391424"/>
            <a:ext cx="4621262" cy="1435100"/>
          </a:xfrm>
          <a:prstGeom prst="rect">
            <a:avLst/>
          </a:prstGeom>
        </p:spPr>
        <p:txBody>
          <a:bodyPr lIns="0" tIns="0" rIns="0" bIns="0" rtlCol="0" anchor="t">
            <a:spAutoFit/>
          </a:bodyPr>
          <a:lstStyle/>
          <a:p>
            <a:r>
              <a:t>Implementing caching mechanisms such as Redis to improve performance for higher transaction volumes</a:t>
            </a:r>
          </a:p>
        </p:txBody>
      </p:sp>
      <p:grpSp>
        <p:nvGrpSpPr>
          <p:cNvPr id="16" name="Group 16"/>
          <p:cNvGrpSpPr/>
          <p:nvPr/>
        </p:nvGrpSpPr>
        <p:grpSpPr>
          <a:xfrm>
            <a:off x="6506915" y="2076153"/>
            <a:ext cx="5274022" cy="6134695"/>
            <a:chOff x="0" y="0"/>
            <a:chExt cx="7032030" cy="8179593"/>
          </a:xfrm>
        </p:grpSpPr>
        <p:sp>
          <p:nvSpPr>
            <p:cNvPr id="17" name="Freeform 17"/>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18" name="Freeform 18"/>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19" name="Group 19"/>
          <p:cNvGrpSpPr/>
          <p:nvPr/>
        </p:nvGrpSpPr>
        <p:grpSpPr>
          <a:xfrm>
            <a:off x="6833295" y="2402532"/>
            <a:ext cx="850552" cy="850553"/>
            <a:chOff x="0" y="0"/>
            <a:chExt cx="1134070" cy="1134070"/>
          </a:xfrm>
        </p:grpSpPr>
        <p:sp>
          <p:nvSpPr>
            <p:cNvPr id="20" name="Freeform 2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21" name="Group 21"/>
          <p:cNvGrpSpPr/>
          <p:nvPr/>
        </p:nvGrpSpPr>
        <p:grpSpPr>
          <a:xfrm>
            <a:off x="7067252" y="2579042"/>
            <a:ext cx="382637" cy="497533"/>
            <a:chOff x="0" y="0"/>
            <a:chExt cx="510183" cy="663377"/>
          </a:xfrm>
        </p:grpSpPr>
        <p:sp>
          <p:nvSpPr>
            <p:cNvPr id="22" name="Freeform 22"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3"/>
              <a:stretch>
                <a:fillRect l="-10" r="-15" b="-8"/>
              </a:stretch>
            </a:blipFill>
          </p:spPr>
        </p:sp>
      </p:grpSp>
      <p:sp>
        <p:nvSpPr>
          <p:cNvPr id="23" name="TextBox 23"/>
          <p:cNvSpPr txBox="1"/>
          <p:nvPr/>
        </p:nvSpPr>
        <p:spPr>
          <a:xfrm>
            <a:off x="6833295" y="3508027"/>
            <a:ext cx="4075807" cy="514350"/>
          </a:xfrm>
          <a:prstGeom prst="rect">
            <a:avLst/>
          </a:prstGeom>
        </p:spPr>
        <p:txBody>
          <a:bodyPr lIns="0" tIns="0" rIns="0" bIns="0" rtlCol="0" anchor="t">
            <a:spAutoFit/>
          </a:bodyPr>
          <a:lstStyle/>
          <a:p>
            <a:r>
              <a:t>Real-Time Features:</a:t>
            </a:r>
          </a:p>
        </p:txBody>
      </p:sp>
      <p:sp>
        <p:nvSpPr>
          <p:cNvPr id="24" name="TextBox 24"/>
          <p:cNvSpPr txBox="1"/>
          <p:nvPr/>
        </p:nvSpPr>
        <p:spPr>
          <a:xfrm>
            <a:off x="6833295" y="4217491"/>
            <a:ext cx="4621262" cy="2159000"/>
          </a:xfrm>
          <a:prstGeom prst="rect">
            <a:avLst/>
          </a:prstGeom>
        </p:spPr>
        <p:txBody>
          <a:bodyPr lIns="0" tIns="0" rIns="0" bIns="0" rtlCol="0" anchor="t">
            <a:spAutoFit/>
          </a:bodyPr>
          <a:lstStyle/>
          <a:p>
            <a:r>
              <a:t>Developing a live dashboard using web technologies for real-time insights into sales, order statuses, inventory levels, and critical alerts for restaurant managers and staff</a:t>
            </a:r>
          </a:p>
        </p:txBody>
      </p:sp>
      <p:grpSp>
        <p:nvGrpSpPr>
          <p:cNvPr id="25" name="Group 25"/>
          <p:cNvGrpSpPr/>
          <p:nvPr/>
        </p:nvGrpSpPr>
        <p:grpSpPr>
          <a:xfrm>
            <a:off x="12035879" y="2076153"/>
            <a:ext cx="5274022" cy="6134695"/>
            <a:chOff x="0" y="0"/>
            <a:chExt cx="7032030" cy="8179593"/>
          </a:xfrm>
        </p:grpSpPr>
        <p:sp>
          <p:nvSpPr>
            <p:cNvPr id="26" name="Freeform 26"/>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27" name="Freeform 27"/>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28" name="Group 28"/>
          <p:cNvGrpSpPr/>
          <p:nvPr/>
        </p:nvGrpSpPr>
        <p:grpSpPr>
          <a:xfrm>
            <a:off x="12362260" y="2402532"/>
            <a:ext cx="850553" cy="850553"/>
            <a:chOff x="0" y="0"/>
            <a:chExt cx="1134070" cy="1134070"/>
          </a:xfrm>
        </p:grpSpPr>
        <p:sp>
          <p:nvSpPr>
            <p:cNvPr id="29" name="Freeform 2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30" name="Group 30"/>
          <p:cNvGrpSpPr/>
          <p:nvPr/>
        </p:nvGrpSpPr>
        <p:grpSpPr>
          <a:xfrm>
            <a:off x="12596217" y="2579042"/>
            <a:ext cx="382638" cy="497533"/>
            <a:chOff x="0" y="0"/>
            <a:chExt cx="510183" cy="663377"/>
          </a:xfrm>
        </p:grpSpPr>
        <p:sp>
          <p:nvSpPr>
            <p:cNvPr id="31" name="Freeform 31"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4"/>
              <a:stretch>
                <a:fillRect l="-10" r="-15" b="-8"/>
              </a:stretch>
            </a:blipFill>
          </p:spPr>
        </p:sp>
      </p:grpSp>
      <p:sp>
        <p:nvSpPr>
          <p:cNvPr id="32" name="TextBox 32"/>
          <p:cNvSpPr txBox="1"/>
          <p:nvPr/>
        </p:nvSpPr>
        <p:spPr>
          <a:xfrm>
            <a:off x="12362260" y="3508027"/>
            <a:ext cx="4097239" cy="487204"/>
          </a:xfrm>
          <a:prstGeom prst="rect">
            <a:avLst/>
          </a:prstGeom>
        </p:spPr>
        <p:txBody>
          <a:bodyPr lIns="0" tIns="0" rIns="0" bIns="0" rtlCol="0" anchor="t">
            <a:spAutoFit/>
          </a:bodyPr>
          <a:lstStyle/>
          <a:p>
            <a:r>
              <a:t>Advanced Integration:</a:t>
            </a:r>
          </a:p>
        </p:txBody>
      </p:sp>
      <p:sp>
        <p:nvSpPr>
          <p:cNvPr id="33" name="TextBox 33"/>
          <p:cNvSpPr txBox="1"/>
          <p:nvPr/>
        </p:nvSpPr>
        <p:spPr>
          <a:xfrm>
            <a:off x="12362260" y="4217491"/>
            <a:ext cx="4621263" cy="2159000"/>
          </a:xfrm>
          <a:prstGeom prst="rect">
            <a:avLst/>
          </a:prstGeom>
        </p:spPr>
        <p:txBody>
          <a:bodyPr lIns="0" tIns="0" rIns="0" bIns="0" rtlCol="0" anchor="t">
            <a:spAutoFit/>
          </a:bodyPr>
          <a:lstStyle/>
          <a:p>
            <a:r>
              <a:t>Replacing file-based data transfers with secure RESTful APIs or direct integrations for payment gateways, inventory suppliers, and accounting systems</a:t>
            </a:r>
          </a:p>
        </p:txBody>
      </p:sp>
      <p:sp>
        <p:nvSpPr>
          <p:cNvPr id="34" name="TextBox 34"/>
          <p:cNvSpPr txBox="1"/>
          <p:nvPr/>
        </p:nvSpPr>
        <p:spPr>
          <a:xfrm>
            <a:off x="12362260" y="6598592"/>
            <a:ext cx="4621263" cy="711200"/>
          </a:xfrm>
          <a:prstGeom prst="rect">
            <a:avLst/>
          </a:prstGeom>
        </p:spPr>
        <p:txBody>
          <a:bodyPr lIns="0" tIns="0" rIns="0" bIns="0" rtlCol="0" anchor="t">
            <a:spAutoFit/>
          </a:bodyPr>
          <a:lstStyle/>
          <a:p>
            <a:r>
              <a:t>Automating workflows to increase system reliability</a:t>
            </a:r>
          </a:p>
        </p:txBody>
      </p:sp>
      <p:sp>
        <p:nvSpPr>
          <p:cNvPr id="43" name="Slide Number Placeholder 42">
            <a:extLst>
              <a:ext uri="{FF2B5EF4-FFF2-40B4-BE49-F238E27FC236}">
                <a16:creationId xmlns:a16="http://schemas.microsoft.com/office/drawing/2014/main" id="{E626C250-F2F3-124D-1C66-3DC51527D052}"/>
              </a:ext>
            </a:extLst>
          </p:cNvPr>
          <p:cNvSpPr>
            <a:spLocks noGrp="1"/>
          </p:cNvSpPr>
          <p:nvPr>
            <p:ph type="sldNum" sz="quarter" idx="12"/>
          </p:nvPr>
        </p:nvSpPr>
        <p:spPr/>
        <p:txBody>
          <a:bodyPr/>
          <a:lstStyle/>
          <a:p>
            <a: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992238" y="2762994"/>
            <a:ext cx="6521202" cy="825500"/>
          </a:xfrm>
          <a:prstGeom prst="rect">
            <a:avLst/>
          </a:prstGeom>
        </p:spPr>
        <p:txBody>
          <a:bodyPr lIns="0" tIns="0" rIns="0" bIns="0" rtlCol="0" anchor="t">
            <a:spAutoFit/>
          </a:bodyPr>
          <a:lstStyle/>
          <a:p>
            <a:r>
              <a:t>CONCLUSION</a:t>
            </a:r>
          </a:p>
        </p:txBody>
      </p:sp>
      <p:sp>
        <p:nvSpPr>
          <p:cNvPr id="9" name="TextBox 9"/>
          <p:cNvSpPr txBox="1"/>
          <p:nvPr/>
        </p:nvSpPr>
        <p:spPr>
          <a:xfrm>
            <a:off x="992237" y="3913286"/>
            <a:ext cx="5060156" cy="478631"/>
          </a:xfrm>
          <a:prstGeom prst="rect">
            <a:avLst/>
          </a:prstGeom>
        </p:spPr>
        <p:txBody>
          <a:bodyPr lIns="0" tIns="0" rIns="0" bIns="0" rtlCol="0" anchor="t">
            <a:spAutoFit/>
          </a:bodyPr>
          <a:lstStyle/>
          <a:p>
            <a:r>
              <a:t>Project Success and Impact:</a:t>
            </a:r>
          </a:p>
        </p:txBody>
      </p:sp>
      <p:sp>
        <p:nvSpPr>
          <p:cNvPr id="10" name="TextBox 10"/>
          <p:cNvSpPr txBox="1"/>
          <p:nvPr/>
        </p:nvSpPr>
        <p:spPr>
          <a:xfrm>
            <a:off x="992238" y="4877841"/>
            <a:ext cx="9445526" cy="2520950"/>
          </a:xfrm>
          <a:prstGeom prst="rect">
            <a:avLst/>
          </a:prstGeom>
        </p:spPr>
        <p:txBody>
          <a:bodyPr lIns="0" tIns="0" rIns="0" bIns="0" rtlCol="0" anchor="t">
            <a:spAutoFit/>
          </a:bodyPr>
          <a:lstStyle/>
          <a:p>
            <a:r>
              <a:t>The development of the Restaurant Restaurant Management System for EmpowerBD was a comprehensive and successful practicum that provided invaluable real-world experience in designing a business application. Built with React.js, Laravel, and MySQL, the system successfully automates day-to-day restaurant operations including order management, inventory tracking, payment processing, and reporting.</a:t>
            </a:r>
          </a:p>
        </p:txBody>
      </p:sp>
      <p:sp>
        <p:nvSpPr>
          <p:cNvPr id="17" name="Slide Number Placeholder 16">
            <a:extLst>
              <a:ext uri="{FF2B5EF4-FFF2-40B4-BE49-F238E27FC236}">
                <a16:creationId xmlns:a16="http://schemas.microsoft.com/office/drawing/2014/main" id="{549E86DD-F6DC-3F4C-0EDA-9F00CAC6F547}"/>
              </a:ext>
            </a:extLst>
          </p:cNvPr>
          <p:cNvSpPr>
            <a:spLocks noGrp="1"/>
          </p:cNvSpPr>
          <p:nvPr>
            <p:ph type="sldNum" sz="quarter" idx="12"/>
          </p:nvPr>
        </p:nvSpPr>
        <p:spPr/>
        <p:txBody>
          <a:bodyPr/>
          <a:lstStyle/>
          <a:p>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831503" y="635794"/>
            <a:ext cx="3639145" cy="402987"/>
          </a:xfrm>
          <a:prstGeom prst="rect">
            <a:avLst/>
          </a:prstGeom>
        </p:spPr>
        <p:txBody>
          <a:bodyPr lIns="0" tIns="0" rIns="0" bIns="0" rtlCol="0" anchor="t">
            <a:spAutoFit/>
          </a:bodyPr>
          <a:lstStyle/>
          <a:p>
            <a:r>
              <a:t>Technical Achievement:</a:t>
            </a:r>
          </a:p>
        </p:txBody>
      </p:sp>
      <p:sp>
        <p:nvSpPr>
          <p:cNvPr id="9" name="TextBox 9"/>
          <p:cNvSpPr txBox="1"/>
          <p:nvPr/>
        </p:nvSpPr>
        <p:spPr>
          <a:xfrm>
            <a:off x="831502" y="1554807"/>
            <a:ext cx="16624995" cy="879475"/>
          </a:xfrm>
          <a:prstGeom prst="rect">
            <a:avLst/>
          </a:prstGeom>
        </p:spPr>
        <p:txBody>
          <a:bodyPr lIns="0" tIns="0" rIns="0" bIns="0" rtlCol="0" anchor="t">
            <a:spAutoFit/>
          </a:bodyPr>
          <a:lstStyle/>
          <a:p>
            <a:r>
              <a:t>The project demonstrated effective integration of modern web technologies, creating a robust system that handles all aspects of restaurant operations with minimal manual intervention. The iterative development approach ensured high quality through continuous testing and stakeholder feedback.</a:t>
            </a:r>
          </a:p>
        </p:txBody>
      </p:sp>
      <p:sp>
        <p:nvSpPr>
          <p:cNvPr id="10" name="TextBox 10"/>
          <p:cNvSpPr txBox="1"/>
          <p:nvPr/>
        </p:nvSpPr>
        <p:spPr>
          <a:xfrm>
            <a:off x="831502" y="2827585"/>
            <a:ext cx="3415010" cy="430213"/>
          </a:xfrm>
          <a:prstGeom prst="rect">
            <a:avLst/>
          </a:prstGeom>
        </p:spPr>
        <p:txBody>
          <a:bodyPr lIns="0" tIns="0" rIns="0" bIns="0" rtlCol="0" anchor="t">
            <a:spAutoFit/>
          </a:bodyPr>
          <a:lstStyle/>
          <a:p>
            <a:r>
              <a:t>Business Value:</a:t>
            </a:r>
          </a:p>
        </p:txBody>
      </p:sp>
      <p:sp>
        <p:nvSpPr>
          <p:cNvPr id="11" name="TextBox 11"/>
          <p:cNvSpPr txBox="1"/>
          <p:nvPr/>
        </p:nvSpPr>
        <p:spPr>
          <a:xfrm>
            <a:off x="831502" y="3637360"/>
            <a:ext cx="16624995" cy="879475"/>
          </a:xfrm>
          <a:prstGeom prst="rect">
            <a:avLst/>
          </a:prstGeom>
        </p:spPr>
        <p:txBody>
          <a:bodyPr lIns="0" tIns="0" rIns="0" bIns="0" rtlCol="0" anchor="t">
            <a:spAutoFit/>
          </a:bodyPr>
          <a:lstStyle/>
          <a:p>
            <a:r>
              <a:t>The system significantly enhances operational efficiency, reduces manual errors, improves customer satisfaction, and provides restaurant owners with confidence to run their businesses smoothly. The automated reporting capabilities enable data-driven decision making for restaurant management.</a:t>
            </a:r>
          </a:p>
        </p:txBody>
      </p:sp>
      <p:sp>
        <p:nvSpPr>
          <p:cNvPr id="12" name="TextBox 12"/>
          <p:cNvSpPr txBox="1"/>
          <p:nvPr/>
        </p:nvSpPr>
        <p:spPr>
          <a:xfrm>
            <a:off x="831502" y="4910137"/>
            <a:ext cx="3415010" cy="430213"/>
          </a:xfrm>
          <a:prstGeom prst="rect">
            <a:avLst/>
          </a:prstGeom>
        </p:spPr>
        <p:txBody>
          <a:bodyPr lIns="0" tIns="0" rIns="0" bIns="0" rtlCol="0" anchor="t">
            <a:spAutoFit/>
          </a:bodyPr>
          <a:lstStyle/>
          <a:p>
            <a:r>
              <a:t>Learning Outcomes:</a:t>
            </a:r>
          </a:p>
        </p:txBody>
      </p:sp>
      <p:sp>
        <p:nvSpPr>
          <p:cNvPr id="13" name="TextBox 13"/>
          <p:cNvSpPr txBox="1"/>
          <p:nvPr/>
        </p:nvSpPr>
        <p:spPr>
          <a:xfrm>
            <a:off x="831502" y="5719911"/>
            <a:ext cx="16624995" cy="879475"/>
          </a:xfrm>
          <a:prstGeom prst="rect">
            <a:avLst/>
          </a:prstGeom>
        </p:spPr>
        <p:txBody>
          <a:bodyPr lIns="0" tIns="0" rIns="0" bIns="0" rtlCol="0" anchor="t">
            <a:spAutoFit/>
          </a:bodyPr>
          <a:lstStyle/>
          <a:p>
            <a:r>
              <a:t>This practicum provided comprehensive experience in full-stack development, database design and management, business logic implementation, security and compliance, and project management. The skills acquired include React.js and Laravel expertise, MySQL optimization, restaurant workflow automation, and professional software development practices.</a:t>
            </a:r>
          </a:p>
        </p:txBody>
      </p:sp>
      <p:sp>
        <p:nvSpPr>
          <p:cNvPr id="14" name="TextBox 14"/>
          <p:cNvSpPr txBox="1"/>
          <p:nvPr/>
        </p:nvSpPr>
        <p:spPr>
          <a:xfrm>
            <a:off x="831502" y="6992690"/>
            <a:ext cx="3415010" cy="430213"/>
          </a:xfrm>
          <a:prstGeom prst="rect">
            <a:avLst/>
          </a:prstGeom>
        </p:spPr>
        <p:txBody>
          <a:bodyPr lIns="0" tIns="0" rIns="0" bIns="0" rtlCol="0" anchor="t">
            <a:spAutoFit/>
          </a:bodyPr>
          <a:lstStyle/>
          <a:p>
            <a:r>
              <a:t>Future Ready:</a:t>
            </a:r>
          </a:p>
        </p:txBody>
      </p:sp>
      <p:sp>
        <p:nvSpPr>
          <p:cNvPr id="15" name="TextBox 15"/>
          <p:cNvSpPr txBox="1"/>
          <p:nvPr/>
        </p:nvSpPr>
        <p:spPr>
          <a:xfrm>
            <a:off x="831502" y="7802464"/>
            <a:ext cx="16624995" cy="584200"/>
          </a:xfrm>
          <a:prstGeom prst="rect">
            <a:avLst/>
          </a:prstGeom>
        </p:spPr>
        <p:txBody>
          <a:bodyPr lIns="0" tIns="0" rIns="0" bIns="0" rtlCol="0" anchor="t">
            <a:spAutoFit/>
          </a:bodyPr>
          <a:lstStyle/>
          <a:p>
            <a:r>
              <a:t>The current system provides a solid foundation for continued enhancement and evolution. With planned improvements in scalability, mobile accessibility, and advanced analytics, the system is positioned to grow with restaurant business needs and technological advancements.</a:t>
            </a:r>
          </a:p>
        </p:txBody>
      </p:sp>
      <p:sp>
        <p:nvSpPr>
          <p:cNvPr id="16" name="TextBox 16"/>
          <p:cNvSpPr txBox="1"/>
          <p:nvPr/>
        </p:nvSpPr>
        <p:spPr>
          <a:xfrm>
            <a:off x="831502" y="8995619"/>
            <a:ext cx="16624995" cy="584200"/>
          </a:xfrm>
          <a:prstGeom prst="rect">
            <a:avLst/>
          </a:prstGeom>
        </p:spPr>
        <p:txBody>
          <a:bodyPr lIns="0" tIns="0" rIns="0" bIns="0" rtlCol="0" anchor="t">
            <a:spAutoFit/>
          </a:bodyPr>
          <a:lstStyle/>
          <a:p>
            <a:r>
              <a:t>The Restaurant Restaurant Management System successfully meets its objectives of enhancing efficiency, transparency, and reliability in restaurant operations while providing a platform for future technological innovation in the food service industry.</a:t>
            </a:r>
          </a:p>
        </p:txBody>
      </p:sp>
      <p:sp>
        <p:nvSpPr>
          <p:cNvPr id="22" name="Slide Number Placeholder 21">
            <a:extLst>
              <a:ext uri="{FF2B5EF4-FFF2-40B4-BE49-F238E27FC236}">
                <a16:creationId xmlns:a16="http://schemas.microsoft.com/office/drawing/2014/main" id="{2053D9E2-B775-B93C-4EE4-BB3BDD33CC65}"/>
              </a:ext>
            </a:extLst>
          </p:cNvPr>
          <p:cNvSpPr>
            <a:spLocks noGrp="1"/>
          </p:cNvSpPr>
          <p:nvPr>
            <p:ph type="sldNum" sz="quarter" idx="12"/>
          </p:nvPr>
        </p:nvSpPr>
        <p:spPr/>
        <p:txBody>
          <a:bodyPr/>
          <a:lstStyle/>
          <a:p>
            <a: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8219854" y="9078087"/>
            <a:ext cx="1848291" cy="0"/>
          </a:xfrm>
          <a:prstGeom prst="line">
            <a:avLst/>
          </a:prstGeom>
          <a:ln w="38100" cap="flat">
            <a:solidFill>
              <a:srgbClr val="000000"/>
            </a:solidFill>
            <a:prstDash val="solid"/>
            <a:headEnd type="none" w="sm" len="sm"/>
            <a:tailEnd type="arrow" w="med" len="sm"/>
          </a:ln>
        </p:spPr>
        <p:txBody>
          <a:bodyPr/>
          <a:p/>
        </p:txBody>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p/>
        </p:txBody>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p/>
        </p:txBody>
      </p:sp>
      <p:sp>
        <p:nvSpPr>
          <p:cNvPr id="6" name="TextBox 6"/>
          <p:cNvSpPr txBox="1"/>
          <p:nvPr/>
        </p:nvSpPr>
        <p:spPr>
          <a:xfrm>
            <a:off x="1654052" y="2974891"/>
            <a:ext cx="14979896" cy="4504411"/>
          </a:xfrm>
          <a:prstGeom prst="rect">
            <a:avLst/>
          </a:prstGeom>
        </p:spPr>
        <p:txBody>
          <a:bodyPr lIns="0" tIns="0" rIns="0" bIns="0" rtlCol="0" anchor="t">
            <a:spAutoFit/>
          </a:bodyPr>
          <a:lstStyle/>
          <a:p>
            <a:r>
              <a:t>THANK YOU</a:t>
            </a:r>
          </a:p>
        </p:txBody>
      </p:sp>
      <p:grpSp>
        <p:nvGrpSpPr>
          <p:cNvPr id="7" name="Group 7"/>
          <p:cNvGrpSpPr/>
          <p:nvPr/>
        </p:nvGrpSpPr>
        <p:grpSpPr>
          <a:xfrm>
            <a:off x="4722264" y="7423851"/>
            <a:ext cx="8843472" cy="697883"/>
            <a:chOff x="0" y="0"/>
            <a:chExt cx="2609622" cy="205938"/>
          </a:xfrm>
        </p:grpSpPr>
        <p:sp>
          <p:nvSpPr>
            <p:cNvPr id="8" name="Freeform 8"/>
            <p:cNvSpPr/>
            <p:nvPr/>
          </p:nvSpPr>
          <p:spPr>
            <a:xfrm>
              <a:off x="0" y="0"/>
              <a:ext cx="2609622" cy="205938"/>
            </a:xfrm>
            <a:custGeom>
              <a:avLst/>
              <a:gdLst/>
              <a:ahLst/>
              <a:cxnLst/>
              <a:rect l="l" t="t" r="r" b="b"/>
              <a:pathLst>
                <a:path w="2609622" h="205938">
                  <a:moveTo>
                    <a:pt x="44647" y="0"/>
                  </a:moveTo>
                  <a:lnTo>
                    <a:pt x="2564975" y="0"/>
                  </a:lnTo>
                  <a:cubicBezTo>
                    <a:pt x="2589633" y="0"/>
                    <a:pt x="2609622" y="19989"/>
                    <a:pt x="2609622" y="44647"/>
                  </a:cubicBezTo>
                  <a:lnTo>
                    <a:pt x="2609622" y="161291"/>
                  </a:lnTo>
                  <a:cubicBezTo>
                    <a:pt x="2609622" y="185949"/>
                    <a:pt x="2589633" y="205938"/>
                    <a:pt x="2564975" y="205938"/>
                  </a:cubicBezTo>
                  <a:lnTo>
                    <a:pt x="44647" y="205938"/>
                  </a:lnTo>
                  <a:cubicBezTo>
                    <a:pt x="32806" y="205938"/>
                    <a:pt x="21450" y="201235"/>
                    <a:pt x="13077" y="192862"/>
                  </a:cubicBezTo>
                  <a:cubicBezTo>
                    <a:pt x="4704" y="184489"/>
                    <a:pt x="0" y="173132"/>
                    <a:pt x="0" y="161291"/>
                  </a:cubicBezTo>
                  <a:lnTo>
                    <a:pt x="0" y="44647"/>
                  </a:lnTo>
                  <a:cubicBezTo>
                    <a:pt x="0" y="19989"/>
                    <a:pt x="19989" y="0"/>
                    <a:pt x="44647" y="0"/>
                  </a:cubicBezTo>
                  <a:close/>
                </a:path>
              </a:pathLst>
            </a:custGeom>
            <a:solidFill>
              <a:srgbClr val="000000">
                <a:alpha val="0"/>
              </a:srgbClr>
            </a:solidFill>
            <a:ln w="19050" cap="rnd">
              <a:solidFill>
                <a:srgbClr val="01012C"/>
              </a:solidFill>
              <a:prstDash val="solid"/>
              <a:round/>
            </a:ln>
          </p:spPr>
        </p:sp>
        <p:sp>
          <p:nvSpPr>
            <p:cNvPr id="9" name="TextBox 9"/>
            <p:cNvSpPr txBox="1"/>
            <p:nvPr/>
          </p:nvSpPr>
          <p:spPr>
            <a:xfrm>
              <a:off x="0" y="85725"/>
              <a:ext cx="2609622" cy="120213"/>
            </a:xfrm>
            <a:prstGeom prst="rect">
              <a:avLst/>
            </a:prstGeom>
          </p:spPr>
          <p:txBody>
            <a:bodyPr lIns="50800" tIns="50800" rIns="50800" bIns="50800" rtlCol="0" anchor="ctr"/>
            <a:lstStyle/>
            <a:p>
              <a:pPr algn="ctr">
                <a:lnSpc>
                  <a:spcPts val="1638"/>
                </a:lnSpc>
              </a:pPr>
              <a:endParaRPr/>
            </a:p>
          </p:txBody>
        </p:sp>
      </p:grpSp>
      <p:sp>
        <p:nvSpPr>
          <p:cNvPr id="10" name="TextBox 10"/>
          <p:cNvSpPr txBox="1"/>
          <p:nvPr/>
        </p:nvSpPr>
        <p:spPr>
          <a:xfrm>
            <a:off x="5160056" y="7667339"/>
            <a:ext cx="7967889" cy="294285"/>
          </a:xfrm>
          <a:prstGeom prst="rect">
            <a:avLst/>
          </a:prstGeom>
        </p:spPr>
        <p:txBody>
          <a:bodyPr lIns="0" tIns="0" rIns="0" bIns="0" rtlCol="0" anchor="t">
            <a:spAutoFit/>
          </a:bodyPr>
          <a:lstStyle/>
          <a:p>
            <a:r>
              <a:t>Presentation By: [Presenter Name]</a:t>
            </a:r>
          </a:p>
        </p:txBody>
      </p:sp>
      <p:sp>
        <p:nvSpPr>
          <p:cNvPr id="11" name="TextBox 11"/>
          <p:cNvSpPr txBox="1"/>
          <p:nvPr/>
        </p:nvSpPr>
        <p:spPr>
          <a:xfrm>
            <a:off x="14441710" y="8812911"/>
            <a:ext cx="2817590" cy="265176"/>
          </a:xfrm>
          <a:prstGeom prst="rect">
            <a:avLst/>
          </a:prstGeom>
        </p:spPr>
        <p:txBody>
          <a:bodyPr lIns="0" tIns="0" rIns="0" bIns="0" rtlCol="0" anchor="t">
            <a:spAutoFit/>
          </a:bodyPr>
          <a:lstStyle/>
          <a:p>
            <a:r>
              <a:t>May 15, 2026</a:t>
            </a:r>
          </a:p>
        </p:txBody>
      </p:sp>
      <p:sp>
        <p:nvSpPr>
          <p:cNvPr id="12" name="TextBox 10">
            <a:extLst>
              <a:ext uri="{FF2B5EF4-FFF2-40B4-BE49-F238E27FC236}">
                <a16:creationId xmlns:a16="http://schemas.microsoft.com/office/drawing/2014/main" id="{EEC521EC-1643-51AC-E668-3EA44878EB9E}"/>
              </a:ext>
            </a:extLst>
          </p:cNvPr>
          <p:cNvSpPr txBox="1"/>
          <p:nvPr/>
        </p:nvSpPr>
        <p:spPr>
          <a:xfrm>
            <a:off x="5029200" y="8271123"/>
            <a:ext cx="7967889" cy="294285"/>
          </a:xfrm>
          <a:prstGeom prst="rect">
            <a:avLst/>
          </a:prstGeom>
        </p:spPr>
        <p:txBody>
          <a:bodyPr lIns="0" tIns="0" rIns="0" bIns="0" rtlCol="0" anchor="t">
            <a:spAutoFit/>
          </a:bodyPr>
          <a:lstStyle/>
          <a:p>
            <a:r>
              <a:t>ID : 21303158</a:t>
            </a:r>
          </a:p>
        </p:txBody>
      </p:sp>
      <p:sp>
        <p:nvSpPr>
          <p:cNvPr id="20" name="Slide Number Placeholder 19">
            <a:extLst>
              <a:ext uri="{FF2B5EF4-FFF2-40B4-BE49-F238E27FC236}">
                <a16:creationId xmlns:a16="http://schemas.microsoft.com/office/drawing/2014/main" id="{546CE541-AC25-26A4-4D37-60E76B48C1FA}"/>
              </a:ext>
            </a:extLst>
          </p:cNvPr>
          <p:cNvSpPr>
            <a:spLocks noGrp="1"/>
          </p:cNvSpPr>
          <p:nvPr>
            <p:ph type="sldNum" sz="quarter" idx="12"/>
          </p:nvPr>
        </p:nvSpPr>
        <p:spPr/>
        <p:txBody>
          <a:bodyPr/>
          <a:lstStyle/>
          <a:p>
            <a: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3060</Words>
  <Application>Microsoft Office PowerPoint</Application>
  <PresentationFormat>Custom</PresentationFormat>
  <Paragraphs>555</Paragraphs>
  <Slides>53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Montserrat</vt:lpstr>
      <vt:lpstr>Times New Roman</vt:lpstr>
      <vt:lpstr>Montserrat Bold</vt:lpstr>
      <vt:lpstr>Wingdings</vt:lpstr>
      <vt:lpstr>Arial</vt:lpstr>
      <vt:lpstr>Calibri</vt:lpstr>
      <vt:lpstr>Arial Nova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Practicum Defense</dc:title>
  <cp:lastModifiedBy>rifat rahman bandhan</cp:lastModifiedBy>
  <cp:revision>8</cp:revision>
  <dcterms:created xsi:type="dcterms:W3CDTF">2006-08-16T00:00:00Z</dcterms:created>
  <dcterms:modified xsi:type="dcterms:W3CDTF">2025-10-03T18:55:40Z</dcterms:modified>
  <dc:identifier>DAG0huvdj70</dc:identifier>
</cp:coreProperties>
</file>